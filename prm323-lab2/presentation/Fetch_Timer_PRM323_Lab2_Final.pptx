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2e678c12514662" /><Relationship Type="http://schemas.openxmlformats.org/officeDocument/2006/relationships/extended-properties" Target="/docProps/app.xml" Id="Rc42442e239be4520" /><Relationship Type="http://schemas.openxmlformats.org/officeDocument/2006/relationships/officeDocument" Target="/ppt/presentation.xml" Id="R7b61fb20fce64d0d" /></Relationships>
</file>

<file path=ppt/presentation.xml><?xml version="1.0" encoding="utf-8"?>
<p:presentation xmlns:p="http://schemas.openxmlformats.org/presentationml/2006/main">
  <p:sldMasterIdLst>
    <p:sldMasterId xmlns:r="http://schemas.openxmlformats.org/officeDocument/2006/relationships" id="2147483648" r:id="Rc178704b5e3f4c47"/>
  </p:sldMasterIdLst>
  <p:notesMasterIdLst>
    <p:notesMasterId xmlns:r="http://schemas.openxmlformats.org/officeDocument/2006/relationships" r:id="R1f5922e5d7b74731"/>
  </p:notesMasterIdLst>
  <p:sldIdLst>
    <p:sldId xmlns:r="http://schemas.openxmlformats.org/officeDocument/2006/relationships" id="256" r:id="R4b0378a53cca4861"/>
    <p:sldId xmlns:r="http://schemas.openxmlformats.org/officeDocument/2006/relationships" id="257" r:id="R992ab004ca0345bc"/>
    <p:sldId xmlns:r="http://schemas.openxmlformats.org/officeDocument/2006/relationships" id="258" r:id="R7e38723e419647c5"/>
    <p:sldId xmlns:r="http://schemas.openxmlformats.org/officeDocument/2006/relationships" id="259" r:id="R7b7b24395a1d48da"/>
    <p:sldId xmlns:r="http://schemas.openxmlformats.org/officeDocument/2006/relationships" id="260" r:id="Rd50736b84c8f42e9"/>
    <p:sldId xmlns:r="http://schemas.openxmlformats.org/officeDocument/2006/relationships" id="261" r:id="R98ffb3001bd94a81"/>
    <p:sldId xmlns:r="http://schemas.openxmlformats.org/officeDocument/2006/relationships" id="262" r:id="Rf024417e1ade4542"/>
    <p:sldId xmlns:r="http://schemas.openxmlformats.org/officeDocument/2006/relationships" id="263" r:id="R670a068a66364904"/>
    <p:sldId xmlns:r="http://schemas.openxmlformats.org/officeDocument/2006/relationships" id="264" r:id="R74f199d9cfea497c"/>
    <p:sldId xmlns:r="http://schemas.openxmlformats.org/officeDocument/2006/relationships" id="265" r:id="R16fb9855137e4fc8"/>
    <p:sldId xmlns:r="http://schemas.openxmlformats.org/officeDocument/2006/relationships" id="266" r:id="Rccdae0fb3e904e61"/>
    <p:sldId xmlns:r="http://schemas.openxmlformats.org/officeDocument/2006/relationships" id="267" r:id="Rd1d869c771f4477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436745f1a94948" /><Relationship Type="http://schemas.openxmlformats.org/officeDocument/2006/relationships/slideMaster" Target="/ppt/slideMasters/slideMaster1.xml" Id="Rc178704b5e3f4c47" /><Relationship Type="http://schemas.openxmlformats.org/officeDocument/2006/relationships/notesMaster" Target="/ppt/notesMasters/notesMaster1.xml" Id="R1f5922e5d7b74731" /><Relationship Type="http://schemas.openxmlformats.org/officeDocument/2006/relationships/presProps" Target="/ppt/presProps.xml" Id="Rd04b611fae1d458c" /><Relationship Type="http://schemas.openxmlformats.org/officeDocument/2006/relationships/tableStyles" Target="/ppt/tableStyles.xml" Id="R8852b8474f7645aa" /><Relationship Type="http://schemas.openxmlformats.org/officeDocument/2006/relationships/slide" Target="/ppt/slides/slide1.xml" Id="R4b0378a53cca4861" /><Relationship Type="http://schemas.openxmlformats.org/officeDocument/2006/relationships/slide" Target="/ppt/slides/slide2.xml" Id="R992ab004ca0345bc" /><Relationship Type="http://schemas.openxmlformats.org/officeDocument/2006/relationships/slide" Target="/ppt/slides/slide3.xml" Id="R7e38723e419647c5" /><Relationship Type="http://schemas.openxmlformats.org/officeDocument/2006/relationships/slide" Target="/ppt/slides/slide4.xml" Id="R7b7b24395a1d48da" /><Relationship Type="http://schemas.openxmlformats.org/officeDocument/2006/relationships/slide" Target="/ppt/slides/slide5.xml" Id="Rd50736b84c8f42e9" /><Relationship Type="http://schemas.openxmlformats.org/officeDocument/2006/relationships/slide" Target="/ppt/slides/slide6.xml" Id="R98ffb3001bd94a81" /><Relationship Type="http://schemas.openxmlformats.org/officeDocument/2006/relationships/slide" Target="/ppt/slides/slide7.xml" Id="Rf024417e1ade4542" /><Relationship Type="http://schemas.openxmlformats.org/officeDocument/2006/relationships/slide" Target="/ppt/slides/slide8.xml" Id="R670a068a66364904" /><Relationship Type="http://schemas.openxmlformats.org/officeDocument/2006/relationships/slide" Target="/ppt/slides/slide9.xml" Id="R74f199d9cfea497c" /><Relationship Type="http://schemas.openxmlformats.org/officeDocument/2006/relationships/slide" Target="/ppt/slides/slide10.xml" Id="R16fb9855137e4fc8" /><Relationship Type="http://schemas.openxmlformats.org/officeDocument/2006/relationships/slide" Target="/ppt/slides/slide11.xml" Id="Rccdae0fb3e904e61" /><Relationship Type="http://schemas.openxmlformats.org/officeDocument/2006/relationships/slide" Target="/ppt/slides/slide12.xml" Id="Rd1d869c771f447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df037df5314e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3d2b493840493b" /><Relationship Type="http://schemas.openxmlformats.org/officeDocument/2006/relationships/notesMaster" Target="/ppt/notesMasters/notesMaster1.xml" Id="R22b2795e1ac64d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6cc3734cb34dfa" /><Relationship Type="http://schemas.openxmlformats.org/officeDocument/2006/relationships/notesMaster" Target="/ppt/notesMasters/notesMaster1.xml" Id="R9c091ee477914f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371fd6a54c403b" /><Relationship Type="http://schemas.openxmlformats.org/officeDocument/2006/relationships/notesMaster" Target="/ppt/notesMasters/notesMaster1.xml" Id="Rbf75947a20c544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8e3567657d49f0" /><Relationship Type="http://schemas.openxmlformats.org/officeDocument/2006/relationships/notesMaster" Target="/ppt/notesMasters/notesMaster1.xml" Id="R987074956ecc4c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85949fe23d412b" /><Relationship Type="http://schemas.openxmlformats.org/officeDocument/2006/relationships/notesMaster" Target="/ppt/notesMasters/notesMaster1.xml" Id="Rbfca3fa998a84b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22e39fd5804eb5" /><Relationship Type="http://schemas.openxmlformats.org/officeDocument/2006/relationships/notesMaster" Target="/ppt/notesMasters/notesMaster1.xml" Id="Rade968df020c41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5e60ae07a04d80" /><Relationship Type="http://schemas.openxmlformats.org/officeDocument/2006/relationships/notesMaster" Target="/ppt/notesMasters/notesMaster1.xml" Id="R80ee6d42280f4b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2e0e4ffb194280" /><Relationship Type="http://schemas.openxmlformats.org/officeDocument/2006/relationships/notesMaster" Target="/ppt/notesMasters/notesMaster1.xml" Id="R07a5f392eff34b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c629e682334a74" /><Relationship Type="http://schemas.openxmlformats.org/officeDocument/2006/relationships/notesMaster" Target="/ppt/notesMasters/notesMaster1.xml" Id="Rb511ac9f9f9145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4c04434f714e04" /><Relationship Type="http://schemas.openxmlformats.org/officeDocument/2006/relationships/notesMaster" Target="/ppt/notesMasters/notesMaster1.xml" Id="R315ff0a2a3e348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618f087cd14599" /><Relationship Type="http://schemas.openxmlformats.org/officeDocument/2006/relationships/notesMaster" Target="/ppt/notesMasters/notesMaster1.xml" Id="R6e16256d1eb64ff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d89401a0c6457a" /><Relationship Type="http://schemas.openxmlformats.org/officeDocument/2006/relationships/notesMaster" Target="/ppt/notesMasters/notesMaster1.xml" Id="R21a2a663ad1143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40 giây.</a:t>
            </a:r>
          </a:p>
          <a:p xmlns:a="http://schemas.openxmlformats.org/drawingml/2006/main">
            <a:r>
              <a:t/>
            </a:r>
          </a:p>
          <a:p xmlns:a="http://schemas.openxmlformats.org/drawingml/2006/main">
            <a:r>
              <a:t>Em xin chào thầy cô. Nhóm chúng em trình bày Fetch Timer, ứng dụng giúp sinh viên duy trì sở thích khi lịch học và sinh hoạt thường xuyên thay đổi. Trong các file giao diện, tên Serene là tên của bộ UI và prototype. Bản trình bày này dùng tên sản phẩm Fetch Timer. Nhóm tập trung ba flow: bắt đầu từ Home để tạo hobby và theo dõi lịch ngày, tạo phiên Focus cho hobby, và chia sẻ, tìm cũng như tham gia cộng đồng và thử thách.</a:t>
            </a:r>
          </a:p>
          <a:p xmlns:a="http://schemas.openxmlformats.org/drawingml/2006/main">
            <a:r>
              <a:t/>
            </a:r>
          </a:p>
          <a:p xmlns:a="http://schemas.openxmlformats.org/drawingml/2006/main">
            <a:r>
              <a:t>Nguồn: PDF PRM323 Lab 2; DOCX Hướng dẫn Slide Presentation Demo; persona(1).md; 1.zip–5.zip; Serene_Prototype.html. Figma live https://www.figma.com/design/g4p29ANokap1mBOCWq9AJC/Untitled. Chi tiết ảnh/node trong evidence/source-register.md. Ảnh Stitch trên slide là crop phần trên để so sánh, ảnh gốc đầy đủ nằm trong assets/stitch. Không phải ảnh người dùng hay kết quả test thật.</a:t>
            </a:r>
          </a:p>
          <a:p xmlns:a="http://schemas.openxmlformats.org/drawingml/2006/main">
            <a:r>
              <a:t/>
            </a:r>
          </a:p>
          <a:p xmlns:a="http://schemas.openxmlformats.org/drawingml/2006/main">
            <a:r>
              <a:t>Tài liệu minh chứng: evidence/source-register.md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65 giây.</a:t>
            </a:r>
          </a:p>
          <a:p xmlns:a="http://schemas.openxmlformats.org/drawingml/2006/main">
            <a:r>
              <a:t/>
            </a:r>
          </a:p>
          <a:p xmlns:a="http://schemas.openxmlformats.org/drawingml/2006/main">
            <a:r>
              <a:t>Persona chính là Minh, 21 tuổi, sinh viên muốn luyện Guitar và đọc sách nhưng lịch học thay đổi. Khi công cụ lập lịch, bộ đếm thời gian và nội dung cộng đồng nằm rời rạc, Minh phải tự nối các bước và dễ bỏ dở. Problem statement của nhóm là: sinh viên như Minh cần một cách đơn giản để biến sở thích thành hoạt động có lịch, tập trung thực hiện và thấy tiến bộ. Minh và An trong tài liệu là proto-persona, chưa phải kết quả phỏng vấn. Nhóm đặt mục tiêu đo được: ít nhất 80 phần trăm người thử tạo hobby và lịch hợp lệ trong tối đa ba phút. Đây là tiêu chí để kiểm thử sau, không phải thành tích đã đạt.</a:t>
            </a:r>
          </a:p>
          <a:p xmlns:a="http://schemas.openxmlformats.org/drawingml/2006/main">
            <a:r>
              <a:t/>
            </a:r>
          </a:p>
          <a:p xmlns:a="http://schemas.openxmlformats.org/drawingml/2006/main">
            <a:r>
              <a:t>Nguồn: PDF PRM323 Lab 2; DOCX Hướng dẫn Slide Presentation Demo; persona(1).md; 1.zip–5.zip; Serene_Prototype.html. Figma live https://www.figma.com/design/g4p29ANokap1mBOCWq9AJC/Untitled. Chi tiết ảnh/node trong evidence/source-register.md. Ảnh Stitch trên slide là crop phần trên để so sánh, ảnh gốc đầy đủ nằm trong assets/stitch. Không phải ảnh người dùng hay kết quả test thật.</a:t>
            </a:r>
          </a:p>
          <a:p xmlns:a="http://schemas.openxmlformats.org/drawingml/2006/main">
            <a:r>
              <a:t/>
            </a:r>
          </a:p>
          <a:p xmlns:a="http://schemas.openxmlformats.org/drawingml/2006/main">
            <a:r>
              <a:t>Tài liệu minh chứng: ux/persona.md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45 giây.</a:t>
            </a:r>
          </a:p>
          <a:p xmlns:a="http://schemas.openxmlformats.org/drawingml/2006/main">
            <a:r>
              <a:t/>
            </a:r>
          </a:p>
          <a:p xmlns:a="http://schemas.openxmlformats.org/drawingml/2006/main">
            <a:r>
              <a:t>Cấu trúc điều hướng có năm điểm đến: Trang chủ, Lịch trình, Tập trung, Cộng đồng và Cá nhân. M01 đến M44 là 44 màn hình chức năng, còn M00 chỉ là quy chuẩn. Các trạng thái của timer không được cộng thành màn hình mới. Trong demo, nhóm ưu tiên đường đi trực tiếp đến kết quả. Kiến thức chuyên sâu, album và cài đặt đóng vai trò nhánh hỗ trợ. Mỗi màn đã có đặc tả và mapping flow trong thư mục minh chứng. Sau đây, bạn thứ hai sẽ trình bày ba flow và cách nhóm sử dụng AI.</a:t>
            </a:r>
          </a:p>
          <a:p xmlns:a="http://schemas.openxmlformats.org/drawingml/2006/main">
            <a:r>
              <a:t/>
            </a:r>
          </a:p>
          <a:p xmlns:a="http://schemas.openxmlformats.org/drawingml/2006/main">
            <a:r>
              <a:t>Nguồn: PDF PRM323 Lab 2; DOCX Hướng dẫn Slide Presentation Demo; persona(1).md; 1.zip–5.zip; Serene_Prototype.html. Figma live https://www.figma.com/design/g4p29ANokap1mBOCWq9AJC/Untitled. Chi tiết ảnh/node trong evidence/source-register.md. Ảnh Stitch trên slide là crop phần trên để so sánh, ảnh gốc đầy đủ nằm trong assets/stitch. Không phải ảnh người dùng hay kết quả test thật.</a:t>
            </a:r>
          </a:p>
          <a:p xmlns:a="http://schemas.openxmlformats.org/drawingml/2006/main">
            <a:r>
              <a:t/>
            </a:r>
          </a:p>
          <a:p xmlns:a="http://schemas.openxmlformats.org/drawingml/2006/main">
            <a:r>
              <a:t>Tài liệu minh chứng: ux/user-flow.md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55 giây.</a:t>
            </a:r>
          </a:p>
          <a:p xmlns:a="http://schemas.openxmlformats.org/drawingml/2006/main">
            <a:r>
              <a:t/>
            </a:r>
          </a:p>
          <a:p xmlns:a="http://schemas.openxmlformats.org/drawingml/2006/main">
            <a:r>
              <a:t>Flow một bắt đầu Home. Minh tạo hobby, đặt mục tiêu, tạo hoạt động và xem lại trên lịch ngày. Nhánh thay thế là dùng hobby có sẵn, còn nhánh lỗi giữ dữ liệu và cho sửa tên hoặc giờ. Flow hai chọn hobby, đặt thời lượng, chạy Focus, tạm dừng hoặc tiếp tục rồi xem tổng kết và lịch sử. Kết thúc sớm có xác nhận để tránh mất phiên. Flow ba có các nhánh chia sẻ hobby, tìm cộng đồng phù hợp, tham gia nhóm và tham gia thử thách. Người dùng có thể lưu bài hoặc đổi từ khóa khi không có kết quả. Các sơ đồ chi tiết và đích điều hướng nằm trong user-flow.md.</a:t>
            </a:r>
          </a:p>
          <a:p xmlns:a="http://schemas.openxmlformats.org/drawingml/2006/main">
            <a:r>
              <a:t/>
            </a:r>
          </a:p>
          <a:p xmlns:a="http://schemas.openxmlformats.org/drawingml/2006/main">
            <a:r>
              <a:t>Nguồn: PDF PRM323 Lab 2; DOCX Hướng dẫn Slide Presentation Demo; persona(1).md; 1.zip–5.zip; Serene_Prototype.html. Figma live https://www.figma.com/design/g4p29ANokap1mBOCWq9AJC/Untitled. Chi tiết ảnh/node trong evidence/source-register.md. Ảnh Stitch trên slide là crop phần trên để so sánh, ảnh gốc đầy đủ nằm trong assets/stitch. Không phải ảnh người dùng hay kết quả test thật.</a:t>
            </a:r>
          </a:p>
          <a:p xmlns:a="http://schemas.openxmlformats.org/drawingml/2006/main">
            <a:r>
              <a:t/>
            </a:r>
          </a:p>
          <a:p xmlns:a="http://schemas.openxmlformats.org/drawingml/2006/main">
            <a:r>
              <a:t>Tài liệu minh chứng: ux/user-flow.md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40 giây.</a:t>
            </a:r>
          </a:p>
          <a:p xmlns:a="http://schemas.openxmlformats.org/drawingml/2006/main">
            <a:r>
              <a:t/>
            </a:r>
          </a:p>
          <a:p xmlns:a="http://schemas.openxmlformats.org/drawingml/2006/main">
            <a:r>
              <a:t>Các file xuất từ Stitch cung cấp màn hình cho toàn bộ khu vực chức năng. Gói một và hai có quy chuẩn, Home, hobby và lịch. Gói bốn có Focus và nhật ký. Gói ba có cộng đồng, nhóm và thử thách. Gói năm có cá nhân và cài đặt. Nhóm lưu ảnh gốc và HTML theo mã màn để truy vết. Tuy nhiên, các ZIP là các batch chức năng, không phải năm vòng cải tiến. Đầu vào hiện chưa chứa prompt lịch sử nguyên văn. Prompt mới trong bộ tài liệu được ghi rõ là prompt chuẩn bị cho vòng tiếp theo, không dùng thay cho lịch sử.</a:t>
            </a:r>
          </a:p>
          <a:p xmlns:a="http://schemas.openxmlformats.org/drawingml/2006/main">
            <a:r>
              <a:t/>
            </a:r>
          </a:p>
          <a:p xmlns:a="http://schemas.openxmlformats.org/drawingml/2006/main">
            <a:r>
              <a:t>Nguồn: PDF PRM323 Lab 2; DOCX Hướng dẫn Slide Presentation Demo; persona(1).md; 1.zip–5.zip; Serene_Prototype.html. Figma live https://www.figma.com/design/g4p29ANokap1mBOCWq9AJC/Untitled. Chi tiết ảnh/node trong evidence/source-register.md. Ảnh Stitch trên slide là crop phần trên để so sánh, ảnh gốc đầy đủ nằm trong assets/stitch. Không phải ảnh người dùng hay kết quả test thật.</a:t>
            </a:r>
          </a:p>
          <a:p xmlns:a="http://schemas.openxmlformats.org/drawingml/2006/main">
            <a:r>
              <a:t/>
            </a:r>
          </a:p>
          <a:p xmlns:a="http://schemas.openxmlformats.org/drawingml/2006/main">
            <a:r>
              <a:t>Tài liệu minh chứng: ai/ai-design-log.md; ai/ux-critique.md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55 giây.</a:t>
            </a:r>
          </a:p>
          <a:p xmlns:a="http://schemas.openxmlformats.org/drawingml/2006/main">
            <a:r>
              <a:t/>
            </a:r>
          </a:p>
          <a:p xmlns:a="http://schemas.openxmlformats.org/drawingml/2006/main">
            <a:r>
              <a:t>Phiên phản biện mới rà soát UI theo Nielsen, accessibility và persona, tạo mười phát hiện gắn màn hình cụ thể. Nhóm tổ chức ba mục tiêu tinh chỉnh khác nhau. Vòng một xử lý bố cục 360 và 412, chữ, độ tương phản và vùng chạm. Vòng hai xử lý validation và phục hồi lỗi khi lên lịch. Vòng ba xử lý thời lượng thực của Focus và tổng kết. Ví dụ ảnh Figma M18 có chữ chồng nhau, cần sửa Auto Height. Mã HTML còn tổng kết mẫu nên chưa thể chứng minh kết thúc sớm ghi đúng thời lượng. Ba prompt đã được soạn, nhưng chưa có đủ ảnh sau để coi ba vòng đã hoàn tất. Bạn thứ ba sẽ giải thích các quyết định UI và design system.</a:t>
            </a:r>
          </a:p>
          <a:p xmlns:a="http://schemas.openxmlformats.org/drawingml/2006/main">
            <a:r>
              <a:t/>
            </a:r>
          </a:p>
          <a:p xmlns:a="http://schemas.openxmlformats.org/drawingml/2006/main">
            <a:r>
              <a:t>Nguồn: PDF PRM323 Lab 2; DOCX Hướng dẫn Slide Presentation Demo; persona(1).md; 1.zip–5.zip; Serene_Prototype.html. Figma live https://www.figma.com/design/g4p29ANokap1mBOCWq9AJC/Untitled. Chi tiết ảnh/node trong evidence/source-register.md. Ảnh Stitch trên slide là crop phần trên để so sánh, ảnh gốc đầy đủ nằm trong assets/stitch. Không phải ảnh người dùng hay kết quả test thật.</a:t>
            </a:r>
          </a:p>
          <a:p xmlns:a="http://schemas.openxmlformats.org/drawingml/2006/main">
            <a:r>
              <a:t/>
            </a:r>
          </a:p>
          <a:p xmlns:a="http://schemas.openxmlformats.org/drawingml/2006/main">
            <a:r>
              <a:t>Tài liệu minh chứng: ai/ai-design-log.md; ai/ux-critique.md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50 giây.</a:t>
            </a:r>
          </a:p>
          <a:p xmlns:a="http://schemas.openxmlformats.org/drawingml/2006/main">
            <a:r>
              <a:t/>
            </a:r>
          </a:p>
          <a:p xmlns:a="http://schemas.openxmlformats.org/drawingml/2006/main">
            <a:r>
              <a:t>Nhóm chấp nhận năm tab vì Minh cần chuyển nhanh giữa lập lịch và tập trung. Nhật ký và âm thanh là tùy chọn để giảm công việc sau phiên. Nhóm đề xuất sửa token primary và chữ mô tả để dễ đọc, thêm lỗi ngay tại trường nhập và giữ dữ liệu khi lỗi. Với chia sẻ, người dùng cần biết rõ dữ liệu nào công khai và có bản xem trước. Nhóm từ chối mở rộng quá nhiều tính năng social trong năm phút demo vì phạm vi chính là chia sẻ, tìm, tham gia nhóm và thử thách. Tài liệu phân biệt quyết định đích với thay đổi Figma đã chứng minh.</a:t>
            </a:r>
          </a:p>
          <a:p xmlns:a="http://schemas.openxmlformats.org/drawingml/2006/main">
            <a:r>
              <a:t/>
            </a:r>
          </a:p>
          <a:p xmlns:a="http://schemas.openxmlformats.org/drawingml/2006/main">
            <a:r>
              <a:t>Nguồn: PDF PRM323 Lab 2; DOCX Hướng dẫn Slide Presentation Demo; persona(1).md; 1.zip–5.zip; Serene_Prototype.html. Figma live https://www.figma.com/design/g4p29ANokap1mBOCWq9AJC/Untitled. Chi tiết ảnh/node trong evidence/source-register.md. Ảnh Stitch trên slide là crop phần trên để so sánh, ảnh gốc đầy đủ nằm trong assets/stitch. Không phải ảnh người dùng hay kết quả test thật.</a:t>
            </a:r>
          </a:p>
          <a:p xmlns:a="http://schemas.openxmlformats.org/drawingml/2006/main">
            <a:r>
              <a:t/>
            </a:r>
          </a:p>
          <a:p xmlns:a="http://schemas.openxmlformats.org/drawingml/2006/main">
            <a:r>
              <a:t>Tài liệu minh chứng: design/design-decisions.md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55 giây.</a:t>
            </a:r>
          </a:p>
          <a:p xmlns:a="http://schemas.openxmlformats.org/drawingml/2006/main">
            <a:r>
              <a:t/>
            </a:r>
          </a:p>
          <a:p xmlns:a="http://schemas.openxmlformats.org/drawingml/2006/main">
            <a:r>
              <a:t>Slide này đối chiếu cùng màn M31 trong nguồn Stitch và Figma. Stitch có ảnh cover, còn Figma đang có vùng trống. Đây là dấu hiệu cần khôi phục ảnh gốc trước khi nộp. Nhóm không gọi hai ảnh này là before và after của một vòng AI vì chưa có lịch sử chứng minh. Tương tự, ảnh Final UI không thay cho wireframe low fidelity. Figma hiện có năm page theo chức năng, trong khi đề yêu cầu sáu page theo quy trình, nên cần sắp xếp lại. Nhóm giữ ảnh xuất thật để thầy cô có thể thấy chính xác trạng thái sản phẩm.</a:t>
            </a:r>
          </a:p>
          <a:p xmlns:a="http://schemas.openxmlformats.org/drawingml/2006/main">
            <a:r>
              <a:t/>
            </a:r>
          </a:p>
          <a:p xmlns:a="http://schemas.openxmlformats.org/drawingml/2006/main">
            <a:r>
              <a:t>Nguồn: PDF PRM323 Lab 2; DOCX Hướng dẫn Slide Presentation Demo; persona(1).md; 1.zip–5.zip; Serene_Prototype.html. Figma live https://www.figma.com/design/g4p29ANokap1mBOCWq9AJC/Untitled. Chi tiết ảnh/node trong evidence/source-register.md. Ảnh Stitch trên slide là crop phần trên để so sánh, ảnh gốc đầy đủ nằm trong assets/stitch. Không phải ảnh người dùng hay kết quả test thật.</a:t>
            </a:r>
          </a:p>
          <a:p xmlns:a="http://schemas.openxmlformats.org/drawingml/2006/main">
            <a:r>
              <a:t/>
            </a:r>
          </a:p>
          <a:p xmlns:a="http://schemas.openxmlformats.org/drawingml/2006/main">
            <a:r>
              <a:t>Tài liệu minh chứng: evidence/source-register.md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45 giây.</a:t>
            </a:r>
          </a:p>
          <a:p xmlns:a="http://schemas.openxmlformats.org/drawingml/2006/main">
            <a:r>
              <a:t/>
            </a:r>
          </a:p>
          <a:p xmlns:a="http://schemas.openxmlformats.org/drawingml/2006/main">
            <a:r>
              <a:t>Design brief chuẩn hóa màu primary là xanh đậm 006A39 và nền F9FAF8. Typography dùng Inter, nội dung và nhãn cần đọc tối thiểu 14sp. Spacing theo các bậc bốn, tám, mười hai, mười sáu và hai mươi bốn. Chín nhóm component phải có Auto Layout, variant và sử dụng token. Metadata cho thấy có symbol và instance, nhưng điều đó chưa chứng minh đầy đủ variant và binding cho chín nhóm. Handoff ghi rõ trạng thái và mapping sang Flutter để người lập trình có hợp đồng đích thống nhất. Bạn thứ tư sẽ trình bày accessibility, demo và bàn giao.</a:t>
            </a:r>
          </a:p>
          <a:p xmlns:a="http://schemas.openxmlformats.org/drawingml/2006/main">
            <a:r>
              <a:t/>
            </a:r>
          </a:p>
          <a:p xmlns:a="http://schemas.openxmlformats.org/drawingml/2006/main">
            <a:r>
              <a:t>Nguồn: PDF PRM323 Lab 2; DOCX Hướng dẫn Slide Presentation Demo; persona(1).md; 1.zip–5.zip; Serene_Prototype.html. Figma live https://www.figma.com/design/g4p29ANokap1mBOCWq9AJC/Untitled. Chi tiết ảnh/node trong evidence/source-register.md. Ảnh Stitch trên slide là crop phần trên để so sánh, ảnh gốc đầy đủ nằm trong assets/stitch. Không phải ảnh người dùng hay kết quả test thật.</a:t>
            </a:r>
          </a:p>
          <a:p xmlns:a="http://schemas.openxmlformats.org/drawingml/2006/main">
            <a:r>
              <a:t/>
            </a:r>
          </a:p>
          <a:p xmlns:a="http://schemas.openxmlformats.org/drawingml/2006/main">
            <a:r>
              <a:t>Tài liệu minh chứng: design/DESIGN.md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55 giây.</a:t>
            </a:r>
          </a:p>
          <a:p xmlns:a="http://schemas.openxmlformats.org/drawingml/2006/main">
            <a:r>
              <a:t/>
            </a:r>
          </a:p>
          <a:p xmlns:a="http://schemas.openxmlformats.org/drawingml/2006/main">
            <a:r>
              <a:t>Accessibility cần có phép đo. Cặp chữ trắng trên primary 006A39 có tỷ lệ tương phản khoảng 6.73. Đây là phép tính cặp token, không phải chứng nhận mọi lớp chữ đã đạt. Vùng chạm phải tối thiểu 48dp và nội dung ít nhất 14sp. Nguồn còn token nhỏ hơn mức này nên cần rà soát. Khung đích là 360 nhân 800 và kiểm tra thêm chiều rộng 412, trong khi Figma hiện là 390 nhân 844. Cần kiểm tra reflow bằng Auto Layout, bàn phím, nội dung dài và text scaling, không chỉ thu nhỏ toàn bộ màn hình. Từ 600dp, handoff đề xuất NavigationRail và bố cục phù hợp.</a:t>
            </a:r>
          </a:p>
          <a:p xmlns:a="http://schemas.openxmlformats.org/drawingml/2006/main">
            <a:r>
              <a:t/>
            </a:r>
          </a:p>
          <a:p xmlns:a="http://schemas.openxmlformats.org/drawingml/2006/main">
            <a:r>
              <a:t>Nguồn: PDF PRM323 Lab 2; DOCX Hướng dẫn Slide Presentation Demo; persona(1).md; 1.zip–5.zip; Serene_Prototype.html. Figma live https://www.figma.com/design/g4p29ANokap1mBOCWq9AJC/Untitled. Chi tiết ảnh/node trong evidence/source-register.md. Ảnh Stitch trên slide là crop phần trên để so sánh, ảnh gốc đầy đủ nằm trong assets/stitch. Không phải ảnh người dùng hay kết quả test thật.</a:t>
            </a:r>
          </a:p>
          <a:p xmlns:a="http://schemas.openxmlformats.org/drawingml/2006/main">
            <a:r>
              <a:t/>
            </a:r>
          </a:p>
          <a:p xmlns:a="http://schemas.openxmlformats.org/drawingml/2006/main">
            <a:r>
              <a:t>Tài liệu minh chứng: design/design-decisions.md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45 giây.</a:t>
            </a:r>
          </a:p>
          <a:p xmlns:a="http://schemas.openxmlformats.org/drawingml/2006/main">
            <a:r>
              <a:t/>
            </a:r>
          </a:p>
          <a:p xmlns:a="http://schemas.openxmlformats.org/drawingml/2006/main">
            <a:r>
              <a:t>Demo gồm ba nhiệm vụ và kết quả nhìn thấy rõ. Với flow một, người thao tác bắt đầu Home, tạo hobby và lịch ngày, đồng thời cho thấy một lỗi thiếu tên hoặc giờ để minh họa phục hồi. Flow hai chạy Focus, Pause và Resume, mở xác nhận kết thúc rồi xem tổng kết. Flow ba đăng bài, tìm cộng đồng, tham gia nhóm và thử thách. Khi trình bày, nhóm phải dùng đường bấm bên trong sản phẩm. Thanh chọn màn của HTML chỉ dùng để phục hồi demo nếu cần và phải nói rõ. Figma là minh chứng theo đề, còn HTML là bản dự phòng với dữ liệu mô phỏng.</a:t>
            </a:r>
          </a:p>
          <a:p xmlns:a="http://schemas.openxmlformats.org/drawingml/2006/main">
            <a:r>
              <a:t/>
            </a:r>
          </a:p>
          <a:p xmlns:a="http://schemas.openxmlformats.org/drawingml/2006/main">
            <a:r>
              <a:t>Nguồn: PDF PRM323 Lab 2; DOCX Hướng dẫn Slide Presentation Demo; persona(1).md; 1.zip–5.zip; Serene_Prototype.html. Figma live https://www.figma.com/design/g4p29ANokap1mBOCWq9AJC/Untitled. Chi tiết ảnh/node trong evidence/source-register.md. Ảnh Stitch trên slide là crop phần trên để so sánh, ảnh gốc đầy đủ nằm trong assets/stitch. Không phải ảnh người dùng hay kết quả test thật.</a:t>
            </a:r>
          </a:p>
          <a:p xmlns:a="http://schemas.openxmlformats.org/drawingml/2006/main">
            <a:r>
              <a:t/>
            </a:r>
          </a:p>
          <a:p xmlns:a="http://schemas.openxmlformats.org/drawingml/2006/main">
            <a:r>
              <a:t>Tài liệu minh chứng: presentation/demo-runbook.md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50 giây.</a:t>
            </a:r>
          </a:p>
          <a:p xmlns:a="http://schemas.openxmlformats.org/drawingml/2006/main">
            <a:r>
              <a:t/>
            </a:r>
          </a:p>
          <a:p xmlns:a="http://schemas.openxmlformats.org/drawingml/2006/main">
            <a:r>
              <a:t>Bộ bàn giao có sáu mục cho mỗi màn: layout, component, state, tương tác, điều hướng và ràng buộc UI. Hai bảng mapping nối token với ColorScheme, TextTheme và hằng số, nối component với widget Flutter. Lab hai không yêu cầu viết code Flutter. Nhóm nộp một repository GitHub và một Figma link có quyền xem. Các phần còn cần hoàn tất là prompt gốc, ba vòng cải tiến có bằng chứng thật, sáu page Figma, kích thước và kiểm chứng prototype. Sau phần trình bày, ba thành viên phụ trách sẽ demo theo thứ tự hobby, Focus và cộng đồng. Nhóm xin nhận câu hỏi sau demo.</a:t>
            </a:r>
          </a:p>
          <a:p xmlns:a="http://schemas.openxmlformats.org/drawingml/2006/main">
            <a:r>
              <a:t/>
            </a:r>
          </a:p>
          <a:p xmlns:a="http://schemas.openxmlformats.org/drawingml/2006/main">
            <a:r>
              <a:t>Nguồn: PDF PRM323 Lab 2; DOCX Hướng dẫn Slide Presentation Demo; persona(1).md; 1.zip–5.zip; Serene_Prototype.html. Figma live https://www.figma.com/design/g4p29ANokap1mBOCWq9AJC/Untitled. Chi tiết ảnh/node trong evidence/source-register.md. Ảnh Stitch trên slide là crop phần trên để so sánh, ảnh gốc đầy đủ nằm trong assets/stitch. Không phải ảnh người dùng hay kết quả test thật.</a:t>
            </a:r>
          </a:p>
          <a:p xmlns:a="http://schemas.openxmlformats.org/drawingml/2006/main">
            <a:r>
              <a:t/>
            </a:r>
          </a:p>
          <a:p xmlns:a="http://schemas.openxmlformats.org/drawingml/2006/main">
            <a:r>
              <a:t>Tài liệu minh chứng: handoff/flutter-handoff.md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35a576915b41a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999f9effb145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915defaf3e4f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072000a1dd4d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6f16eff29945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3c88465bb643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959073-85BC-45B0-B023-30827AF0F5E8}"/>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9442B2-BAC7-42FF-949A-1D8FBC027221}"/>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D2FF39-A950-47DD-AB0C-F91CC7C8D087}"/>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7F4816-39FF-4EC7-8406-344B51D764C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D5B3989-365A-4649-8A68-623FA98646B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4201834-3602-4EA0-8219-D584179676C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B5B480-C04E-4B51-A470-ADAA630DDF1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B8B17E-91B3-4D8A-A4BD-52FD9A683CB3}"/>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EA6B0E-E745-470C-89E9-6FA5A7C2C6B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819C77-DE8E-4C9F-80ED-E224E487061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b74c11338941ff" /><Relationship Type="http://schemas.openxmlformats.org/officeDocument/2006/relationships/slideLayout" Target="/ppt/slideLayouts/slideLayout1.xml" Id="Rffafa0ec54244c1f" /><Relationship Type="http://schemas.openxmlformats.org/officeDocument/2006/relationships/slideLayout" Target="/ppt/slideLayouts/slideLayout2.xml" Id="Ra620fc90c6654908" /><Relationship Type="http://schemas.openxmlformats.org/officeDocument/2006/relationships/slideLayout" Target="/ppt/slideLayouts/slideLayout3.xml" Id="R985fc4de20044ac3" /><Relationship Type="http://schemas.openxmlformats.org/officeDocument/2006/relationships/slideLayout" Target="/ppt/slideLayouts/slideLayout4.xml" Id="Rd0d73fdaa26c4f60" /><Relationship Type="http://schemas.openxmlformats.org/officeDocument/2006/relationships/slideLayout" Target="/ppt/slideLayouts/slideLayout5.xml" Id="Re1567663a2d44b9b" /><Relationship Type="http://schemas.openxmlformats.org/officeDocument/2006/relationships/slideLayout" Target="/ppt/slideLayouts/slideLayout6.xml" Id="R613969549e6d41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afa0ec54244c1f"/>
    <p:sldLayoutId xmlns:r="http://schemas.openxmlformats.org/officeDocument/2006/relationships" id="2147483650" r:id="Ra620fc90c6654908"/>
    <p:sldLayoutId xmlns:r="http://schemas.openxmlformats.org/officeDocument/2006/relationships" id="2147483651" r:id="R985fc4de20044ac3"/>
    <p:sldLayoutId xmlns:r="http://schemas.openxmlformats.org/officeDocument/2006/relationships" id="2147483652" r:id="Rd0d73fdaa26c4f60"/>
    <p:sldLayoutId xmlns:r="http://schemas.openxmlformats.org/officeDocument/2006/relationships" id="2147483653" r:id="Re1567663a2d44b9b"/>
    <p:sldLayoutId xmlns:r="http://schemas.openxmlformats.org/officeDocument/2006/relationships" id="2147483654" r:id="R613969549e6d41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b0e09462d54d9c" /><Relationship Type="http://schemas.openxmlformats.org/officeDocument/2006/relationships/image" Target="/ppt/media/image.png" Id="R29cf662072ff4e7d" /><Relationship Type="http://schemas.openxmlformats.org/officeDocument/2006/relationships/notesSlide" Target="/ppt/notesSlides/notesSlide1.xml" Id="R4fd5bcd406e04c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2a32972d4d40bd" /><Relationship Type="http://schemas.openxmlformats.org/officeDocument/2006/relationships/notesSlide" Target="/ppt/notesSlides/notesSlide2.xml" Id="Rc3b38467cf6e4b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907d79f7ba4211" /><Relationship Type="http://schemas.openxmlformats.org/officeDocument/2006/relationships/notesSlide" Target="/ppt/notesSlides/notesSlide3.xml" Id="Rd6c28496e4d94a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7f575cc390541c7" /><Relationship Type="http://schemas.openxmlformats.org/officeDocument/2006/relationships/notesSlide" Target="/ppt/notesSlides/notesSlide4.xml" Id="R41b7965b190749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216f9f86446482a" /><Relationship Type="http://schemas.openxmlformats.org/officeDocument/2006/relationships/image" Target="/ppt/media/image2.png" Id="Rf916df1f9cb84f3c" /><Relationship Type="http://schemas.openxmlformats.org/officeDocument/2006/relationships/image" Target="/ppt/media/image3.png" Id="R6f41737fb8524ecf" /><Relationship Type="http://schemas.openxmlformats.org/officeDocument/2006/relationships/notesSlide" Target="/ppt/notesSlides/notesSlide5.xml" Id="Rf63d86e7a3a947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19eb5f9d64d47c8" /><Relationship Type="http://schemas.openxmlformats.org/officeDocument/2006/relationships/image" Target="/ppt/media/image4.png" Id="Refc950697ed54e2c" /><Relationship Type="http://schemas.openxmlformats.org/officeDocument/2006/relationships/notesSlide" Target="/ppt/notesSlides/notesSlide6.xml" Id="Rbdc8a3e4901445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89928c2e304468c" /><Relationship Type="http://schemas.openxmlformats.org/officeDocument/2006/relationships/image" Target="/ppt/media/image5.png" Id="R987cc7cf507f4f14" /><Relationship Type="http://schemas.openxmlformats.org/officeDocument/2006/relationships/notesSlide" Target="/ppt/notesSlides/notesSlide7.xml" Id="R6ff9bd58960045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0b27cac11184e10" /><Relationship Type="http://schemas.openxmlformats.org/officeDocument/2006/relationships/image" Target="/ppt/media/image6.png" Id="R769fa30fdf0040ca" /><Relationship Type="http://schemas.openxmlformats.org/officeDocument/2006/relationships/image" Target="/ppt/media/image7.png" Id="Rdc6a4aadb0694701" /><Relationship Type="http://schemas.openxmlformats.org/officeDocument/2006/relationships/notesSlide" Target="/ppt/notesSlides/notesSlide8.xml" Id="R20108109a48b4f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262962b476c4b07" /><Relationship Type="http://schemas.openxmlformats.org/officeDocument/2006/relationships/notesSlide" Target="/ppt/notesSlides/notesSlide9.xml" Id="R9a3ecf8d4f6d4a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bbe94e440384c79" /><Relationship Type="http://schemas.openxmlformats.org/officeDocument/2006/relationships/image" Target="/ppt/media/image8.png" Id="R6147e0f573c94566" /><Relationship Type="http://schemas.openxmlformats.org/officeDocument/2006/relationships/notesSlide" Target="/ppt/notesSlides/notesSlide10.xml" Id="Re51824e6f4404f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3cd424549cd4cb1" /><Relationship Type="http://schemas.openxmlformats.org/officeDocument/2006/relationships/image" Target="/ppt/media/image9.png" Id="R180a09d2aa6f4fba" /><Relationship Type="http://schemas.openxmlformats.org/officeDocument/2006/relationships/image" Target="/ppt/media/image10.png" Id="R298d7dc31f0849d0" /><Relationship Type="http://schemas.openxmlformats.org/officeDocument/2006/relationships/notesSlide" Target="/ppt/notesSlides/notesSlide11.xml" Id="Rd1ae7107eb5b4ed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845f9c8a2474263" /><Relationship Type="http://schemas.openxmlformats.org/officeDocument/2006/relationships/notesSlide" Target="/ppt/notesSlides/notesSlide12.xml" Id="Rb0211099a4a0429b" /></Relationships>
</file>

<file path=ppt/slides/slide1.xml><?xml version="1.0" encoding="utf-8"?>
<p:sld xmlns:p="http://schemas.openxmlformats.org/presentationml/2006/main">
  <p:cSld>
    <p:bg>
      <p:bgPr>
        <a:solidFill xmlns:a="http://schemas.openxmlformats.org/drawingml/2006/main">
          <a:srgbClr val="062C1E"/>
        </a:solidFill>
      </p:bgPr>
    </p:bg>
    <p:spTree>
      <p:nvGrpSpPr>
        <p:cNvPr id="1" name=""/>
        <p:cNvGrpSpPr/>
        <p:nvPr/>
      </p:nvGrpSpPr>
      <p:grpSpPr>
        <a:xfrm xmlns:a="http://schemas.openxmlformats.org/drawingml/2006/main"/>
      </p:grpSpPr>
      <p:sp>
        <p:nvSpPr>
          <p:cNvPr id="7" name="text-80-115">
            <a:extLst xmlns:a="http://schemas.openxmlformats.org/drawingml/2006/main">
              <a:ext uri="{FF2B5EF4-FFF2-40B4-BE49-F238E27FC236}">
                <a16:creationId xmlns:a16="http://schemas.microsoft.com/office/drawing/2014/main" id="{1D8A698E-D36D-4F3A-B03C-A6E7897518E5}"/>
              </a:ext>
            </a:extLst>
          </p:cNvPr>
          <p:cNvSpPr>
            <a:spLocks xmlns:a="http://schemas.openxmlformats.org/drawingml/2006/main" noGrp="1"/>
          </p:cNvSpPr>
          <p:nvPr/>
        </p:nvSpPr>
        <p:spPr>
          <a:xfrm xmlns:a="http://schemas.openxmlformats.org/drawingml/2006/main">
            <a:off x="762000" y="1095375"/>
            <a:ext cx="819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5E9BD"/>
                </a:solidFill>
                <a:latin typeface="DejaVu Sans"/>
                <a:ea typeface="DejaVu Sans"/>
                <a:cs typeface="DejaVu Sans"/>
              </a:defRPr>
            </a:defPPr>
          </a:lstStyle>
          <a:p xmlns:a="http://schemas.openxmlformats.org/drawingml/2006/main">
            <a:pPr>
              <a:defRPr sz="2025" b="1">
                <a:solidFill>
                  <a:srgbClr val="A5E9BD"/>
                </a:solidFill>
                <a:latin typeface="DejaVu Sans"/>
                <a:ea typeface="DejaVu Sans"/>
                <a:cs typeface="DejaVu Sans"/>
              </a:defRPr>
            </a:pPr>
            <a:r>
              <a:rPr sz="2025" b="1">
                <a:solidFill>
                  <a:srgbClr val="A5E9BD"/>
                </a:solidFill>
                <a:latin typeface="DejaVu Sans"/>
                <a:ea typeface="DejaVu Sans"/>
                <a:cs typeface="DejaVu Sans"/>
              </a:rPr>
              <a:t>FETCH TIMER</a:t>
            </a:r>
          </a:p>
        </p:txBody>
      </p:sp>
      <p:sp>
        <p:nvSpPr>
          <p:cNvPr id="2" name="text-80-260">
            <a:extLst xmlns:a="http://schemas.openxmlformats.org/drawingml/2006/main">
              <a:ext uri="{FF2B5EF4-FFF2-40B4-BE49-F238E27FC236}">
                <a16:creationId xmlns:a16="http://schemas.microsoft.com/office/drawing/2014/main" id="{A7672EAD-AD7E-4379-BAFB-172799D3FA25}"/>
              </a:ext>
            </a:extLst>
          </p:cNvPr>
          <p:cNvSpPr>
            <a:spLocks xmlns:a="http://schemas.openxmlformats.org/drawingml/2006/main" noGrp="1"/>
          </p:cNvSpPr>
          <p:nvPr/>
        </p:nvSpPr>
        <p:spPr>
          <a:xfrm xmlns:a="http://schemas.openxmlformats.org/drawingml/2006/main">
            <a:off x="762000" y="2476500"/>
            <a:ext cx="8191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FFFFFF"/>
                </a:solidFill>
                <a:latin typeface="DejaVu Sans"/>
                <a:ea typeface="DejaVu Sans"/>
                <a:cs typeface="DejaVu Sans"/>
              </a:defRPr>
            </a:defPPr>
          </a:lstStyle>
          <a:p xmlns:a="http://schemas.openxmlformats.org/drawingml/2006/main">
            <a:pPr>
              <a:defRPr sz="6600" b="1">
                <a:solidFill>
                  <a:srgbClr val="FFFFFF"/>
                </a:solidFill>
                <a:latin typeface="DejaVu Sans"/>
                <a:ea typeface="DejaVu Sans"/>
                <a:cs typeface="DejaVu Sans"/>
              </a:defRPr>
            </a:pPr>
            <a:r>
              <a:rPr sz="6600" b="1">
                <a:solidFill>
                  <a:srgbClr val="FFFFFF"/>
                </a:solidFill>
                <a:latin typeface="DejaVu Sans"/>
                <a:ea typeface="DejaVu Sans"/>
                <a:cs typeface="DejaVu Sans"/>
              </a:rPr>
              <a:t>Fetch Timer</a:t>
            </a:r>
          </a:p>
        </p:txBody>
      </p:sp>
      <p:sp>
        <p:nvSpPr>
          <p:cNvPr id="3" name="text-80-410">
            <a:extLst xmlns:a="http://schemas.openxmlformats.org/drawingml/2006/main">
              <a:ext uri="{FF2B5EF4-FFF2-40B4-BE49-F238E27FC236}">
                <a16:creationId xmlns:a16="http://schemas.microsoft.com/office/drawing/2014/main" id="{34265DBF-CB28-4DA1-B0DB-80080F7F5D7B}"/>
              </a:ext>
            </a:extLst>
          </p:cNvPr>
          <p:cNvSpPr>
            <a:spLocks xmlns:a="http://schemas.openxmlformats.org/drawingml/2006/main" noGrp="1"/>
          </p:cNvSpPr>
          <p:nvPr/>
        </p:nvSpPr>
        <p:spPr>
          <a:xfrm xmlns:a="http://schemas.openxmlformats.org/drawingml/2006/main">
            <a:off x="762000" y="3905250"/>
            <a:ext cx="847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E2F6E8"/>
                </a:solidFill>
                <a:latin typeface="DejaVu Sans"/>
                <a:ea typeface="DejaVu Sans"/>
                <a:cs typeface="DejaVu Sans"/>
              </a:defRPr>
            </a:defPPr>
          </a:lstStyle>
          <a:p xmlns:a="http://schemas.openxmlformats.org/drawingml/2006/main">
            <a:pPr>
              <a:defRPr sz="3450" b="0">
                <a:solidFill>
                  <a:srgbClr val="E2F6E8"/>
                </a:solidFill>
                <a:latin typeface="DejaVu Sans"/>
                <a:ea typeface="DejaVu Sans"/>
                <a:cs typeface="DejaVu Sans"/>
              </a:defRPr>
            </a:pPr>
            <a:r>
              <a:rPr sz="3450" b="0">
                <a:solidFill>
                  <a:srgbClr val="E2F6E8"/>
                </a:solidFill>
                <a:latin typeface="DejaVu Sans"/>
                <a:ea typeface="DejaVu Sans"/>
                <a:cs typeface="DejaVu Sans"/>
              </a:rPr>
              <a:t>Duy trì sở thích mỗi ngày</a:t>
            </a:r>
          </a:p>
        </p:txBody>
      </p:sp>
      <p:sp>
        <p:nvSpPr>
          <p:cNvPr id="4" name="text-80-620">
            <a:extLst xmlns:a="http://schemas.openxmlformats.org/drawingml/2006/main">
              <a:ext uri="{FF2B5EF4-FFF2-40B4-BE49-F238E27FC236}">
                <a16:creationId xmlns:a16="http://schemas.microsoft.com/office/drawing/2014/main" id="{C109AB1B-C7AC-4AE2-9871-9E1BE25996EA}"/>
              </a:ext>
            </a:extLst>
          </p:cNvPr>
          <p:cNvSpPr>
            <a:spLocks xmlns:a="http://schemas.openxmlformats.org/drawingml/2006/main" noGrp="1"/>
          </p:cNvSpPr>
          <p:nvPr/>
        </p:nvSpPr>
        <p:spPr>
          <a:xfrm xmlns:a="http://schemas.openxmlformats.org/drawingml/2006/main">
            <a:off x="762000" y="5905500"/>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A5E9BD"/>
                </a:solidFill>
                <a:latin typeface="DejaVu Sans"/>
                <a:ea typeface="DejaVu Sans"/>
                <a:cs typeface="DejaVu Sans"/>
              </a:defRPr>
            </a:defPPr>
          </a:lstStyle>
          <a:p xmlns:a="http://schemas.openxmlformats.org/drawingml/2006/main">
            <a:pPr>
              <a:defRPr sz="2025" b="0">
                <a:solidFill>
                  <a:srgbClr val="A5E9BD"/>
                </a:solidFill>
                <a:latin typeface="DejaVu Sans"/>
                <a:ea typeface="DejaVu Sans"/>
                <a:cs typeface="DejaVu Sans"/>
              </a:defRPr>
            </a:pPr>
            <a:r>
              <a:rPr sz="2025" b="0">
                <a:solidFill>
                  <a:srgbClr val="A5E9BD"/>
                </a:solidFill>
                <a:latin typeface="DejaVu Sans"/>
                <a:ea typeface="DejaVu Sans"/>
                <a:cs typeface="DejaVu Sans"/>
              </a:rPr>
              <a:t>PRM323 LAB 2</a:t>
            </a:r>
          </a:p>
        </p:txBody>
      </p:sp>
      <p:sp>
        <p:nvSpPr>
          <p:cNvPr id="5" name="text-80-684">
            <a:extLst xmlns:a="http://schemas.openxmlformats.org/drawingml/2006/main">
              <a:ext uri="{FF2B5EF4-FFF2-40B4-BE49-F238E27FC236}">
                <a16:creationId xmlns:a16="http://schemas.microsoft.com/office/drawing/2014/main" id="{4B7B0F54-81BB-4B64-B256-D0280C92FAB8}"/>
              </a:ext>
            </a:extLst>
          </p:cNvPr>
          <p:cNvSpPr>
            <a:spLocks xmlns:a="http://schemas.openxmlformats.org/drawingml/2006/main" noGrp="1"/>
          </p:cNvSpPr>
          <p:nvPr/>
        </p:nvSpPr>
        <p:spPr>
          <a:xfrm xmlns:a="http://schemas.openxmlformats.org/drawingml/2006/main">
            <a:off x="762000" y="6515100"/>
            <a:ext cx="8191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DejaVu Sans"/>
                <a:ea typeface="DejaVu Sans"/>
                <a:cs typeface="DejaVu Sans"/>
              </a:defRPr>
            </a:defPPr>
          </a:lstStyle>
          <a:p xmlns:a="http://schemas.openxmlformats.org/drawingml/2006/main">
            <a:pPr>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Hobby &amp; lịch ngày</a:t>
            </a:r>
          </a:p>
          <a:p xmlns:a="http://schemas.openxmlformats.org/drawingml/2006/main">
            <a:pPr>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Focus</a:t>
            </a:r>
          </a:p>
          <a:p xmlns:a="http://schemas.openxmlformats.org/drawingml/2006/main">
            <a:pPr>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Cộng đồng</a:t>
            </a:r>
          </a:p>
        </p:txBody>
      </p:sp>
      <p:pic>
        <p:nvPicPr>
          <p:cNvPr id="6" name="">
            <a:extLst xmlns:a="http://schemas.openxmlformats.org/drawingml/2006/main">
              <a:ext uri="{FF2B5EF4-FFF2-40B4-BE49-F238E27FC236}">
                <a16:creationId xmlns:a16="http://schemas.microsoft.com/office/drawing/2014/main" id="{23B22F05-7A12-47D7-A506-AF9D24A1FF62}"/>
              </a:ext>
            </a:extLst>
          </p:cNvPr>
          <p:cNvPicPr>
            <a:picLocks xmlns:a="http://schemas.openxmlformats.org/drawingml/2006/main" noChangeAspect="1"/>
          </p:cNvPicPr>
          <p:nvPr/>
        </p:nvPicPr>
        <p:blipFill>
          <a:blip xmlns:r="http://schemas.openxmlformats.org/officeDocument/2006/relationships" xmlns:a="http://schemas.openxmlformats.org/drawingml/2006/main" r:embed="R29cf662072ff4e7d"/>
          <a:stretch xmlns:a="http://schemas.openxmlformats.org/drawingml/2006/main"/>
        </p:blipFill>
        <p:spPr>
          <a:xfrm xmlns:a="http://schemas.openxmlformats.org/drawingml/2006/main">
            <a:off x="10668000" y="746980"/>
            <a:ext cx="3143250" cy="6802315"/>
          </a:xfrm>
          <a:prstGeom xmlns:a="http://schemas.openxmlformats.org/drawingml/2006/main" prst="rect">
            <a:avLst/>
          </a:prstGeom>
        </p:spPr>
      </p:pic>
    </p:spTree>
    <p:extLst>
      <p:ext uri="{BB962C8B-B14F-4D97-AF65-F5344CB8AC3E}">
        <p14:creationId xmlns:p14="http://schemas.microsoft.com/office/powerpoint/2010/main" val="865891540"/>
      </p:ext>
    </p:extLst>
  </p:cSld>
</p:sld>
</file>

<file path=ppt/slides/slide2.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3" name="text-80-65">
            <a:extLst xmlns:a="http://schemas.openxmlformats.org/drawingml/2006/main">
              <a:ext uri="{FF2B5EF4-FFF2-40B4-BE49-F238E27FC236}">
                <a16:creationId xmlns:a16="http://schemas.microsoft.com/office/drawing/2014/main" id="{8F282041-47A0-48B5-8618-419E411A0C25}"/>
              </a:ext>
            </a:extLst>
          </p:cNvPr>
          <p:cNvSpPr>
            <a:spLocks xmlns:a="http://schemas.openxmlformats.org/drawingml/2006/main" noGrp="1"/>
          </p:cNvSpPr>
          <p:nvPr/>
        </p:nvSpPr>
        <p:spPr>
          <a:xfrm xmlns:a="http://schemas.openxmlformats.org/drawingml/2006/main">
            <a:off x="762000" y="61912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Vấn đề và persona</a:t>
            </a:r>
          </a:p>
        </p:txBody>
      </p:sp>
      <p:sp>
        <p:nvSpPr>
          <p:cNvPr id="2" name="text-80-154">
            <a:extLst xmlns:a="http://schemas.openxmlformats.org/drawingml/2006/main">
              <a:ext uri="{FF2B5EF4-FFF2-40B4-BE49-F238E27FC236}">
                <a16:creationId xmlns:a16="http://schemas.microsoft.com/office/drawing/2014/main" id="{1BF203B0-0BC6-4ACC-9FB5-A8720722CFE0}"/>
              </a:ext>
            </a:extLst>
          </p:cNvPr>
          <p:cNvSpPr>
            <a:spLocks xmlns:a="http://schemas.openxmlformats.org/drawingml/2006/main" noGrp="1"/>
          </p:cNvSpPr>
          <p:nvPr/>
        </p:nvSpPr>
        <p:spPr>
          <a:xfrm xmlns:a="http://schemas.openxmlformats.org/drawingml/2006/main">
            <a:off x="762000" y="146685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E4A40"/>
                </a:solidFill>
                <a:latin typeface="DejaVu Sans"/>
                <a:ea typeface="DejaVu Sans"/>
                <a:cs typeface="DejaVu Sans"/>
              </a:defRPr>
            </a:defPPr>
          </a:lstStyle>
          <a:p xmlns:a="http://schemas.openxmlformats.org/drawingml/2006/main">
            <a:pPr>
              <a:defRPr sz="2100" b="0">
                <a:solidFill>
                  <a:srgbClr val="3E4A40"/>
                </a:solidFill>
                <a:latin typeface="DejaVu Sans"/>
                <a:ea typeface="DejaVu Sans"/>
                <a:cs typeface="DejaVu Sans"/>
              </a:defRPr>
            </a:pPr>
            <a:r>
              <a:rPr sz="2100" b="0">
                <a:solidFill>
                  <a:srgbClr val="3E4A40"/>
                </a:solidFill>
                <a:latin typeface="DejaVu Sans"/>
                <a:ea typeface="DejaVu Sans"/>
                <a:cs typeface="DejaVu Sans"/>
              </a:rPr>
              <a:t>Minh, 21 tuổi, sinh viên</a:t>
            </a:r>
          </a:p>
        </p:txBody>
      </p:sp>
      <p:sp>
        <p:nvSpPr>
          <p:cNvPr id="3" name="text-80-282">
            <a:extLst xmlns:a="http://schemas.openxmlformats.org/drawingml/2006/main">
              <a:ext uri="{FF2B5EF4-FFF2-40B4-BE49-F238E27FC236}">
                <a16:creationId xmlns:a16="http://schemas.microsoft.com/office/drawing/2014/main" id="{4D1115ED-5780-4C47-8AED-4BE6DB516175}"/>
              </a:ext>
            </a:extLst>
          </p:cNvPr>
          <p:cNvSpPr>
            <a:spLocks xmlns:a="http://schemas.openxmlformats.org/drawingml/2006/main" noGrp="1"/>
          </p:cNvSpPr>
          <p:nvPr/>
        </p:nvSpPr>
        <p:spPr>
          <a:xfrm xmlns:a="http://schemas.openxmlformats.org/drawingml/2006/main">
            <a:off x="762000" y="26860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01</a:t>
            </a:r>
          </a:p>
        </p:txBody>
      </p:sp>
      <p:sp>
        <p:nvSpPr>
          <p:cNvPr id="4" name="text-168-282">
            <a:extLst xmlns:a="http://schemas.openxmlformats.org/drawingml/2006/main">
              <a:ext uri="{FF2B5EF4-FFF2-40B4-BE49-F238E27FC236}">
                <a16:creationId xmlns:a16="http://schemas.microsoft.com/office/drawing/2014/main" id="{AE582CBF-FF1B-4598-953C-E3A6FDD67149}"/>
              </a:ext>
            </a:extLst>
          </p:cNvPr>
          <p:cNvSpPr>
            <a:spLocks xmlns:a="http://schemas.openxmlformats.org/drawingml/2006/main" noGrp="1"/>
          </p:cNvSpPr>
          <p:nvPr/>
        </p:nvSpPr>
        <p:spPr>
          <a:xfrm xmlns:a="http://schemas.openxmlformats.org/drawingml/2006/main">
            <a:off x="1600200" y="2686050"/>
            <a:ext cx="12239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Lịch học thay đổi, dễ quên thời gian cho hobby</a:t>
            </a:r>
          </a:p>
        </p:txBody>
      </p:sp>
      <p:sp>
        <p:nvSpPr>
          <p:cNvPr id="5" name="text-80-387">
            <a:extLst xmlns:a="http://schemas.openxmlformats.org/drawingml/2006/main">
              <a:ext uri="{FF2B5EF4-FFF2-40B4-BE49-F238E27FC236}">
                <a16:creationId xmlns:a16="http://schemas.microsoft.com/office/drawing/2014/main" id="{CBD7B869-0826-426F-A76D-A94FC18D8891}"/>
              </a:ext>
            </a:extLst>
          </p:cNvPr>
          <p:cNvSpPr>
            <a:spLocks xmlns:a="http://schemas.openxmlformats.org/drawingml/2006/main" noGrp="1"/>
          </p:cNvSpPr>
          <p:nvPr/>
        </p:nvSpPr>
        <p:spPr>
          <a:xfrm xmlns:a="http://schemas.openxmlformats.org/drawingml/2006/main">
            <a:off x="762000" y="3686175"/>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02</a:t>
            </a:r>
          </a:p>
        </p:txBody>
      </p:sp>
      <p:sp>
        <p:nvSpPr>
          <p:cNvPr id="6" name="text-168-387">
            <a:extLst xmlns:a="http://schemas.openxmlformats.org/drawingml/2006/main">
              <a:ext uri="{FF2B5EF4-FFF2-40B4-BE49-F238E27FC236}">
                <a16:creationId xmlns:a16="http://schemas.microsoft.com/office/drawing/2014/main" id="{ADA3A76B-EC97-44CC-876B-BF308DB287F7}"/>
              </a:ext>
            </a:extLst>
          </p:cNvPr>
          <p:cNvSpPr>
            <a:spLocks xmlns:a="http://schemas.openxmlformats.org/drawingml/2006/main" noGrp="1"/>
          </p:cNvSpPr>
          <p:nvPr/>
        </p:nvSpPr>
        <p:spPr>
          <a:xfrm xmlns:a="http://schemas.openxmlformats.org/drawingml/2006/main">
            <a:off x="1600200" y="3686175"/>
            <a:ext cx="12239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Muốn luyện Guitar và đọc sách đều đặn</a:t>
            </a:r>
          </a:p>
        </p:txBody>
      </p:sp>
      <p:sp>
        <p:nvSpPr>
          <p:cNvPr id="7" name="text-80-492">
            <a:extLst xmlns:a="http://schemas.openxmlformats.org/drawingml/2006/main">
              <a:ext uri="{FF2B5EF4-FFF2-40B4-BE49-F238E27FC236}">
                <a16:creationId xmlns:a16="http://schemas.microsoft.com/office/drawing/2014/main" id="{2CEA8918-2CCC-4923-9BB4-94E54D0CAB53}"/>
              </a:ext>
            </a:extLst>
          </p:cNvPr>
          <p:cNvSpPr>
            <a:spLocks xmlns:a="http://schemas.openxmlformats.org/drawingml/2006/main" noGrp="1"/>
          </p:cNvSpPr>
          <p:nvPr/>
        </p:nvSpPr>
        <p:spPr>
          <a:xfrm xmlns:a="http://schemas.openxmlformats.org/drawingml/2006/main">
            <a:off x="762000" y="468630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03</a:t>
            </a:r>
          </a:p>
        </p:txBody>
      </p:sp>
      <p:sp>
        <p:nvSpPr>
          <p:cNvPr id="8" name="text-168-492">
            <a:extLst xmlns:a="http://schemas.openxmlformats.org/drawingml/2006/main">
              <a:ext uri="{FF2B5EF4-FFF2-40B4-BE49-F238E27FC236}">
                <a16:creationId xmlns:a16="http://schemas.microsoft.com/office/drawing/2014/main" id="{1F961BC8-3500-44CA-8FE3-6333264B0763}"/>
              </a:ext>
            </a:extLst>
          </p:cNvPr>
          <p:cNvSpPr>
            <a:spLocks xmlns:a="http://schemas.openxmlformats.org/drawingml/2006/main" noGrp="1"/>
          </p:cNvSpPr>
          <p:nvPr/>
        </p:nvSpPr>
        <p:spPr>
          <a:xfrm xmlns:a="http://schemas.openxmlformats.org/drawingml/2006/main">
            <a:off x="1600200" y="4686300"/>
            <a:ext cx="12239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Kế hoạch, timer và cảm hứng đang rời rạc</a:t>
            </a:r>
          </a:p>
        </p:txBody>
      </p:sp>
      <p:sp>
        <p:nvSpPr>
          <p:cNvPr id="9" name="text-80-597">
            <a:extLst xmlns:a="http://schemas.openxmlformats.org/drawingml/2006/main">
              <a:ext uri="{FF2B5EF4-FFF2-40B4-BE49-F238E27FC236}">
                <a16:creationId xmlns:a16="http://schemas.microsoft.com/office/drawing/2014/main" id="{72AA1823-321D-4BDE-B69D-112F29A2BE99}"/>
              </a:ext>
            </a:extLst>
          </p:cNvPr>
          <p:cNvSpPr>
            <a:spLocks xmlns:a="http://schemas.openxmlformats.org/drawingml/2006/main" noGrp="1"/>
          </p:cNvSpPr>
          <p:nvPr/>
        </p:nvSpPr>
        <p:spPr>
          <a:xfrm xmlns:a="http://schemas.openxmlformats.org/drawingml/2006/main">
            <a:off x="762000" y="5686425"/>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04</a:t>
            </a:r>
          </a:p>
        </p:txBody>
      </p:sp>
      <p:sp>
        <p:nvSpPr>
          <p:cNvPr id="10" name="text-168-597">
            <a:extLst xmlns:a="http://schemas.openxmlformats.org/drawingml/2006/main">
              <a:ext uri="{FF2B5EF4-FFF2-40B4-BE49-F238E27FC236}">
                <a16:creationId xmlns:a16="http://schemas.microsoft.com/office/drawing/2014/main" id="{CD4B8256-777C-4BF4-B2A0-143777B59566}"/>
              </a:ext>
            </a:extLst>
          </p:cNvPr>
          <p:cNvSpPr>
            <a:spLocks xmlns:a="http://schemas.openxmlformats.org/drawingml/2006/main" noGrp="1"/>
          </p:cNvSpPr>
          <p:nvPr/>
        </p:nvSpPr>
        <p:spPr>
          <a:xfrm xmlns:a="http://schemas.openxmlformats.org/drawingml/2006/main">
            <a:off x="1600200" y="5686425"/>
            <a:ext cx="12239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Mục tiêu kiểm thử: ≥80% tạo hobby + lịch trong ≤3 phút</a:t>
            </a:r>
          </a:p>
        </p:txBody>
      </p:sp>
      <p:sp>
        <p:nvSpPr>
          <p:cNvPr id="11" name="text-80-837">
            <a:extLst xmlns:a="http://schemas.openxmlformats.org/drawingml/2006/main">
              <a:ext uri="{FF2B5EF4-FFF2-40B4-BE49-F238E27FC236}">
                <a16:creationId xmlns:a16="http://schemas.microsoft.com/office/drawing/2014/main" id="{B35325D5-794B-4DA9-83A6-498F3BCA021A}"/>
              </a:ext>
            </a:extLst>
          </p:cNvPr>
          <p:cNvSpPr>
            <a:spLocks xmlns:a="http://schemas.openxmlformats.org/drawingml/2006/main" noGrp="1"/>
          </p:cNvSpPr>
          <p:nvPr/>
        </p:nvSpPr>
        <p:spPr>
          <a:xfrm xmlns:a="http://schemas.openxmlformats.org/drawingml/2006/main">
            <a:off x="762000" y="7972425"/>
            <a:ext cx="1352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Proto-persona và ngưỡng thiết kế, chưa có kết quả nghiên cứu</a:t>
            </a:r>
          </a:p>
        </p:txBody>
      </p:sp>
      <p:sp>
        <p:nvSpPr>
          <p:cNvPr id="12" name="text-1465-28">
            <a:extLst xmlns:a="http://schemas.openxmlformats.org/drawingml/2006/main">
              <a:ext uri="{FF2B5EF4-FFF2-40B4-BE49-F238E27FC236}">
                <a16:creationId xmlns:a16="http://schemas.microsoft.com/office/drawing/2014/main" id="{F9670E0A-86B6-43F3-A341-9466326BF5CE}"/>
              </a:ext>
            </a:extLst>
          </p:cNvPr>
          <p:cNvSpPr>
            <a:spLocks xmlns:a="http://schemas.openxmlformats.org/drawingml/2006/main" noGrp="1"/>
          </p:cNvSpPr>
          <p:nvPr/>
        </p:nvSpPr>
        <p:spPr>
          <a:xfrm xmlns:a="http://schemas.openxmlformats.org/drawingml/2006/main">
            <a:off x="13954125" y="2667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006A39"/>
                </a:solidFill>
                <a:latin typeface="DejaVu Sans"/>
                <a:ea typeface="DejaVu Sans"/>
                <a:cs typeface="DejaVu Sans"/>
              </a:defRPr>
            </a:defPPr>
          </a:lstStyle>
          <a:p xmlns:a="http://schemas.openxmlformats.org/drawingml/2006/main">
            <a:pPr>
              <a:defRPr sz="1500" b="0">
                <a:solidFill>
                  <a:srgbClr val="006A39"/>
                </a:solidFill>
                <a:latin typeface="DejaVu Sans"/>
                <a:ea typeface="DejaVu Sans"/>
                <a:cs typeface="DejaVu Sans"/>
              </a:defRPr>
            </a:pPr>
            <a:r>
              <a:rPr sz="1500" b="0">
                <a:solidFill>
                  <a:srgbClr val="006A39"/>
                </a:solidFill>
                <a:latin typeface="DejaVu Sans"/>
                <a:ea typeface="DejaVu Sans"/>
                <a:cs typeface="DejaVu Sans"/>
              </a:rPr>
              <a:t>02</a:t>
            </a:r>
          </a:p>
        </p:txBody>
      </p:sp>
    </p:spTree>
    <p:extLst>
      <p:ext uri="{BB962C8B-B14F-4D97-AF65-F5344CB8AC3E}">
        <p14:creationId xmlns:p14="http://schemas.microsoft.com/office/powerpoint/2010/main" val="212663456"/>
      </p:ext>
    </p:extLst>
  </p:cSld>
</p:sld>
</file>

<file path=ppt/slides/slide3.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6" name="text-80-65">
            <a:extLst xmlns:a="http://schemas.openxmlformats.org/drawingml/2006/main">
              <a:ext uri="{FF2B5EF4-FFF2-40B4-BE49-F238E27FC236}">
                <a16:creationId xmlns:a16="http://schemas.microsoft.com/office/drawing/2014/main" id="{EC2E47D0-3320-4706-8863-9810BE44D307}"/>
              </a:ext>
            </a:extLst>
          </p:cNvPr>
          <p:cNvSpPr>
            <a:spLocks xmlns:a="http://schemas.openxmlformats.org/drawingml/2006/main" noGrp="1"/>
          </p:cNvSpPr>
          <p:nvPr/>
        </p:nvSpPr>
        <p:spPr>
          <a:xfrm xmlns:a="http://schemas.openxmlformats.org/drawingml/2006/main">
            <a:off x="762000" y="61912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Kiến trúc thông tin</a:t>
            </a:r>
          </a:p>
        </p:txBody>
      </p:sp>
      <p:sp>
        <p:nvSpPr>
          <p:cNvPr id="2" name="text-80-154">
            <a:extLst xmlns:a="http://schemas.openxmlformats.org/drawingml/2006/main">
              <a:ext uri="{FF2B5EF4-FFF2-40B4-BE49-F238E27FC236}">
                <a16:creationId xmlns:a16="http://schemas.microsoft.com/office/drawing/2014/main" id="{B4FD0418-15AA-47D7-B99D-F2EC5C2B8EE4}"/>
              </a:ext>
            </a:extLst>
          </p:cNvPr>
          <p:cNvSpPr>
            <a:spLocks xmlns:a="http://schemas.openxmlformats.org/drawingml/2006/main" noGrp="1"/>
          </p:cNvSpPr>
          <p:nvPr/>
        </p:nvSpPr>
        <p:spPr>
          <a:xfrm xmlns:a="http://schemas.openxmlformats.org/drawingml/2006/main">
            <a:off x="762000" y="146685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E4A40"/>
                </a:solidFill>
                <a:latin typeface="DejaVu Sans"/>
                <a:ea typeface="DejaVu Sans"/>
                <a:cs typeface="DejaVu Sans"/>
              </a:defRPr>
            </a:defPPr>
          </a:lstStyle>
          <a:p xmlns:a="http://schemas.openxmlformats.org/drawingml/2006/main">
            <a:pPr>
              <a:defRPr sz="2100" b="0">
                <a:solidFill>
                  <a:srgbClr val="3E4A40"/>
                </a:solidFill>
                <a:latin typeface="DejaVu Sans"/>
                <a:ea typeface="DejaVu Sans"/>
                <a:cs typeface="DejaVu Sans"/>
              </a:defRPr>
            </a:pPr>
            <a:r>
              <a:rPr sz="2100" b="0">
                <a:solidFill>
                  <a:srgbClr val="3E4A40"/>
                </a:solidFill>
                <a:latin typeface="DejaVu Sans"/>
                <a:ea typeface="DejaVu Sans"/>
                <a:cs typeface="DejaVu Sans"/>
              </a:rPr>
              <a:t>5 điểm đến, 44 màn hình chức năng</a:t>
            </a:r>
          </a:p>
        </p:txBody>
      </p:sp>
      <p:graphicFrame>
        <p:nvGraphicFramePr>
          <p:cNvPr id="3" name="">
            <a:extLst xmlns:a="http://schemas.openxmlformats.org/drawingml/2006/main">
              <a:ext uri="{FF2B5EF4-FFF2-40B4-BE49-F238E27FC236}">
                <a16:creationId xmlns:a16="http://schemas.microsoft.com/office/drawing/2014/main" id="{30DB69C4-B176-445F-885A-024423DF138F}"/>
              </a:ext>
            </a:extLst>
          </p:cNvPr>
          <p:cNvGraphicFramePr/>
          <p:nvPr/>
        </p:nvGraphicFramePr>
        <p:xfrm>
          <a:off xmlns:a="http://schemas.openxmlformats.org/drawingml/2006/main" x="762000" y="2524125"/>
          <a:ext xmlns:a="http://schemas.openxmlformats.org/drawingml/2006/main" cx="13716000" cy="4143375"/>
        </p:xfrm>
        <a:graphic xmlns:a="http://schemas.openxmlformats.org/drawingml/2006/main">
          <a:graphicData uri="http://schemas.openxmlformats.org/drawingml/2006/table">
            <a:tbl>
              <a:tblPr/>
              <a:tblGrid>
                <a:gridCol w="3429000"/>
                <a:gridCol w="4381500"/>
                <a:gridCol w="5905500"/>
              </a:tblGrid>
              <a:tr h="690563">
                <a:tc>
                  <a:txBody>
                    <a:bodyPr/>
                    <a:lstStyle/>
                    <a:p>
                      <a:r>
                        <a:rPr sz="2025" b="1">
                          <a:solidFill>
                            <a:srgbClr val="FFFFFF"/>
                          </a:solidFill>
                          <a:latin typeface="DejaVu Sans"/>
                          <a:ea typeface="DejaVu Sans"/>
                          <a:cs typeface="DejaVu Sans"/>
                        </a:rPr>
                        <a:t>Điểm đến</a:t>
                      </a:r>
                    </a:p>
                  </a:txBody>
                  <a:tcPr marL="91440" marR="91440" marT="45720" marB="45720">
                    <a:solidFill>
                      <a:srgbClr val="006A39"/>
                    </a:solidFill>
                  </a:tcPr>
                </a:tc>
                <a:tc>
                  <a:txBody>
                    <a:bodyPr/>
                    <a:lstStyle/>
                    <a:p>
                      <a:r>
                        <a:rPr sz="2025" b="1">
                          <a:solidFill>
                            <a:srgbClr val="FFFFFF"/>
                          </a:solidFill>
                          <a:latin typeface="DejaVu Sans"/>
                          <a:ea typeface="DejaVu Sans"/>
                          <a:cs typeface="DejaVu Sans"/>
                        </a:rPr>
                        <a:t>Màn con</a:t>
                      </a:r>
                    </a:p>
                  </a:txBody>
                  <a:tcPr marL="91440" marR="91440" marT="45720" marB="45720">
                    <a:solidFill>
                      <a:srgbClr val="006A39"/>
                    </a:solidFill>
                  </a:tcPr>
                </a:tc>
                <a:tc>
                  <a:txBody>
                    <a:bodyPr/>
                    <a:lstStyle/>
                    <a:p>
                      <a:r>
                        <a:rPr sz="2025" b="1">
                          <a:solidFill>
                            <a:srgbClr val="FFFFFF"/>
                          </a:solidFill>
                          <a:latin typeface="DejaVu Sans"/>
                          <a:ea typeface="DejaVu Sans"/>
                          <a:cs typeface="DejaVu Sans"/>
                        </a:rPr>
                        <a:t>Vai trò</a:t>
                      </a:r>
                    </a:p>
                  </a:txBody>
                  <a:tcPr marL="91440" marR="91440" marT="45720" marB="45720">
                    <a:solidFill>
                      <a:srgbClr val="006A39"/>
                    </a:solidFill>
                  </a:tcPr>
                </a:tc>
              </a:tr>
              <a:tr h="690563">
                <a:tc>
                  <a:txBody>
                    <a:bodyPr/>
                    <a:lstStyle/>
                    <a:p>
                      <a:r>
                        <a:rPr sz="1875" b="0">
                          <a:solidFill>
                            <a:srgbClr val="191C1B"/>
                          </a:solidFill>
                          <a:latin typeface="DejaVu Sans"/>
                          <a:ea typeface="DejaVu Sans"/>
                          <a:cs typeface="DejaVu Sans"/>
                        </a:rPr>
                        <a:t>Trang chủ M01</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M14, đường tắt hobby/lịch</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Điểm bắt đầu F1</a:t>
                      </a:r>
                    </a:p>
                  </a:txBody>
                  <a:tcPr marL="91440" marR="91440" marT="45720" marB="45720">
                    <a:solidFill>
                      <a:srgbClr val="FFFFFF"/>
                    </a:solidFill>
                  </a:tcPr>
                </a:tc>
              </a:tr>
              <a:tr h="690563">
                <a:tc>
                  <a:txBody>
                    <a:bodyPr/>
                    <a:lstStyle/>
                    <a:p>
                      <a:r>
                        <a:rPr sz="1875" b="0">
                          <a:solidFill>
                            <a:srgbClr val="191C1B"/>
                          </a:solidFill>
                          <a:latin typeface="DejaVu Sans"/>
                          <a:ea typeface="DejaVu Sans"/>
                          <a:cs typeface="DejaVu Sans"/>
                        </a:rPr>
                        <a:t>Lịch trình M02</a:t>
                      </a:r>
                    </a:p>
                  </a:txBody>
                  <a:tcPr marL="91440" marR="91440" marT="45720" marB="45720">
                    <a:solidFill>
                      <a:srgbClr val="EDF3EF"/>
                    </a:solidFill>
                  </a:tcPr>
                </a:tc>
                <a:tc>
                  <a:txBody>
                    <a:bodyPr/>
                    <a:lstStyle/>
                    <a:p>
                      <a:r>
                        <a:rPr sz="1875" b="0">
                          <a:solidFill>
                            <a:srgbClr val="191C1B"/>
                          </a:solidFill>
                          <a:latin typeface="DejaVu Sans"/>
                          <a:ea typeface="DejaVu Sans"/>
                          <a:cs typeface="DejaVu Sans"/>
                        </a:rPr>
                        <a:t>M06–M13</a:t>
                      </a:r>
                    </a:p>
                  </a:txBody>
                  <a:tcPr marL="91440" marR="91440" marT="45720" marB="45720">
                    <a:solidFill>
                      <a:srgbClr val="EDF3EF"/>
                    </a:solidFill>
                  </a:tcPr>
                </a:tc>
                <a:tc>
                  <a:txBody>
                    <a:bodyPr/>
                    <a:lstStyle/>
                    <a:p>
                      <a:r>
                        <a:rPr sz="1875" b="0">
                          <a:solidFill>
                            <a:srgbClr val="191C1B"/>
                          </a:solidFill>
                          <a:latin typeface="DejaVu Sans"/>
                          <a:ea typeface="DejaVu Sans"/>
                          <a:cs typeface="DejaVu Sans"/>
                        </a:rPr>
                        <a:t>Hobby và lịch ngày</a:t>
                      </a:r>
                    </a:p>
                  </a:txBody>
                  <a:tcPr marL="91440" marR="91440" marT="45720" marB="45720">
                    <a:solidFill>
                      <a:srgbClr val="EDF3EF"/>
                    </a:solidFill>
                  </a:tcPr>
                </a:tc>
              </a:tr>
              <a:tr h="690563">
                <a:tc>
                  <a:txBody>
                    <a:bodyPr/>
                    <a:lstStyle/>
                    <a:p>
                      <a:r>
                        <a:rPr sz="1875" b="0">
                          <a:solidFill>
                            <a:srgbClr val="191C1B"/>
                          </a:solidFill>
                          <a:latin typeface="DejaVu Sans"/>
                          <a:ea typeface="DejaVu Sans"/>
                          <a:cs typeface="DejaVu Sans"/>
                        </a:rPr>
                        <a:t>Tập trung M03</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M15–M24</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Timer, tổng kết, nhật ký</a:t>
                      </a:r>
                    </a:p>
                  </a:txBody>
                  <a:tcPr marL="91440" marR="91440" marT="45720" marB="45720">
                    <a:solidFill>
                      <a:srgbClr val="FFFFFF"/>
                    </a:solidFill>
                  </a:tcPr>
                </a:tc>
              </a:tr>
              <a:tr h="690563">
                <a:tc>
                  <a:txBody>
                    <a:bodyPr/>
                    <a:lstStyle/>
                    <a:p>
                      <a:r>
                        <a:rPr sz="1875" b="0">
                          <a:solidFill>
                            <a:srgbClr val="191C1B"/>
                          </a:solidFill>
                          <a:latin typeface="DejaVu Sans"/>
                          <a:ea typeface="DejaVu Sans"/>
                          <a:cs typeface="DejaVu Sans"/>
                        </a:rPr>
                        <a:t>Cộng đồng M04</a:t>
                      </a:r>
                    </a:p>
                  </a:txBody>
                  <a:tcPr marL="91440" marR="91440" marT="45720" marB="45720">
                    <a:solidFill>
                      <a:srgbClr val="EDF3EF"/>
                    </a:solidFill>
                  </a:tcPr>
                </a:tc>
                <a:tc>
                  <a:txBody>
                    <a:bodyPr/>
                    <a:lstStyle/>
                    <a:p>
                      <a:r>
                        <a:rPr sz="1875" b="0">
                          <a:solidFill>
                            <a:srgbClr val="191C1B"/>
                          </a:solidFill>
                          <a:latin typeface="DejaVu Sans"/>
                          <a:ea typeface="DejaVu Sans"/>
                          <a:cs typeface="DejaVu Sans"/>
                        </a:rPr>
                        <a:t>M25–M37</a:t>
                      </a:r>
                    </a:p>
                  </a:txBody>
                  <a:tcPr marL="91440" marR="91440" marT="45720" marB="45720">
                    <a:solidFill>
                      <a:srgbClr val="EDF3EF"/>
                    </a:solidFill>
                  </a:tcPr>
                </a:tc>
                <a:tc>
                  <a:txBody>
                    <a:bodyPr/>
                    <a:lstStyle/>
                    <a:p>
                      <a:r>
                        <a:rPr sz="1875" b="0">
                          <a:solidFill>
                            <a:srgbClr val="191C1B"/>
                          </a:solidFill>
                          <a:latin typeface="DejaVu Sans"/>
                          <a:ea typeface="DejaVu Sans"/>
                          <a:cs typeface="DejaVu Sans"/>
                        </a:rPr>
                        <a:t>Chia sẻ, tìm, nhóm, thử thách</a:t>
                      </a:r>
                    </a:p>
                  </a:txBody>
                  <a:tcPr marL="91440" marR="91440" marT="45720" marB="45720">
                    <a:solidFill>
                      <a:srgbClr val="EDF3EF"/>
                    </a:solidFill>
                  </a:tcPr>
                </a:tc>
              </a:tr>
              <a:tr h="690563">
                <a:tc>
                  <a:txBody>
                    <a:bodyPr/>
                    <a:lstStyle/>
                    <a:p>
                      <a:r>
                        <a:rPr sz="1875" b="0">
                          <a:solidFill>
                            <a:srgbClr val="191C1B"/>
                          </a:solidFill>
                          <a:latin typeface="DejaVu Sans"/>
                          <a:ea typeface="DejaVu Sans"/>
                          <a:cs typeface="DejaVu Sans"/>
                        </a:rPr>
                        <a:t>Cá nhân M05</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M38–M44</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Hồ sơ và cài đặt chung</a:t>
                      </a:r>
                    </a:p>
                  </a:txBody>
                  <a:tcPr marL="91440" marR="91440" marT="45720" marB="45720">
                    <a:solidFill>
                      <a:srgbClr val="FFFFFF"/>
                    </a:solidFill>
                  </a:tcPr>
                </a:tc>
              </a:tr>
            </a:tbl>
          </a:graphicData>
        </a:graphic>
      </p:graphicFrame>
      <p:sp>
        <p:nvSpPr>
          <p:cNvPr id="4" name="text-80-837">
            <a:extLst xmlns:a="http://schemas.openxmlformats.org/drawingml/2006/main">
              <a:ext uri="{FF2B5EF4-FFF2-40B4-BE49-F238E27FC236}">
                <a16:creationId xmlns:a16="http://schemas.microsoft.com/office/drawing/2014/main" id="{4CB2ECAA-0E9E-4F49-B336-FFACE9D6B6F3}"/>
              </a:ext>
            </a:extLst>
          </p:cNvPr>
          <p:cNvSpPr>
            <a:spLocks xmlns:a="http://schemas.openxmlformats.org/drawingml/2006/main" noGrp="1"/>
          </p:cNvSpPr>
          <p:nvPr/>
        </p:nvSpPr>
        <p:spPr>
          <a:xfrm xmlns:a="http://schemas.openxmlformats.org/drawingml/2006/main">
            <a:off x="762000" y="7972425"/>
            <a:ext cx="1352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M00 là quy chuẩn. Biến thể M16 không tính thành màn hình mới</a:t>
            </a:r>
          </a:p>
        </p:txBody>
      </p:sp>
      <p:sp>
        <p:nvSpPr>
          <p:cNvPr id="5" name="text-1465-28">
            <a:extLst xmlns:a="http://schemas.openxmlformats.org/drawingml/2006/main">
              <a:ext uri="{FF2B5EF4-FFF2-40B4-BE49-F238E27FC236}">
                <a16:creationId xmlns:a16="http://schemas.microsoft.com/office/drawing/2014/main" id="{A22D27E3-F8C4-43DE-93F9-10F55C87FECB}"/>
              </a:ext>
            </a:extLst>
          </p:cNvPr>
          <p:cNvSpPr>
            <a:spLocks xmlns:a="http://schemas.openxmlformats.org/drawingml/2006/main" noGrp="1"/>
          </p:cNvSpPr>
          <p:nvPr/>
        </p:nvSpPr>
        <p:spPr>
          <a:xfrm xmlns:a="http://schemas.openxmlformats.org/drawingml/2006/main">
            <a:off x="13954125" y="2667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006A39"/>
                </a:solidFill>
                <a:latin typeface="DejaVu Sans"/>
                <a:ea typeface="DejaVu Sans"/>
                <a:cs typeface="DejaVu Sans"/>
              </a:defRPr>
            </a:defPPr>
          </a:lstStyle>
          <a:p xmlns:a="http://schemas.openxmlformats.org/drawingml/2006/main">
            <a:pPr>
              <a:defRPr sz="1500" b="0">
                <a:solidFill>
                  <a:srgbClr val="006A39"/>
                </a:solidFill>
                <a:latin typeface="DejaVu Sans"/>
                <a:ea typeface="DejaVu Sans"/>
                <a:cs typeface="DejaVu Sans"/>
              </a:defRPr>
            </a:pPr>
            <a:r>
              <a:rPr sz="1500" b="0">
                <a:solidFill>
                  <a:srgbClr val="006A39"/>
                </a:solidFill>
                <a:latin typeface="DejaVu Sans"/>
                <a:ea typeface="DejaVu Sans"/>
                <a:cs typeface="DejaVu Sans"/>
              </a:rPr>
              <a:t>03</a:t>
            </a:r>
          </a:p>
        </p:txBody>
      </p:sp>
    </p:spTree>
    <p:extLst>
      <p:ext uri="{BB962C8B-B14F-4D97-AF65-F5344CB8AC3E}">
        <p14:creationId xmlns:p14="http://schemas.microsoft.com/office/powerpoint/2010/main" val="1784713897"/>
      </p:ext>
    </p:extLst>
  </p:cSld>
</p:sld>
</file>

<file path=ppt/slides/slide4.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6" name="text-80-65">
            <a:extLst xmlns:a="http://schemas.openxmlformats.org/drawingml/2006/main">
              <a:ext uri="{FF2B5EF4-FFF2-40B4-BE49-F238E27FC236}">
                <a16:creationId xmlns:a16="http://schemas.microsoft.com/office/drawing/2014/main" id="{CFB0C987-5FAC-4299-A956-FE3995CEB277}"/>
              </a:ext>
            </a:extLst>
          </p:cNvPr>
          <p:cNvSpPr>
            <a:spLocks xmlns:a="http://schemas.openxmlformats.org/drawingml/2006/main" noGrp="1"/>
          </p:cNvSpPr>
          <p:nvPr/>
        </p:nvSpPr>
        <p:spPr>
          <a:xfrm xmlns:a="http://schemas.openxmlformats.org/drawingml/2006/main">
            <a:off x="762000" y="61912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Ba flow chính</a:t>
            </a:r>
          </a:p>
        </p:txBody>
      </p:sp>
      <p:sp>
        <p:nvSpPr>
          <p:cNvPr id="2" name="text-80-154">
            <a:extLst xmlns:a="http://schemas.openxmlformats.org/drawingml/2006/main">
              <a:ext uri="{FF2B5EF4-FFF2-40B4-BE49-F238E27FC236}">
                <a16:creationId xmlns:a16="http://schemas.microsoft.com/office/drawing/2014/main" id="{91A013F5-231E-455C-844F-055FB0961ACE}"/>
              </a:ext>
            </a:extLst>
          </p:cNvPr>
          <p:cNvSpPr>
            <a:spLocks xmlns:a="http://schemas.openxmlformats.org/drawingml/2006/main" noGrp="1"/>
          </p:cNvSpPr>
          <p:nvPr/>
        </p:nvSpPr>
        <p:spPr>
          <a:xfrm xmlns:a="http://schemas.openxmlformats.org/drawingml/2006/main">
            <a:off x="762000" y="146685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E4A40"/>
                </a:solidFill>
                <a:latin typeface="DejaVu Sans"/>
                <a:ea typeface="DejaVu Sans"/>
                <a:cs typeface="DejaVu Sans"/>
              </a:defRPr>
            </a:defPPr>
          </a:lstStyle>
          <a:p xmlns:a="http://schemas.openxmlformats.org/drawingml/2006/main">
            <a:pPr>
              <a:defRPr sz="2100" b="0">
                <a:solidFill>
                  <a:srgbClr val="3E4A40"/>
                </a:solidFill>
                <a:latin typeface="DejaVu Sans"/>
                <a:ea typeface="DejaVu Sans"/>
                <a:cs typeface="DejaVu Sans"/>
              </a:defRPr>
            </a:pPr>
            <a:r>
              <a:rPr sz="2100" b="0">
                <a:solidFill>
                  <a:srgbClr val="3E4A40"/>
                </a:solidFill>
                <a:latin typeface="DejaVu Sans"/>
                <a:ea typeface="DejaVu Sans"/>
                <a:cs typeface="DejaVu Sans"/>
              </a:rPr>
              <a:t>Điểm bắt đầu, kết quả và nhánh phục hồi</a:t>
            </a:r>
          </a:p>
        </p:txBody>
      </p:sp>
      <p:graphicFrame>
        <p:nvGraphicFramePr>
          <p:cNvPr id="3" name="">
            <a:extLst xmlns:a="http://schemas.openxmlformats.org/drawingml/2006/main">
              <a:ext uri="{FF2B5EF4-FFF2-40B4-BE49-F238E27FC236}">
                <a16:creationId xmlns:a16="http://schemas.microsoft.com/office/drawing/2014/main" id="{8D3B423F-1C3F-45BC-929B-98874DA0C4A4}"/>
              </a:ext>
            </a:extLst>
          </p:cNvPr>
          <p:cNvGraphicFramePr/>
          <p:nvPr/>
        </p:nvGraphicFramePr>
        <p:xfrm>
          <a:off xmlns:a="http://schemas.openxmlformats.org/drawingml/2006/main" x="762000" y="2524125"/>
          <a:ext xmlns:a="http://schemas.openxmlformats.org/drawingml/2006/main" cx="13716000" cy="3286125"/>
        </p:xfrm>
        <a:graphic xmlns:a="http://schemas.openxmlformats.org/drawingml/2006/main">
          <a:graphicData uri="http://schemas.openxmlformats.org/drawingml/2006/table">
            <a:tbl>
              <a:tblPr/>
              <a:tblGrid>
                <a:gridCol w="2476500"/>
                <a:gridCol w="7048500"/>
                <a:gridCol w="4191000"/>
              </a:tblGrid>
              <a:tr h="821531">
                <a:tc>
                  <a:txBody>
                    <a:bodyPr/>
                    <a:lstStyle/>
                    <a:p>
                      <a:r>
                        <a:rPr sz="2025" b="1">
                          <a:solidFill>
                            <a:srgbClr val="FFFFFF"/>
                          </a:solidFill>
                          <a:latin typeface="DejaVu Sans"/>
                          <a:ea typeface="DejaVu Sans"/>
                          <a:cs typeface="DejaVu Sans"/>
                        </a:rPr>
                        <a:t>Flow</a:t>
                      </a:r>
                    </a:p>
                  </a:txBody>
                  <a:tcPr marL="91440" marR="91440" marT="45720" marB="45720">
                    <a:solidFill>
                      <a:srgbClr val="006A39"/>
                    </a:solidFill>
                  </a:tcPr>
                </a:tc>
                <a:tc>
                  <a:txBody>
                    <a:bodyPr/>
                    <a:lstStyle/>
                    <a:p>
                      <a:r>
                        <a:rPr sz="2025" b="1">
                          <a:solidFill>
                            <a:srgbClr val="FFFFFF"/>
                          </a:solidFill>
                          <a:latin typeface="DejaVu Sans"/>
                          <a:ea typeface="DejaVu Sans"/>
                          <a:cs typeface="DejaVu Sans"/>
                        </a:rPr>
                        <a:t>Hành trình cốt lõi</a:t>
                      </a:r>
                    </a:p>
                  </a:txBody>
                  <a:tcPr marL="91440" marR="91440" marT="45720" marB="45720">
                    <a:solidFill>
                      <a:srgbClr val="006A39"/>
                    </a:solidFill>
                  </a:tcPr>
                </a:tc>
                <a:tc>
                  <a:txBody>
                    <a:bodyPr/>
                    <a:lstStyle/>
                    <a:p>
                      <a:r>
                        <a:rPr sz="2025" b="1">
                          <a:solidFill>
                            <a:srgbClr val="FFFFFF"/>
                          </a:solidFill>
                          <a:latin typeface="DejaVu Sans"/>
                          <a:ea typeface="DejaVu Sans"/>
                          <a:cs typeface="DejaVu Sans"/>
                        </a:rPr>
                        <a:t>Nhánh thay thế / lỗi</a:t>
                      </a:r>
                    </a:p>
                  </a:txBody>
                  <a:tcPr marL="91440" marR="91440" marT="45720" marB="45720">
                    <a:solidFill>
                      <a:srgbClr val="006A39"/>
                    </a:solidFill>
                  </a:tcPr>
                </a:tc>
              </a:tr>
              <a:tr h="821531">
                <a:tc>
                  <a:txBody>
                    <a:bodyPr/>
                    <a:lstStyle/>
                    <a:p>
                      <a:r>
                        <a:rPr sz="1875" b="0">
                          <a:solidFill>
                            <a:srgbClr val="191C1B"/>
                          </a:solidFill>
                          <a:latin typeface="DejaVu Sans"/>
                          <a:ea typeface="DejaVu Sans"/>
                          <a:cs typeface="DejaVu Sans"/>
                        </a:rPr>
                        <a:t>F1 Hobby &amp; lịch</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M01 / M07 / M08 / M10 / M12 / M02</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Chọn hobby có sẵn; sửa tên/giờ</a:t>
                      </a:r>
                    </a:p>
                  </a:txBody>
                  <a:tcPr marL="91440" marR="91440" marT="45720" marB="45720">
                    <a:solidFill>
                      <a:srgbClr val="FFFFFF"/>
                    </a:solidFill>
                  </a:tcPr>
                </a:tc>
              </a:tr>
              <a:tr h="821531">
                <a:tc>
                  <a:txBody>
                    <a:bodyPr/>
                    <a:lstStyle/>
                    <a:p>
                      <a:r>
                        <a:rPr sz="1875" b="0">
                          <a:solidFill>
                            <a:srgbClr val="191C1B"/>
                          </a:solidFill>
                          <a:latin typeface="DejaVu Sans"/>
                          <a:ea typeface="DejaVu Sans"/>
                          <a:cs typeface="DejaVu Sans"/>
                        </a:rPr>
                        <a:t>F2 Focus</a:t>
                      </a:r>
                    </a:p>
                  </a:txBody>
                  <a:tcPr marL="91440" marR="91440" marT="45720" marB="45720">
                    <a:solidFill>
                      <a:srgbClr val="EDF3EF"/>
                    </a:solidFill>
                  </a:tcPr>
                </a:tc>
                <a:tc>
                  <a:txBody>
                    <a:bodyPr/>
                    <a:lstStyle/>
                    <a:p>
                      <a:r>
                        <a:rPr sz="1875" b="0">
                          <a:solidFill>
                            <a:srgbClr val="191C1B"/>
                          </a:solidFill>
                          <a:latin typeface="DejaVu Sans"/>
                          <a:ea typeface="DejaVu Sans"/>
                          <a:cs typeface="DejaVu Sans"/>
                        </a:rPr>
                        <a:t>M03 / M15 / M16 / M18 / M24</a:t>
                      </a:r>
                    </a:p>
                  </a:txBody>
                  <a:tcPr marL="91440" marR="91440" marT="45720" marB="45720">
                    <a:solidFill>
                      <a:srgbClr val="EDF3EF"/>
                    </a:solidFill>
                  </a:tcPr>
                </a:tc>
                <a:tc>
                  <a:txBody>
                    <a:bodyPr/>
                    <a:lstStyle/>
                    <a:p>
                      <a:r>
                        <a:rPr sz="1875" b="0">
                          <a:solidFill>
                            <a:srgbClr val="191C1B"/>
                          </a:solidFill>
                          <a:latin typeface="DejaVu Sans"/>
                          <a:ea typeface="DejaVu Sans"/>
                          <a:cs typeface="DejaVu Sans"/>
                        </a:rPr>
                        <a:t>Pause/Resume; hủy kết thúc sớm</a:t>
                      </a:r>
                    </a:p>
                  </a:txBody>
                  <a:tcPr marL="91440" marR="91440" marT="45720" marB="45720">
                    <a:solidFill>
                      <a:srgbClr val="EDF3EF"/>
                    </a:solidFill>
                  </a:tcPr>
                </a:tc>
              </a:tr>
              <a:tr h="821531">
                <a:tc>
                  <a:txBody>
                    <a:bodyPr/>
                    <a:lstStyle/>
                    <a:p>
                      <a:r>
                        <a:rPr sz="1875" b="0">
                          <a:solidFill>
                            <a:srgbClr val="191C1B"/>
                          </a:solidFill>
                          <a:latin typeface="DejaVu Sans"/>
                          <a:ea typeface="DejaVu Sans"/>
                          <a:cs typeface="DejaVu Sans"/>
                        </a:rPr>
                        <a:t>F3 Cộng đồng</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M04, M34–35, M33, M27–28, M30–32</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Lưu bài; đổi từ khóa; thử lại join</a:t>
                      </a:r>
                    </a:p>
                  </a:txBody>
                  <a:tcPr marL="91440" marR="91440" marT="45720" marB="45720">
                    <a:solidFill>
                      <a:srgbClr val="FFFFFF"/>
                    </a:solidFill>
                  </a:tcPr>
                </a:tc>
              </a:tr>
            </a:tbl>
          </a:graphicData>
        </a:graphic>
      </p:graphicFrame>
      <p:sp>
        <p:nvSpPr>
          <p:cNvPr id="4" name="text-80-837">
            <a:extLst xmlns:a="http://schemas.openxmlformats.org/drawingml/2006/main">
              <a:ext uri="{FF2B5EF4-FFF2-40B4-BE49-F238E27FC236}">
                <a16:creationId xmlns:a16="http://schemas.microsoft.com/office/drawing/2014/main" id="{0573B893-F519-4DDD-B24A-E194219D9A3B}"/>
              </a:ext>
            </a:extLst>
          </p:cNvPr>
          <p:cNvSpPr>
            <a:spLocks xmlns:a="http://schemas.openxmlformats.org/drawingml/2006/main" noGrp="1"/>
          </p:cNvSpPr>
          <p:nvPr/>
        </p:nvSpPr>
        <p:spPr>
          <a:xfrm xmlns:a="http://schemas.openxmlformats.org/drawingml/2006/main">
            <a:off x="762000" y="7972425"/>
            <a:ext cx="1352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F3 bao gồm đủ chia sẻ, tìm cộng đồng, tham gia nhóm và thử thách</a:t>
            </a:r>
          </a:p>
        </p:txBody>
      </p:sp>
      <p:sp>
        <p:nvSpPr>
          <p:cNvPr id="5" name="text-1465-28">
            <a:extLst xmlns:a="http://schemas.openxmlformats.org/drawingml/2006/main">
              <a:ext uri="{FF2B5EF4-FFF2-40B4-BE49-F238E27FC236}">
                <a16:creationId xmlns:a16="http://schemas.microsoft.com/office/drawing/2014/main" id="{D2E4F836-C65E-4282-A659-242E92793126}"/>
              </a:ext>
            </a:extLst>
          </p:cNvPr>
          <p:cNvSpPr>
            <a:spLocks xmlns:a="http://schemas.openxmlformats.org/drawingml/2006/main" noGrp="1"/>
          </p:cNvSpPr>
          <p:nvPr/>
        </p:nvSpPr>
        <p:spPr>
          <a:xfrm xmlns:a="http://schemas.openxmlformats.org/drawingml/2006/main">
            <a:off x="13954125" y="2667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006A39"/>
                </a:solidFill>
                <a:latin typeface="DejaVu Sans"/>
                <a:ea typeface="DejaVu Sans"/>
                <a:cs typeface="DejaVu Sans"/>
              </a:defRPr>
            </a:defPPr>
          </a:lstStyle>
          <a:p xmlns:a="http://schemas.openxmlformats.org/drawingml/2006/main">
            <a:pPr>
              <a:defRPr sz="1500" b="0">
                <a:solidFill>
                  <a:srgbClr val="006A39"/>
                </a:solidFill>
                <a:latin typeface="DejaVu Sans"/>
                <a:ea typeface="DejaVu Sans"/>
                <a:cs typeface="DejaVu Sans"/>
              </a:defRPr>
            </a:pPr>
            <a:r>
              <a:rPr sz="1500" b="0">
                <a:solidFill>
                  <a:srgbClr val="006A39"/>
                </a:solidFill>
                <a:latin typeface="DejaVu Sans"/>
                <a:ea typeface="DejaVu Sans"/>
                <a:cs typeface="DejaVu Sans"/>
              </a:rPr>
              <a:t>04</a:t>
            </a:r>
          </a:p>
        </p:txBody>
      </p:sp>
    </p:spTree>
    <p:extLst>
      <p:ext uri="{BB962C8B-B14F-4D97-AF65-F5344CB8AC3E}">
        <p14:creationId xmlns:p14="http://schemas.microsoft.com/office/powerpoint/2010/main" val="808959661"/>
      </p:ext>
    </p:extLst>
  </p:cSld>
</p:sld>
</file>

<file path=ppt/slides/slide5.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7" name="text-80-65">
            <a:extLst xmlns:a="http://schemas.openxmlformats.org/drawingml/2006/main">
              <a:ext uri="{FF2B5EF4-FFF2-40B4-BE49-F238E27FC236}">
                <a16:creationId xmlns:a16="http://schemas.microsoft.com/office/drawing/2014/main" id="{437E1BEB-5356-4403-974C-351DB676104F}"/>
              </a:ext>
            </a:extLst>
          </p:cNvPr>
          <p:cNvSpPr>
            <a:spLocks xmlns:a="http://schemas.openxmlformats.org/drawingml/2006/main" noGrp="1"/>
          </p:cNvSpPr>
          <p:nvPr/>
        </p:nvSpPr>
        <p:spPr>
          <a:xfrm xmlns:a="http://schemas.openxmlformats.org/drawingml/2006/main">
            <a:off x="762000" y="61912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UI sinh từ Google Stitch</a:t>
            </a:r>
          </a:p>
        </p:txBody>
      </p:sp>
      <p:sp>
        <p:nvSpPr>
          <p:cNvPr id="2" name="text-80-154">
            <a:extLst xmlns:a="http://schemas.openxmlformats.org/drawingml/2006/main">
              <a:ext uri="{FF2B5EF4-FFF2-40B4-BE49-F238E27FC236}">
                <a16:creationId xmlns:a16="http://schemas.microsoft.com/office/drawing/2014/main" id="{13AAAEC7-F68A-4E0B-B8EC-CDA6E75E7DC4}"/>
              </a:ext>
            </a:extLst>
          </p:cNvPr>
          <p:cNvSpPr>
            <a:spLocks xmlns:a="http://schemas.openxmlformats.org/drawingml/2006/main" noGrp="1"/>
          </p:cNvSpPr>
          <p:nvPr/>
        </p:nvSpPr>
        <p:spPr>
          <a:xfrm xmlns:a="http://schemas.openxmlformats.org/drawingml/2006/main">
            <a:off x="762000" y="146685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E4A40"/>
                </a:solidFill>
                <a:latin typeface="DejaVu Sans"/>
                <a:ea typeface="DejaVu Sans"/>
                <a:cs typeface="DejaVu Sans"/>
              </a:defRPr>
            </a:defPPr>
          </a:lstStyle>
          <a:p xmlns:a="http://schemas.openxmlformats.org/drawingml/2006/main">
            <a:pPr>
              <a:defRPr sz="2100" b="0">
                <a:solidFill>
                  <a:srgbClr val="3E4A40"/>
                </a:solidFill>
                <a:latin typeface="DejaVu Sans"/>
                <a:ea typeface="DejaVu Sans"/>
                <a:cs typeface="DejaVu Sans"/>
              </a:defRPr>
            </a:pPr>
            <a:r>
              <a:rPr sz="2100" b="0">
                <a:solidFill>
                  <a:srgbClr val="3E4A40"/>
                </a:solidFill>
                <a:latin typeface="DejaVu Sans"/>
                <a:ea typeface="DejaVu Sans"/>
                <a:cs typeface="DejaVu Sans"/>
              </a:rPr>
              <a:t>5 gói xuất bao phủ toàn bộ khu vực chức năng</a:t>
            </a:r>
          </a:p>
        </p:txBody>
      </p:sp>
      <p:sp>
        <p:nvSpPr>
          <p:cNvPr id="3" name="text-80-282">
            <a:extLst xmlns:a="http://schemas.openxmlformats.org/drawingml/2006/main">
              <a:ext uri="{FF2B5EF4-FFF2-40B4-BE49-F238E27FC236}">
                <a16:creationId xmlns:a16="http://schemas.microsoft.com/office/drawing/2014/main" id="{1D873EBE-F789-430A-BF0C-E9EED83DE714}"/>
              </a:ext>
            </a:extLst>
          </p:cNvPr>
          <p:cNvSpPr>
            <a:spLocks xmlns:a="http://schemas.openxmlformats.org/drawingml/2006/main" noGrp="1"/>
          </p:cNvSpPr>
          <p:nvPr/>
        </p:nvSpPr>
        <p:spPr>
          <a:xfrm xmlns:a="http://schemas.openxmlformats.org/drawingml/2006/main">
            <a:off x="762000" y="26860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01</a:t>
            </a:r>
          </a:p>
        </p:txBody>
      </p:sp>
      <p:sp>
        <p:nvSpPr>
          <p:cNvPr id="4" name="text-168-282">
            <a:extLst xmlns:a="http://schemas.openxmlformats.org/drawingml/2006/main">
              <a:ext uri="{FF2B5EF4-FFF2-40B4-BE49-F238E27FC236}">
                <a16:creationId xmlns:a16="http://schemas.microsoft.com/office/drawing/2014/main" id="{1CCD5552-15FB-456F-9A7A-94FBB33EA595}"/>
              </a:ext>
            </a:extLst>
          </p:cNvPr>
          <p:cNvSpPr>
            <a:spLocks xmlns:a="http://schemas.openxmlformats.org/drawingml/2006/main" noGrp="1"/>
          </p:cNvSpPr>
          <p:nvPr/>
        </p:nvSpPr>
        <p:spPr>
          <a:xfrm xmlns:a="http://schemas.openxmlformats.org/drawingml/2006/main">
            <a:off x="1600200" y="2686050"/>
            <a:ext cx="6429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ZIP 1–2: quy chuẩn, Home, hobby và lịch</a:t>
            </a:r>
          </a:p>
        </p:txBody>
      </p:sp>
      <p:sp>
        <p:nvSpPr>
          <p:cNvPr id="5" name="text-80-394">
            <a:extLst xmlns:a="http://schemas.openxmlformats.org/drawingml/2006/main">
              <a:ext uri="{FF2B5EF4-FFF2-40B4-BE49-F238E27FC236}">
                <a16:creationId xmlns:a16="http://schemas.microsoft.com/office/drawing/2014/main" id="{72D6D56B-16D1-4254-8C79-CBED6F058726}"/>
              </a:ext>
            </a:extLst>
          </p:cNvPr>
          <p:cNvSpPr>
            <a:spLocks xmlns:a="http://schemas.openxmlformats.org/drawingml/2006/main" noGrp="1"/>
          </p:cNvSpPr>
          <p:nvPr/>
        </p:nvSpPr>
        <p:spPr>
          <a:xfrm xmlns:a="http://schemas.openxmlformats.org/drawingml/2006/main">
            <a:off x="762000" y="37528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02</a:t>
            </a:r>
          </a:p>
        </p:txBody>
      </p:sp>
      <p:sp>
        <p:nvSpPr>
          <p:cNvPr id="6" name="text-168-394">
            <a:extLst xmlns:a="http://schemas.openxmlformats.org/drawingml/2006/main">
              <a:ext uri="{FF2B5EF4-FFF2-40B4-BE49-F238E27FC236}">
                <a16:creationId xmlns:a16="http://schemas.microsoft.com/office/drawing/2014/main" id="{7D38EB8F-E5DA-4B8F-B8EB-F903B41E2381}"/>
              </a:ext>
            </a:extLst>
          </p:cNvPr>
          <p:cNvSpPr>
            <a:spLocks xmlns:a="http://schemas.openxmlformats.org/drawingml/2006/main" noGrp="1"/>
          </p:cNvSpPr>
          <p:nvPr/>
        </p:nvSpPr>
        <p:spPr>
          <a:xfrm xmlns:a="http://schemas.openxmlformats.org/drawingml/2006/main">
            <a:off x="1600200" y="3752850"/>
            <a:ext cx="6429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ZIP 4: Focus và nhật ký</a:t>
            </a:r>
          </a:p>
        </p:txBody>
      </p:sp>
      <p:sp>
        <p:nvSpPr>
          <p:cNvPr id="7" name="text-80-506">
            <a:extLst xmlns:a="http://schemas.openxmlformats.org/drawingml/2006/main">
              <a:ext uri="{FF2B5EF4-FFF2-40B4-BE49-F238E27FC236}">
                <a16:creationId xmlns:a16="http://schemas.microsoft.com/office/drawing/2014/main" id="{38DDCEF0-5DF5-49A6-A651-F664D40DB117}"/>
              </a:ext>
            </a:extLst>
          </p:cNvPr>
          <p:cNvSpPr>
            <a:spLocks xmlns:a="http://schemas.openxmlformats.org/drawingml/2006/main" noGrp="1"/>
          </p:cNvSpPr>
          <p:nvPr/>
        </p:nvSpPr>
        <p:spPr>
          <a:xfrm xmlns:a="http://schemas.openxmlformats.org/drawingml/2006/main">
            <a:off x="762000" y="48196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03</a:t>
            </a:r>
          </a:p>
        </p:txBody>
      </p:sp>
      <p:sp>
        <p:nvSpPr>
          <p:cNvPr id="8" name="text-168-506">
            <a:extLst xmlns:a="http://schemas.openxmlformats.org/drawingml/2006/main">
              <a:ext uri="{FF2B5EF4-FFF2-40B4-BE49-F238E27FC236}">
                <a16:creationId xmlns:a16="http://schemas.microsoft.com/office/drawing/2014/main" id="{9B910B19-D26D-4678-BEEF-085B7B2706F6}"/>
              </a:ext>
            </a:extLst>
          </p:cNvPr>
          <p:cNvSpPr>
            <a:spLocks xmlns:a="http://schemas.openxmlformats.org/drawingml/2006/main" noGrp="1"/>
          </p:cNvSpPr>
          <p:nvPr/>
        </p:nvSpPr>
        <p:spPr>
          <a:xfrm xmlns:a="http://schemas.openxmlformats.org/drawingml/2006/main">
            <a:off x="1600200" y="4819650"/>
            <a:ext cx="6429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ZIP 3: cộng đồng, nhóm và thử thách</a:t>
            </a:r>
          </a:p>
        </p:txBody>
      </p:sp>
      <p:sp>
        <p:nvSpPr>
          <p:cNvPr id="9" name="text-80-618">
            <a:extLst xmlns:a="http://schemas.openxmlformats.org/drawingml/2006/main">
              <a:ext uri="{FF2B5EF4-FFF2-40B4-BE49-F238E27FC236}">
                <a16:creationId xmlns:a16="http://schemas.microsoft.com/office/drawing/2014/main" id="{F155B9C9-93CB-42EF-8936-A4311F1F2FC9}"/>
              </a:ext>
            </a:extLst>
          </p:cNvPr>
          <p:cNvSpPr>
            <a:spLocks xmlns:a="http://schemas.openxmlformats.org/drawingml/2006/main" noGrp="1"/>
          </p:cNvSpPr>
          <p:nvPr/>
        </p:nvSpPr>
        <p:spPr>
          <a:xfrm xmlns:a="http://schemas.openxmlformats.org/drawingml/2006/main">
            <a:off x="762000" y="58864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04</a:t>
            </a:r>
          </a:p>
        </p:txBody>
      </p:sp>
      <p:sp>
        <p:nvSpPr>
          <p:cNvPr id="10" name="text-168-618">
            <a:extLst xmlns:a="http://schemas.openxmlformats.org/drawingml/2006/main">
              <a:ext uri="{FF2B5EF4-FFF2-40B4-BE49-F238E27FC236}">
                <a16:creationId xmlns:a16="http://schemas.microsoft.com/office/drawing/2014/main" id="{8FD51209-02C1-435A-B4E8-83DAAAA2312D}"/>
              </a:ext>
            </a:extLst>
          </p:cNvPr>
          <p:cNvSpPr>
            <a:spLocks xmlns:a="http://schemas.openxmlformats.org/drawingml/2006/main" noGrp="1"/>
          </p:cNvSpPr>
          <p:nvPr/>
        </p:nvSpPr>
        <p:spPr>
          <a:xfrm xmlns:a="http://schemas.openxmlformats.org/drawingml/2006/main">
            <a:off x="1600200" y="5886450"/>
            <a:ext cx="6429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ZIP 5: cá nhân, cài đặt, sửa kỷ niệm</a:t>
            </a:r>
          </a:p>
        </p:txBody>
      </p:sp>
      <p:pic>
        <p:nvPicPr>
          <p:cNvPr id="11" name="">
            <a:extLst xmlns:a="http://schemas.openxmlformats.org/drawingml/2006/main">
              <a:ext uri="{FF2B5EF4-FFF2-40B4-BE49-F238E27FC236}">
                <a16:creationId xmlns:a16="http://schemas.microsoft.com/office/drawing/2014/main" id="{3B742F71-026A-464A-A2D6-D97B1BBCB491}"/>
              </a:ext>
            </a:extLst>
          </p:cNvPr>
          <p:cNvPicPr>
            <a:picLocks xmlns:a="http://schemas.openxmlformats.org/drawingml/2006/main" noChangeAspect="1"/>
          </p:cNvPicPr>
          <p:nvPr/>
        </p:nvPicPr>
        <p:blipFill>
          <a:blip xmlns:r="http://schemas.openxmlformats.org/officeDocument/2006/relationships" xmlns:a="http://schemas.openxmlformats.org/drawingml/2006/main" r:embed="Rf916df1f9cb84f3c"/>
          <a:stretch xmlns:a="http://schemas.openxmlformats.org/drawingml/2006/main"/>
        </p:blipFill>
        <p:spPr>
          <a:xfrm xmlns:a="http://schemas.openxmlformats.org/drawingml/2006/main">
            <a:off x="9239250" y="2498349"/>
            <a:ext cx="2190750" cy="473785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63FE92D5-1A27-4E91-87A1-4639E0E0022A}"/>
              </a:ext>
            </a:extLst>
          </p:cNvPr>
          <p:cNvPicPr>
            <a:picLocks xmlns:a="http://schemas.openxmlformats.org/drawingml/2006/main" noChangeAspect="1"/>
          </p:cNvPicPr>
          <p:nvPr/>
        </p:nvPicPr>
        <p:blipFill>
          <a:blip xmlns:r="http://schemas.openxmlformats.org/officeDocument/2006/relationships" xmlns:a="http://schemas.openxmlformats.org/drawingml/2006/main" r:embed="R6f41737fb8524ecf"/>
          <a:stretch xmlns:a="http://schemas.openxmlformats.org/drawingml/2006/main"/>
        </p:blipFill>
        <p:spPr>
          <a:xfrm xmlns:a="http://schemas.openxmlformats.org/drawingml/2006/main">
            <a:off x="12001500" y="2496849"/>
            <a:ext cx="2190750" cy="4740852"/>
          </a:xfrm>
          <a:prstGeom xmlns:a="http://schemas.openxmlformats.org/drawingml/2006/main" prst="rect">
            <a:avLst/>
          </a:prstGeom>
        </p:spPr>
      </p:pic>
      <p:sp>
        <p:nvSpPr>
          <p:cNvPr id="13" name="text-970-775">
            <a:extLst xmlns:a="http://schemas.openxmlformats.org/drawingml/2006/main">
              <a:ext uri="{FF2B5EF4-FFF2-40B4-BE49-F238E27FC236}">
                <a16:creationId xmlns:a16="http://schemas.microsoft.com/office/drawing/2014/main" id="{F217AFDC-6C58-4656-89B3-9B912A289BD6}"/>
              </a:ext>
            </a:extLst>
          </p:cNvPr>
          <p:cNvSpPr>
            <a:spLocks xmlns:a="http://schemas.openxmlformats.org/drawingml/2006/main" noGrp="1"/>
          </p:cNvSpPr>
          <p:nvPr/>
        </p:nvSpPr>
        <p:spPr>
          <a:xfrm xmlns:a="http://schemas.openxmlformats.org/drawingml/2006/main">
            <a:off x="9239250" y="7381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E4A40"/>
                </a:solidFill>
                <a:latin typeface="DejaVu Sans"/>
                <a:ea typeface="DejaVu Sans"/>
                <a:cs typeface="DejaVu Sans"/>
              </a:defRPr>
            </a:defPPr>
          </a:lstStyle>
          <a:p xmlns:a="http://schemas.openxmlformats.org/drawingml/2006/main">
            <a:pPr>
              <a:defRPr sz="1575" b="0">
                <a:solidFill>
                  <a:srgbClr val="3E4A40"/>
                </a:solidFill>
                <a:latin typeface="DejaVu Sans"/>
                <a:ea typeface="DejaVu Sans"/>
                <a:cs typeface="DejaVu Sans"/>
              </a:defRPr>
            </a:pPr>
            <a:r>
              <a:rPr sz="1575" b="0">
                <a:solidFill>
                  <a:srgbClr val="3E4A40"/>
                </a:solidFill>
                <a:latin typeface="DejaVu Sans"/>
                <a:ea typeface="DejaVu Sans"/>
                <a:cs typeface="DejaVu Sans"/>
              </a:rPr>
              <a:t>M07</a:t>
            </a:r>
          </a:p>
        </p:txBody>
      </p:sp>
      <p:sp>
        <p:nvSpPr>
          <p:cNvPr id="14" name="text-1260-775">
            <a:extLst xmlns:a="http://schemas.openxmlformats.org/drawingml/2006/main">
              <a:ext uri="{FF2B5EF4-FFF2-40B4-BE49-F238E27FC236}">
                <a16:creationId xmlns:a16="http://schemas.microsoft.com/office/drawing/2014/main" id="{CF74499F-90CE-42DB-AAA2-5BC1A3421DBD}"/>
              </a:ext>
            </a:extLst>
          </p:cNvPr>
          <p:cNvSpPr>
            <a:spLocks xmlns:a="http://schemas.openxmlformats.org/drawingml/2006/main" noGrp="1"/>
          </p:cNvSpPr>
          <p:nvPr/>
        </p:nvSpPr>
        <p:spPr>
          <a:xfrm xmlns:a="http://schemas.openxmlformats.org/drawingml/2006/main">
            <a:off x="12001500" y="7381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E4A40"/>
                </a:solidFill>
                <a:latin typeface="DejaVu Sans"/>
                <a:ea typeface="DejaVu Sans"/>
                <a:cs typeface="DejaVu Sans"/>
              </a:defRPr>
            </a:defPPr>
          </a:lstStyle>
          <a:p xmlns:a="http://schemas.openxmlformats.org/drawingml/2006/main">
            <a:pPr>
              <a:defRPr sz="1575" b="0">
                <a:solidFill>
                  <a:srgbClr val="3E4A40"/>
                </a:solidFill>
                <a:latin typeface="DejaVu Sans"/>
                <a:ea typeface="DejaVu Sans"/>
                <a:cs typeface="DejaVu Sans"/>
              </a:defRPr>
            </a:pPr>
            <a:r>
              <a:rPr sz="1575" b="0">
                <a:solidFill>
                  <a:srgbClr val="3E4A40"/>
                </a:solidFill>
                <a:latin typeface="DejaVu Sans"/>
                <a:ea typeface="DejaVu Sans"/>
                <a:cs typeface="DejaVu Sans"/>
              </a:rPr>
              <a:t>M10</a:t>
            </a:r>
          </a:p>
        </p:txBody>
      </p:sp>
      <p:sp>
        <p:nvSpPr>
          <p:cNvPr id="15" name="text-80-837">
            <a:extLst xmlns:a="http://schemas.openxmlformats.org/drawingml/2006/main">
              <a:ext uri="{FF2B5EF4-FFF2-40B4-BE49-F238E27FC236}">
                <a16:creationId xmlns:a16="http://schemas.microsoft.com/office/drawing/2014/main" id="{1FACE17A-613B-4328-9406-D28257D13233}"/>
              </a:ext>
            </a:extLst>
          </p:cNvPr>
          <p:cNvSpPr>
            <a:spLocks xmlns:a="http://schemas.openxmlformats.org/drawingml/2006/main" noGrp="1"/>
          </p:cNvSpPr>
          <p:nvPr/>
        </p:nvSpPr>
        <p:spPr>
          <a:xfrm xmlns:a="http://schemas.openxmlformats.org/drawingml/2006/main">
            <a:off x="762000" y="7972425"/>
            <a:ext cx="1352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Ảnh gốc được giữ nguyên. Prompt lịch sử nguyên văn còn cần bổ sung</a:t>
            </a:r>
          </a:p>
        </p:txBody>
      </p:sp>
      <p:sp>
        <p:nvSpPr>
          <p:cNvPr id="16" name="text-1465-28">
            <a:extLst xmlns:a="http://schemas.openxmlformats.org/drawingml/2006/main">
              <a:ext uri="{FF2B5EF4-FFF2-40B4-BE49-F238E27FC236}">
                <a16:creationId xmlns:a16="http://schemas.microsoft.com/office/drawing/2014/main" id="{C47B8F9B-DD64-478B-910C-C4DC7BD45D22}"/>
              </a:ext>
            </a:extLst>
          </p:cNvPr>
          <p:cNvSpPr>
            <a:spLocks xmlns:a="http://schemas.openxmlformats.org/drawingml/2006/main" noGrp="1"/>
          </p:cNvSpPr>
          <p:nvPr/>
        </p:nvSpPr>
        <p:spPr>
          <a:xfrm xmlns:a="http://schemas.openxmlformats.org/drawingml/2006/main">
            <a:off x="13954125" y="2667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006A39"/>
                </a:solidFill>
                <a:latin typeface="DejaVu Sans"/>
                <a:ea typeface="DejaVu Sans"/>
                <a:cs typeface="DejaVu Sans"/>
              </a:defRPr>
            </a:defPPr>
          </a:lstStyle>
          <a:p xmlns:a="http://schemas.openxmlformats.org/drawingml/2006/main">
            <a:pPr>
              <a:defRPr sz="1500" b="0">
                <a:solidFill>
                  <a:srgbClr val="006A39"/>
                </a:solidFill>
                <a:latin typeface="DejaVu Sans"/>
                <a:ea typeface="DejaVu Sans"/>
                <a:cs typeface="DejaVu Sans"/>
              </a:defRPr>
            </a:pPr>
            <a:r>
              <a:rPr sz="1500" b="0">
                <a:solidFill>
                  <a:srgbClr val="006A39"/>
                </a:solidFill>
                <a:latin typeface="DejaVu Sans"/>
                <a:ea typeface="DejaVu Sans"/>
                <a:cs typeface="DejaVu Sans"/>
              </a:rPr>
              <a:t>05</a:t>
            </a:r>
          </a:p>
        </p:txBody>
      </p:sp>
    </p:spTree>
    <p:extLst>
      <p:ext uri="{BB962C8B-B14F-4D97-AF65-F5344CB8AC3E}">
        <p14:creationId xmlns:p14="http://schemas.microsoft.com/office/powerpoint/2010/main" val="1962121308"/>
      </p:ext>
    </p:extLst>
  </p:cSld>
</p:sld>
</file>

<file path=ppt/slides/slide6.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4" name="text-80-65">
            <a:extLst xmlns:a="http://schemas.openxmlformats.org/drawingml/2006/main">
              <a:ext uri="{FF2B5EF4-FFF2-40B4-BE49-F238E27FC236}">
                <a16:creationId xmlns:a16="http://schemas.microsoft.com/office/drawing/2014/main" id="{7F8A2947-BFF2-4806-B366-7ADD41670C28}"/>
              </a:ext>
            </a:extLst>
          </p:cNvPr>
          <p:cNvSpPr>
            <a:spLocks xmlns:a="http://schemas.openxmlformats.org/drawingml/2006/main" noGrp="1"/>
          </p:cNvSpPr>
          <p:nvPr/>
        </p:nvSpPr>
        <p:spPr>
          <a:xfrm xmlns:a="http://schemas.openxmlformats.org/drawingml/2006/main">
            <a:off x="762000" y="61912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Phản biện và kế hoạch tinh chỉnh</a:t>
            </a:r>
          </a:p>
        </p:txBody>
      </p:sp>
      <p:sp>
        <p:nvSpPr>
          <p:cNvPr id="2" name="text-80-154">
            <a:extLst xmlns:a="http://schemas.openxmlformats.org/drawingml/2006/main">
              <a:ext uri="{FF2B5EF4-FFF2-40B4-BE49-F238E27FC236}">
                <a16:creationId xmlns:a16="http://schemas.microsoft.com/office/drawing/2014/main" id="{F14E18CF-6939-4D1A-9FD4-9FD965B5E3B6}"/>
              </a:ext>
            </a:extLst>
          </p:cNvPr>
          <p:cNvSpPr>
            <a:spLocks xmlns:a="http://schemas.openxmlformats.org/drawingml/2006/main" noGrp="1"/>
          </p:cNvSpPr>
          <p:nvPr/>
        </p:nvSpPr>
        <p:spPr>
          <a:xfrm xmlns:a="http://schemas.openxmlformats.org/drawingml/2006/main">
            <a:off x="762000" y="146685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E4A40"/>
                </a:solidFill>
                <a:latin typeface="DejaVu Sans"/>
                <a:ea typeface="DejaVu Sans"/>
                <a:cs typeface="DejaVu Sans"/>
              </a:defRPr>
            </a:defPPr>
          </a:lstStyle>
          <a:p xmlns:a="http://schemas.openxmlformats.org/drawingml/2006/main">
            <a:pPr>
              <a:defRPr sz="2100" b="0">
                <a:solidFill>
                  <a:srgbClr val="3E4A40"/>
                </a:solidFill>
                <a:latin typeface="DejaVu Sans"/>
                <a:ea typeface="DejaVu Sans"/>
                <a:cs typeface="DejaVu Sans"/>
              </a:defRPr>
            </a:pPr>
            <a:r>
              <a:rPr sz="2100" b="0">
                <a:solidFill>
                  <a:srgbClr val="3E4A40"/>
                </a:solidFill>
                <a:latin typeface="DejaVu Sans"/>
                <a:ea typeface="DejaVu Sans"/>
                <a:cs typeface="DejaVu Sans"/>
              </a:rPr>
              <a:t>3 mục tiêu khác nhau, gắn với lỗi cụ thể</a:t>
            </a:r>
          </a:p>
        </p:txBody>
      </p:sp>
      <p:sp>
        <p:nvSpPr>
          <p:cNvPr id="3" name="text-80-282">
            <a:extLst xmlns:a="http://schemas.openxmlformats.org/drawingml/2006/main">
              <a:ext uri="{FF2B5EF4-FFF2-40B4-BE49-F238E27FC236}">
                <a16:creationId xmlns:a16="http://schemas.microsoft.com/office/drawing/2014/main" id="{C37CDEC2-00E3-4831-B921-3B4D894B4A9E}"/>
              </a:ext>
            </a:extLst>
          </p:cNvPr>
          <p:cNvSpPr>
            <a:spLocks xmlns:a="http://schemas.openxmlformats.org/drawingml/2006/main" noGrp="1"/>
          </p:cNvSpPr>
          <p:nvPr/>
        </p:nvSpPr>
        <p:spPr>
          <a:xfrm xmlns:a="http://schemas.openxmlformats.org/drawingml/2006/main">
            <a:off x="762000" y="26860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01</a:t>
            </a:r>
          </a:p>
        </p:txBody>
      </p:sp>
      <p:sp>
        <p:nvSpPr>
          <p:cNvPr id="4" name="text-168-282">
            <a:extLst xmlns:a="http://schemas.openxmlformats.org/drawingml/2006/main">
              <a:ext uri="{FF2B5EF4-FFF2-40B4-BE49-F238E27FC236}">
                <a16:creationId xmlns:a16="http://schemas.microsoft.com/office/drawing/2014/main" id="{79E2EFD2-4AA6-470A-AA79-62A431A14BBF}"/>
              </a:ext>
            </a:extLst>
          </p:cNvPr>
          <p:cNvSpPr>
            <a:spLocks xmlns:a="http://schemas.openxmlformats.org/drawingml/2006/main" noGrp="1"/>
          </p:cNvSpPr>
          <p:nvPr/>
        </p:nvSpPr>
        <p:spPr>
          <a:xfrm xmlns:a="http://schemas.openxmlformats.org/drawingml/2006/main">
            <a:off x="1600200" y="268605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R1: bố cục 360/412, chữ, contrast và vùng chạm</a:t>
            </a:r>
          </a:p>
        </p:txBody>
      </p:sp>
      <p:sp>
        <p:nvSpPr>
          <p:cNvPr id="5" name="text-80-394">
            <a:extLst xmlns:a="http://schemas.openxmlformats.org/drawingml/2006/main">
              <a:ext uri="{FF2B5EF4-FFF2-40B4-BE49-F238E27FC236}">
                <a16:creationId xmlns:a16="http://schemas.microsoft.com/office/drawing/2014/main" id="{AA642D12-88C3-4F59-8CF4-AC9552CD1ED1}"/>
              </a:ext>
            </a:extLst>
          </p:cNvPr>
          <p:cNvSpPr>
            <a:spLocks xmlns:a="http://schemas.openxmlformats.org/drawingml/2006/main" noGrp="1"/>
          </p:cNvSpPr>
          <p:nvPr/>
        </p:nvSpPr>
        <p:spPr>
          <a:xfrm xmlns:a="http://schemas.openxmlformats.org/drawingml/2006/main">
            <a:off x="762000" y="37528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02</a:t>
            </a:r>
          </a:p>
        </p:txBody>
      </p:sp>
      <p:sp>
        <p:nvSpPr>
          <p:cNvPr id="6" name="text-168-394">
            <a:extLst xmlns:a="http://schemas.openxmlformats.org/drawingml/2006/main">
              <a:ext uri="{FF2B5EF4-FFF2-40B4-BE49-F238E27FC236}">
                <a16:creationId xmlns:a16="http://schemas.microsoft.com/office/drawing/2014/main" id="{89CF17E5-9507-4261-B0F1-2D44AEF50EAC}"/>
              </a:ext>
            </a:extLst>
          </p:cNvPr>
          <p:cNvSpPr>
            <a:spLocks xmlns:a="http://schemas.openxmlformats.org/drawingml/2006/main" noGrp="1"/>
          </p:cNvSpPr>
          <p:nvPr/>
        </p:nvSpPr>
        <p:spPr>
          <a:xfrm xmlns:a="http://schemas.openxmlformats.org/drawingml/2006/main">
            <a:off x="1600200" y="375285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R2: validation lịch và phục hồi tại trường nhập</a:t>
            </a:r>
          </a:p>
        </p:txBody>
      </p:sp>
      <p:sp>
        <p:nvSpPr>
          <p:cNvPr id="7" name="text-80-506">
            <a:extLst xmlns:a="http://schemas.openxmlformats.org/drawingml/2006/main">
              <a:ext uri="{FF2B5EF4-FFF2-40B4-BE49-F238E27FC236}">
                <a16:creationId xmlns:a16="http://schemas.microsoft.com/office/drawing/2014/main" id="{101F0F98-79CC-45D3-8388-1ADEF9FC2BA8}"/>
              </a:ext>
            </a:extLst>
          </p:cNvPr>
          <p:cNvSpPr>
            <a:spLocks xmlns:a="http://schemas.openxmlformats.org/drawingml/2006/main" noGrp="1"/>
          </p:cNvSpPr>
          <p:nvPr/>
        </p:nvSpPr>
        <p:spPr>
          <a:xfrm xmlns:a="http://schemas.openxmlformats.org/drawingml/2006/main">
            <a:off x="762000" y="48196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03</a:t>
            </a:r>
          </a:p>
        </p:txBody>
      </p:sp>
      <p:sp>
        <p:nvSpPr>
          <p:cNvPr id="8" name="text-168-506">
            <a:extLst xmlns:a="http://schemas.openxmlformats.org/drawingml/2006/main">
              <a:ext uri="{FF2B5EF4-FFF2-40B4-BE49-F238E27FC236}">
                <a16:creationId xmlns:a16="http://schemas.microsoft.com/office/drawing/2014/main" id="{D7E13D31-EAE7-44DE-817D-1444F2AABFD0}"/>
              </a:ext>
            </a:extLst>
          </p:cNvPr>
          <p:cNvSpPr>
            <a:spLocks xmlns:a="http://schemas.openxmlformats.org/drawingml/2006/main" noGrp="1"/>
          </p:cNvSpPr>
          <p:nvPr/>
        </p:nvSpPr>
        <p:spPr>
          <a:xfrm xmlns:a="http://schemas.openxmlformats.org/drawingml/2006/main">
            <a:off x="1600200" y="481965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R3: thời lượng Focus thực và tổng kết rõ</a:t>
            </a:r>
          </a:p>
        </p:txBody>
      </p:sp>
      <p:sp>
        <p:nvSpPr>
          <p:cNvPr id="9" name="text-80-618">
            <a:extLst xmlns:a="http://schemas.openxmlformats.org/drawingml/2006/main">
              <a:ext uri="{FF2B5EF4-FFF2-40B4-BE49-F238E27FC236}">
                <a16:creationId xmlns:a16="http://schemas.microsoft.com/office/drawing/2014/main" id="{3CB71086-B634-4AE0-8C0B-D40EBC37CA6D}"/>
              </a:ext>
            </a:extLst>
          </p:cNvPr>
          <p:cNvSpPr>
            <a:spLocks xmlns:a="http://schemas.openxmlformats.org/drawingml/2006/main" noGrp="1"/>
          </p:cNvSpPr>
          <p:nvPr/>
        </p:nvSpPr>
        <p:spPr>
          <a:xfrm xmlns:a="http://schemas.openxmlformats.org/drawingml/2006/main">
            <a:off x="762000" y="58864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04</a:t>
            </a:r>
          </a:p>
        </p:txBody>
      </p:sp>
      <p:sp>
        <p:nvSpPr>
          <p:cNvPr id="10" name="text-168-618">
            <a:extLst xmlns:a="http://schemas.openxmlformats.org/drawingml/2006/main">
              <a:ext uri="{FF2B5EF4-FFF2-40B4-BE49-F238E27FC236}">
                <a16:creationId xmlns:a16="http://schemas.microsoft.com/office/drawing/2014/main" id="{AE554362-36C2-4DA6-A905-677B63BFFB84}"/>
              </a:ext>
            </a:extLst>
          </p:cNvPr>
          <p:cNvSpPr>
            <a:spLocks xmlns:a="http://schemas.openxmlformats.org/drawingml/2006/main" noGrp="1"/>
          </p:cNvSpPr>
          <p:nvPr/>
        </p:nvSpPr>
        <p:spPr>
          <a:xfrm xmlns:a="http://schemas.openxmlformats.org/drawingml/2006/main">
            <a:off x="1600200" y="588645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Phản biện AI: 10 phát hiện gắn màn cụ thể</a:t>
            </a:r>
          </a:p>
        </p:txBody>
      </p:sp>
      <p:pic>
        <p:nvPicPr>
          <p:cNvPr id="11" name="">
            <a:extLst xmlns:a="http://schemas.openxmlformats.org/drawingml/2006/main">
              <a:ext uri="{FF2B5EF4-FFF2-40B4-BE49-F238E27FC236}">
                <a16:creationId xmlns:a16="http://schemas.microsoft.com/office/drawing/2014/main" id="{C6CD44CC-7A6B-4AFE-B0C9-62F1CF4CECCE}"/>
              </a:ext>
            </a:extLst>
          </p:cNvPr>
          <p:cNvPicPr>
            <a:picLocks xmlns:a="http://schemas.openxmlformats.org/drawingml/2006/main" noChangeAspect="1"/>
          </p:cNvPicPr>
          <p:nvPr/>
        </p:nvPicPr>
        <p:blipFill>
          <a:blip xmlns:r="http://schemas.openxmlformats.org/officeDocument/2006/relationships" xmlns:a="http://schemas.openxmlformats.org/drawingml/2006/main" r:embed="Refc950697ed54e2c"/>
          <a:stretch xmlns:a="http://schemas.openxmlformats.org/drawingml/2006/main"/>
        </p:blipFill>
        <p:spPr>
          <a:xfrm xmlns:a="http://schemas.openxmlformats.org/drawingml/2006/main">
            <a:off x="10858500" y="2057644"/>
            <a:ext cx="2667000" cy="5771662"/>
          </a:xfrm>
          <a:prstGeom xmlns:a="http://schemas.openxmlformats.org/drawingml/2006/main" prst="rect">
            <a:avLst/>
          </a:prstGeom>
        </p:spPr>
      </p:pic>
      <p:sp>
        <p:nvSpPr>
          <p:cNvPr id="12" name="text-80-837">
            <a:extLst xmlns:a="http://schemas.openxmlformats.org/drawingml/2006/main">
              <a:ext uri="{FF2B5EF4-FFF2-40B4-BE49-F238E27FC236}">
                <a16:creationId xmlns:a16="http://schemas.microsoft.com/office/drawing/2014/main" id="{F431A17A-993E-4E8B-846B-A70BC190A476}"/>
              </a:ext>
            </a:extLst>
          </p:cNvPr>
          <p:cNvSpPr>
            <a:spLocks xmlns:a="http://schemas.openxmlformats.org/drawingml/2006/main" noGrp="1"/>
          </p:cNvSpPr>
          <p:nvPr/>
        </p:nvSpPr>
        <p:spPr>
          <a:xfrm xmlns:a="http://schemas.openxmlformats.org/drawingml/2006/main">
            <a:off x="762000" y="7972425"/>
            <a:ext cx="1352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3 prompt đã soạn. Chưa có đủ before/after để nhận là 3 vòng hoàn tất</a:t>
            </a:r>
          </a:p>
        </p:txBody>
      </p:sp>
      <p:sp>
        <p:nvSpPr>
          <p:cNvPr id="13" name="text-1465-28">
            <a:extLst xmlns:a="http://schemas.openxmlformats.org/drawingml/2006/main">
              <a:ext uri="{FF2B5EF4-FFF2-40B4-BE49-F238E27FC236}">
                <a16:creationId xmlns:a16="http://schemas.microsoft.com/office/drawing/2014/main" id="{2E81583F-8F01-4CF7-85EF-B0A9305ACA94}"/>
              </a:ext>
            </a:extLst>
          </p:cNvPr>
          <p:cNvSpPr>
            <a:spLocks xmlns:a="http://schemas.openxmlformats.org/drawingml/2006/main" noGrp="1"/>
          </p:cNvSpPr>
          <p:nvPr/>
        </p:nvSpPr>
        <p:spPr>
          <a:xfrm xmlns:a="http://schemas.openxmlformats.org/drawingml/2006/main">
            <a:off x="13954125" y="2667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006A39"/>
                </a:solidFill>
                <a:latin typeface="DejaVu Sans"/>
                <a:ea typeface="DejaVu Sans"/>
                <a:cs typeface="DejaVu Sans"/>
              </a:defRPr>
            </a:defPPr>
          </a:lstStyle>
          <a:p xmlns:a="http://schemas.openxmlformats.org/drawingml/2006/main">
            <a:pPr>
              <a:defRPr sz="1500" b="0">
                <a:solidFill>
                  <a:srgbClr val="006A39"/>
                </a:solidFill>
                <a:latin typeface="DejaVu Sans"/>
                <a:ea typeface="DejaVu Sans"/>
                <a:cs typeface="DejaVu Sans"/>
              </a:defRPr>
            </a:pPr>
            <a:r>
              <a:rPr sz="1500" b="0">
                <a:solidFill>
                  <a:srgbClr val="006A39"/>
                </a:solidFill>
                <a:latin typeface="DejaVu Sans"/>
                <a:ea typeface="DejaVu Sans"/>
                <a:cs typeface="DejaVu Sans"/>
              </a:rPr>
              <a:t>06</a:t>
            </a:r>
          </a:p>
        </p:txBody>
      </p:sp>
    </p:spTree>
    <p:extLst>
      <p:ext uri="{BB962C8B-B14F-4D97-AF65-F5344CB8AC3E}">
        <p14:creationId xmlns:p14="http://schemas.microsoft.com/office/powerpoint/2010/main" val="635121345"/>
      </p:ext>
    </p:extLst>
  </p:cSld>
</p:sld>
</file>

<file path=ppt/slides/slide7.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4" name="text-80-65">
            <a:extLst xmlns:a="http://schemas.openxmlformats.org/drawingml/2006/main">
              <a:ext uri="{FF2B5EF4-FFF2-40B4-BE49-F238E27FC236}">
                <a16:creationId xmlns:a16="http://schemas.microsoft.com/office/drawing/2014/main" id="{7A6E5C4E-5617-4A50-B18B-AE73F35FCFC7}"/>
              </a:ext>
            </a:extLst>
          </p:cNvPr>
          <p:cNvSpPr>
            <a:spLocks xmlns:a="http://schemas.openxmlformats.org/drawingml/2006/main" noGrp="1"/>
          </p:cNvSpPr>
          <p:nvPr/>
        </p:nvSpPr>
        <p:spPr>
          <a:xfrm xmlns:a="http://schemas.openxmlformats.org/drawingml/2006/main">
            <a:off x="762000" y="61912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Quyết định thiết kế</a:t>
            </a:r>
          </a:p>
        </p:txBody>
      </p:sp>
      <p:sp>
        <p:nvSpPr>
          <p:cNvPr id="2" name="text-80-154">
            <a:extLst xmlns:a="http://schemas.openxmlformats.org/drawingml/2006/main">
              <a:ext uri="{FF2B5EF4-FFF2-40B4-BE49-F238E27FC236}">
                <a16:creationId xmlns:a16="http://schemas.microsoft.com/office/drawing/2014/main" id="{FC5F8F76-30AB-423D-8DCD-8EA0921972F8}"/>
              </a:ext>
            </a:extLst>
          </p:cNvPr>
          <p:cNvSpPr>
            <a:spLocks xmlns:a="http://schemas.openxmlformats.org/drawingml/2006/main" noGrp="1"/>
          </p:cNvSpPr>
          <p:nvPr/>
        </p:nvSpPr>
        <p:spPr>
          <a:xfrm xmlns:a="http://schemas.openxmlformats.org/drawingml/2006/main">
            <a:off x="762000" y="146685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E4A40"/>
                </a:solidFill>
                <a:latin typeface="DejaVu Sans"/>
                <a:ea typeface="DejaVu Sans"/>
                <a:cs typeface="DejaVu Sans"/>
              </a:defRPr>
            </a:defPPr>
          </a:lstStyle>
          <a:p xmlns:a="http://schemas.openxmlformats.org/drawingml/2006/main">
            <a:pPr>
              <a:defRPr sz="2100" b="0">
                <a:solidFill>
                  <a:srgbClr val="3E4A40"/>
                </a:solidFill>
                <a:latin typeface="DejaVu Sans"/>
                <a:ea typeface="DejaVu Sans"/>
                <a:cs typeface="DejaVu Sans"/>
              </a:defRPr>
            </a:pPr>
            <a:r>
              <a:rPr sz="2100" b="0">
                <a:solidFill>
                  <a:srgbClr val="3E4A40"/>
                </a:solidFill>
                <a:latin typeface="DejaVu Sans"/>
                <a:ea typeface="DejaVu Sans"/>
                <a:cs typeface="DejaVu Sans"/>
              </a:rPr>
              <a:t>Accept, modify và reject có lý do</a:t>
            </a:r>
          </a:p>
        </p:txBody>
      </p:sp>
      <p:sp>
        <p:nvSpPr>
          <p:cNvPr id="3" name="text-80-282">
            <a:extLst xmlns:a="http://schemas.openxmlformats.org/drawingml/2006/main">
              <a:ext uri="{FF2B5EF4-FFF2-40B4-BE49-F238E27FC236}">
                <a16:creationId xmlns:a16="http://schemas.microsoft.com/office/drawing/2014/main" id="{BD6F960D-8250-4E73-B50E-7E090BF512F2}"/>
              </a:ext>
            </a:extLst>
          </p:cNvPr>
          <p:cNvSpPr>
            <a:spLocks xmlns:a="http://schemas.openxmlformats.org/drawingml/2006/main" noGrp="1"/>
          </p:cNvSpPr>
          <p:nvPr/>
        </p:nvSpPr>
        <p:spPr>
          <a:xfrm xmlns:a="http://schemas.openxmlformats.org/drawingml/2006/main">
            <a:off x="762000" y="26860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01</a:t>
            </a:r>
          </a:p>
        </p:txBody>
      </p:sp>
      <p:sp>
        <p:nvSpPr>
          <p:cNvPr id="4" name="text-168-282">
            <a:extLst xmlns:a="http://schemas.openxmlformats.org/drawingml/2006/main">
              <a:ext uri="{FF2B5EF4-FFF2-40B4-BE49-F238E27FC236}">
                <a16:creationId xmlns:a16="http://schemas.microsoft.com/office/drawing/2014/main" id="{6CD1E91B-76D8-4235-AFC9-988088646345}"/>
              </a:ext>
            </a:extLst>
          </p:cNvPr>
          <p:cNvSpPr>
            <a:spLocks xmlns:a="http://schemas.openxmlformats.org/drawingml/2006/main" noGrp="1"/>
          </p:cNvSpPr>
          <p:nvPr/>
        </p:nvSpPr>
        <p:spPr>
          <a:xfrm xmlns:a="http://schemas.openxmlformats.org/drawingml/2006/main">
            <a:off x="1600200" y="268605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Accept: 5 tab và nhật ký/âm thanh tùy chọn</a:t>
            </a:r>
          </a:p>
        </p:txBody>
      </p:sp>
      <p:sp>
        <p:nvSpPr>
          <p:cNvPr id="5" name="text-80-394">
            <a:extLst xmlns:a="http://schemas.openxmlformats.org/drawingml/2006/main">
              <a:ext uri="{FF2B5EF4-FFF2-40B4-BE49-F238E27FC236}">
                <a16:creationId xmlns:a16="http://schemas.microsoft.com/office/drawing/2014/main" id="{7793224C-7CDC-4F23-AD8D-7B9694940AE8}"/>
              </a:ext>
            </a:extLst>
          </p:cNvPr>
          <p:cNvSpPr>
            <a:spLocks xmlns:a="http://schemas.openxmlformats.org/drawingml/2006/main" noGrp="1"/>
          </p:cNvSpPr>
          <p:nvPr/>
        </p:nvSpPr>
        <p:spPr>
          <a:xfrm xmlns:a="http://schemas.openxmlformats.org/drawingml/2006/main">
            <a:off x="762000" y="37528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02</a:t>
            </a:r>
          </a:p>
        </p:txBody>
      </p:sp>
      <p:sp>
        <p:nvSpPr>
          <p:cNvPr id="6" name="text-168-394">
            <a:extLst xmlns:a="http://schemas.openxmlformats.org/drawingml/2006/main">
              <a:ext uri="{FF2B5EF4-FFF2-40B4-BE49-F238E27FC236}">
                <a16:creationId xmlns:a16="http://schemas.microsoft.com/office/drawing/2014/main" id="{90EB3D85-9E82-4F5A-9DA6-C57BAE8B6C4F}"/>
              </a:ext>
            </a:extLst>
          </p:cNvPr>
          <p:cNvSpPr>
            <a:spLocks xmlns:a="http://schemas.openxmlformats.org/drawingml/2006/main" noGrp="1"/>
          </p:cNvSpPr>
          <p:nvPr/>
        </p:nvSpPr>
        <p:spPr>
          <a:xfrm xmlns:a="http://schemas.openxmlformats.org/drawingml/2006/main">
            <a:off x="1600200" y="375285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Modify: primary rõ, chữ dễ đọc, error tại field</a:t>
            </a:r>
          </a:p>
        </p:txBody>
      </p:sp>
      <p:sp>
        <p:nvSpPr>
          <p:cNvPr id="7" name="text-80-506">
            <a:extLst xmlns:a="http://schemas.openxmlformats.org/drawingml/2006/main">
              <a:ext uri="{FF2B5EF4-FFF2-40B4-BE49-F238E27FC236}">
                <a16:creationId xmlns:a16="http://schemas.microsoft.com/office/drawing/2014/main" id="{216E5C8C-71C6-418B-B8F9-C2DC55EB2331}"/>
              </a:ext>
            </a:extLst>
          </p:cNvPr>
          <p:cNvSpPr>
            <a:spLocks xmlns:a="http://schemas.openxmlformats.org/drawingml/2006/main" noGrp="1"/>
          </p:cNvSpPr>
          <p:nvPr/>
        </p:nvSpPr>
        <p:spPr>
          <a:xfrm xmlns:a="http://schemas.openxmlformats.org/drawingml/2006/main">
            <a:off x="762000" y="48196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03</a:t>
            </a:r>
          </a:p>
        </p:txBody>
      </p:sp>
      <p:sp>
        <p:nvSpPr>
          <p:cNvPr id="8" name="text-168-506">
            <a:extLst xmlns:a="http://schemas.openxmlformats.org/drawingml/2006/main">
              <a:ext uri="{FF2B5EF4-FFF2-40B4-BE49-F238E27FC236}">
                <a16:creationId xmlns:a16="http://schemas.microsoft.com/office/drawing/2014/main" id="{30A00951-7FE5-4DB1-B18A-9B498296DD2A}"/>
              </a:ext>
            </a:extLst>
          </p:cNvPr>
          <p:cNvSpPr>
            <a:spLocks xmlns:a="http://schemas.openxmlformats.org/drawingml/2006/main" noGrp="1"/>
          </p:cNvSpPr>
          <p:nvPr/>
        </p:nvSpPr>
        <p:spPr>
          <a:xfrm xmlns:a="http://schemas.openxmlformats.org/drawingml/2006/main">
            <a:off x="1600200" y="481965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Modify: public preview, giữ bản nháp và dữ liệu riêng</a:t>
            </a:r>
          </a:p>
        </p:txBody>
      </p:sp>
      <p:sp>
        <p:nvSpPr>
          <p:cNvPr id="9" name="text-80-618">
            <a:extLst xmlns:a="http://schemas.openxmlformats.org/drawingml/2006/main">
              <a:ext uri="{FF2B5EF4-FFF2-40B4-BE49-F238E27FC236}">
                <a16:creationId xmlns:a16="http://schemas.microsoft.com/office/drawing/2014/main" id="{283AC9B7-E59F-4004-A912-8536FAA47A13}"/>
              </a:ext>
            </a:extLst>
          </p:cNvPr>
          <p:cNvSpPr>
            <a:spLocks xmlns:a="http://schemas.openxmlformats.org/drawingml/2006/main" noGrp="1"/>
          </p:cNvSpPr>
          <p:nvPr/>
        </p:nvSpPr>
        <p:spPr>
          <a:xfrm xmlns:a="http://schemas.openxmlformats.org/drawingml/2006/main">
            <a:off x="762000" y="58864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04</a:t>
            </a:r>
          </a:p>
        </p:txBody>
      </p:sp>
      <p:sp>
        <p:nvSpPr>
          <p:cNvPr id="10" name="text-168-618">
            <a:extLst xmlns:a="http://schemas.openxmlformats.org/drawingml/2006/main">
              <a:ext uri="{FF2B5EF4-FFF2-40B4-BE49-F238E27FC236}">
                <a16:creationId xmlns:a16="http://schemas.microsoft.com/office/drawing/2014/main" id="{6332100A-23FD-4B17-93BE-6C99A9B5E3B8}"/>
              </a:ext>
            </a:extLst>
          </p:cNvPr>
          <p:cNvSpPr>
            <a:spLocks xmlns:a="http://schemas.openxmlformats.org/drawingml/2006/main" noGrp="1"/>
          </p:cNvSpPr>
          <p:nvPr/>
        </p:nvSpPr>
        <p:spPr>
          <a:xfrm xmlns:a="http://schemas.openxmlformats.org/drawingml/2006/main">
            <a:off x="1600200" y="588645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Reject: tăng quá nhiều chức năng social trong demo</a:t>
            </a:r>
          </a:p>
        </p:txBody>
      </p:sp>
      <p:pic>
        <p:nvPicPr>
          <p:cNvPr id="11" name="">
            <a:extLst xmlns:a="http://schemas.openxmlformats.org/drawingml/2006/main">
              <a:ext uri="{FF2B5EF4-FFF2-40B4-BE49-F238E27FC236}">
                <a16:creationId xmlns:a16="http://schemas.microsoft.com/office/drawing/2014/main" id="{75955887-BFDE-41C1-9882-FA0736994BDF}"/>
              </a:ext>
            </a:extLst>
          </p:cNvPr>
          <p:cNvPicPr>
            <a:picLocks xmlns:a="http://schemas.openxmlformats.org/drawingml/2006/main" noChangeAspect="1"/>
          </p:cNvPicPr>
          <p:nvPr/>
        </p:nvPicPr>
        <p:blipFill>
          <a:blip xmlns:r="http://schemas.openxmlformats.org/officeDocument/2006/relationships" xmlns:a="http://schemas.openxmlformats.org/drawingml/2006/main" r:embed="R987cc7cf507f4f14"/>
          <a:stretch xmlns:a="http://schemas.openxmlformats.org/drawingml/2006/main"/>
        </p:blipFill>
        <p:spPr>
          <a:xfrm xmlns:a="http://schemas.openxmlformats.org/drawingml/2006/main">
            <a:off x="10858500" y="2057644"/>
            <a:ext cx="2667000" cy="5771662"/>
          </a:xfrm>
          <a:prstGeom xmlns:a="http://schemas.openxmlformats.org/drawingml/2006/main" prst="rect">
            <a:avLst/>
          </a:prstGeom>
        </p:spPr>
      </p:pic>
      <p:sp>
        <p:nvSpPr>
          <p:cNvPr id="12" name="text-80-837">
            <a:extLst xmlns:a="http://schemas.openxmlformats.org/drawingml/2006/main">
              <a:ext uri="{FF2B5EF4-FFF2-40B4-BE49-F238E27FC236}">
                <a16:creationId xmlns:a16="http://schemas.microsoft.com/office/drawing/2014/main" id="{8427EFA2-F3E2-4EAB-80F9-688CC626D67F}"/>
              </a:ext>
            </a:extLst>
          </p:cNvPr>
          <p:cNvSpPr>
            <a:spLocks xmlns:a="http://schemas.openxmlformats.org/drawingml/2006/main" noGrp="1"/>
          </p:cNvSpPr>
          <p:nvPr/>
        </p:nvSpPr>
        <p:spPr>
          <a:xfrm xmlns:a="http://schemas.openxmlformats.org/drawingml/2006/main">
            <a:off x="762000" y="7972425"/>
            <a:ext cx="1352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Quyết định đích được tách khỏi các thay đổi đã có bằng chứng</a:t>
            </a:r>
          </a:p>
        </p:txBody>
      </p:sp>
      <p:sp>
        <p:nvSpPr>
          <p:cNvPr id="13" name="text-1465-28">
            <a:extLst xmlns:a="http://schemas.openxmlformats.org/drawingml/2006/main">
              <a:ext uri="{FF2B5EF4-FFF2-40B4-BE49-F238E27FC236}">
                <a16:creationId xmlns:a16="http://schemas.microsoft.com/office/drawing/2014/main" id="{221AE489-DFCD-448F-9B58-9BE466186EFE}"/>
              </a:ext>
            </a:extLst>
          </p:cNvPr>
          <p:cNvSpPr>
            <a:spLocks xmlns:a="http://schemas.openxmlformats.org/drawingml/2006/main" noGrp="1"/>
          </p:cNvSpPr>
          <p:nvPr/>
        </p:nvSpPr>
        <p:spPr>
          <a:xfrm xmlns:a="http://schemas.openxmlformats.org/drawingml/2006/main">
            <a:off x="13954125" y="2667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006A39"/>
                </a:solidFill>
                <a:latin typeface="DejaVu Sans"/>
                <a:ea typeface="DejaVu Sans"/>
                <a:cs typeface="DejaVu Sans"/>
              </a:defRPr>
            </a:defPPr>
          </a:lstStyle>
          <a:p xmlns:a="http://schemas.openxmlformats.org/drawingml/2006/main">
            <a:pPr>
              <a:defRPr sz="1500" b="0">
                <a:solidFill>
                  <a:srgbClr val="006A39"/>
                </a:solidFill>
                <a:latin typeface="DejaVu Sans"/>
                <a:ea typeface="DejaVu Sans"/>
                <a:cs typeface="DejaVu Sans"/>
              </a:defRPr>
            </a:pPr>
            <a:r>
              <a:rPr sz="1500" b="0">
                <a:solidFill>
                  <a:srgbClr val="006A39"/>
                </a:solidFill>
                <a:latin typeface="DejaVu Sans"/>
                <a:ea typeface="DejaVu Sans"/>
                <a:cs typeface="DejaVu Sans"/>
              </a:rPr>
              <a:t>07</a:t>
            </a:r>
          </a:p>
        </p:txBody>
      </p:sp>
    </p:spTree>
    <p:extLst>
      <p:ext uri="{BB962C8B-B14F-4D97-AF65-F5344CB8AC3E}">
        <p14:creationId xmlns:p14="http://schemas.microsoft.com/office/powerpoint/2010/main" val="1844406392"/>
      </p:ext>
    </p:extLst>
  </p:cSld>
</p:sld>
</file>

<file path=ppt/slides/slide8.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1" name="text-80-65">
            <a:extLst xmlns:a="http://schemas.openxmlformats.org/drawingml/2006/main">
              <a:ext uri="{FF2B5EF4-FFF2-40B4-BE49-F238E27FC236}">
                <a16:creationId xmlns:a16="http://schemas.microsoft.com/office/drawing/2014/main" id="{DCF657DF-DE73-4478-9A25-5481ABBE40D9}"/>
              </a:ext>
            </a:extLst>
          </p:cNvPr>
          <p:cNvSpPr>
            <a:spLocks xmlns:a="http://schemas.openxmlformats.org/drawingml/2006/main" noGrp="1"/>
          </p:cNvSpPr>
          <p:nvPr/>
        </p:nvSpPr>
        <p:spPr>
          <a:xfrm xmlns:a="http://schemas.openxmlformats.org/drawingml/2006/main">
            <a:off x="762000" y="61912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Stitch và UI trong Figma</a:t>
            </a:r>
          </a:p>
        </p:txBody>
      </p:sp>
      <p:sp>
        <p:nvSpPr>
          <p:cNvPr id="2" name="text-80-154">
            <a:extLst xmlns:a="http://schemas.openxmlformats.org/drawingml/2006/main">
              <a:ext uri="{FF2B5EF4-FFF2-40B4-BE49-F238E27FC236}">
                <a16:creationId xmlns:a16="http://schemas.microsoft.com/office/drawing/2014/main" id="{CDBE1011-8D66-45E7-8AB8-5CCDC2FC492C}"/>
              </a:ext>
            </a:extLst>
          </p:cNvPr>
          <p:cNvSpPr>
            <a:spLocks xmlns:a="http://schemas.openxmlformats.org/drawingml/2006/main" noGrp="1"/>
          </p:cNvSpPr>
          <p:nvPr/>
        </p:nvSpPr>
        <p:spPr>
          <a:xfrm xmlns:a="http://schemas.openxmlformats.org/drawingml/2006/main">
            <a:off x="762000" y="146685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E4A40"/>
                </a:solidFill>
                <a:latin typeface="DejaVu Sans"/>
                <a:ea typeface="DejaVu Sans"/>
                <a:cs typeface="DejaVu Sans"/>
              </a:defRPr>
            </a:defPPr>
          </a:lstStyle>
          <a:p xmlns:a="http://schemas.openxmlformats.org/drawingml/2006/main">
            <a:pPr>
              <a:defRPr sz="2100" b="0">
                <a:solidFill>
                  <a:srgbClr val="3E4A40"/>
                </a:solidFill>
                <a:latin typeface="DejaVu Sans"/>
                <a:ea typeface="DejaVu Sans"/>
                <a:cs typeface="DejaVu Sans"/>
              </a:defRPr>
            </a:pPr>
            <a:r>
              <a:rPr sz="2100" b="0">
                <a:solidFill>
                  <a:srgbClr val="3E4A40"/>
                </a:solidFill>
                <a:latin typeface="DejaVu Sans"/>
                <a:ea typeface="DejaVu Sans"/>
                <a:cs typeface="DejaVu Sans"/>
              </a:rPr>
              <a:t>M31 · Chi tiết thử thách</a:t>
            </a:r>
          </a:p>
        </p:txBody>
      </p:sp>
      <p:sp>
        <p:nvSpPr>
          <p:cNvPr id="3" name="text-80-320">
            <a:extLst xmlns:a="http://schemas.openxmlformats.org/drawingml/2006/main">
              <a:ext uri="{FF2B5EF4-FFF2-40B4-BE49-F238E27FC236}">
                <a16:creationId xmlns:a16="http://schemas.microsoft.com/office/drawing/2014/main" id="{FDFAD5C2-FFA7-41FE-96B9-F14CCF8D0F14}"/>
              </a:ext>
            </a:extLst>
          </p:cNvPr>
          <p:cNvSpPr>
            <a:spLocks xmlns:a="http://schemas.openxmlformats.org/drawingml/2006/main" noGrp="1"/>
          </p:cNvSpPr>
          <p:nvPr/>
        </p:nvSpPr>
        <p:spPr>
          <a:xfrm xmlns:a="http://schemas.openxmlformats.org/drawingml/2006/main">
            <a:off x="762000" y="3048000"/>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Khôi phục ảnh gốc và kiểm tra layout trước nộp</a:t>
            </a:r>
          </a:p>
        </p:txBody>
      </p:sp>
      <p:sp>
        <p:nvSpPr>
          <p:cNvPr id="4" name="text-80-468">
            <a:extLst xmlns:a="http://schemas.openxmlformats.org/drawingml/2006/main">
              <a:ext uri="{FF2B5EF4-FFF2-40B4-BE49-F238E27FC236}">
                <a16:creationId xmlns:a16="http://schemas.microsoft.com/office/drawing/2014/main" id="{259CA31B-F380-4CD5-B984-6D1D78F7F112}"/>
              </a:ext>
            </a:extLst>
          </p:cNvPr>
          <p:cNvSpPr>
            <a:spLocks xmlns:a="http://schemas.openxmlformats.org/drawingml/2006/main" noGrp="1"/>
          </p:cNvSpPr>
          <p:nvPr/>
        </p:nvSpPr>
        <p:spPr>
          <a:xfrm xmlns:a="http://schemas.openxmlformats.org/drawingml/2006/main">
            <a:off x="762000" y="4457700"/>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Wireframe low-fi còn cần minh chứng riêng</a:t>
            </a:r>
          </a:p>
        </p:txBody>
      </p:sp>
      <p:pic>
        <p:nvPicPr>
          <p:cNvPr id="5" name="">
            <a:extLst xmlns:a="http://schemas.openxmlformats.org/drawingml/2006/main">
              <a:ext uri="{FF2B5EF4-FFF2-40B4-BE49-F238E27FC236}">
                <a16:creationId xmlns:a16="http://schemas.microsoft.com/office/drawing/2014/main" id="{DFED1B3C-881C-40F2-A746-0BD2112D50D3}"/>
              </a:ext>
            </a:extLst>
          </p:cNvPr>
          <p:cNvPicPr>
            <a:picLocks xmlns:a="http://schemas.openxmlformats.org/drawingml/2006/main" noChangeAspect="1"/>
          </p:cNvPicPr>
          <p:nvPr/>
        </p:nvPicPr>
        <p:blipFill>
          <a:blip xmlns:r="http://schemas.openxmlformats.org/officeDocument/2006/relationships" xmlns:a="http://schemas.openxmlformats.org/drawingml/2006/main" r:embed="R769fa30fdf0040ca"/>
          <a:stretch xmlns:a="http://schemas.openxmlformats.org/drawingml/2006/main"/>
        </p:blipFill>
        <p:spPr>
          <a:xfrm xmlns:a="http://schemas.openxmlformats.org/drawingml/2006/main">
            <a:off x="6191250" y="2462186"/>
            <a:ext cx="2476500" cy="535310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4063A0F-DFCD-4D80-BF3D-823AD65581F0}"/>
              </a:ext>
            </a:extLst>
          </p:cNvPr>
          <p:cNvPicPr>
            <a:picLocks xmlns:a="http://schemas.openxmlformats.org/drawingml/2006/main" noChangeAspect="1"/>
          </p:cNvPicPr>
          <p:nvPr/>
        </p:nvPicPr>
        <p:blipFill>
          <a:blip xmlns:r="http://schemas.openxmlformats.org/officeDocument/2006/relationships" xmlns:a="http://schemas.openxmlformats.org/drawingml/2006/main" r:embed="Rdc6a4aadb0694701"/>
          <a:stretch xmlns:a="http://schemas.openxmlformats.org/drawingml/2006/main"/>
        </p:blipFill>
        <p:spPr>
          <a:xfrm xmlns:a="http://schemas.openxmlformats.org/drawingml/2006/main">
            <a:off x="10382250" y="2459038"/>
            <a:ext cx="2476500" cy="5359400"/>
          </a:xfrm>
          <a:prstGeom xmlns:a="http://schemas.openxmlformats.org/drawingml/2006/main" prst="rect">
            <a:avLst/>
          </a:prstGeom>
        </p:spPr>
      </p:pic>
      <p:sp>
        <p:nvSpPr>
          <p:cNvPr id="7" name="text-585-216">
            <a:extLst xmlns:a="http://schemas.openxmlformats.org/drawingml/2006/main">
              <a:ext uri="{FF2B5EF4-FFF2-40B4-BE49-F238E27FC236}">
                <a16:creationId xmlns:a16="http://schemas.microsoft.com/office/drawing/2014/main" id="{4F20269E-7667-46A0-A7C3-62C7E6212DA1}"/>
              </a:ext>
            </a:extLst>
          </p:cNvPr>
          <p:cNvSpPr>
            <a:spLocks xmlns:a="http://schemas.openxmlformats.org/drawingml/2006/main" noGrp="1"/>
          </p:cNvSpPr>
          <p:nvPr/>
        </p:nvSpPr>
        <p:spPr>
          <a:xfrm xmlns:a="http://schemas.openxmlformats.org/drawingml/2006/main">
            <a:off x="5572125" y="20574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3E4A40"/>
                </a:solidFill>
                <a:latin typeface="DejaVu Sans"/>
                <a:ea typeface="DejaVu Sans"/>
                <a:cs typeface="DejaVu Sans"/>
              </a:defRPr>
            </a:defPPr>
          </a:lstStyle>
          <a:p xmlns:a="http://schemas.openxmlformats.org/drawingml/2006/main">
            <a:pPr>
              <a:defRPr sz="1650" b="0">
                <a:solidFill>
                  <a:srgbClr val="3E4A40"/>
                </a:solidFill>
                <a:latin typeface="DejaVu Sans"/>
                <a:ea typeface="DejaVu Sans"/>
                <a:cs typeface="DejaVu Sans"/>
              </a:defRPr>
            </a:pPr>
            <a:r>
              <a:rPr sz="1650" b="0">
                <a:solidFill>
                  <a:srgbClr val="3E4A40"/>
                </a:solidFill>
                <a:latin typeface="DejaVu Sans"/>
                <a:ea typeface="DejaVu Sans"/>
                <a:cs typeface="DejaVu Sans"/>
              </a:rPr>
              <a:t>Stitch: ảnh cover có trong nguồn</a:t>
            </a:r>
          </a:p>
        </p:txBody>
      </p:sp>
      <p:sp>
        <p:nvSpPr>
          <p:cNvPr id="8" name="text-1060-216">
            <a:extLst xmlns:a="http://schemas.openxmlformats.org/drawingml/2006/main">
              <a:ext uri="{FF2B5EF4-FFF2-40B4-BE49-F238E27FC236}">
                <a16:creationId xmlns:a16="http://schemas.microsoft.com/office/drawing/2014/main" id="{88A3FC57-2A0C-42F0-8B47-56E55923B5E7}"/>
              </a:ext>
            </a:extLst>
          </p:cNvPr>
          <p:cNvSpPr>
            <a:spLocks xmlns:a="http://schemas.openxmlformats.org/drawingml/2006/main" noGrp="1"/>
          </p:cNvSpPr>
          <p:nvPr/>
        </p:nvSpPr>
        <p:spPr>
          <a:xfrm xmlns:a="http://schemas.openxmlformats.org/drawingml/2006/main">
            <a:off x="10096500" y="205740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3E4A40"/>
                </a:solidFill>
                <a:latin typeface="DejaVu Sans"/>
                <a:ea typeface="DejaVu Sans"/>
                <a:cs typeface="DejaVu Sans"/>
              </a:defRPr>
            </a:defPPr>
          </a:lstStyle>
          <a:p xmlns:a="http://schemas.openxmlformats.org/drawingml/2006/main">
            <a:pPr>
              <a:defRPr sz="1650" b="0">
                <a:solidFill>
                  <a:srgbClr val="3E4A40"/>
                </a:solidFill>
                <a:latin typeface="DejaVu Sans"/>
                <a:ea typeface="DejaVu Sans"/>
                <a:cs typeface="DejaVu Sans"/>
              </a:defRPr>
            </a:pPr>
            <a:r>
              <a:rPr sz="1650" b="0">
                <a:solidFill>
                  <a:srgbClr val="3E4A40"/>
                </a:solidFill>
                <a:latin typeface="DejaVu Sans"/>
                <a:ea typeface="DejaVu Sans"/>
                <a:cs typeface="DejaVu Sans"/>
              </a:rPr>
              <a:t>Figma: vùng cover đang trống</a:t>
            </a:r>
          </a:p>
        </p:txBody>
      </p:sp>
      <p:sp>
        <p:nvSpPr>
          <p:cNvPr id="9" name="text-80-837">
            <a:extLst xmlns:a="http://schemas.openxmlformats.org/drawingml/2006/main">
              <a:ext uri="{FF2B5EF4-FFF2-40B4-BE49-F238E27FC236}">
                <a16:creationId xmlns:a16="http://schemas.microsoft.com/office/drawing/2014/main" id="{0F762642-743A-4765-9B95-BE9F9508C414}"/>
              </a:ext>
            </a:extLst>
          </p:cNvPr>
          <p:cNvSpPr>
            <a:spLocks xmlns:a="http://schemas.openxmlformats.org/drawingml/2006/main" noGrp="1"/>
          </p:cNvSpPr>
          <p:nvPr/>
        </p:nvSpPr>
        <p:spPr>
          <a:xfrm xmlns:a="http://schemas.openxmlformats.org/drawingml/2006/main">
            <a:off x="762000" y="7972425"/>
            <a:ext cx="1352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Đối chiếu nguồn xuất, không coi đây là before/after cải tiến AI</a:t>
            </a:r>
          </a:p>
        </p:txBody>
      </p:sp>
      <p:sp>
        <p:nvSpPr>
          <p:cNvPr id="10" name="text-1465-28">
            <a:extLst xmlns:a="http://schemas.openxmlformats.org/drawingml/2006/main">
              <a:ext uri="{FF2B5EF4-FFF2-40B4-BE49-F238E27FC236}">
                <a16:creationId xmlns:a16="http://schemas.microsoft.com/office/drawing/2014/main" id="{256FE184-CB7D-4AFF-B63C-A958424D6227}"/>
              </a:ext>
            </a:extLst>
          </p:cNvPr>
          <p:cNvSpPr>
            <a:spLocks xmlns:a="http://schemas.openxmlformats.org/drawingml/2006/main" noGrp="1"/>
          </p:cNvSpPr>
          <p:nvPr/>
        </p:nvSpPr>
        <p:spPr>
          <a:xfrm xmlns:a="http://schemas.openxmlformats.org/drawingml/2006/main">
            <a:off x="13954125" y="2667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006A39"/>
                </a:solidFill>
                <a:latin typeface="DejaVu Sans"/>
                <a:ea typeface="DejaVu Sans"/>
                <a:cs typeface="DejaVu Sans"/>
              </a:defRPr>
            </a:defPPr>
          </a:lstStyle>
          <a:p xmlns:a="http://schemas.openxmlformats.org/drawingml/2006/main">
            <a:pPr>
              <a:defRPr sz="1500" b="0">
                <a:solidFill>
                  <a:srgbClr val="006A39"/>
                </a:solidFill>
                <a:latin typeface="DejaVu Sans"/>
                <a:ea typeface="DejaVu Sans"/>
                <a:cs typeface="DejaVu Sans"/>
              </a:defRPr>
            </a:pPr>
            <a:r>
              <a:rPr sz="1500" b="0">
                <a:solidFill>
                  <a:srgbClr val="006A39"/>
                </a:solidFill>
                <a:latin typeface="DejaVu Sans"/>
                <a:ea typeface="DejaVu Sans"/>
                <a:cs typeface="DejaVu Sans"/>
              </a:rPr>
              <a:t>08</a:t>
            </a:r>
          </a:p>
        </p:txBody>
      </p:sp>
    </p:spTree>
    <p:extLst>
      <p:ext uri="{BB962C8B-B14F-4D97-AF65-F5344CB8AC3E}">
        <p14:creationId xmlns:p14="http://schemas.microsoft.com/office/powerpoint/2010/main" val="1451842876"/>
      </p:ext>
    </p:extLst>
  </p:cSld>
</p:sld>
</file>

<file path=ppt/slides/slide9.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8" name="text-80-65">
            <a:extLst xmlns:a="http://schemas.openxmlformats.org/drawingml/2006/main">
              <a:ext uri="{FF2B5EF4-FFF2-40B4-BE49-F238E27FC236}">
                <a16:creationId xmlns:a16="http://schemas.microsoft.com/office/drawing/2014/main" id="{2C348024-06F3-48CB-B55D-479BE3A782E5}"/>
              </a:ext>
            </a:extLst>
          </p:cNvPr>
          <p:cNvSpPr>
            <a:spLocks xmlns:a="http://schemas.openxmlformats.org/drawingml/2006/main" noGrp="1"/>
          </p:cNvSpPr>
          <p:nvPr/>
        </p:nvSpPr>
        <p:spPr>
          <a:xfrm xmlns:a="http://schemas.openxmlformats.org/drawingml/2006/main">
            <a:off x="762000" y="61912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Design system và handoff</a:t>
            </a:r>
          </a:p>
        </p:txBody>
      </p:sp>
      <p:sp>
        <p:nvSpPr>
          <p:cNvPr id="2" name="text-80-154">
            <a:extLst xmlns:a="http://schemas.openxmlformats.org/drawingml/2006/main">
              <a:ext uri="{FF2B5EF4-FFF2-40B4-BE49-F238E27FC236}">
                <a16:creationId xmlns:a16="http://schemas.microsoft.com/office/drawing/2014/main" id="{88061FC8-C965-4D7D-8C69-4AD06E23B18F}"/>
              </a:ext>
            </a:extLst>
          </p:cNvPr>
          <p:cNvSpPr>
            <a:spLocks xmlns:a="http://schemas.openxmlformats.org/drawingml/2006/main" noGrp="1"/>
          </p:cNvSpPr>
          <p:nvPr/>
        </p:nvSpPr>
        <p:spPr>
          <a:xfrm xmlns:a="http://schemas.openxmlformats.org/drawingml/2006/main">
            <a:off x="762000" y="146685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E4A40"/>
                </a:solidFill>
                <a:latin typeface="DejaVu Sans"/>
                <a:ea typeface="DejaVu Sans"/>
                <a:cs typeface="DejaVu Sans"/>
              </a:defRPr>
            </a:defPPr>
          </a:lstStyle>
          <a:p xmlns:a="http://schemas.openxmlformats.org/drawingml/2006/main">
            <a:pPr>
              <a:defRPr sz="2100" b="0">
                <a:solidFill>
                  <a:srgbClr val="3E4A40"/>
                </a:solidFill>
                <a:latin typeface="DejaVu Sans"/>
                <a:ea typeface="DejaVu Sans"/>
                <a:cs typeface="DejaVu Sans"/>
              </a:defRPr>
            </a:pPr>
            <a:r>
              <a:rPr sz="2100" b="0">
                <a:solidFill>
                  <a:srgbClr val="3E4A40"/>
                </a:solidFill>
                <a:latin typeface="DejaVu Sans"/>
                <a:ea typeface="DejaVu Sans"/>
                <a:cs typeface="DejaVu Sans"/>
              </a:rPr>
              <a:t>Token chung, component dùng lại</a:t>
            </a:r>
          </a:p>
        </p:txBody>
      </p:sp>
      <p:graphicFrame>
        <p:nvGraphicFramePr>
          <p:cNvPr id="3" name="">
            <a:extLst xmlns:a="http://schemas.openxmlformats.org/drawingml/2006/main">
              <a:ext uri="{FF2B5EF4-FFF2-40B4-BE49-F238E27FC236}">
                <a16:creationId xmlns:a16="http://schemas.microsoft.com/office/drawing/2014/main" id="{B4D4FB1C-D873-4149-A2D0-205D47662F76}"/>
              </a:ext>
            </a:extLst>
          </p:cNvPr>
          <p:cNvGraphicFramePr/>
          <p:nvPr/>
        </p:nvGraphicFramePr>
        <p:xfrm>
          <a:off xmlns:a="http://schemas.openxmlformats.org/drawingml/2006/main" x="762000" y="2524125"/>
          <a:ext xmlns:a="http://schemas.openxmlformats.org/drawingml/2006/main" cx="13525500" cy="3333750"/>
        </p:xfrm>
        <a:graphic xmlns:a="http://schemas.openxmlformats.org/drawingml/2006/main">
          <a:graphicData uri="http://schemas.openxmlformats.org/drawingml/2006/table">
            <a:tbl>
              <a:tblPr/>
              <a:tblGrid>
                <a:gridCol w="3619500"/>
                <a:gridCol w="9906000"/>
              </a:tblGrid>
              <a:tr h="666750">
                <a:tc>
                  <a:txBody>
                    <a:bodyPr/>
                    <a:lstStyle/>
                    <a:p>
                      <a:r>
                        <a:rPr sz="2025" b="1">
                          <a:solidFill>
                            <a:srgbClr val="FFFFFF"/>
                          </a:solidFill>
                          <a:latin typeface="DejaVu Sans"/>
                          <a:ea typeface="DejaVu Sans"/>
                          <a:cs typeface="DejaVu Sans"/>
                        </a:rPr>
                        <a:t>Nhóm</a:t>
                      </a:r>
                    </a:p>
                  </a:txBody>
                  <a:tcPr marL="91440" marR="91440" marT="45720" marB="45720">
                    <a:solidFill>
                      <a:srgbClr val="006A39"/>
                    </a:solidFill>
                  </a:tcPr>
                </a:tc>
                <a:tc>
                  <a:txBody>
                    <a:bodyPr/>
                    <a:lstStyle/>
                    <a:p>
                      <a:r>
                        <a:rPr sz="2025" b="1">
                          <a:solidFill>
                            <a:srgbClr val="FFFFFF"/>
                          </a:solidFill>
                          <a:latin typeface="DejaVu Sans"/>
                          <a:ea typeface="DejaVu Sans"/>
                          <a:cs typeface="DejaVu Sans"/>
                        </a:rPr>
                        <a:t>Đặc tả đích</a:t>
                      </a:r>
                    </a:p>
                  </a:txBody>
                  <a:tcPr marL="91440" marR="91440" marT="45720" marB="45720">
                    <a:solidFill>
                      <a:srgbClr val="006A39"/>
                    </a:solidFill>
                  </a:tcPr>
                </a:tc>
              </a:tr>
              <a:tr h="666750">
                <a:tc>
                  <a:txBody>
                    <a:bodyPr/>
                    <a:lstStyle/>
                    <a:p>
                      <a:r>
                        <a:rPr sz="1875" b="0">
                          <a:solidFill>
                            <a:srgbClr val="191C1B"/>
                          </a:solidFill>
                          <a:latin typeface="DejaVu Sans"/>
                          <a:ea typeface="DejaVu Sans"/>
                          <a:cs typeface="DejaVu Sans"/>
                        </a:rPr>
                        <a:t>Màu</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Primary #006A39; Surface #F9FAF8</a:t>
                      </a:r>
                    </a:p>
                  </a:txBody>
                  <a:tcPr marL="91440" marR="91440" marT="45720" marB="45720">
                    <a:solidFill>
                      <a:srgbClr val="FFFFFF"/>
                    </a:solidFill>
                  </a:tcPr>
                </a:tc>
              </a:tr>
              <a:tr h="666750">
                <a:tc>
                  <a:txBody>
                    <a:bodyPr/>
                    <a:lstStyle/>
                    <a:p>
                      <a:r>
                        <a:rPr sz="1875" b="0">
                          <a:solidFill>
                            <a:srgbClr val="191C1B"/>
                          </a:solidFill>
                          <a:latin typeface="DejaVu Sans"/>
                          <a:ea typeface="DejaVu Sans"/>
                          <a:cs typeface="DejaVu Sans"/>
                        </a:rPr>
                        <a:t>Chữ</a:t>
                      </a:r>
                    </a:p>
                  </a:txBody>
                  <a:tcPr marL="91440" marR="91440" marT="45720" marB="45720">
                    <a:solidFill>
                      <a:srgbClr val="EDF3EF"/>
                    </a:solidFill>
                  </a:tcPr>
                </a:tc>
                <a:tc>
                  <a:txBody>
                    <a:bodyPr/>
                    <a:lstStyle/>
                    <a:p>
                      <a:r>
                        <a:rPr sz="1875" b="0">
                          <a:solidFill>
                            <a:srgbClr val="191C1B"/>
                          </a:solidFill>
                          <a:latin typeface="DejaVu Sans"/>
                          <a:ea typeface="DejaVu Sans"/>
                          <a:cs typeface="DejaVu Sans"/>
                        </a:rPr>
                        <a:t>Inter, body/label tối thiểu 14sp</a:t>
                      </a:r>
                    </a:p>
                  </a:txBody>
                  <a:tcPr marL="91440" marR="91440" marT="45720" marB="45720">
                    <a:solidFill>
                      <a:srgbClr val="EDF3EF"/>
                    </a:solidFill>
                  </a:tcPr>
                </a:tc>
              </a:tr>
              <a:tr h="666750">
                <a:tc>
                  <a:txBody>
                    <a:bodyPr/>
                    <a:lstStyle/>
                    <a:p>
                      <a:r>
                        <a:rPr sz="1875" b="0">
                          <a:solidFill>
                            <a:srgbClr val="191C1B"/>
                          </a:solidFill>
                          <a:latin typeface="DejaVu Sans"/>
                          <a:ea typeface="DejaVu Sans"/>
                          <a:cs typeface="DejaVu Sans"/>
                        </a:rPr>
                        <a:t>Spacing / radius</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4 / 8 / 12 / 16 / 24dp</a:t>
                      </a:r>
                    </a:p>
                  </a:txBody>
                  <a:tcPr marL="91440" marR="91440" marT="45720" marB="45720">
                    <a:solidFill>
                      <a:srgbClr val="FFFFFF"/>
                    </a:solidFill>
                  </a:tcPr>
                </a:tc>
              </a:tr>
              <a:tr h="666750">
                <a:tc>
                  <a:txBody>
                    <a:bodyPr/>
                    <a:lstStyle/>
                    <a:p>
                      <a:r>
                        <a:rPr sz="1875" b="0">
                          <a:solidFill>
                            <a:srgbClr val="191C1B"/>
                          </a:solidFill>
                          <a:latin typeface="DejaVu Sans"/>
                          <a:ea typeface="DejaVu Sans"/>
                          <a:cs typeface="DejaVu Sans"/>
                        </a:rPr>
                        <a:t>Components</a:t>
                      </a:r>
                    </a:p>
                  </a:txBody>
                  <a:tcPr marL="91440" marR="91440" marT="45720" marB="45720">
                    <a:solidFill>
                      <a:srgbClr val="EDF3EF"/>
                    </a:solidFill>
                  </a:tcPr>
                </a:tc>
                <a:tc>
                  <a:txBody>
                    <a:bodyPr/>
                    <a:lstStyle/>
                    <a:p>
                      <a:r>
                        <a:rPr sz="1875" b="0">
                          <a:solidFill>
                            <a:srgbClr val="191C1B"/>
                          </a:solidFill>
                          <a:latin typeface="DejaVu Sans"/>
                          <a:ea typeface="DejaVu Sans"/>
                          <a:cs typeface="DejaVu Sans"/>
                        </a:rPr>
                        <a:t>9 nhóm, Auto Layout, variants và instances</a:t>
                      </a:r>
                    </a:p>
                  </a:txBody>
                  <a:tcPr marL="91440" marR="91440" marT="45720" marB="45720">
                    <a:solidFill>
                      <a:srgbClr val="EDF3EF"/>
                    </a:solidFill>
                  </a:tcPr>
                </a:tc>
              </a:tr>
            </a:tbl>
          </a:graphicData>
        </a:graphic>
      </p:graphicFrame>
      <p:sp>
        <p:nvSpPr>
          <p:cNvPr id="4" name="text-80-651">
            <a:extLst xmlns:a="http://schemas.openxmlformats.org/drawingml/2006/main">
              <a:ext uri="{FF2B5EF4-FFF2-40B4-BE49-F238E27FC236}">
                <a16:creationId xmlns:a16="http://schemas.microsoft.com/office/drawing/2014/main" id="{64C522D0-CC70-4B18-B03C-89FDF0429B0C}"/>
              </a:ext>
            </a:extLst>
          </p:cNvPr>
          <p:cNvSpPr>
            <a:spLocks xmlns:a="http://schemas.openxmlformats.org/drawingml/2006/main" noGrp="1"/>
          </p:cNvSpPr>
          <p:nvPr/>
        </p:nvSpPr>
        <p:spPr>
          <a:xfrm xmlns:a="http://schemas.openxmlformats.org/drawingml/2006/main">
            <a:off x="762000" y="6200775"/>
            <a:ext cx="1371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1C1B"/>
                </a:solidFill>
                <a:latin typeface="DejaVu Sans"/>
                <a:ea typeface="DejaVu Sans"/>
                <a:cs typeface="DejaVu Sans"/>
              </a:defRPr>
            </a:defPPr>
          </a:lstStyle>
          <a:p xmlns:a="http://schemas.openxmlformats.org/drawingml/2006/main">
            <a:pPr>
              <a:defRPr sz="1950" b="0">
                <a:solidFill>
                  <a:srgbClr val="191C1B"/>
                </a:solidFill>
                <a:latin typeface="DejaVu Sans"/>
                <a:ea typeface="DejaVu Sans"/>
                <a:cs typeface="DejaVu Sans"/>
              </a:defRPr>
            </a:pPr>
            <a:r>
              <a:rPr sz="1950" b="0">
                <a:solidFill>
                  <a:srgbClr val="191C1B"/>
                </a:solidFill>
                <a:latin typeface="DejaVu Sans"/>
                <a:ea typeface="DejaVu Sans"/>
                <a:cs typeface="DejaVu Sans"/>
              </a:rPr>
              <a:t>Button, Text field, Card, Navigation, App bar</a:t>
            </a:r>
          </a:p>
        </p:txBody>
      </p:sp>
      <p:sp>
        <p:nvSpPr>
          <p:cNvPr id="5" name="text-80-699">
            <a:extLst xmlns:a="http://schemas.openxmlformats.org/drawingml/2006/main">
              <a:ext uri="{FF2B5EF4-FFF2-40B4-BE49-F238E27FC236}">
                <a16:creationId xmlns:a16="http://schemas.microsoft.com/office/drawing/2014/main" id="{F82BCC90-4F8B-4DE8-B3AB-DB79DB6F301A}"/>
              </a:ext>
            </a:extLst>
          </p:cNvPr>
          <p:cNvSpPr>
            <a:spLocks xmlns:a="http://schemas.openxmlformats.org/drawingml/2006/main" noGrp="1"/>
          </p:cNvSpPr>
          <p:nvPr/>
        </p:nvSpPr>
        <p:spPr>
          <a:xfrm xmlns:a="http://schemas.openxmlformats.org/drawingml/2006/main">
            <a:off x="762000" y="6657975"/>
            <a:ext cx="1371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1C1B"/>
                </a:solidFill>
                <a:latin typeface="DejaVu Sans"/>
                <a:ea typeface="DejaVu Sans"/>
                <a:cs typeface="DejaVu Sans"/>
              </a:defRPr>
            </a:defPPr>
          </a:lstStyle>
          <a:p xmlns:a="http://schemas.openxmlformats.org/drawingml/2006/main">
            <a:pPr>
              <a:defRPr sz="1950" b="0">
                <a:solidFill>
                  <a:srgbClr val="191C1B"/>
                </a:solidFill>
                <a:latin typeface="DejaVu Sans"/>
                <a:ea typeface="DejaVu Sans"/>
                <a:cs typeface="DejaVu Sans"/>
              </a:defRPr>
            </a:pPr>
            <a:r>
              <a:rPr sz="1950" b="0">
                <a:solidFill>
                  <a:srgbClr val="191C1B"/>
                </a:solidFill>
                <a:latin typeface="DejaVu Sans"/>
                <a:ea typeface="DejaVu Sans"/>
                <a:cs typeface="DejaVu Sans"/>
              </a:rPr>
              <a:t>Dialog, Loading, Empty và Error</a:t>
            </a:r>
          </a:p>
        </p:txBody>
      </p:sp>
      <p:sp>
        <p:nvSpPr>
          <p:cNvPr id="6" name="text-80-837">
            <a:extLst xmlns:a="http://schemas.openxmlformats.org/drawingml/2006/main">
              <a:ext uri="{FF2B5EF4-FFF2-40B4-BE49-F238E27FC236}">
                <a16:creationId xmlns:a16="http://schemas.microsoft.com/office/drawing/2014/main" id="{7075F22D-30AA-4CD0-8EEA-FD44D0D15B71}"/>
              </a:ext>
            </a:extLst>
          </p:cNvPr>
          <p:cNvSpPr>
            <a:spLocks xmlns:a="http://schemas.openxmlformats.org/drawingml/2006/main" noGrp="1"/>
          </p:cNvSpPr>
          <p:nvPr/>
        </p:nvSpPr>
        <p:spPr>
          <a:xfrm xmlns:a="http://schemas.openxmlformats.org/drawingml/2006/main">
            <a:off x="762000" y="7972425"/>
            <a:ext cx="1352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Token binding và đủ variants trong Figma còn cần kiểm chứng</a:t>
            </a:r>
          </a:p>
        </p:txBody>
      </p:sp>
      <p:sp>
        <p:nvSpPr>
          <p:cNvPr id="7" name="text-1465-28">
            <a:extLst xmlns:a="http://schemas.openxmlformats.org/drawingml/2006/main">
              <a:ext uri="{FF2B5EF4-FFF2-40B4-BE49-F238E27FC236}">
                <a16:creationId xmlns:a16="http://schemas.microsoft.com/office/drawing/2014/main" id="{83585149-3416-43C3-BEA5-EF8F962FEB8A}"/>
              </a:ext>
            </a:extLst>
          </p:cNvPr>
          <p:cNvSpPr>
            <a:spLocks xmlns:a="http://schemas.openxmlformats.org/drawingml/2006/main" noGrp="1"/>
          </p:cNvSpPr>
          <p:nvPr/>
        </p:nvSpPr>
        <p:spPr>
          <a:xfrm xmlns:a="http://schemas.openxmlformats.org/drawingml/2006/main">
            <a:off x="13954125" y="2667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006A39"/>
                </a:solidFill>
                <a:latin typeface="DejaVu Sans"/>
                <a:ea typeface="DejaVu Sans"/>
                <a:cs typeface="DejaVu Sans"/>
              </a:defRPr>
            </a:defPPr>
          </a:lstStyle>
          <a:p xmlns:a="http://schemas.openxmlformats.org/drawingml/2006/main">
            <a:pPr>
              <a:defRPr sz="1500" b="0">
                <a:solidFill>
                  <a:srgbClr val="006A39"/>
                </a:solidFill>
                <a:latin typeface="DejaVu Sans"/>
                <a:ea typeface="DejaVu Sans"/>
                <a:cs typeface="DejaVu Sans"/>
              </a:defRPr>
            </a:pPr>
            <a:r>
              <a:rPr sz="1500" b="0">
                <a:solidFill>
                  <a:srgbClr val="006A39"/>
                </a:solidFill>
                <a:latin typeface="DejaVu Sans"/>
                <a:ea typeface="DejaVu Sans"/>
                <a:cs typeface="DejaVu Sans"/>
              </a:rPr>
              <a:t>09</a:t>
            </a:r>
          </a:p>
        </p:txBody>
      </p:sp>
    </p:spTree>
    <p:extLst>
      <p:ext uri="{BB962C8B-B14F-4D97-AF65-F5344CB8AC3E}">
        <p14:creationId xmlns:p14="http://schemas.microsoft.com/office/powerpoint/2010/main" val="801567272"/>
      </p:ext>
    </p:extLst>
  </p:cSld>
</p:sld>
</file>

<file path=ppt/slides/slide10.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4" name="text-80-65">
            <a:extLst xmlns:a="http://schemas.openxmlformats.org/drawingml/2006/main">
              <a:ext uri="{FF2B5EF4-FFF2-40B4-BE49-F238E27FC236}">
                <a16:creationId xmlns:a16="http://schemas.microsoft.com/office/drawing/2014/main" id="{307AE25F-DD0A-49EA-AE6C-D3941AC26A4F}"/>
              </a:ext>
            </a:extLst>
          </p:cNvPr>
          <p:cNvSpPr>
            <a:spLocks xmlns:a="http://schemas.openxmlformats.org/drawingml/2006/main" noGrp="1"/>
          </p:cNvSpPr>
          <p:nvPr/>
        </p:nvSpPr>
        <p:spPr>
          <a:xfrm xmlns:a="http://schemas.openxmlformats.org/drawingml/2006/main">
            <a:off x="762000" y="61912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Accessibility và responsive</a:t>
            </a:r>
          </a:p>
        </p:txBody>
      </p:sp>
      <p:sp>
        <p:nvSpPr>
          <p:cNvPr id="2" name="text-80-154">
            <a:extLst xmlns:a="http://schemas.openxmlformats.org/drawingml/2006/main">
              <a:ext uri="{FF2B5EF4-FFF2-40B4-BE49-F238E27FC236}">
                <a16:creationId xmlns:a16="http://schemas.microsoft.com/office/drawing/2014/main" id="{7DDADD1C-D000-4270-884C-3B4168C76EBF}"/>
              </a:ext>
            </a:extLst>
          </p:cNvPr>
          <p:cNvSpPr>
            <a:spLocks xmlns:a="http://schemas.openxmlformats.org/drawingml/2006/main" noGrp="1"/>
          </p:cNvSpPr>
          <p:nvPr/>
        </p:nvSpPr>
        <p:spPr>
          <a:xfrm xmlns:a="http://schemas.openxmlformats.org/drawingml/2006/main">
            <a:off x="762000" y="146685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E4A40"/>
                </a:solidFill>
                <a:latin typeface="DejaVu Sans"/>
                <a:ea typeface="DejaVu Sans"/>
                <a:cs typeface="DejaVu Sans"/>
              </a:defRPr>
            </a:defPPr>
          </a:lstStyle>
          <a:p xmlns:a="http://schemas.openxmlformats.org/drawingml/2006/main">
            <a:pPr>
              <a:defRPr sz="2100" b="0">
                <a:solidFill>
                  <a:srgbClr val="3E4A40"/>
                </a:solidFill>
                <a:latin typeface="DejaVu Sans"/>
                <a:ea typeface="DejaVu Sans"/>
                <a:cs typeface="DejaVu Sans"/>
              </a:defRPr>
            </a:pPr>
            <a:r>
              <a:rPr sz="2100" b="0">
                <a:solidFill>
                  <a:srgbClr val="3E4A40"/>
                </a:solidFill>
                <a:latin typeface="DejaVu Sans"/>
                <a:ea typeface="DejaVu Sans"/>
                <a:cs typeface="DejaVu Sans"/>
              </a:rPr>
              <a:t>Đo cụ thể, không chỉ nhìn ảnh</a:t>
            </a:r>
          </a:p>
        </p:txBody>
      </p:sp>
      <p:sp>
        <p:nvSpPr>
          <p:cNvPr id="3" name="text-80-282">
            <a:extLst xmlns:a="http://schemas.openxmlformats.org/drawingml/2006/main">
              <a:ext uri="{FF2B5EF4-FFF2-40B4-BE49-F238E27FC236}">
                <a16:creationId xmlns:a16="http://schemas.microsoft.com/office/drawing/2014/main" id="{255D19BB-7210-459E-85DF-9169CEBB4B4B}"/>
              </a:ext>
            </a:extLst>
          </p:cNvPr>
          <p:cNvSpPr>
            <a:spLocks xmlns:a="http://schemas.openxmlformats.org/drawingml/2006/main" noGrp="1"/>
          </p:cNvSpPr>
          <p:nvPr/>
        </p:nvSpPr>
        <p:spPr>
          <a:xfrm xmlns:a="http://schemas.openxmlformats.org/drawingml/2006/main">
            <a:off x="762000" y="26860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01</a:t>
            </a:r>
          </a:p>
        </p:txBody>
      </p:sp>
      <p:sp>
        <p:nvSpPr>
          <p:cNvPr id="4" name="text-168-282">
            <a:extLst xmlns:a="http://schemas.openxmlformats.org/drawingml/2006/main">
              <a:ext uri="{FF2B5EF4-FFF2-40B4-BE49-F238E27FC236}">
                <a16:creationId xmlns:a16="http://schemas.microsoft.com/office/drawing/2014/main" id="{1CB690CE-B6C2-41E1-80BF-EAB0716C80FD}"/>
              </a:ext>
            </a:extLst>
          </p:cNvPr>
          <p:cNvSpPr>
            <a:spLocks xmlns:a="http://schemas.openxmlformats.org/drawingml/2006/main" noGrp="1"/>
          </p:cNvSpPr>
          <p:nvPr/>
        </p:nvSpPr>
        <p:spPr>
          <a:xfrm xmlns:a="http://schemas.openxmlformats.org/drawingml/2006/main">
            <a:off x="1600200" y="268605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Chữ trắng trên #006A39: tương phản 6.73:1</a:t>
            </a:r>
          </a:p>
        </p:txBody>
      </p:sp>
      <p:sp>
        <p:nvSpPr>
          <p:cNvPr id="5" name="text-80-394">
            <a:extLst xmlns:a="http://schemas.openxmlformats.org/drawingml/2006/main">
              <a:ext uri="{FF2B5EF4-FFF2-40B4-BE49-F238E27FC236}">
                <a16:creationId xmlns:a16="http://schemas.microsoft.com/office/drawing/2014/main" id="{1A9EFA8E-EA21-49FB-9F56-2C5D20A32A53}"/>
              </a:ext>
            </a:extLst>
          </p:cNvPr>
          <p:cNvSpPr>
            <a:spLocks xmlns:a="http://schemas.openxmlformats.org/drawingml/2006/main" noGrp="1"/>
          </p:cNvSpPr>
          <p:nvPr/>
        </p:nvSpPr>
        <p:spPr>
          <a:xfrm xmlns:a="http://schemas.openxmlformats.org/drawingml/2006/main">
            <a:off x="762000" y="37528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02</a:t>
            </a:r>
          </a:p>
        </p:txBody>
      </p:sp>
      <p:sp>
        <p:nvSpPr>
          <p:cNvPr id="6" name="text-168-394">
            <a:extLst xmlns:a="http://schemas.openxmlformats.org/drawingml/2006/main">
              <a:ext uri="{FF2B5EF4-FFF2-40B4-BE49-F238E27FC236}">
                <a16:creationId xmlns:a16="http://schemas.microsoft.com/office/drawing/2014/main" id="{87DEA389-6269-4FA4-BBD5-897781333F44}"/>
              </a:ext>
            </a:extLst>
          </p:cNvPr>
          <p:cNvSpPr>
            <a:spLocks xmlns:a="http://schemas.openxmlformats.org/drawingml/2006/main" noGrp="1"/>
          </p:cNvSpPr>
          <p:nvPr/>
        </p:nvSpPr>
        <p:spPr>
          <a:xfrm xmlns:a="http://schemas.openxmlformats.org/drawingml/2006/main">
            <a:off x="1600200" y="375285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Vùng chạm ≥48dp, nội dung ≥14sp</a:t>
            </a:r>
          </a:p>
        </p:txBody>
      </p:sp>
      <p:sp>
        <p:nvSpPr>
          <p:cNvPr id="7" name="text-80-506">
            <a:extLst xmlns:a="http://schemas.openxmlformats.org/drawingml/2006/main">
              <a:ext uri="{FF2B5EF4-FFF2-40B4-BE49-F238E27FC236}">
                <a16:creationId xmlns:a16="http://schemas.microsoft.com/office/drawing/2014/main" id="{B3154E9E-DF1E-4F74-8C56-1C7BA01490AC}"/>
              </a:ext>
            </a:extLst>
          </p:cNvPr>
          <p:cNvSpPr>
            <a:spLocks xmlns:a="http://schemas.openxmlformats.org/drawingml/2006/main" noGrp="1"/>
          </p:cNvSpPr>
          <p:nvPr/>
        </p:nvSpPr>
        <p:spPr>
          <a:xfrm xmlns:a="http://schemas.openxmlformats.org/drawingml/2006/main">
            <a:off x="762000" y="48196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03</a:t>
            </a:r>
          </a:p>
        </p:txBody>
      </p:sp>
      <p:sp>
        <p:nvSpPr>
          <p:cNvPr id="8" name="text-168-506">
            <a:extLst xmlns:a="http://schemas.openxmlformats.org/drawingml/2006/main">
              <a:ext uri="{FF2B5EF4-FFF2-40B4-BE49-F238E27FC236}">
                <a16:creationId xmlns:a16="http://schemas.microsoft.com/office/drawing/2014/main" id="{77624C40-3E3C-4C31-9E14-1C30D68F604E}"/>
              </a:ext>
            </a:extLst>
          </p:cNvPr>
          <p:cNvSpPr>
            <a:spLocks xmlns:a="http://schemas.openxmlformats.org/drawingml/2006/main" noGrp="1"/>
          </p:cNvSpPr>
          <p:nvPr/>
        </p:nvSpPr>
        <p:spPr>
          <a:xfrm xmlns:a="http://schemas.openxmlformats.org/drawingml/2006/main">
            <a:off x="1600200" y="481965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Khung đích 360×800, kiểm tra thêm 412dp</a:t>
            </a:r>
          </a:p>
        </p:txBody>
      </p:sp>
      <p:sp>
        <p:nvSpPr>
          <p:cNvPr id="9" name="text-80-618">
            <a:extLst xmlns:a="http://schemas.openxmlformats.org/drawingml/2006/main">
              <a:ext uri="{FF2B5EF4-FFF2-40B4-BE49-F238E27FC236}">
                <a16:creationId xmlns:a16="http://schemas.microsoft.com/office/drawing/2014/main" id="{1283751C-36E4-41A9-BF9D-0FADFABF18B1}"/>
              </a:ext>
            </a:extLst>
          </p:cNvPr>
          <p:cNvSpPr>
            <a:spLocks xmlns:a="http://schemas.openxmlformats.org/drawingml/2006/main" noGrp="1"/>
          </p:cNvSpPr>
          <p:nvPr/>
        </p:nvSpPr>
        <p:spPr>
          <a:xfrm xmlns:a="http://schemas.openxmlformats.org/drawingml/2006/main">
            <a:off x="762000" y="58864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04</a:t>
            </a:r>
          </a:p>
        </p:txBody>
      </p:sp>
      <p:sp>
        <p:nvSpPr>
          <p:cNvPr id="10" name="text-168-618">
            <a:extLst xmlns:a="http://schemas.openxmlformats.org/drawingml/2006/main">
              <a:ext uri="{FF2B5EF4-FFF2-40B4-BE49-F238E27FC236}">
                <a16:creationId xmlns:a16="http://schemas.microsoft.com/office/drawing/2014/main" id="{853F59C3-338B-45A6-9C19-45C963E5FE92}"/>
              </a:ext>
            </a:extLst>
          </p:cNvPr>
          <p:cNvSpPr>
            <a:spLocks xmlns:a="http://schemas.openxmlformats.org/drawingml/2006/main" noGrp="1"/>
          </p:cNvSpPr>
          <p:nvPr/>
        </p:nvSpPr>
        <p:spPr>
          <a:xfrm xmlns:a="http://schemas.openxmlformats.org/drawingml/2006/main">
            <a:off x="1600200" y="588645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Hiện 390×844, cần kiểm chứng reflow và text scaling</a:t>
            </a:r>
          </a:p>
        </p:txBody>
      </p:sp>
      <p:pic>
        <p:nvPicPr>
          <p:cNvPr id="11" name="">
            <a:extLst xmlns:a="http://schemas.openxmlformats.org/drawingml/2006/main">
              <a:ext uri="{FF2B5EF4-FFF2-40B4-BE49-F238E27FC236}">
                <a16:creationId xmlns:a16="http://schemas.microsoft.com/office/drawing/2014/main" id="{5BC72729-FF10-449B-990A-89E9A47AEF93}"/>
              </a:ext>
            </a:extLst>
          </p:cNvPr>
          <p:cNvPicPr>
            <a:picLocks xmlns:a="http://schemas.openxmlformats.org/drawingml/2006/main" noChangeAspect="1"/>
          </p:cNvPicPr>
          <p:nvPr/>
        </p:nvPicPr>
        <p:blipFill>
          <a:blip xmlns:r="http://schemas.openxmlformats.org/officeDocument/2006/relationships" xmlns:a="http://schemas.openxmlformats.org/drawingml/2006/main" r:embed="R6147e0f573c94566"/>
          <a:stretch xmlns:a="http://schemas.openxmlformats.org/drawingml/2006/main"/>
        </p:blipFill>
        <p:spPr>
          <a:xfrm xmlns:a="http://schemas.openxmlformats.org/drawingml/2006/main">
            <a:off x="10858500" y="2057644"/>
            <a:ext cx="2667000" cy="5771662"/>
          </a:xfrm>
          <a:prstGeom xmlns:a="http://schemas.openxmlformats.org/drawingml/2006/main" prst="rect">
            <a:avLst/>
          </a:prstGeom>
        </p:spPr>
      </p:pic>
      <p:sp>
        <p:nvSpPr>
          <p:cNvPr id="12" name="text-80-837">
            <a:extLst xmlns:a="http://schemas.openxmlformats.org/drawingml/2006/main">
              <a:ext uri="{FF2B5EF4-FFF2-40B4-BE49-F238E27FC236}">
                <a16:creationId xmlns:a16="http://schemas.microsoft.com/office/drawing/2014/main" id="{366A1DB2-C7E0-4730-83FC-EFE512B9E306}"/>
              </a:ext>
            </a:extLst>
          </p:cNvPr>
          <p:cNvSpPr>
            <a:spLocks xmlns:a="http://schemas.openxmlformats.org/drawingml/2006/main" noGrp="1"/>
          </p:cNvSpPr>
          <p:nvPr/>
        </p:nvSpPr>
        <p:spPr>
          <a:xfrm xmlns:a="http://schemas.openxmlformats.org/drawingml/2006/main">
            <a:off x="762000" y="7972425"/>
            <a:ext cx="1352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Tỷ lệ là phép tính token. Chưa chứng nhận toàn bộ text layer đạt</a:t>
            </a:r>
          </a:p>
        </p:txBody>
      </p:sp>
      <p:sp>
        <p:nvSpPr>
          <p:cNvPr id="13" name="text-1465-28">
            <a:extLst xmlns:a="http://schemas.openxmlformats.org/drawingml/2006/main">
              <a:ext uri="{FF2B5EF4-FFF2-40B4-BE49-F238E27FC236}">
                <a16:creationId xmlns:a16="http://schemas.microsoft.com/office/drawing/2014/main" id="{63C06492-F6A2-4846-9337-B397A9293F64}"/>
              </a:ext>
            </a:extLst>
          </p:cNvPr>
          <p:cNvSpPr>
            <a:spLocks xmlns:a="http://schemas.openxmlformats.org/drawingml/2006/main" noGrp="1"/>
          </p:cNvSpPr>
          <p:nvPr/>
        </p:nvSpPr>
        <p:spPr>
          <a:xfrm xmlns:a="http://schemas.openxmlformats.org/drawingml/2006/main">
            <a:off x="13954125" y="2667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006A39"/>
                </a:solidFill>
                <a:latin typeface="DejaVu Sans"/>
                <a:ea typeface="DejaVu Sans"/>
                <a:cs typeface="DejaVu Sans"/>
              </a:defRPr>
            </a:defPPr>
          </a:lstStyle>
          <a:p xmlns:a="http://schemas.openxmlformats.org/drawingml/2006/main">
            <a:pPr>
              <a:defRPr sz="1500" b="0">
                <a:solidFill>
                  <a:srgbClr val="006A39"/>
                </a:solidFill>
                <a:latin typeface="DejaVu Sans"/>
                <a:ea typeface="DejaVu Sans"/>
                <a:cs typeface="DejaVu Sans"/>
              </a:defRPr>
            </a:pPr>
            <a:r>
              <a:rPr sz="1500" b="0">
                <a:solidFill>
                  <a:srgbClr val="006A39"/>
                </a:solidFill>
                <a:latin typeface="DejaVu Sans"/>
                <a:ea typeface="DejaVu Sans"/>
                <a:cs typeface="DejaVu Sans"/>
              </a:rPr>
              <a:t>10</a:t>
            </a:r>
          </a:p>
        </p:txBody>
      </p:sp>
    </p:spTree>
    <p:extLst>
      <p:ext uri="{BB962C8B-B14F-4D97-AF65-F5344CB8AC3E}">
        <p14:creationId xmlns:p14="http://schemas.microsoft.com/office/powerpoint/2010/main" val="569288368"/>
      </p:ext>
    </p:extLst>
  </p:cSld>
</p:sld>
</file>

<file path=ppt/slides/slide11.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7" name="text-80-65">
            <a:extLst xmlns:a="http://schemas.openxmlformats.org/drawingml/2006/main">
              <a:ext uri="{FF2B5EF4-FFF2-40B4-BE49-F238E27FC236}">
                <a16:creationId xmlns:a16="http://schemas.microsoft.com/office/drawing/2014/main" id="{6466A096-DA55-4C02-8880-C9C5C87AC4EA}"/>
              </a:ext>
            </a:extLst>
          </p:cNvPr>
          <p:cNvSpPr>
            <a:spLocks xmlns:a="http://schemas.openxmlformats.org/drawingml/2006/main" noGrp="1"/>
          </p:cNvSpPr>
          <p:nvPr/>
        </p:nvSpPr>
        <p:spPr>
          <a:xfrm xmlns:a="http://schemas.openxmlformats.org/drawingml/2006/main">
            <a:off x="762000" y="61912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Demo ba flow</a:t>
            </a:r>
          </a:p>
        </p:txBody>
      </p:sp>
      <p:sp>
        <p:nvSpPr>
          <p:cNvPr id="2" name="text-80-154">
            <a:extLst xmlns:a="http://schemas.openxmlformats.org/drawingml/2006/main">
              <a:ext uri="{FF2B5EF4-FFF2-40B4-BE49-F238E27FC236}">
                <a16:creationId xmlns:a16="http://schemas.microsoft.com/office/drawing/2014/main" id="{FCDA6A0D-7C37-4014-8B69-158C944F46BF}"/>
              </a:ext>
            </a:extLst>
          </p:cNvPr>
          <p:cNvSpPr>
            <a:spLocks xmlns:a="http://schemas.openxmlformats.org/drawingml/2006/main" noGrp="1"/>
          </p:cNvSpPr>
          <p:nvPr/>
        </p:nvSpPr>
        <p:spPr>
          <a:xfrm xmlns:a="http://schemas.openxmlformats.org/drawingml/2006/main">
            <a:off x="762000" y="146685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E4A40"/>
                </a:solidFill>
                <a:latin typeface="DejaVu Sans"/>
                <a:ea typeface="DejaVu Sans"/>
                <a:cs typeface="DejaVu Sans"/>
              </a:defRPr>
            </a:defPPr>
          </a:lstStyle>
          <a:p xmlns:a="http://schemas.openxmlformats.org/drawingml/2006/main">
            <a:pPr>
              <a:defRPr sz="2100" b="0">
                <a:solidFill>
                  <a:srgbClr val="3E4A40"/>
                </a:solidFill>
                <a:latin typeface="DejaVu Sans"/>
                <a:ea typeface="DejaVu Sans"/>
                <a:cs typeface="DejaVu Sans"/>
              </a:defRPr>
            </a:pPr>
            <a:r>
              <a:rPr sz="2100" b="0">
                <a:solidFill>
                  <a:srgbClr val="3E4A40"/>
                </a:solidFill>
                <a:latin typeface="DejaVu Sans"/>
                <a:ea typeface="DejaVu Sans"/>
                <a:cs typeface="DejaVu Sans"/>
              </a:rPr>
              <a:t>5 phút để thấy kết quả của từng nhiệm vụ</a:t>
            </a:r>
          </a:p>
        </p:txBody>
      </p:sp>
      <p:sp>
        <p:nvSpPr>
          <p:cNvPr id="3" name="text-80-282">
            <a:extLst xmlns:a="http://schemas.openxmlformats.org/drawingml/2006/main">
              <a:ext uri="{FF2B5EF4-FFF2-40B4-BE49-F238E27FC236}">
                <a16:creationId xmlns:a16="http://schemas.microsoft.com/office/drawing/2014/main" id="{15E26193-F0CA-4CD7-9F3E-C561A78127A5}"/>
              </a:ext>
            </a:extLst>
          </p:cNvPr>
          <p:cNvSpPr>
            <a:spLocks xmlns:a="http://schemas.openxmlformats.org/drawingml/2006/main" noGrp="1"/>
          </p:cNvSpPr>
          <p:nvPr/>
        </p:nvSpPr>
        <p:spPr>
          <a:xfrm xmlns:a="http://schemas.openxmlformats.org/drawingml/2006/main">
            <a:off x="762000" y="26860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01</a:t>
            </a:r>
          </a:p>
        </p:txBody>
      </p:sp>
      <p:sp>
        <p:nvSpPr>
          <p:cNvPr id="4" name="text-168-282">
            <a:extLst xmlns:a="http://schemas.openxmlformats.org/drawingml/2006/main">
              <a:ext uri="{FF2B5EF4-FFF2-40B4-BE49-F238E27FC236}">
                <a16:creationId xmlns:a16="http://schemas.microsoft.com/office/drawing/2014/main" id="{132404E1-EE6E-4BA3-84EA-57F5EAE163E6}"/>
              </a:ext>
            </a:extLst>
          </p:cNvPr>
          <p:cNvSpPr>
            <a:spLocks xmlns:a="http://schemas.openxmlformats.org/drawingml/2006/main" noGrp="1"/>
          </p:cNvSpPr>
          <p:nvPr/>
        </p:nvSpPr>
        <p:spPr>
          <a:xfrm xmlns:a="http://schemas.openxmlformats.org/drawingml/2006/main">
            <a:off x="1600200" y="2686050"/>
            <a:ext cx="6429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F1: Home, tạo hobby, đặt lịch và mở ngày</a:t>
            </a:r>
          </a:p>
        </p:txBody>
      </p:sp>
      <p:sp>
        <p:nvSpPr>
          <p:cNvPr id="5" name="text-80-394">
            <a:extLst xmlns:a="http://schemas.openxmlformats.org/drawingml/2006/main">
              <a:ext uri="{FF2B5EF4-FFF2-40B4-BE49-F238E27FC236}">
                <a16:creationId xmlns:a16="http://schemas.microsoft.com/office/drawing/2014/main" id="{CAA9DBD7-E140-4662-99DA-281E841CBD7B}"/>
              </a:ext>
            </a:extLst>
          </p:cNvPr>
          <p:cNvSpPr>
            <a:spLocks xmlns:a="http://schemas.openxmlformats.org/drawingml/2006/main" noGrp="1"/>
          </p:cNvSpPr>
          <p:nvPr/>
        </p:nvSpPr>
        <p:spPr>
          <a:xfrm xmlns:a="http://schemas.openxmlformats.org/drawingml/2006/main">
            <a:off x="762000" y="37528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02</a:t>
            </a:r>
          </a:p>
        </p:txBody>
      </p:sp>
      <p:sp>
        <p:nvSpPr>
          <p:cNvPr id="6" name="text-168-394">
            <a:extLst xmlns:a="http://schemas.openxmlformats.org/drawingml/2006/main">
              <a:ext uri="{FF2B5EF4-FFF2-40B4-BE49-F238E27FC236}">
                <a16:creationId xmlns:a16="http://schemas.microsoft.com/office/drawing/2014/main" id="{431D05B6-79CE-455B-9333-2186CE39BB16}"/>
              </a:ext>
            </a:extLst>
          </p:cNvPr>
          <p:cNvSpPr>
            <a:spLocks xmlns:a="http://schemas.openxmlformats.org/drawingml/2006/main" noGrp="1"/>
          </p:cNvSpPr>
          <p:nvPr/>
        </p:nvSpPr>
        <p:spPr>
          <a:xfrm xmlns:a="http://schemas.openxmlformats.org/drawingml/2006/main">
            <a:off x="1600200" y="3752850"/>
            <a:ext cx="6429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F2: chạy, Pause/Resume, overlay, tổng kết</a:t>
            </a:r>
          </a:p>
        </p:txBody>
      </p:sp>
      <p:sp>
        <p:nvSpPr>
          <p:cNvPr id="7" name="text-80-506">
            <a:extLst xmlns:a="http://schemas.openxmlformats.org/drawingml/2006/main">
              <a:ext uri="{FF2B5EF4-FFF2-40B4-BE49-F238E27FC236}">
                <a16:creationId xmlns:a16="http://schemas.microsoft.com/office/drawing/2014/main" id="{A2E07456-CD9E-42E1-ABF7-73BA45392C34}"/>
              </a:ext>
            </a:extLst>
          </p:cNvPr>
          <p:cNvSpPr>
            <a:spLocks xmlns:a="http://schemas.openxmlformats.org/drawingml/2006/main" noGrp="1"/>
          </p:cNvSpPr>
          <p:nvPr/>
        </p:nvSpPr>
        <p:spPr>
          <a:xfrm xmlns:a="http://schemas.openxmlformats.org/drawingml/2006/main">
            <a:off x="762000" y="48196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03</a:t>
            </a:r>
          </a:p>
        </p:txBody>
      </p:sp>
      <p:sp>
        <p:nvSpPr>
          <p:cNvPr id="8" name="text-168-506">
            <a:extLst xmlns:a="http://schemas.openxmlformats.org/drawingml/2006/main">
              <a:ext uri="{FF2B5EF4-FFF2-40B4-BE49-F238E27FC236}">
                <a16:creationId xmlns:a16="http://schemas.microsoft.com/office/drawing/2014/main" id="{6640A292-9861-4EEE-B059-4E89CC0167AC}"/>
              </a:ext>
            </a:extLst>
          </p:cNvPr>
          <p:cNvSpPr>
            <a:spLocks xmlns:a="http://schemas.openxmlformats.org/drawingml/2006/main" noGrp="1"/>
          </p:cNvSpPr>
          <p:nvPr/>
        </p:nvSpPr>
        <p:spPr>
          <a:xfrm xmlns:a="http://schemas.openxmlformats.org/drawingml/2006/main">
            <a:off x="1600200" y="4819650"/>
            <a:ext cx="6429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F3: đăng bài, tìm/join nhóm, join thử thách</a:t>
            </a:r>
          </a:p>
        </p:txBody>
      </p:sp>
      <p:sp>
        <p:nvSpPr>
          <p:cNvPr id="9" name="text-80-618">
            <a:extLst xmlns:a="http://schemas.openxmlformats.org/drawingml/2006/main">
              <a:ext uri="{FF2B5EF4-FFF2-40B4-BE49-F238E27FC236}">
                <a16:creationId xmlns:a16="http://schemas.microsoft.com/office/drawing/2014/main" id="{FC37FD24-3E56-444B-8234-EEF16D2DE249}"/>
              </a:ext>
            </a:extLst>
          </p:cNvPr>
          <p:cNvSpPr>
            <a:spLocks xmlns:a="http://schemas.openxmlformats.org/drawingml/2006/main" noGrp="1"/>
          </p:cNvSpPr>
          <p:nvPr/>
        </p:nvSpPr>
        <p:spPr>
          <a:xfrm xmlns:a="http://schemas.openxmlformats.org/drawingml/2006/main">
            <a:off x="762000" y="58864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A39"/>
                </a:solidFill>
                <a:latin typeface="DejaVu Sans"/>
                <a:ea typeface="DejaVu Sans"/>
                <a:cs typeface="DejaVu Sans"/>
              </a:defRPr>
            </a:defPPr>
          </a:lstStyle>
          <a:p xmlns:a="http://schemas.openxmlformats.org/drawingml/2006/main">
            <a:pPr>
              <a:defRPr sz="1950" b="1">
                <a:solidFill>
                  <a:srgbClr val="006A39"/>
                </a:solidFill>
                <a:latin typeface="DejaVu Sans"/>
                <a:ea typeface="DejaVu Sans"/>
                <a:cs typeface="DejaVu Sans"/>
              </a:defRPr>
            </a:pPr>
            <a:r>
              <a:rPr sz="1950" b="1">
                <a:solidFill>
                  <a:srgbClr val="006A39"/>
                </a:solidFill>
                <a:latin typeface="DejaVu Sans"/>
                <a:ea typeface="DejaVu Sans"/>
                <a:cs typeface="DejaVu Sans"/>
              </a:rPr>
              <a:t>04</a:t>
            </a:r>
          </a:p>
        </p:txBody>
      </p:sp>
      <p:sp>
        <p:nvSpPr>
          <p:cNvPr id="10" name="text-168-618">
            <a:extLst xmlns:a="http://schemas.openxmlformats.org/drawingml/2006/main">
              <a:ext uri="{FF2B5EF4-FFF2-40B4-BE49-F238E27FC236}">
                <a16:creationId xmlns:a16="http://schemas.microsoft.com/office/drawing/2014/main" id="{D20BE080-5713-4E57-8176-BD77C6CBAE2B}"/>
              </a:ext>
            </a:extLst>
          </p:cNvPr>
          <p:cNvSpPr>
            <a:spLocks xmlns:a="http://schemas.openxmlformats.org/drawingml/2006/main" noGrp="1"/>
          </p:cNvSpPr>
          <p:nvPr/>
        </p:nvSpPr>
        <p:spPr>
          <a:xfrm xmlns:a="http://schemas.openxmlformats.org/drawingml/2006/main">
            <a:off x="1600200" y="5886450"/>
            <a:ext cx="6429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1C1B"/>
                </a:solidFill>
                <a:latin typeface="DejaVu Sans"/>
                <a:ea typeface="DejaVu Sans"/>
                <a:cs typeface="DejaVu Sans"/>
              </a:defRPr>
            </a:defPPr>
          </a:lstStyle>
          <a:p xmlns:a="http://schemas.openxmlformats.org/drawingml/2006/main">
            <a:pPr>
              <a:defRPr sz="2250" b="0">
                <a:solidFill>
                  <a:srgbClr val="191C1B"/>
                </a:solidFill>
                <a:latin typeface="DejaVu Sans"/>
                <a:ea typeface="DejaVu Sans"/>
                <a:cs typeface="DejaVu Sans"/>
              </a:defRPr>
            </a:pPr>
            <a:r>
              <a:rPr sz="2250" b="0">
                <a:solidFill>
                  <a:srgbClr val="191C1B"/>
                </a:solidFill>
                <a:latin typeface="DejaVu Sans"/>
                <a:ea typeface="DejaVu Sans"/>
                <a:cs typeface="DejaVu Sans"/>
              </a:rPr>
              <a:t>Kiểm tra Back và loading thành kết quả</a:t>
            </a:r>
          </a:p>
        </p:txBody>
      </p:sp>
      <p:pic>
        <p:nvPicPr>
          <p:cNvPr id="11" name="">
            <a:extLst xmlns:a="http://schemas.openxmlformats.org/drawingml/2006/main">
              <a:ext uri="{FF2B5EF4-FFF2-40B4-BE49-F238E27FC236}">
                <a16:creationId xmlns:a16="http://schemas.microsoft.com/office/drawing/2014/main" id="{BE0CE27B-722A-442B-9610-1C7FF147A4E3}"/>
              </a:ext>
            </a:extLst>
          </p:cNvPr>
          <p:cNvPicPr>
            <a:picLocks xmlns:a="http://schemas.openxmlformats.org/drawingml/2006/main" noChangeAspect="1"/>
          </p:cNvPicPr>
          <p:nvPr/>
        </p:nvPicPr>
        <p:blipFill>
          <a:blip xmlns:r="http://schemas.openxmlformats.org/officeDocument/2006/relationships" xmlns:a="http://schemas.openxmlformats.org/drawingml/2006/main" r:embed="R180a09d2aa6f4fba"/>
          <a:stretch xmlns:a="http://schemas.openxmlformats.org/drawingml/2006/main"/>
        </p:blipFill>
        <p:spPr>
          <a:xfrm xmlns:a="http://schemas.openxmlformats.org/drawingml/2006/main">
            <a:off x="9239250" y="2496771"/>
            <a:ext cx="2190750" cy="474100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8AAE2EC6-164E-4111-9B2D-F2F73DFE34BF}"/>
              </a:ext>
            </a:extLst>
          </p:cNvPr>
          <p:cNvPicPr>
            <a:picLocks xmlns:a="http://schemas.openxmlformats.org/drawingml/2006/main" noChangeAspect="1"/>
          </p:cNvPicPr>
          <p:nvPr/>
        </p:nvPicPr>
        <p:blipFill>
          <a:blip xmlns:r="http://schemas.openxmlformats.org/officeDocument/2006/relationships" xmlns:a="http://schemas.openxmlformats.org/drawingml/2006/main" r:embed="R298d7dc31f0849d0"/>
          <a:stretch xmlns:a="http://schemas.openxmlformats.org/drawingml/2006/main"/>
        </p:blipFill>
        <p:spPr>
          <a:xfrm xmlns:a="http://schemas.openxmlformats.org/drawingml/2006/main">
            <a:off x="12001500" y="2496771"/>
            <a:ext cx="2190750" cy="4741008"/>
          </a:xfrm>
          <a:prstGeom xmlns:a="http://schemas.openxmlformats.org/drawingml/2006/main" prst="rect">
            <a:avLst/>
          </a:prstGeom>
        </p:spPr>
      </p:pic>
      <p:sp>
        <p:nvSpPr>
          <p:cNvPr id="13" name="text-970-775">
            <a:extLst xmlns:a="http://schemas.openxmlformats.org/drawingml/2006/main">
              <a:ext uri="{FF2B5EF4-FFF2-40B4-BE49-F238E27FC236}">
                <a16:creationId xmlns:a16="http://schemas.microsoft.com/office/drawing/2014/main" id="{5DEFD9F2-6951-4361-BD78-6F02F399255C}"/>
              </a:ext>
            </a:extLst>
          </p:cNvPr>
          <p:cNvSpPr>
            <a:spLocks xmlns:a="http://schemas.openxmlformats.org/drawingml/2006/main" noGrp="1"/>
          </p:cNvSpPr>
          <p:nvPr/>
        </p:nvSpPr>
        <p:spPr>
          <a:xfrm xmlns:a="http://schemas.openxmlformats.org/drawingml/2006/main">
            <a:off x="9239250" y="7381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E4A40"/>
                </a:solidFill>
                <a:latin typeface="DejaVu Sans"/>
                <a:ea typeface="DejaVu Sans"/>
                <a:cs typeface="DejaVu Sans"/>
              </a:defRPr>
            </a:defPPr>
          </a:lstStyle>
          <a:p xmlns:a="http://schemas.openxmlformats.org/drawingml/2006/main">
            <a:pPr>
              <a:defRPr sz="1575" b="0">
                <a:solidFill>
                  <a:srgbClr val="3E4A40"/>
                </a:solidFill>
                <a:latin typeface="DejaVu Sans"/>
                <a:ea typeface="DejaVu Sans"/>
                <a:cs typeface="DejaVu Sans"/>
              </a:defRPr>
            </a:pPr>
            <a:r>
              <a:rPr sz="1575" b="0">
                <a:solidFill>
                  <a:srgbClr val="3E4A40"/>
                </a:solidFill>
                <a:latin typeface="DejaVu Sans"/>
                <a:ea typeface="DejaVu Sans"/>
                <a:cs typeface="DejaVu Sans"/>
              </a:rPr>
              <a:t>M02</a:t>
            </a:r>
          </a:p>
        </p:txBody>
      </p:sp>
      <p:sp>
        <p:nvSpPr>
          <p:cNvPr id="14" name="text-1260-775">
            <a:extLst xmlns:a="http://schemas.openxmlformats.org/drawingml/2006/main">
              <a:ext uri="{FF2B5EF4-FFF2-40B4-BE49-F238E27FC236}">
                <a16:creationId xmlns:a16="http://schemas.microsoft.com/office/drawing/2014/main" id="{17598337-9B30-4B4A-88FD-5245109E6F12}"/>
              </a:ext>
            </a:extLst>
          </p:cNvPr>
          <p:cNvSpPr>
            <a:spLocks xmlns:a="http://schemas.openxmlformats.org/drawingml/2006/main" noGrp="1"/>
          </p:cNvSpPr>
          <p:nvPr/>
        </p:nvSpPr>
        <p:spPr>
          <a:xfrm xmlns:a="http://schemas.openxmlformats.org/drawingml/2006/main">
            <a:off x="12001500" y="7381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E4A40"/>
                </a:solidFill>
                <a:latin typeface="DejaVu Sans"/>
                <a:ea typeface="DejaVu Sans"/>
                <a:cs typeface="DejaVu Sans"/>
              </a:defRPr>
            </a:defPPr>
          </a:lstStyle>
          <a:p xmlns:a="http://schemas.openxmlformats.org/drawingml/2006/main">
            <a:pPr>
              <a:defRPr sz="1575" b="0">
                <a:solidFill>
                  <a:srgbClr val="3E4A40"/>
                </a:solidFill>
                <a:latin typeface="DejaVu Sans"/>
                <a:ea typeface="DejaVu Sans"/>
                <a:cs typeface="DejaVu Sans"/>
              </a:defRPr>
            </a:pPr>
            <a:r>
              <a:rPr sz="1575" b="0">
                <a:solidFill>
                  <a:srgbClr val="3E4A40"/>
                </a:solidFill>
                <a:latin typeface="DejaVu Sans"/>
                <a:ea typeface="DejaVu Sans"/>
                <a:cs typeface="DejaVu Sans"/>
              </a:rPr>
              <a:t>M16</a:t>
            </a:r>
          </a:p>
        </p:txBody>
      </p:sp>
      <p:sp>
        <p:nvSpPr>
          <p:cNvPr id="15" name="text-80-837">
            <a:extLst xmlns:a="http://schemas.openxmlformats.org/drawingml/2006/main">
              <a:ext uri="{FF2B5EF4-FFF2-40B4-BE49-F238E27FC236}">
                <a16:creationId xmlns:a16="http://schemas.microsoft.com/office/drawing/2014/main" id="{E10AF063-C969-4D27-90FA-BF38E6965B46}"/>
              </a:ext>
            </a:extLst>
          </p:cNvPr>
          <p:cNvSpPr>
            <a:spLocks xmlns:a="http://schemas.openxmlformats.org/drawingml/2006/main" noGrp="1"/>
          </p:cNvSpPr>
          <p:nvPr/>
        </p:nvSpPr>
        <p:spPr>
          <a:xfrm xmlns:a="http://schemas.openxmlformats.org/drawingml/2006/main">
            <a:off x="762000" y="7972425"/>
            <a:ext cx="1352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Figma là minh chứng chính. HTML nguồn dùng dự phòng và có dữ liệu mô phỏng</a:t>
            </a:r>
          </a:p>
        </p:txBody>
      </p:sp>
      <p:sp>
        <p:nvSpPr>
          <p:cNvPr id="16" name="text-1465-28">
            <a:extLst xmlns:a="http://schemas.openxmlformats.org/drawingml/2006/main">
              <a:ext uri="{FF2B5EF4-FFF2-40B4-BE49-F238E27FC236}">
                <a16:creationId xmlns:a16="http://schemas.microsoft.com/office/drawing/2014/main" id="{4E492F60-9736-4DE3-8EE8-715A71ED9163}"/>
              </a:ext>
            </a:extLst>
          </p:cNvPr>
          <p:cNvSpPr>
            <a:spLocks xmlns:a="http://schemas.openxmlformats.org/drawingml/2006/main" noGrp="1"/>
          </p:cNvSpPr>
          <p:nvPr/>
        </p:nvSpPr>
        <p:spPr>
          <a:xfrm xmlns:a="http://schemas.openxmlformats.org/drawingml/2006/main">
            <a:off x="13954125" y="2667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006A39"/>
                </a:solidFill>
                <a:latin typeface="DejaVu Sans"/>
                <a:ea typeface="DejaVu Sans"/>
                <a:cs typeface="DejaVu Sans"/>
              </a:defRPr>
            </a:defPPr>
          </a:lstStyle>
          <a:p xmlns:a="http://schemas.openxmlformats.org/drawingml/2006/main">
            <a:pPr>
              <a:defRPr sz="1500" b="0">
                <a:solidFill>
                  <a:srgbClr val="006A39"/>
                </a:solidFill>
                <a:latin typeface="DejaVu Sans"/>
                <a:ea typeface="DejaVu Sans"/>
                <a:cs typeface="DejaVu Sans"/>
              </a:defRPr>
            </a:pPr>
            <a:r>
              <a:rPr sz="1500" b="0">
                <a:solidFill>
                  <a:srgbClr val="006A39"/>
                </a:solidFill>
                <a:latin typeface="DejaVu Sans"/>
                <a:ea typeface="DejaVu Sans"/>
                <a:cs typeface="DejaVu Sans"/>
              </a:rPr>
              <a:t>11</a:t>
            </a:r>
          </a:p>
        </p:txBody>
      </p:sp>
    </p:spTree>
    <p:extLst>
      <p:ext uri="{BB962C8B-B14F-4D97-AF65-F5344CB8AC3E}">
        <p14:creationId xmlns:p14="http://schemas.microsoft.com/office/powerpoint/2010/main" val="1275316611"/>
      </p:ext>
    </p:extLst>
  </p:cSld>
</p:sld>
</file>

<file path=ppt/slides/slide12.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8" name="text-80-65">
            <a:extLst xmlns:a="http://schemas.openxmlformats.org/drawingml/2006/main">
              <a:ext uri="{FF2B5EF4-FFF2-40B4-BE49-F238E27FC236}">
                <a16:creationId xmlns:a16="http://schemas.microsoft.com/office/drawing/2014/main" id="{68884D20-18D3-47ED-BAFF-371AFEA09D58}"/>
              </a:ext>
            </a:extLst>
          </p:cNvPr>
          <p:cNvSpPr>
            <a:spLocks xmlns:a="http://schemas.openxmlformats.org/drawingml/2006/main" noGrp="1"/>
          </p:cNvSpPr>
          <p:nvPr/>
        </p:nvSpPr>
        <p:spPr>
          <a:xfrm xmlns:a="http://schemas.openxmlformats.org/drawingml/2006/main">
            <a:off x="762000" y="61912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6A39"/>
                </a:solidFill>
                <a:latin typeface="DejaVu Sans"/>
                <a:ea typeface="DejaVu Sans"/>
                <a:cs typeface="DejaVu Sans"/>
              </a:defRPr>
            </a:defPPr>
          </a:lstStyle>
          <a:p xmlns:a="http://schemas.openxmlformats.org/drawingml/2006/main">
            <a:pPr>
              <a:defRPr sz="3600" b="1">
                <a:solidFill>
                  <a:srgbClr val="006A39"/>
                </a:solidFill>
                <a:latin typeface="DejaVu Sans"/>
                <a:ea typeface="DejaVu Sans"/>
                <a:cs typeface="DejaVu Sans"/>
              </a:defRPr>
            </a:pPr>
            <a:r>
              <a:rPr sz="3600" b="1">
                <a:solidFill>
                  <a:srgbClr val="006A39"/>
                </a:solidFill>
                <a:latin typeface="DejaVu Sans"/>
                <a:ea typeface="DejaVu Sans"/>
                <a:cs typeface="DejaVu Sans"/>
              </a:rPr>
              <a:t>Bàn giao và phần cần hoàn tất</a:t>
            </a:r>
          </a:p>
        </p:txBody>
      </p:sp>
      <p:sp>
        <p:nvSpPr>
          <p:cNvPr id="2" name="text-80-154">
            <a:extLst xmlns:a="http://schemas.openxmlformats.org/drawingml/2006/main">
              <a:ext uri="{FF2B5EF4-FFF2-40B4-BE49-F238E27FC236}">
                <a16:creationId xmlns:a16="http://schemas.microsoft.com/office/drawing/2014/main" id="{5DDA304A-D8B1-43D9-80D3-C2B8C95100FC}"/>
              </a:ext>
            </a:extLst>
          </p:cNvPr>
          <p:cNvSpPr>
            <a:spLocks xmlns:a="http://schemas.openxmlformats.org/drawingml/2006/main" noGrp="1"/>
          </p:cNvSpPr>
          <p:nvPr/>
        </p:nvSpPr>
        <p:spPr>
          <a:xfrm xmlns:a="http://schemas.openxmlformats.org/drawingml/2006/main">
            <a:off x="762000" y="146685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E4A40"/>
                </a:solidFill>
                <a:latin typeface="DejaVu Sans"/>
                <a:ea typeface="DejaVu Sans"/>
                <a:cs typeface="DejaVu Sans"/>
              </a:defRPr>
            </a:defPPr>
          </a:lstStyle>
          <a:p xmlns:a="http://schemas.openxmlformats.org/drawingml/2006/main">
            <a:pPr>
              <a:defRPr sz="2100" b="0">
                <a:solidFill>
                  <a:srgbClr val="3E4A40"/>
                </a:solidFill>
                <a:latin typeface="DejaVu Sans"/>
                <a:ea typeface="DejaVu Sans"/>
                <a:cs typeface="DejaVu Sans"/>
              </a:defRPr>
            </a:pPr>
            <a:r>
              <a:rPr sz="2100" b="0">
                <a:solidFill>
                  <a:srgbClr val="3E4A40"/>
                </a:solidFill>
                <a:latin typeface="DejaVu Sans"/>
                <a:ea typeface="DejaVu Sans"/>
                <a:cs typeface="DejaVu Sans"/>
              </a:rPr>
              <a:t>Đặc tả rõ để người khác dựng được màn hình</a:t>
            </a:r>
          </a:p>
        </p:txBody>
      </p:sp>
      <p:graphicFrame>
        <p:nvGraphicFramePr>
          <p:cNvPr id="3" name="">
            <a:extLst xmlns:a="http://schemas.openxmlformats.org/drawingml/2006/main">
              <a:ext uri="{FF2B5EF4-FFF2-40B4-BE49-F238E27FC236}">
                <a16:creationId xmlns:a16="http://schemas.microsoft.com/office/drawing/2014/main" id="{27223DA6-FD19-4AA9-970D-E39A44A303BF}"/>
              </a:ext>
            </a:extLst>
          </p:cNvPr>
          <p:cNvGraphicFramePr/>
          <p:nvPr/>
        </p:nvGraphicFramePr>
        <p:xfrm>
          <a:off xmlns:a="http://schemas.openxmlformats.org/drawingml/2006/main" x="762000" y="2524125"/>
          <a:ext xmlns:a="http://schemas.openxmlformats.org/drawingml/2006/main" cx="13716000" cy="2952750"/>
        </p:xfrm>
        <a:graphic xmlns:a="http://schemas.openxmlformats.org/drawingml/2006/main">
          <a:graphicData uri="http://schemas.openxmlformats.org/drawingml/2006/table">
            <a:tbl>
              <a:tblPr/>
              <a:tblGrid>
                <a:gridCol w="3619500"/>
                <a:gridCol w="10096500"/>
              </a:tblGrid>
              <a:tr h="738188">
                <a:tc>
                  <a:txBody>
                    <a:bodyPr/>
                    <a:lstStyle/>
                    <a:p>
                      <a:r>
                        <a:rPr sz="2025" b="1">
                          <a:solidFill>
                            <a:srgbClr val="FFFFFF"/>
                          </a:solidFill>
                          <a:latin typeface="DejaVu Sans"/>
                          <a:ea typeface="DejaVu Sans"/>
                          <a:cs typeface="DejaVu Sans"/>
                        </a:rPr>
                        <a:t>Handoff</a:t>
                      </a:r>
                    </a:p>
                  </a:txBody>
                  <a:tcPr marL="91440" marR="91440" marT="45720" marB="45720">
                    <a:solidFill>
                      <a:srgbClr val="006A39"/>
                    </a:solidFill>
                  </a:tcPr>
                </a:tc>
                <a:tc>
                  <a:txBody>
                    <a:bodyPr/>
                    <a:lstStyle/>
                    <a:p>
                      <a:r>
                        <a:rPr sz="2025" b="1">
                          <a:solidFill>
                            <a:srgbClr val="FFFFFF"/>
                          </a:solidFill>
                          <a:latin typeface="DejaVu Sans"/>
                          <a:ea typeface="DejaVu Sans"/>
                          <a:cs typeface="DejaVu Sans"/>
                        </a:rPr>
                        <a:t>Minh chứng</a:t>
                      </a:r>
                    </a:p>
                  </a:txBody>
                  <a:tcPr marL="91440" marR="91440" marT="45720" marB="45720">
                    <a:solidFill>
                      <a:srgbClr val="006A39"/>
                    </a:solidFill>
                  </a:tcPr>
                </a:tc>
              </a:tr>
              <a:tr h="738188">
                <a:tc>
                  <a:txBody>
                    <a:bodyPr/>
                    <a:lstStyle/>
                    <a:p>
                      <a:r>
                        <a:rPr sz="1875" b="0">
                          <a:solidFill>
                            <a:srgbClr val="191C1B"/>
                          </a:solidFill>
                          <a:latin typeface="DejaVu Sans"/>
                          <a:ea typeface="DejaVu Sans"/>
                          <a:cs typeface="DejaVu Sans"/>
                        </a:rPr>
                        <a:t>44 màn hình</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Layout, components, states, interactions, navigation, constraints</a:t>
                      </a:r>
                    </a:p>
                  </a:txBody>
                  <a:tcPr marL="91440" marR="91440" marT="45720" marB="45720">
                    <a:solidFill>
                      <a:srgbClr val="FFFFFF"/>
                    </a:solidFill>
                  </a:tcPr>
                </a:tc>
              </a:tr>
              <a:tr h="738188">
                <a:tc>
                  <a:txBody>
                    <a:bodyPr/>
                    <a:lstStyle/>
                    <a:p>
                      <a:r>
                        <a:rPr sz="1875" b="0">
                          <a:solidFill>
                            <a:srgbClr val="191C1B"/>
                          </a:solidFill>
                          <a:latin typeface="DejaVu Sans"/>
                          <a:ea typeface="DejaVu Sans"/>
                          <a:cs typeface="DejaVu Sans"/>
                        </a:rPr>
                        <a:t>2 bảng mapping</a:t>
                      </a:r>
                    </a:p>
                  </a:txBody>
                  <a:tcPr marL="91440" marR="91440" marT="45720" marB="45720">
                    <a:solidFill>
                      <a:srgbClr val="EDF3EF"/>
                    </a:solidFill>
                  </a:tcPr>
                </a:tc>
                <a:tc>
                  <a:txBody>
                    <a:bodyPr/>
                    <a:lstStyle/>
                    <a:p>
                      <a:r>
                        <a:rPr sz="1875" b="0">
                          <a:solidFill>
                            <a:srgbClr val="191C1B"/>
                          </a:solidFill>
                          <a:latin typeface="DejaVu Sans"/>
                          <a:ea typeface="DejaVu Sans"/>
                          <a:cs typeface="DejaVu Sans"/>
                        </a:rPr>
                        <a:t>Token sang Flutter và component sang widget</a:t>
                      </a:r>
                    </a:p>
                  </a:txBody>
                  <a:tcPr marL="91440" marR="91440" marT="45720" marB="45720">
                    <a:solidFill>
                      <a:srgbClr val="EDF3EF"/>
                    </a:solidFill>
                  </a:tcPr>
                </a:tc>
              </a:tr>
              <a:tr h="738188">
                <a:tc>
                  <a:txBody>
                    <a:bodyPr/>
                    <a:lstStyle/>
                    <a:p>
                      <a:r>
                        <a:rPr sz="1875" b="0">
                          <a:solidFill>
                            <a:srgbClr val="191C1B"/>
                          </a:solidFill>
                          <a:latin typeface="DejaVu Sans"/>
                          <a:ea typeface="DejaVu Sans"/>
                          <a:cs typeface="DejaVu Sans"/>
                        </a:rPr>
                        <a:t>Nộp theo đề</a:t>
                      </a:r>
                    </a:p>
                  </a:txBody>
                  <a:tcPr marL="91440" marR="91440" marT="45720" marB="45720">
                    <a:solidFill>
                      <a:srgbClr val="FFFFFF"/>
                    </a:solidFill>
                  </a:tcPr>
                </a:tc>
                <a:tc>
                  <a:txBody>
                    <a:bodyPr/>
                    <a:lstStyle/>
                    <a:p>
                      <a:r>
                        <a:rPr sz="1875" b="0">
                          <a:solidFill>
                            <a:srgbClr val="191C1B"/>
                          </a:solidFill>
                          <a:latin typeface="DejaVu Sans"/>
                          <a:ea typeface="DejaVu Sans"/>
                          <a:cs typeface="DejaVu Sans"/>
                        </a:rPr>
                        <a:t>1 GitHub repository và 1 Figma link xem được</a:t>
                      </a:r>
                    </a:p>
                  </a:txBody>
                  <a:tcPr marL="91440" marR="91440" marT="45720" marB="45720">
                    <a:solidFill>
                      <a:srgbClr val="FFFFFF"/>
                    </a:solidFill>
                  </a:tcPr>
                </a:tc>
              </a:tr>
            </a:tbl>
          </a:graphicData>
        </a:graphic>
      </p:graphicFrame>
      <p:sp>
        <p:nvSpPr>
          <p:cNvPr id="4" name="text-80-611">
            <a:extLst xmlns:a="http://schemas.openxmlformats.org/drawingml/2006/main">
              <a:ext uri="{FF2B5EF4-FFF2-40B4-BE49-F238E27FC236}">
                <a16:creationId xmlns:a16="http://schemas.microsoft.com/office/drawing/2014/main" id="{F3F4937C-703B-45C0-9F02-5A8A5D7C2052}"/>
              </a:ext>
            </a:extLst>
          </p:cNvPr>
          <p:cNvSpPr>
            <a:spLocks xmlns:a="http://schemas.openxmlformats.org/drawingml/2006/main" noGrp="1"/>
          </p:cNvSpPr>
          <p:nvPr/>
        </p:nvSpPr>
        <p:spPr>
          <a:xfrm xmlns:a="http://schemas.openxmlformats.org/drawingml/2006/main">
            <a:off x="762000" y="5819775"/>
            <a:ext cx="1371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1C1B"/>
                </a:solidFill>
                <a:latin typeface="DejaVu Sans"/>
                <a:ea typeface="DejaVu Sans"/>
                <a:cs typeface="DejaVu Sans"/>
              </a:defRPr>
            </a:defPPr>
          </a:lstStyle>
          <a:p xmlns:a="http://schemas.openxmlformats.org/drawingml/2006/main">
            <a:pPr>
              <a:defRPr sz="1950" b="0">
                <a:solidFill>
                  <a:srgbClr val="191C1B"/>
                </a:solidFill>
                <a:latin typeface="DejaVu Sans"/>
                <a:ea typeface="DejaVu Sans"/>
                <a:cs typeface="DejaVu Sans"/>
              </a:defRPr>
            </a:pPr>
            <a:r>
              <a:rPr sz="1950" b="0">
                <a:solidFill>
                  <a:srgbClr val="191C1B"/>
                </a:solidFill>
                <a:latin typeface="DejaVu Sans"/>
                <a:ea typeface="DejaVu Sans"/>
                <a:cs typeface="DejaVu Sans"/>
              </a:rPr>
              <a:t>Cần hoàn tất: prompt gốc, 3 vòng thật, 6 page và kiểm chứng prototype</a:t>
            </a:r>
          </a:p>
        </p:txBody>
      </p:sp>
      <p:sp>
        <p:nvSpPr>
          <p:cNvPr id="5" name="text-80-659">
            <a:extLst xmlns:a="http://schemas.openxmlformats.org/drawingml/2006/main">
              <a:ext uri="{FF2B5EF4-FFF2-40B4-BE49-F238E27FC236}">
                <a16:creationId xmlns:a16="http://schemas.microsoft.com/office/drawing/2014/main" id="{B1A5CE1A-4DE5-4BA4-A1B5-478E8E839657}"/>
              </a:ext>
            </a:extLst>
          </p:cNvPr>
          <p:cNvSpPr>
            <a:spLocks xmlns:a="http://schemas.openxmlformats.org/drawingml/2006/main" noGrp="1"/>
          </p:cNvSpPr>
          <p:nvPr/>
        </p:nvSpPr>
        <p:spPr>
          <a:xfrm xmlns:a="http://schemas.openxmlformats.org/drawingml/2006/main">
            <a:off x="762000" y="6276975"/>
            <a:ext cx="1371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1C1B"/>
                </a:solidFill>
                <a:latin typeface="DejaVu Sans"/>
                <a:ea typeface="DejaVu Sans"/>
                <a:cs typeface="DejaVu Sans"/>
              </a:defRPr>
            </a:defPPr>
          </a:lstStyle>
          <a:p xmlns:a="http://schemas.openxmlformats.org/drawingml/2006/main">
            <a:pPr>
              <a:defRPr sz="1950" b="0">
                <a:solidFill>
                  <a:srgbClr val="191C1B"/>
                </a:solidFill>
                <a:latin typeface="DejaVu Sans"/>
                <a:ea typeface="DejaVu Sans"/>
                <a:cs typeface="DejaVu Sans"/>
              </a:defRPr>
            </a:pPr>
            <a:r>
              <a:rPr sz="1950" b="0">
                <a:solidFill>
                  <a:srgbClr val="191C1B"/>
                </a:solidFill>
                <a:latin typeface="DejaVu Sans"/>
                <a:ea typeface="DejaVu Sans"/>
                <a:cs typeface="DejaVu Sans"/>
              </a:rPr>
              <a:t>Figma: g4p29ANokap1mBOCWq9AJC</a:t>
            </a:r>
          </a:p>
        </p:txBody>
      </p:sp>
      <p:sp>
        <p:nvSpPr>
          <p:cNvPr id="6" name="text-80-837">
            <a:extLst xmlns:a="http://schemas.openxmlformats.org/drawingml/2006/main">
              <a:ext uri="{FF2B5EF4-FFF2-40B4-BE49-F238E27FC236}">
                <a16:creationId xmlns:a16="http://schemas.microsoft.com/office/drawing/2014/main" id="{640C311F-7D83-4968-8E39-FA135E431C93}"/>
              </a:ext>
            </a:extLst>
          </p:cNvPr>
          <p:cNvSpPr>
            <a:spLocks xmlns:a="http://schemas.openxmlformats.org/drawingml/2006/main" noGrp="1"/>
          </p:cNvSpPr>
          <p:nvPr/>
        </p:nvSpPr>
        <p:spPr>
          <a:xfrm xmlns:a="http://schemas.openxmlformats.org/drawingml/2006/main">
            <a:off x="762000" y="7972425"/>
            <a:ext cx="1352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4A40"/>
                </a:solidFill>
                <a:latin typeface="DejaVu Sans"/>
                <a:ea typeface="DejaVu Sans"/>
                <a:cs typeface="DejaVu Sans"/>
              </a:defRPr>
            </a:defPPr>
          </a:lstStyle>
          <a:p xmlns:a="http://schemas.openxmlformats.org/drawingml/2006/main">
            <a:pPr>
              <a:defRPr sz="1350" b="0">
                <a:solidFill>
                  <a:srgbClr val="3E4A40"/>
                </a:solidFill>
                <a:latin typeface="DejaVu Sans"/>
                <a:ea typeface="DejaVu Sans"/>
                <a:cs typeface="DejaVu Sans"/>
              </a:defRPr>
            </a:pPr>
            <a:r>
              <a:rPr sz="1350" b="0">
                <a:solidFill>
                  <a:srgbClr val="3E4A40"/>
                </a:solidFill>
                <a:latin typeface="DejaVu Sans"/>
                <a:ea typeface="DejaVu Sans"/>
                <a:cs typeface="DejaVu Sans"/>
              </a:rPr>
              <a:t>GitHub URL bổ sung sau khi nhóm tải repo lên</a:t>
            </a:r>
          </a:p>
        </p:txBody>
      </p:sp>
      <p:sp>
        <p:nvSpPr>
          <p:cNvPr id="7" name="text-1465-28">
            <a:extLst xmlns:a="http://schemas.openxmlformats.org/drawingml/2006/main">
              <a:ext uri="{FF2B5EF4-FFF2-40B4-BE49-F238E27FC236}">
                <a16:creationId xmlns:a16="http://schemas.microsoft.com/office/drawing/2014/main" id="{B2B60766-7334-4D95-A6A2-9DEF1C12C8FF}"/>
              </a:ext>
            </a:extLst>
          </p:cNvPr>
          <p:cNvSpPr>
            <a:spLocks xmlns:a="http://schemas.openxmlformats.org/drawingml/2006/main" noGrp="1"/>
          </p:cNvSpPr>
          <p:nvPr/>
        </p:nvSpPr>
        <p:spPr>
          <a:xfrm xmlns:a="http://schemas.openxmlformats.org/drawingml/2006/main">
            <a:off x="13954125" y="2667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006A39"/>
                </a:solidFill>
                <a:latin typeface="DejaVu Sans"/>
                <a:ea typeface="DejaVu Sans"/>
                <a:cs typeface="DejaVu Sans"/>
              </a:defRPr>
            </a:defPPr>
          </a:lstStyle>
          <a:p xmlns:a="http://schemas.openxmlformats.org/drawingml/2006/main">
            <a:pPr>
              <a:defRPr sz="1500" b="0">
                <a:solidFill>
                  <a:srgbClr val="006A39"/>
                </a:solidFill>
                <a:latin typeface="DejaVu Sans"/>
                <a:ea typeface="DejaVu Sans"/>
                <a:cs typeface="DejaVu Sans"/>
              </a:defRPr>
            </a:pPr>
            <a:r>
              <a:rPr sz="1500" b="0">
                <a:solidFill>
                  <a:srgbClr val="006A39"/>
                </a:solidFill>
                <a:latin typeface="DejaVu Sans"/>
                <a:ea typeface="DejaVu Sans"/>
                <a:cs typeface="DejaVu Sans"/>
              </a:rPr>
              <a:t>12</a:t>
            </a:r>
          </a:p>
        </p:txBody>
      </p:sp>
    </p:spTree>
    <p:extLst>
      <p:ext uri="{BB962C8B-B14F-4D97-AF65-F5344CB8AC3E}">
        <p14:creationId xmlns:p14="http://schemas.microsoft.com/office/powerpoint/2010/main" val="2432521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2026-10-11T15:23:52.5030000Z</dcterms:created>
  <dcterms:modified xsi:type="dcterms:W3CDTF">2026-10-11T15:23:52.5030000Z</dcterms:modified>
</coreProperties>
</file>