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Giới thiệu: Hobby Tracker tập trung sinh viên FPT University, 18–24 tuổi. Vấn đề: có ý muốn thử sở thích nhưng thiếu định hướng/tự tin, hoặc đã có sở thích mà bỏ dở do học tập, mạng xã hội, không thấy tiến bộ. Ứng dụng tạo không gian cá nhân để tự tạo sở thích, lên lịch, thực hành Hyper Mode, lưu ghi chú/thời gian và kết nối qua Community. Đây là bài thuyết trình về quá trình cộng tác với ChatGPT, quyết định cuối từ người thiết kế.</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Ý tưởng dựa trên user stories đầu tiên (lịch/thời gian, nhắc nhở, Spotify/YouTube, sở thích trong một nơi, kết nối người cùng sở thích, lưu khoảnh khắc). Học sinh giữ vai trò product/UX owner: đặt bài toán, chọn hướng, phản biện, thử chức năng. ChatGPT đóng vai partner hỗ trợ mô phỏng phỏng vấn, đề xuất IA/flow/UI, tạo prototype và điều chỉnh. Không phải nhập một câu prompt rồi chấp nhận luôn.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Bước nghiên cứu: (1) xác định mục tiêu khám phá sở thích / duy trì / xã hội / theo dõi tiến bộ. (2) đề xuất bốn giả thuyết chờ kiểm tra: thiếu định hướng, khó duy trì do lịch/video, bạn đồng hành hai mặt, thiếu cảm nhận tiến bộ. (3) user chọn nghiên cứu song song người chưa bắt đầu và người đã có sở thích, rồi mở rộng nhóm duy trì thành công để so sánh. User yêu cầu AI đóng vai đủ chín người. Mô phỏng kịch bản, không tính là khảo sát/nghiên cứu thực địa; dữ liệu chỉ tạo hướng UX để kiểm chứng.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Bộ câu hỏi gốc dùng trong mô phỏng:</a:t>
            </a:r>
          </a:p>
          <a:p>
            <a:r>
              <a:t>1. Can you walk me through how you usually spend your free time after university?</a:t>
            </a:r>
          </a:p>
          <a:p>
            <a:r>
              <a:t>2. Tell me about your current hobbies or an activity you’ve wanted to try.</a:t>
            </a:r>
          </a:p>
          <a:p>
            <a:r>
              <a:t>3. How did you first become interested in that activity?</a:t>
            </a:r>
          </a:p>
          <a:p>
            <a:r>
              <a:t>4. Tell me about the last time you planned to do a hobby-related activity. What happened?</a:t>
            </a:r>
          </a:p>
          <a:p>
            <a:r>
              <a:t>5. What makes it difficult or easy for you to start or continue a hobby?</a:t>
            </a:r>
          </a:p>
          <a:p>
            <a:r>
              <a:t>6. What role do social media and short-form videos play in your free time?</a:t>
            </a:r>
          </a:p>
          <a:p>
            <a:r>
              <a:t>7. How do you recognize your progress or achievements in a hobby?</a:t>
            </a:r>
          </a:p>
          <a:p>
            <a:r>
              <a:t>8. Have other people or communities influenced your hobbies? How?</a:t>
            </a:r>
          </a:p>
          <a:p>
            <a:r>
              <a:t>9. How do you feel about trying a new hobby that involves meeting or interacting with unfamiliar people?</a:t>
            </a:r>
          </a:p>
          <a:p>
            <a:r>
              <a:t>Câu hỏi riêng A: hobby nào muốn thử nhưng chưa thử? Trở ngại đầu tiên? Ngại cộng đồng/bị đánh giá?</a:t>
            </a:r>
          </a:p>
          <a:p>
            <a:r>
              <a:t>B: lần bỏ dở gần nhất? Deadline, công việc, mạng xã hội? Mẹo duy trì từng thử?</a:t>
            </a:r>
          </a:p>
          <a:p>
            <a:r>
              <a:t>C: thói quen bắt đầu từ đâu? Cách tập khi bận? Bạn bè/nhóm giúp thế nào?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lược 9 vai phỏng vấn mô phỏng; trong bản dài V3 mỗi vai có 9 câu trả lời và ba câu riêng. Nhóm A: Minh chưa biết bước đầu nhiếp ảnh và ngại nhóm giỏi; Linh sợ bị đánh giá; Hùng không có bạn tập ngang trình. Nhóm B: Khoa xem TikTok dù muốn chơi guitar; Vũ bận assignment/deadline; Sang có ca làm và mệt. Nhóm C: Dũng có routine + người cùng chạy; Long duy trì bằng tập ngắn; Quang có cam kết khi hẹn lịch với bạn. So sánh: A chủ yếu rào cản tâm lý/khởi đầu; B thiếu tính liên tục; C cấu trúc vừa đủ, hành động ngắn và kết nối vừa phải. Đây là suy luận từ mô phỏng chứ không phải tỷ lệ thống kê.</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P01 Minh — 15 trường được ghi trong V3: tên/archetype, ưu tiên Primary, bối cảnh sinh viên xem video rảnh/dùng điện thoại (chi tiết thiết bị khác chưa có dữ liệu), mục tiêu thử nhiếp ảnh/biết bài đầu/tự tin, JTBD muốn bắt đầu nhỏ, hành vi lưu tutorial/chưa tập, pain thiếu định hướng/kinh nghiệm/tự tin, động lực chụp campus, ràng buộc thiếu kỹ năng (accessibility chưa dữ liệu), tình huống Create Photography/first schedule, success criteria hoàn thành việc tạo và lên buổi đầu (cần xác thực với người thật), nguồn role-play A01, trạng thái simulated, câu hỏi mở hướng dẫn mức nào/có muốn chia sẻ, giao diện thử Create→Schedule→Group tùy chọn.</a:t>
            </a:r>
          </a:p>
          <a:p>
            <a:r>
              <a:t>P02 Khoa — 21 Secondary, sinh viên có guitar/dùng TikTok, muốn luyện đều/giảm phân tâm, JTBD tập ngay và ghi thời lượng, hành vi xem video thay vì luyện/bỏ qua thông báo, pain áp lực học/TikTok/ít thấy tiến bộ, động lực chơi bài mới/bạn cùng phòng, ràng buộc kỳ thi (accessibility chưa có dữ liệu), tình huống Create Guitar→Schedule→Hyper→History, success criteria hoàn thành 1 phiên và xem lại, nguồn role-play B01, trạng thái simulated, câu hỏi mở báo nhắc nào hữu ích/nhạc giúp hay cản, UI lịch/timer/notes/history/shortcuts. Quyết định con người: không trộn, không bịa thêm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dùng chọn bốn tab Home, Community, My Hobbies, Settings. Entry trước 4 tab là login/signup/forgot. Home: phương án C Hybrid ngắn tuần + danh sách ngày; ở My Hobbies cho tự tạo nhiều hobbies/Active/Interested chỉ là mức ưu tiên, không phải trạng thái khóa chức năng; Community feed groups people activities and chat, Join không đồng nghĩa lịch; Settings Profile, services, reminders, theme, privacy và sign out. Tối thiểu 8 màn con trong sơ đồ.</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 Flow 1: Login → My Hobbies → Create Hobby từ tên bất kỳ → chọn icon, màu, ưu tiên → Save, trở lại Collection, hobby có thể chọn ở Home. Error: tên trống/trùng/không có ưu tiên phải sửa và không mất form.</a:t>
            </a:r>
          </a:p>
          <a:p>
            <a:r>
              <a:t>Flow 2: Home → Add Schedule (chọn hobby Active hay Interested, ngày/giờ/length) → Hyper Mode Start/Pause, shortcuts Spotify / search, notes → Finish &amp; Save → Home History. Alternate chưa có hobby thì tạo trước; thoát focus tạm dừng giữ note.</a:t>
            </a:r>
          </a:p>
          <a:p>
            <a:r>
              <a:t>Flow 3: Community → Feed, Group / People, optional join, chat, activity RSVP, optional add to Home. Không auto schedule do RSVP, không auto join nếu đọc post.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khác biệt: user thử prototype bằng cách bấm/quan sát, không chỉ duyệt màu. Phản hồi cụ thể về Home không có hành động schedule khiến assistant chuyển từ biểu diễn lịch sang flow create schedule thực sự, gồm hobby/giờ/duration, chronological sorting. Lần hai AI đề xuất hobby discovery catalog; user bác vì mọi hobby phải do người dùng tự tạo. Bỏ predefined catalog, viết form tạo tên tự do với icon màu priority. Minh họa trước: ảnh gốc từ slide V3 cho Home, mock catalog được tái dựng từ mô tả vì màn gốc chưa có ảnh rõ; sau là ảnh chụp sản phẩm hiện hành.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dùng nêu nguyên văn: “form now just work on defualt coloer firts when i aprocve stuff ... use defualt them only”. Theme Light làm chuẩn tương tác; sau đó mở Dark, Energetic, Cyber, Art, Sad, Rainy Day. User bác phiên bản chỉ đổi palette. Yêu cầu mỗi theme thay đổi hình dáng, hero illustration, iconography, navbar: Dark midnight; Energetic orange playful sticker; Cyber circuit heart, angular layout, digital; Art kiểu giấy vẽ; Sad trầm nét mảnh; Rainy Day mờ kính / nước. Khi theme chỉ hiển thị swatch mà không click được, user nói “i cant chagne themre”, assistant sửa thành 7 lựa chọn hoạt động và lưu state, giữ hobbies/schedules/chat. Token Light: #087F72 CTA, #F7FBF8 paper, white cards, deep ink, soft mint selections, divider. UI designers cần xem contrast/typography và density.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Home là bố cục C Hybrid chạm từng ngày, số lượng plans, + Schedule; bắt đầu hoạt động vào Hyper Mode. User đề xuất Hyper Mode như không gian tham gia sở thích thật: timer Start/Pause/Reset, shortcut Spotify và Google Search (mở bên ngoài), note tại chỗ, Finish và lưu time + note vào Home History. Sau khi tích hợp My Hobbies, Create form bị lùi thành dropdown icon bằng chữ; user phản hồi nó xấu và mất icon. AI khôi phục UI icon grid gồm 12 biểu tượng, swatch màu, live preview, 2 thẻ ưu tiên; người dùng test và nói “yep i like thiss”. Screenshot “ICON CŨ” là ảnh thật cắt từ V3 cũ. Active/Interested được lên lịch / dùng Hyper như nhau.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Community: Feed đăng bài/like/comment; Groups join; Activities RSVP riêng biệt với Add to Home; People gợi ý theo hobby Active/Interested; Chat trực tiếp và nhóm được bổ sung sau khi user yêu cầu “make a chat section in this too”. Auth: Sign In/Create/Forgot, sau sign in tới Home; một bản trước đặt Sign Out trên welcome, user yêu cầu đưa vào Settings, assistant sửa và thêm confirm dialog. Settings: profile, connected app music/search preference, reminders, Hyper preferences, appearance seven themes, privacy and sign out. Tổng hợp prototype dùng chung data từ hobbies, schedule, records, posts, chats, themes. Test flow 1 Create &amp; Save; flow 2 Calendar+Hyper+Notes+History; flow 3 Group+Chat+RSVP optional Home. Hạn chế: 9 vai mô phỏng không phải thực địa; Google sign-in không thật, chat demo không có server, shortcuts mở trang ngoài, reminders chỉ là UI; trình bày trung thực. Quá trình hợp tác người/AI: user xác định mục tiêu, phản biện và phê duyệt; AI đề xuất, dựng bản thử và chỉnh theo góp ý. Kết luận: quá trình không phải một lần AI sinh xong, mà nhiều vòng ra quyết định của người sử dụng.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2B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0B3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966960" y="-548640"/>
            <a:ext cx="3840480" cy="3840480"/>
          </a:xfrm>
          <a:prstGeom prst="ellipse">
            <a:avLst/>
          </a:prstGeom>
          <a:solidFill>
            <a:srgbClr val="1448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378440" y="4572000"/>
            <a:ext cx="2377440" cy="2377440"/>
          </a:xfrm>
          <a:prstGeom prst="ellipse">
            <a:avLst/>
          </a:prstGeom>
          <a:solidFill>
            <a:srgbClr val="1556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13232" y="612648"/>
            <a:ext cx="2487168" cy="329184"/>
          </a:xfrm>
          <a:prstGeom prst="roundRect">
            <a:avLst>
              <a:gd name="adj" fmla="val 25000"/>
            </a:avLst>
          </a:prstGeom>
          <a:solidFill>
            <a:srgbClr val="23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676656"/>
            <a:ext cx="2359152" cy="164592"/>
          </a:xfrm>
          <a:prstGeom prst="rect">
            <a:avLst/>
          </a:prstGeom>
          <a:noFill/>
        </p:spPr>
        <p:txBody>
          <a:bodyPr wrap="square" tIns="0" bIns="0" lIns="0" rIns="0" anchor="t">
            <a:spAutoFit/>
          </a:bodyPr>
          <a:lstStyle/>
          <a:p>
            <a:pPr algn="ctr">
              <a:lnSpc>
                <a:spcPts val="1120"/>
              </a:lnSpc>
              <a:spcAft>
                <a:spcPts val="100"/>
              </a:spcAft>
            </a:pPr>
            <a:r>
              <a:rPr sz="1000" b="1" i="0">
                <a:solidFill>
                  <a:srgbClr val="DDF4E9"/>
                </a:solidFill>
                <a:latin typeface="Aptos"/>
              </a:rPr>
              <a:t>PRM323  •  UX / UI DESIGN</a:t>
            </a:r>
          </a:p>
        </p:txBody>
      </p:sp>
      <p:sp>
        <p:nvSpPr>
          <p:cNvPr id="8" name="TextBox 7"/>
          <p:cNvSpPr txBox="1"/>
          <p:nvPr/>
        </p:nvSpPr>
        <p:spPr>
          <a:xfrm>
            <a:off x="722376" y="1197864"/>
            <a:ext cx="5852160" cy="457200"/>
          </a:xfrm>
          <a:prstGeom prst="rect">
            <a:avLst/>
          </a:prstGeom>
          <a:noFill/>
        </p:spPr>
        <p:txBody>
          <a:bodyPr wrap="square" tIns="0" bIns="0" lIns="0" rIns="0" anchor="t">
            <a:spAutoFit/>
          </a:bodyPr>
          <a:lstStyle/>
          <a:p>
            <a:pPr algn="l">
              <a:lnSpc>
                <a:spcPts val="2240"/>
              </a:lnSpc>
              <a:spcAft>
                <a:spcPts val="100"/>
              </a:spcAft>
            </a:pPr>
            <a:r>
              <a:rPr sz="2000" b="1" i="0">
                <a:solidFill>
                  <a:srgbClr val="F0B36B"/>
                </a:solidFill>
                <a:latin typeface="Aptos"/>
              </a:rPr>
              <a:t>HOBBY TRACKER</a:t>
            </a:r>
          </a:p>
        </p:txBody>
      </p:sp>
      <p:sp>
        <p:nvSpPr>
          <p:cNvPr id="9" name="TextBox 8"/>
          <p:cNvSpPr txBox="1"/>
          <p:nvPr/>
        </p:nvSpPr>
        <p:spPr>
          <a:xfrm>
            <a:off x="694944" y="1755648"/>
            <a:ext cx="7498079" cy="2404872"/>
          </a:xfrm>
          <a:prstGeom prst="rect">
            <a:avLst/>
          </a:prstGeom>
          <a:noFill/>
        </p:spPr>
        <p:txBody>
          <a:bodyPr wrap="square" tIns="0" bIns="0" lIns="0" rIns="0" anchor="t">
            <a:spAutoFit/>
          </a:bodyPr>
          <a:lstStyle/>
          <a:p>
            <a:pPr algn="l">
              <a:lnSpc>
                <a:spcPts val="4028"/>
              </a:lnSpc>
              <a:spcAft>
                <a:spcPts val="100"/>
              </a:spcAft>
            </a:pPr>
            <a:r>
              <a:rPr sz="3800" b="1" i="0">
                <a:solidFill>
                  <a:srgbClr val="FFFFFF"/>
                </a:solidFill>
                <a:latin typeface="Aptos"/>
              </a:rPr>
              <a:t>Từ ý tưởng</a:t>
            </a:r>
          </a:p>
          <a:p>
            <a:pPr algn="l">
              <a:lnSpc>
                <a:spcPts val="4028"/>
              </a:lnSpc>
              <a:spcAft>
                <a:spcPts val="100"/>
              </a:spcAft>
            </a:pPr>
            <a:r>
              <a:rPr sz="3800" b="1" i="0">
                <a:solidFill>
                  <a:srgbClr val="FFFFFF"/>
                </a:solidFill>
                <a:latin typeface="Aptos"/>
              </a:rPr>
              <a:t>đến trải nghiệm</a:t>
            </a:r>
          </a:p>
          <a:p>
            <a:pPr algn="l">
              <a:lnSpc>
                <a:spcPts val="4028"/>
              </a:lnSpc>
              <a:spcAft>
                <a:spcPts val="100"/>
              </a:spcAft>
            </a:pPr>
            <a:r>
              <a:rPr sz="3800" b="1" i="0">
                <a:solidFill>
                  <a:srgbClr val="FFFFFF"/>
                </a:solidFill>
                <a:latin typeface="Aptos"/>
              </a:rPr>
              <a:t>người dùng</a:t>
            </a:r>
          </a:p>
        </p:txBody>
      </p:sp>
      <p:sp>
        <p:nvSpPr>
          <p:cNvPr id="10" name="TextBox 9"/>
          <p:cNvSpPr txBox="1"/>
          <p:nvPr/>
        </p:nvSpPr>
        <p:spPr>
          <a:xfrm>
            <a:off x="731520" y="4663440"/>
            <a:ext cx="6126480" cy="594360"/>
          </a:xfrm>
          <a:prstGeom prst="rect">
            <a:avLst/>
          </a:prstGeom>
          <a:noFill/>
        </p:spPr>
        <p:txBody>
          <a:bodyPr wrap="square" tIns="0" bIns="0" lIns="0" rIns="0" anchor="t">
            <a:spAutoFit/>
          </a:bodyPr>
          <a:lstStyle/>
          <a:p>
            <a:pPr algn="l">
              <a:lnSpc>
                <a:spcPts val="1792"/>
              </a:lnSpc>
              <a:spcAft>
                <a:spcPts val="100"/>
              </a:spcAft>
            </a:pPr>
            <a:r>
              <a:rPr sz="1600" b="0" i="0">
                <a:solidFill>
                  <a:srgbClr val="B9D8C9"/>
                </a:solidFill>
                <a:latin typeface="Aptos"/>
              </a:rPr>
              <a:t>Một quá trình cùng ChatGPT: nghiên cứu → phản biện → điều chỉnh → kiểm thử.</a:t>
            </a:r>
          </a:p>
        </p:txBody>
      </p:sp>
      <p:sp>
        <p:nvSpPr>
          <p:cNvPr id="11" name="Rounded Rectangle 10"/>
          <p:cNvSpPr/>
          <p:nvPr/>
        </p:nvSpPr>
        <p:spPr>
          <a:xfrm>
            <a:off x="749808" y="5788152"/>
            <a:ext cx="5943600" cy="576072"/>
          </a:xfrm>
          <a:prstGeom prst="roundRect">
            <a:avLst>
              <a:gd name="adj" fmla="val 10000"/>
            </a:avLst>
          </a:prstGeom>
          <a:solidFill>
            <a:srgbClr val="1949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943600"/>
            <a:ext cx="5669280" cy="246888"/>
          </a:xfrm>
          <a:prstGeom prst="rect">
            <a:avLst/>
          </a:prstGeom>
          <a:noFill/>
        </p:spPr>
        <p:txBody>
          <a:bodyPr wrap="square" tIns="0" bIns="0" lIns="0" rIns="0" anchor="t">
            <a:spAutoFit/>
          </a:bodyPr>
          <a:lstStyle/>
          <a:p>
            <a:pPr algn="l">
              <a:lnSpc>
                <a:spcPts val="1344"/>
              </a:lnSpc>
              <a:spcAft>
                <a:spcPts val="100"/>
              </a:spcAft>
            </a:pPr>
            <a:r>
              <a:rPr sz="1200" b="1" i="0">
                <a:solidFill>
                  <a:srgbClr val="E1F3E9"/>
                </a:solidFill>
                <a:latin typeface="Aptos"/>
              </a:rPr>
              <a:t>DÀNH CHO  Sinh viên 18–24 tuổi muốn bắt đầu hoặc duy trì sở thích</a:t>
            </a:r>
          </a:p>
        </p:txBody>
      </p:sp>
      <p:sp>
        <p:nvSpPr>
          <p:cNvPr id="13" name="Rounded Rectangle 12"/>
          <p:cNvSpPr/>
          <p:nvPr/>
        </p:nvSpPr>
        <p:spPr>
          <a:xfrm>
            <a:off x="7530083" y="937260"/>
            <a:ext cx="2048255" cy="4654296"/>
          </a:xfrm>
          <a:prstGeom prst="roundRect">
            <a:avLst>
              <a:gd name="adj" fmla="val 7000"/>
            </a:avLst>
          </a:prstGeom>
          <a:solidFill>
            <a:srgbClr val="FFFFFF"/>
          </a:solidFill>
          <a:ln w="889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allery_home_populated.png"/>
          <p:cNvPicPr>
            <a:picLocks noChangeAspect="1"/>
          </p:cNvPicPr>
          <p:nvPr/>
        </p:nvPicPr>
        <p:blipFill>
          <a:blip r:embed="rId2"/>
          <a:stretch>
            <a:fillRect/>
          </a:stretch>
        </p:blipFill>
        <p:spPr>
          <a:xfrm>
            <a:off x="7571231" y="1034721"/>
            <a:ext cx="1965960" cy="4459372"/>
          </a:xfrm>
          <a:prstGeom prst="rect">
            <a:avLst/>
          </a:prstGeom>
        </p:spPr>
      </p:pic>
      <p:sp>
        <p:nvSpPr>
          <p:cNvPr id="15" name="Rounded Rectangle 14"/>
          <p:cNvSpPr/>
          <p:nvPr/>
        </p:nvSpPr>
        <p:spPr>
          <a:xfrm>
            <a:off x="9560052" y="1467612"/>
            <a:ext cx="1984248" cy="4334256"/>
          </a:xfrm>
          <a:prstGeom prst="roundRect">
            <a:avLst>
              <a:gd name="adj" fmla="val 7000"/>
            </a:avLst>
          </a:prstGeom>
          <a:solidFill>
            <a:srgbClr val="FFFFFF"/>
          </a:solidFill>
          <a:ln w="889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gallery_create.png"/>
          <p:cNvPicPr>
            <a:picLocks noChangeAspect="1"/>
          </p:cNvPicPr>
          <p:nvPr/>
        </p:nvPicPr>
        <p:blipFill>
          <a:blip r:embed="rId3"/>
          <a:stretch>
            <a:fillRect/>
          </a:stretch>
        </p:blipFill>
        <p:spPr>
          <a:xfrm>
            <a:off x="9614916" y="1508760"/>
            <a:ext cx="1874520" cy="42519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56032"/>
            <a:ext cx="7315200" cy="246888"/>
          </a:xfrm>
          <a:prstGeom prst="rect">
            <a:avLst/>
          </a:prstGeom>
          <a:noFill/>
        </p:spPr>
        <p:txBody>
          <a:bodyPr wrap="square" tIns="0" bIns="0" lIns="0" rIns="0" anchor="t">
            <a:spAutoFit/>
          </a:bodyPr>
          <a:lstStyle/>
          <a:p>
            <a:pPr algn="l">
              <a:lnSpc>
                <a:spcPts val="1131"/>
              </a:lnSpc>
              <a:spcAft>
                <a:spcPts val="100"/>
              </a:spcAft>
            </a:pPr>
            <a:r>
              <a:rPr sz="1010" b="1" i="0">
                <a:solidFill>
                  <a:srgbClr val="087F72"/>
                </a:solidFill>
                <a:latin typeface="Aptos"/>
              </a:rPr>
              <a:t>01  GIỚI THIỆU</a:t>
            </a:r>
          </a:p>
        </p:txBody>
      </p:sp>
      <p:sp>
        <p:nvSpPr>
          <p:cNvPr id="5" name="TextBox 4"/>
          <p:cNvSpPr txBox="1"/>
          <p:nvPr/>
        </p:nvSpPr>
        <p:spPr>
          <a:xfrm>
            <a:off x="566928" y="621792"/>
            <a:ext cx="10972800" cy="557784"/>
          </a:xfrm>
          <a:prstGeom prst="rect">
            <a:avLst/>
          </a:prstGeom>
          <a:noFill/>
        </p:spPr>
        <p:txBody>
          <a:bodyPr wrap="square" tIns="0" bIns="0" lIns="0" rIns="0" anchor="t">
            <a:spAutoFit/>
          </a:bodyPr>
          <a:lstStyle/>
          <a:p>
            <a:pPr algn="l">
              <a:lnSpc>
                <a:spcPts val="3024"/>
              </a:lnSpc>
              <a:spcAft>
                <a:spcPts val="100"/>
              </a:spcAft>
            </a:pPr>
            <a:r>
              <a:rPr sz="2700" b="1" i="0">
                <a:solidFill>
                  <a:srgbClr val="193D35"/>
                </a:solidFill>
                <a:latin typeface="Aptos"/>
              </a:rPr>
              <a:t>01 · Vì sao cần ứng dụng này — và ai quyết định thiết kế?</a:t>
            </a:r>
          </a:p>
        </p:txBody>
      </p:sp>
      <p:sp>
        <p:nvSpPr>
          <p:cNvPr id="6" name="TextBox 5"/>
          <p:cNvSpPr txBox="1"/>
          <p:nvPr/>
        </p:nvSpPr>
        <p:spPr>
          <a:xfrm>
            <a:off x="594360" y="1261872"/>
            <a:ext cx="10972800" cy="393192"/>
          </a:xfrm>
          <a:prstGeom prst="rect">
            <a:avLst/>
          </a:prstGeom>
          <a:noFill/>
        </p:spPr>
        <p:txBody>
          <a:bodyPr wrap="square" tIns="0" bIns="0" lIns="0" rIns="0" anchor="t">
            <a:spAutoFit/>
          </a:bodyPr>
          <a:lstStyle/>
          <a:p>
            <a:pPr algn="l">
              <a:lnSpc>
                <a:spcPts val="1388"/>
              </a:lnSpc>
              <a:spcAft>
                <a:spcPts val="100"/>
              </a:spcAft>
            </a:pPr>
            <a:r>
              <a:rPr sz="1240" b="0" i="0">
                <a:solidFill>
                  <a:srgbClr val="5C776B"/>
                </a:solidFill>
                <a:latin typeface="Aptos"/>
              </a:rPr>
              <a:t>Từ user stories ban đầu tới định hướng một sản phẩm giúp “làm thật”, không chỉ lưu kế hoạch.</a:t>
            </a:r>
          </a:p>
        </p:txBody>
      </p:sp>
      <p:sp>
        <p:nvSpPr>
          <p:cNvPr id="7" name="Rectangle 6"/>
          <p:cNvSpPr/>
          <p:nvPr/>
        </p:nvSpPr>
        <p:spPr>
          <a:xfrm>
            <a:off x="594360" y="6537960"/>
            <a:ext cx="10972800" cy="13716"/>
          </a:xfrm>
          <a:prstGeom prst="rect">
            <a:avLst/>
          </a:prstGeom>
          <a:solidFill>
            <a:srgbClr val="D7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6611112"/>
            <a:ext cx="6400800" cy="155448"/>
          </a:xfrm>
          <a:prstGeom prst="rect">
            <a:avLst/>
          </a:prstGeom>
          <a:noFill/>
        </p:spPr>
        <p:txBody>
          <a:bodyPr wrap="square" tIns="0" bIns="0" lIns="0" rIns="0" anchor="t">
            <a:spAutoFit/>
          </a:bodyPr>
          <a:lstStyle/>
          <a:p>
            <a:pPr algn="l">
              <a:lnSpc>
                <a:spcPts val="952"/>
              </a:lnSpc>
              <a:spcAft>
                <a:spcPts val="100"/>
              </a:spcAft>
            </a:pPr>
            <a:r>
              <a:rPr sz="850" b="1" i="0">
                <a:solidFill>
                  <a:srgbClr val="A7BCB1"/>
                </a:solidFill>
                <a:latin typeface="Aptos"/>
              </a:rPr>
              <a:t>HOBBY TRACKER  ·  UX / UI DESIGN JOURNEY</a:t>
            </a:r>
          </a:p>
        </p:txBody>
      </p:sp>
      <p:sp>
        <p:nvSpPr>
          <p:cNvPr id="9" name="TextBox 8"/>
          <p:cNvSpPr txBox="1"/>
          <p:nvPr/>
        </p:nvSpPr>
        <p:spPr>
          <a:xfrm>
            <a:off x="11100816" y="6583680"/>
            <a:ext cx="438912" cy="201168"/>
          </a:xfrm>
          <a:prstGeom prst="rect">
            <a:avLst/>
          </a:prstGeom>
          <a:noFill/>
        </p:spPr>
        <p:txBody>
          <a:bodyPr wrap="square" tIns="0" bIns="0" lIns="0" rIns="0" anchor="t">
            <a:spAutoFit/>
          </a:bodyPr>
          <a:lstStyle/>
          <a:p>
            <a:pPr algn="r">
              <a:lnSpc>
                <a:spcPts val="1008"/>
              </a:lnSpc>
              <a:spcAft>
                <a:spcPts val="100"/>
              </a:spcAft>
            </a:pPr>
            <a:r>
              <a:rPr sz="900" b="1" i="0">
                <a:solidFill>
                  <a:srgbClr val="087F72"/>
                </a:solidFill>
                <a:latin typeface="Aptos"/>
              </a:rPr>
              <a:t>02 / 12</a:t>
            </a:r>
          </a:p>
        </p:txBody>
      </p:sp>
      <p:sp>
        <p:nvSpPr>
          <p:cNvPr id="10" name="Rounded Rectangle 9"/>
          <p:cNvSpPr/>
          <p:nvPr/>
        </p:nvSpPr>
        <p:spPr>
          <a:xfrm>
            <a:off x="621792" y="1847088"/>
            <a:ext cx="3538728" cy="1947672"/>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993392"/>
            <a:ext cx="3218688" cy="192024"/>
          </a:xfrm>
          <a:prstGeom prst="rect">
            <a:avLst/>
          </a:prstGeom>
          <a:noFill/>
        </p:spPr>
        <p:txBody>
          <a:bodyPr wrap="square" tIns="0" bIns="0" lIns="0" rIns="0" anchor="t">
            <a:spAutoFit/>
          </a:bodyPr>
          <a:lstStyle/>
          <a:p>
            <a:pPr algn="l">
              <a:lnSpc>
                <a:spcPts val="1064"/>
              </a:lnSpc>
              <a:spcAft>
                <a:spcPts val="100"/>
              </a:spcAft>
            </a:pPr>
            <a:r>
              <a:rPr sz="950" b="1" i="0">
                <a:solidFill>
                  <a:srgbClr val="087F72"/>
                </a:solidFill>
                <a:latin typeface="Aptos"/>
              </a:rPr>
              <a:t>VẤN ĐỀ A</a:t>
            </a:r>
          </a:p>
        </p:txBody>
      </p:sp>
      <p:sp>
        <p:nvSpPr>
          <p:cNvPr id="12" name="TextBox 11"/>
          <p:cNvSpPr txBox="1"/>
          <p:nvPr/>
        </p:nvSpPr>
        <p:spPr>
          <a:xfrm>
            <a:off x="795528" y="2276856"/>
            <a:ext cx="3191256" cy="512064"/>
          </a:xfrm>
          <a:prstGeom prst="rect">
            <a:avLst/>
          </a:prstGeom>
          <a:noFill/>
        </p:spPr>
        <p:txBody>
          <a:bodyPr wrap="square" tIns="0" bIns="0" lIns="0" rIns="0" anchor="t">
            <a:spAutoFit/>
          </a:bodyPr>
          <a:lstStyle/>
          <a:p>
            <a:pPr algn="l">
              <a:lnSpc>
                <a:spcPts val="1904"/>
              </a:lnSpc>
              <a:spcAft>
                <a:spcPts val="100"/>
              </a:spcAft>
            </a:pPr>
            <a:r>
              <a:rPr sz="1700" b="1" i="0">
                <a:solidFill>
                  <a:srgbClr val="193D35"/>
                </a:solidFill>
                <a:latin typeface="Aptos"/>
              </a:rPr>
              <a:t>CHƯA BẮT ĐẦU</a:t>
            </a:r>
          </a:p>
        </p:txBody>
      </p:sp>
      <p:sp>
        <p:nvSpPr>
          <p:cNvPr id="13" name="TextBox 12"/>
          <p:cNvSpPr txBox="1"/>
          <p:nvPr/>
        </p:nvSpPr>
        <p:spPr>
          <a:xfrm>
            <a:off x="795528" y="2779776"/>
            <a:ext cx="3191256" cy="941831"/>
          </a:xfrm>
          <a:prstGeom prst="rect">
            <a:avLst/>
          </a:prstGeom>
          <a:noFill/>
        </p:spPr>
        <p:txBody>
          <a:bodyPr wrap="square" tIns="0" bIns="0" lIns="0" rIns="0" anchor="t">
            <a:spAutoFit/>
          </a:bodyPr>
          <a:lstStyle/>
          <a:p>
            <a:pPr algn="l">
              <a:lnSpc>
                <a:spcPts val="1456"/>
              </a:lnSpc>
              <a:spcAft>
                <a:spcPts val="100"/>
              </a:spcAft>
            </a:pPr>
            <a:r>
              <a:rPr sz="1300" b="0" i="0">
                <a:solidFill>
                  <a:srgbClr val="5C776B"/>
                </a:solidFill>
                <a:latin typeface="Aptos"/>
              </a:rPr>
              <a:t>Muốn thử ảnh, vẽ, cầu lông; thiếu chỉ dẫn, thiếu tự tin khi bước vào cộng đồng.</a:t>
            </a:r>
          </a:p>
        </p:txBody>
      </p:sp>
      <p:sp>
        <p:nvSpPr>
          <p:cNvPr id="14" name="Rounded Rectangle 13"/>
          <p:cNvSpPr/>
          <p:nvPr/>
        </p:nvSpPr>
        <p:spPr>
          <a:xfrm>
            <a:off x="4315968" y="1847088"/>
            <a:ext cx="3529584" cy="1947672"/>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59" y="1993392"/>
            <a:ext cx="3209544" cy="192024"/>
          </a:xfrm>
          <a:prstGeom prst="rect">
            <a:avLst/>
          </a:prstGeom>
          <a:noFill/>
        </p:spPr>
        <p:txBody>
          <a:bodyPr wrap="square" tIns="0" bIns="0" lIns="0" rIns="0" anchor="t">
            <a:spAutoFit/>
          </a:bodyPr>
          <a:lstStyle/>
          <a:p>
            <a:pPr algn="l">
              <a:lnSpc>
                <a:spcPts val="1064"/>
              </a:lnSpc>
              <a:spcAft>
                <a:spcPts val="100"/>
              </a:spcAft>
            </a:pPr>
            <a:r>
              <a:rPr sz="950" b="1" i="0">
                <a:solidFill>
                  <a:srgbClr val="087F72"/>
                </a:solidFill>
                <a:latin typeface="Aptos"/>
              </a:rPr>
              <a:t>VẤN ĐỀ B</a:t>
            </a:r>
          </a:p>
        </p:txBody>
      </p:sp>
      <p:sp>
        <p:nvSpPr>
          <p:cNvPr id="16" name="TextBox 15"/>
          <p:cNvSpPr txBox="1"/>
          <p:nvPr/>
        </p:nvSpPr>
        <p:spPr>
          <a:xfrm>
            <a:off x="4489704" y="2276856"/>
            <a:ext cx="3182112" cy="512064"/>
          </a:xfrm>
          <a:prstGeom prst="rect">
            <a:avLst/>
          </a:prstGeom>
          <a:noFill/>
        </p:spPr>
        <p:txBody>
          <a:bodyPr wrap="square" tIns="0" bIns="0" lIns="0" rIns="0" anchor="t">
            <a:spAutoFit/>
          </a:bodyPr>
          <a:lstStyle/>
          <a:p>
            <a:pPr algn="l">
              <a:lnSpc>
                <a:spcPts val="1904"/>
              </a:lnSpc>
              <a:spcAft>
                <a:spcPts val="100"/>
              </a:spcAft>
            </a:pPr>
            <a:r>
              <a:rPr sz="1700" b="1" i="0">
                <a:solidFill>
                  <a:srgbClr val="193D35"/>
                </a:solidFill>
                <a:latin typeface="Aptos"/>
              </a:rPr>
              <a:t>KHÓ DUY TRÌ</a:t>
            </a:r>
          </a:p>
        </p:txBody>
      </p:sp>
      <p:sp>
        <p:nvSpPr>
          <p:cNvPr id="17" name="TextBox 16"/>
          <p:cNvSpPr txBox="1"/>
          <p:nvPr/>
        </p:nvSpPr>
        <p:spPr>
          <a:xfrm>
            <a:off x="4489704" y="2779776"/>
            <a:ext cx="3182112" cy="941831"/>
          </a:xfrm>
          <a:prstGeom prst="rect">
            <a:avLst/>
          </a:prstGeom>
          <a:noFill/>
        </p:spPr>
        <p:txBody>
          <a:bodyPr wrap="square" tIns="0" bIns="0" lIns="0" rIns="0" anchor="t">
            <a:spAutoFit/>
          </a:bodyPr>
          <a:lstStyle/>
          <a:p>
            <a:pPr algn="l">
              <a:lnSpc>
                <a:spcPts val="1456"/>
              </a:lnSpc>
              <a:spcAft>
                <a:spcPts val="100"/>
              </a:spcAft>
            </a:pPr>
            <a:r>
              <a:rPr sz="1300" b="0" i="0">
                <a:solidFill>
                  <a:srgbClr val="5C776B"/>
                </a:solidFill>
                <a:latin typeface="Aptos"/>
              </a:rPr>
              <a:t>TikTok, deadline, ca làm và cảm giác tiến bộ chậm khiến buổi tập bị bỏ lỡ.</a:t>
            </a:r>
          </a:p>
        </p:txBody>
      </p:sp>
      <p:sp>
        <p:nvSpPr>
          <p:cNvPr id="18" name="Rounded Rectangle 17"/>
          <p:cNvSpPr/>
          <p:nvPr/>
        </p:nvSpPr>
        <p:spPr>
          <a:xfrm>
            <a:off x="8001000" y="1847088"/>
            <a:ext cx="3529584" cy="1947672"/>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65592" y="1993392"/>
            <a:ext cx="3209544" cy="192024"/>
          </a:xfrm>
          <a:prstGeom prst="rect">
            <a:avLst/>
          </a:prstGeom>
          <a:noFill/>
        </p:spPr>
        <p:txBody>
          <a:bodyPr wrap="square" tIns="0" bIns="0" lIns="0" rIns="0" anchor="t">
            <a:spAutoFit/>
          </a:bodyPr>
          <a:lstStyle/>
          <a:p>
            <a:pPr algn="l">
              <a:lnSpc>
                <a:spcPts val="1064"/>
              </a:lnSpc>
              <a:spcAft>
                <a:spcPts val="100"/>
              </a:spcAft>
            </a:pPr>
            <a:r>
              <a:rPr sz="950" b="1" i="0">
                <a:solidFill>
                  <a:srgbClr val="087F72"/>
                </a:solidFill>
                <a:latin typeface="Aptos"/>
              </a:rPr>
              <a:t>ĐỊNH HƯỚNG</a:t>
            </a:r>
          </a:p>
        </p:txBody>
      </p:sp>
      <p:sp>
        <p:nvSpPr>
          <p:cNvPr id="20" name="TextBox 19"/>
          <p:cNvSpPr txBox="1"/>
          <p:nvPr/>
        </p:nvSpPr>
        <p:spPr>
          <a:xfrm>
            <a:off x="8174736" y="2276856"/>
            <a:ext cx="3182112" cy="512064"/>
          </a:xfrm>
          <a:prstGeom prst="rect">
            <a:avLst/>
          </a:prstGeom>
          <a:noFill/>
        </p:spPr>
        <p:txBody>
          <a:bodyPr wrap="square" tIns="0" bIns="0" lIns="0" rIns="0" anchor="t">
            <a:spAutoFit/>
          </a:bodyPr>
          <a:lstStyle/>
          <a:p>
            <a:pPr algn="l">
              <a:lnSpc>
                <a:spcPts val="1904"/>
              </a:lnSpc>
              <a:spcAft>
                <a:spcPts val="100"/>
              </a:spcAft>
            </a:pPr>
            <a:r>
              <a:rPr sz="1700" b="1" i="0">
                <a:solidFill>
                  <a:srgbClr val="193D35"/>
                </a:solidFill>
                <a:latin typeface="Aptos"/>
              </a:rPr>
              <a:t>MỤC TIÊU</a:t>
            </a:r>
          </a:p>
        </p:txBody>
      </p:sp>
      <p:sp>
        <p:nvSpPr>
          <p:cNvPr id="21" name="TextBox 20"/>
          <p:cNvSpPr txBox="1"/>
          <p:nvPr/>
        </p:nvSpPr>
        <p:spPr>
          <a:xfrm>
            <a:off x="8174736" y="2779776"/>
            <a:ext cx="3182112" cy="941831"/>
          </a:xfrm>
          <a:prstGeom prst="rect">
            <a:avLst/>
          </a:prstGeom>
          <a:noFill/>
        </p:spPr>
        <p:txBody>
          <a:bodyPr wrap="square" tIns="0" bIns="0" lIns="0" rIns="0" anchor="t">
            <a:spAutoFit/>
          </a:bodyPr>
          <a:lstStyle/>
          <a:p>
            <a:pPr algn="l">
              <a:lnSpc>
                <a:spcPts val="1456"/>
              </a:lnSpc>
              <a:spcAft>
                <a:spcPts val="100"/>
              </a:spcAft>
            </a:pPr>
            <a:r>
              <a:rPr sz="1300" b="0" i="0">
                <a:solidFill>
                  <a:srgbClr val="5C776B"/>
                </a:solidFill>
                <a:latin typeface="Aptos"/>
              </a:rPr>
              <a:t>Biến “muốn làm” thành “đã dành thời gian, đã ghi nhận và có thể tiếp tục”.</a:t>
            </a:r>
          </a:p>
        </p:txBody>
      </p:sp>
      <p:sp>
        <p:nvSpPr>
          <p:cNvPr id="22" name="Rounded Rectangle 21"/>
          <p:cNvSpPr/>
          <p:nvPr/>
        </p:nvSpPr>
        <p:spPr>
          <a:xfrm>
            <a:off x="630936" y="4059936"/>
            <a:ext cx="5321808" cy="1645920"/>
          </a:xfrm>
          <a:prstGeom prst="roundRect">
            <a:avLst>
              <a:gd name="adj" fmla="val 10000"/>
            </a:avLst>
          </a:prstGeom>
          <a:solidFill>
            <a:srgbClr val="E8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4261104"/>
            <a:ext cx="4983480" cy="283464"/>
          </a:xfrm>
          <a:prstGeom prst="rect">
            <a:avLst/>
          </a:prstGeom>
          <a:noFill/>
        </p:spPr>
        <p:txBody>
          <a:bodyPr wrap="square" tIns="0" bIns="0" lIns="0" rIns="0" anchor="t">
            <a:spAutoFit/>
          </a:bodyPr>
          <a:lstStyle/>
          <a:p>
            <a:pPr algn="l">
              <a:lnSpc>
                <a:spcPts val="1680"/>
              </a:lnSpc>
              <a:spcAft>
                <a:spcPts val="100"/>
              </a:spcAft>
            </a:pPr>
            <a:r>
              <a:rPr sz="1500" b="1" i="0">
                <a:solidFill>
                  <a:srgbClr val="087F72"/>
                </a:solidFill>
                <a:latin typeface="Aptos"/>
              </a:rPr>
              <a:t>BẠN · Người định hướng</a:t>
            </a:r>
          </a:p>
        </p:txBody>
      </p:sp>
      <p:sp>
        <p:nvSpPr>
          <p:cNvPr id="24" name="TextBox 23"/>
          <p:cNvSpPr txBox="1"/>
          <p:nvPr/>
        </p:nvSpPr>
        <p:spPr>
          <a:xfrm>
            <a:off x="804672" y="4700016"/>
            <a:ext cx="4892040" cy="795528"/>
          </a:xfrm>
          <a:prstGeom prst="rect">
            <a:avLst/>
          </a:prstGeom>
          <a:noFill/>
        </p:spPr>
        <p:txBody>
          <a:bodyPr wrap="square" tIns="0" bIns="0" lIns="0" rIns="0" anchor="t">
            <a:spAutoFit/>
          </a:bodyPr>
          <a:lstStyle/>
          <a:p>
            <a:pPr algn="l">
              <a:lnSpc>
                <a:spcPts val="1456"/>
              </a:lnSpc>
              <a:spcAft>
                <a:spcPts val="100"/>
              </a:spcAft>
            </a:pPr>
            <a:r>
              <a:rPr sz="1300" b="0" i="0">
                <a:solidFill>
                  <a:srgbClr val="193D35"/>
                </a:solidFill>
                <a:latin typeface="Aptos"/>
              </a:rPr>
              <a:t>Viết mục tiêu, chọn nhóm, nói ý tưởng, thử từng bản, bác chỗ không đúng và duyệt sửa đổi.</a:t>
            </a:r>
          </a:p>
        </p:txBody>
      </p:sp>
      <p:sp>
        <p:nvSpPr>
          <p:cNvPr id="25" name="Rounded Rectangle 24"/>
          <p:cNvSpPr/>
          <p:nvPr/>
        </p:nvSpPr>
        <p:spPr>
          <a:xfrm>
            <a:off x="6117336" y="4059936"/>
            <a:ext cx="5394960" cy="1645920"/>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91072" y="4261104"/>
            <a:ext cx="5029200" cy="283464"/>
          </a:xfrm>
          <a:prstGeom prst="rect">
            <a:avLst/>
          </a:prstGeom>
          <a:noFill/>
        </p:spPr>
        <p:txBody>
          <a:bodyPr wrap="square" tIns="0" bIns="0" lIns="0" rIns="0" anchor="t">
            <a:spAutoFit/>
          </a:bodyPr>
          <a:lstStyle/>
          <a:p>
            <a:pPr algn="l">
              <a:lnSpc>
                <a:spcPts val="1680"/>
              </a:lnSpc>
              <a:spcAft>
                <a:spcPts val="100"/>
              </a:spcAft>
            </a:pPr>
            <a:r>
              <a:rPr sz="1500" b="1" i="0">
                <a:solidFill>
                  <a:srgbClr val="087F72"/>
                </a:solidFill>
                <a:latin typeface="Aptos"/>
              </a:rPr>
              <a:t>CHATGPT · Người hỗ trợ</a:t>
            </a:r>
          </a:p>
        </p:txBody>
      </p:sp>
      <p:sp>
        <p:nvSpPr>
          <p:cNvPr id="27" name="TextBox 26"/>
          <p:cNvSpPr txBox="1"/>
          <p:nvPr/>
        </p:nvSpPr>
        <p:spPr>
          <a:xfrm>
            <a:off x="6300216" y="4700016"/>
            <a:ext cx="4855464" cy="795528"/>
          </a:xfrm>
          <a:prstGeom prst="rect">
            <a:avLst/>
          </a:prstGeom>
          <a:noFill/>
        </p:spPr>
        <p:txBody>
          <a:bodyPr wrap="square" tIns="0" bIns="0" lIns="0" rIns="0" anchor="t">
            <a:spAutoFit/>
          </a:bodyPr>
          <a:lstStyle/>
          <a:p>
            <a:pPr algn="l">
              <a:lnSpc>
                <a:spcPts val="1456"/>
              </a:lnSpc>
              <a:spcAft>
                <a:spcPts val="100"/>
              </a:spcAft>
            </a:pPr>
            <a:r>
              <a:rPr sz="1300" b="0" i="0">
                <a:solidFill>
                  <a:srgbClr val="193D35"/>
                </a:solidFill>
                <a:latin typeface="Aptos"/>
              </a:rPr>
              <a:t>Gợi ý cách nghiên cứu, vào vai 9 sinh viên, tổng hợp, dựng sơ đồ/UI thử được và chỉnh theo phản hồi.</a:t>
            </a:r>
          </a:p>
        </p:txBody>
      </p:sp>
      <p:sp>
        <p:nvSpPr>
          <p:cNvPr id="28" name="Rounded Rectangle 27"/>
          <p:cNvSpPr/>
          <p:nvPr/>
        </p:nvSpPr>
        <p:spPr>
          <a:xfrm>
            <a:off x="640080" y="5833872"/>
            <a:ext cx="10808208" cy="429768"/>
          </a:xfrm>
          <a:prstGeom prst="roundRect">
            <a:avLst>
              <a:gd name="adj" fmla="val 10000"/>
            </a:avLst>
          </a:prstGeom>
          <a:solidFill>
            <a:srgbClr val="E8F5ED"/>
          </a:solidFill>
          <a:ln w="12700">
            <a:solidFill>
              <a:srgbClr val="B8DB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0392" y="5961888"/>
            <a:ext cx="10314432" cy="219456"/>
          </a:xfrm>
          <a:prstGeom prst="rect">
            <a:avLst/>
          </a:prstGeom>
          <a:noFill/>
        </p:spPr>
        <p:txBody>
          <a:bodyPr wrap="square" tIns="0" bIns="0" lIns="0" rIns="0" anchor="t">
            <a:spAutoFit/>
          </a:bodyPr>
          <a:lstStyle/>
          <a:p>
            <a:pPr algn="l">
              <a:lnSpc>
                <a:spcPts val="1276"/>
              </a:lnSpc>
              <a:spcAft>
                <a:spcPts val="100"/>
              </a:spcAft>
            </a:pPr>
            <a:r>
              <a:rPr sz="1140" b="1" i="0">
                <a:solidFill>
                  <a:srgbClr val="087F72"/>
                </a:solidFill>
                <a:latin typeface="Aptos"/>
              </a:rPr>
              <a:t>NGUYÊN TẮC  ·  Khi thiết kế sai, người dùng phản hồi ngay trong chat; AI phải chỉnh trước khi được duyệt.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56032"/>
            <a:ext cx="7315200" cy="246888"/>
          </a:xfrm>
          <a:prstGeom prst="rect">
            <a:avLst/>
          </a:prstGeom>
          <a:noFill/>
        </p:spPr>
        <p:txBody>
          <a:bodyPr wrap="square" tIns="0" bIns="0" lIns="0" rIns="0" anchor="t">
            <a:spAutoFit/>
          </a:bodyPr>
          <a:lstStyle/>
          <a:p>
            <a:pPr algn="l">
              <a:lnSpc>
                <a:spcPts val="1131"/>
              </a:lnSpc>
              <a:spcAft>
                <a:spcPts val="100"/>
              </a:spcAft>
            </a:pPr>
            <a:r>
              <a:rPr sz="1010" b="1" i="0">
                <a:solidFill>
                  <a:srgbClr val="087F72"/>
                </a:solidFill>
                <a:latin typeface="Aptos"/>
              </a:rPr>
              <a:t>02  UX RESEARCH</a:t>
            </a:r>
          </a:p>
        </p:txBody>
      </p:sp>
      <p:sp>
        <p:nvSpPr>
          <p:cNvPr id="5" name="TextBox 4"/>
          <p:cNvSpPr txBox="1"/>
          <p:nvPr/>
        </p:nvSpPr>
        <p:spPr>
          <a:xfrm>
            <a:off x="566928" y="621792"/>
            <a:ext cx="10972800" cy="557784"/>
          </a:xfrm>
          <a:prstGeom prst="rect">
            <a:avLst/>
          </a:prstGeom>
          <a:noFill/>
        </p:spPr>
        <p:txBody>
          <a:bodyPr wrap="square" tIns="0" bIns="0" lIns="0" rIns="0" anchor="t">
            <a:spAutoFit/>
          </a:bodyPr>
          <a:lstStyle/>
          <a:p>
            <a:pPr algn="l">
              <a:lnSpc>
                <a:spcPts val="3024"/>
              </a:lnSpc>
              <a:spcAft>
                <a:spcPts val="100"/>
              </a:spcAft>
            </a:pPr>
            <a:r>
              <a:rPr sz="2700" b="1" i="0">
                <a:solidFill>
                  <a:srgbClr val="193D35"/>
                </a:solidFill>
                <a:latin typeface="Aptos"/>
              </a:rPr>
              <a:t>02 · UX Research: tìm hiểu TRƯỚC khi thiết kế giao diện</a:t>
            </a:r>
          </a:p>
        </p:txBody>
      </p:sp>
      <p:sp>
        <p:nvSpPr>
          <p:cNvPr id="6" name="TextBox 5"/>
          <p:cNvSpPr txBox="1"/>
          <p:nvPr/>
        </p:nvSpPr>
        <p:spPr>
          <a:xfrm>
            <a:off x="594360" y="1261872"/>
            <a:ext cx="10972800" cy="393192"/>
          </a:xfrm>
          <a:prstGeom prst="rect">
            <a:avLst/>
          </a:prstGeom>
          <a:noFill/>
        </p:spPr>
        <p:txBody>
          <a:bodyPr wrap="square" tIns="0" bIns="0" lIns="0" rIns="0" anchor="t">
            <a:spAutoFit/>
          </a:bodyPr>
          <a:lstStyle/>
          <a:p>
            <a:pPr algn="l">
              <a:lnSpc>
                <a:spcPts val="1388"/>
              </a:lnSpc>
              <a:spcAft>
                <a:spcPts val="100"/>
              </a:spcAft>
            </a:pPr>
            <a:r>
              <a:rPr sz="1240" b="0" i="0">
                <a:solidFill>
                  <a:srgbClr val="5C776B"/>
                </a:solidFill>
                <a:latin typeface="Aptos"/>
              </a:rPr>
              <a:t>Cần hiểu trở ngại khởi đầu, sự gián đoạn, điều giúp duy trì và cảm giác khi tham gia cộng đồng.</a:t>
            </a:r>
          </a:p>
        </p:txBody>
      </p:sp>
      <p:sp>
        <p:nvSpPr>
          <p:cNvPr id="7" name="Rectangle 6"/>
          <p:cNvSpPr/>
          <p:nvPr/>
        </p:nvSpPr>
        <p:spPr>
          <a:xfrm>
            <a:off x="594360" y="6537960"/>
            <a:ext cx="10972800" cy="13716"/>
          </a:xfrm>
          <a:prstGeom prst="rect">
            <a:avLst/>
          </a:prstGeom>
          <a:solidFill>
            <a:srgbClr val="D7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6611112"/>
            <a:ext cx="6400800" cy="155448"/>
          </a:xfrm>
          <a:prstGeom prst="rect">
            <a:avLst/>
          </a:prstGeom>
          <a:noFill/>
        </p:spPr>
        <p:txBody>
          <a:bodyPr wrap="square" tIns="0" bIns="0" lIns="0" rIns="0" anchor="t">
            <a:spAutoFit/>
          </a:bodyPr>
          <a:lstStyle/>
          <a:p>
            <a:pPr algn="l">
              <a:lnSpc>
                <a:spcPts val="952"/>
              </a:lnSpc>
              <a:spcAft>
                <a:spcPts val="100"/>
              </a:spcAft>
            </a:pPr>
            <a:r>
              <a:rPr sz="850" b="1" i="0">
                <a:solidFill>
                  <a:srgbClr val="A7BCB1"/>
                </a:solidFill>
                <a:latin typeface="Aptos"/>
              </a:rPr>
              <a:t>HOBBY TRACKER  ·  UX / UI DESIGN JOURNEY</a:t>
            </a:r>
          </a:p>
        </p:txBody>
      </p:sp>
      <p:sp>
        <p:nvSpPr>
          <p:cNvPr id="9" name="TextBox 8"/>
          <p:cNvSpPr txBox="1"/>
          <p:nvPr/>
        </p:nvSpPr>
        <p:spPr>
          <a:xfrm>
            <a:off x="11100816" y="6583680"/>
            <a:ext cx="438912" cy="201168"/>
          </a:xfrm>
          <a:prstGeom prst="rect">
            <a:avLst/>
          </a:prstGeom>
          <a:noFill/>
        </p:spPr>
        <p:txBody>
          <a:bodyPr wrap="square" tIns="0" bIns="0" lIns="0" rIns="0" anchor="t">
            <a:spAutoFit/>
          </a:bodyPr>
          <a:lstStyle/>
          <a:p>
            <a:pPr algn="r">
              <a:lnSpc>
                <a:spcPts val="1008"/>
              </a:lnSpc>
              <a:spcAft>
                <a:spcPts val="100"/>
              </a:spcAft>
            </a:pPr>
            <a:r>
              <a:rPr sz="900" b="1" i="0">
                <a:solidFill>
                  <a:srgbClr val="087F72"/>
                </a:solidFill>
                <a:latin typeface="Aptos"/>
              </a:rPr>
              <a:t>03 / 12</a:t>
            </a:r>
          </a:p>
        </p:txBody>
      </p:sp>
      <p:sp>
        <p:nvSpPr>
          <p:cNvPr id="10" name="Rounded Rectangle 9"/>
          <p:cNvSpPr/>
          <p:nvPr/>
        </p:nvSpPr>
        <p:spPr>
          <a:xfrm>
            <a:off x="621792" y="1792224"/>
            <a:ext cx="4901184" cy="1042415"/>
          </a:xfrm>
          <a:prstGeom prst="roundRect">
            <a:avLst>
              <a:gd name="adj" fmla="val 10000"/>
            </a:avLst>
          </a:prstGeom>
          <a:solidFill>
            <a:srgbClr val="E8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1956816"/>
            <a:ext cx="4489704" cy="201168"/>
          </a:xfrm>
          <a:prstGeom prst="rect">
            <a:avLst/>
          </a:prstGeom>
          <a:noFill/>
        </p:spPr>
        <p:txBody>
          <a:bodyPr wrap="square" tIns="0" bIns="0" lIns="0" rIns="0" anchor="t">
            <a:spAutoFit/>
          </a:bodyPr>
          <a:lstStyle/>
          <a:p>
            <a:pPr algn="l">
              <a:lnSpc>
                <a:spcPts val="1120"/>
              </a:lnSpc>
              <a:spcAft>
                <a:spcPts val="100"/>
              </a:spcAft>
            </a:pPr>
            <a:r>
              <a:rPr sz="1000" b="1" i="0">
                <a:solidFill>
                  <a:srgbClr val="087F72"/>
                </a:solidFill>
                <a:latin typeface="Aptos"/>
              </a:rPr>
              <a:t>GIẢ THUYẾT ĐỂ ĐẶT CÂU HỎI</a:t>
            </a:r>
          </a:p>
        </p:txBody>
      </p:sp>
      <p:sp>
        <p:nvSpPr>
          <p:cNvPr id="12" name="TextBox 11"/>
          <p:cNvSpPr txBox="1"/>
          <p:nvPr/>
        </p:nvSpPr>
        <p:spPr>
          <a:xfrm>
            <a:off x="804672" y="2313432"/>
            <a:ext cx="4425696" cy="402336"/>
          </a:xfrm>
          <a:prstGeom prst="rect">
            <a:avLst/>
          </a:prstGeom>
          <a:noFill/>
        </p:spPr>
        <p:txBody>
          <a:bodyPr wrap="square" tIns="0" bIns="0" lIns="0" rIns="0" anchor="t">
            <a:spAutoFit/>
          </a:bodyPr>
          <a:lstStyle/>
          <a:p>
            <a:pPr algn="l">
              <a:lnSpc>
                <a:spcPts val="1456"/>
              </a:lnSpc>
              <a:spcAft>
                <a:spcPts val="100"/>
              </a:spcAft>
            </a:pPr>
            <a:r>
              <a:rPr sz="1300" b="1" i="0">
                <a:solidFill>
                  <a:srgbClr val="193D35"/>
                </a:solidFill>
                <a:latin typeface="Aptos"/>
              </a:rPr>
              <a:t>Thiếu chỉ dẫn · Phân tâm số · Ngại người lạ · Khó thấy tiến bộ</a:t>
            </a:r>
          </a:p>
        </p:txBody>
      </p:sp>
      <p:sp>
        <p:nvSpPr>
          <p:cNvPr id="13" name="Rounded Rectangle 12"/>
          <p:cNvSpPr/>
          <p:nvPr/>
        </p:nvSpPr>
        <p:spPr>
          <a:xfrm>
            <a:off x="5687568" y="1792224"/>
            <a:ext cx="5843016" cy="1042415"/>
          </a:xfrm>
          <a:prstGeom prst="roundRect">
            <a:avLst>
              <a:gd name="adj" fmla="val 14000"/>
            </a:avLst>
          </a:prstGeom>
          <a:solidFill>
            <a:srgbClr val="E8F5ED"/>
          </a:solidFill>
          <a:ln w="12700">
            <a:solidFill>
              <a:srgbClr val="B8DB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33872" y="1901952"/>
            <a:ext cx="5568696" cy="164592"/>
          </a:xfrm>
          <a:prstGeom prst="rect">
            <a:avLst/>
          </a:prstGeom>
          <a:noFill/>
        </p:spPr>
        <p:txBody>
          <a:bodyPr wrap="square" tIns="0" bIns="0" lIns="0" rIns="0" anchor="t">
            <a:spAutoFit/>
          </a:bodyPr>
          <a:lstStyle/>
          <a:p>
            <a:pPr algn="l">
              <a:lnSpc>
                <a:spcPts val="1064"/>
              </a:lnSpc>
              <a:spcAft>
                <a:spcPts val="100"/>
              </a:spcAft>
            </a:pPr>
            <a:r>
              <a:rPr sz="950" b="1" i="0">
                <a:solidFill>
                  <a:srgbClr val="087F72"/>
                </a:solidFill>
                <a:latin typeface="Aptos"/>
              </a:rPr>
              <a:t>BẠN · CÁCH TRIỂN KHAI</a:t>
            </a:r>
          </a:p>
        </p:txBody>
      </p:sp>
      <p:sp>
        <p:nvSpPr>
          <p:cNvPr id="15" name="TextBox 14"/>
          <p:cNvSpPr txBox="1"/>
          <p:nvPr/>
        </p:nvSpPr>
        <p:spPr>
          <a:xfrm>
            <a:off x="5843016" y="2148840"/>
            <a:ext cx="5541264" cy="658368"/>
          </a:xfrm>
          <a:prstGeom prst="rect">
            <a:avLst/>
          </a:prstGeom>
          <a:noFill/>
        </p:spPr>
        <p:txBody>
          <a:bodyPr wrap="square" tIns="0" bIns="0" lIns="0" rIns="0" anchor="t">
            <a:spAutoFit/>
          </a:bodyPr>
          <a:lstStyle/>
          <a:p>
            <a:pPr algn="l">
              <a:lnSpc>
                <a:spcPts val="1792"/>
              </a:lnSpc>
              <a:spcAft>
                <a:spcPts val="100"/>
              </a:spcAft>
            </a:pPr>
            <a:r>
              <a:rPr sz="1600" b="1" i="0">
                <a:solidFill>
                  <a:srgbClr val="193D35"/>
                </a:solidFill>
                <a:latin typeface="Aptos"/>
              </a:rPr>
              <a:t>“i want you to be all nine participants”</a:t>
            </a:r>
          </a:p>
        </p:txBody>
      </p:sp>
      <p:sp>
        <p:nvSpPr>
          <p:cNvPr id="16" name="Rounded Rectangle 15"/>
          <p:cNvSpPr/>
          <p:nvPr/>
        </p:nvSpPr>
        <p:spPr>
          <a:xfrm>
            <a:off x="649224" y="3182112"/>
            <a:ext cx="3557016" cy="2414016"/>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95528" y="3355848"/>
            <a:ext cx="3264408" cy="365760"/>
          </a:xfrm>
          <a:prstGeom prst="roundRect">
            <a:avLst>
              <a:gd name="adj" fmla="val 15000"/>
            </a:avLst>
          </a:prstGeom>
          <a:solidFill>
            <a:srgbClr val="D1E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7" y="3465576"/>
            <a:ext cx="3108960" cy="173736"/>
          </a:xfrm>
          <a:prstGeom prst="rect">
            <a:avLst/>
          </a:prstGeom>
          <a:noFill/>
        </p:spPr>
        <p:txBody>
          <a:bodyPr wrap="square" tIns="0" bIns="0" lIns="0" rIns="0" anchor="t">
            <a:spAutoFit/>
          </a:bodyPr>
          <a:lstStyle/>
          <a:p>
            <a:pPr algn="l">
              <a:lnSpc>
                <a:spcPts val="1232"/>
              </a:lnSpc>
              <a:spcAft>
                <a:spcPts val="100"/>
              </a:spcAft>
            </a:pPr>
            <a:r>
              <a:rPr sz="1100" b="1" i="0">
                <a:solidFill>
                  <a:srgbClr val="193D35"/>
                </a:solidFill>
                <a:latin typeface="Aptos"/>
              </a:rPr>
              <a:t>A — CHƯA BẮT ĐẦU</a:t>
            </a:r>
          </a:p>
        </p:txBody>
      </p:sp>
      <p:sp>
        <p:nvSpPr>
          <p:cNvPr id="19" name="TextBox 18"/>
          <p:cNvSpPr txBox="1"/>
          <p:nvPr/>
        </p:nvSpPr>
        <p:spPr>
          <a:xfrm>
            <a:off x="859536" y="3995928"/>
            <a:ext cx="3090672" cy="676656"/>
          </a:xfrm>
          <a:prstGeom prst="rect">
            <a:avLst/>
          </a:prstGeom>
          <a:noFill/>
        </p:spPr>
        <p:txBody>
          <a:bodyPr wrap="square" tIns="0" bIns="0" lIns="0" rIns="0" anchor="t">
            <a:spAutoFit/>
          </a:bodyPr>
          <a:lstStyle/>
          <a:p>
            <a:pPr algn="l">
              <a:lnSpc>
                <a:spcPts val="1456"/>
              </a:lnSpc>
              <a:spcAft>
                <a:spcPts val="100"/>
              </a:spcAft>
            </a:pPr>
            <a:r>
              <a:rPr sz="1300" b="1" i="0">
                <a:solidFill>
                  <a:srgbClr val="193D35"/>
                </a:solidFill>
                <a:latin typeface="Aptos"/>
              </a:rPr>
              <a:t>Minh: ảnh · Linh: vẽ · Hùng: cầu lông</a:t>
            </a:r>
          </a:p>
        </p:txBody>
      </p:sp>
      <p:sp>
        <p:nvSpPr>
          <p:cNvPr id="20" name="TextBox 19"/>
          <p:cNvSpPr txBox="1"/>
          <p:nvPr/>
        </p:nvSpPr>
        <p:spPr>
          <a:xfrm>
            <a:off x="850392" y="4946904"/>
            <a:ext cx="3118104" cy="365760"/>
          </a:xfrm>
          <a:prstGeom prst="rect">
            <a:avLst/>
          </a:prstGeom>
          <a:noFill/>
        </p:spPr>
        <p:txBody>
          <a:bodyPr wrap="square" tIns="0" bIns="0" lIns="0" rIns="0" anchor="t">
            <a:spAutoFit/>
          </a:bodyPr>
          <a:lstStyle/>
          <a:p>
            <a:pPr algn="l">
              <a:lnSpc>
                <a:spcPts val="1377"/>
              </a:lnSpc>
              <a:spcAft>
                <a:spcPts val="100"/>
              </a:spcAft>
            </a:pPr>
            <a:r>
              <a:rPr sz="1230" b="0" i="0">
                <a:solidFill>
                  <a:srgbClr val="5C776B"/>
                </a:solidFill>
                <a:latin typeface="Aptos"/>
              </a:rPr>
              <a:t>Tại sao thích mà chưa thử?</a:t>
            </a:r>
          </a:p>
        </p:txBody>
      </p:sp>
      <p:sp>
        <p:nvSpPr>
          <p:cNvPr id="21" name="Rounded Rectangle 20"/>
          <p:cNvSpPr/>
          <p:nvPr/>
        </p:nvSpPr>
        <p:spPr>
          <a:xfrm>
            <a:off x="4462272" y="3182112"/>
            <a:ext cx="3557016" cy="2414016"/>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08576" y="3355848"/>
            <a:ext cx="3264408" cy="365760"/>
          </a:xfrm>
          <a:prstGeom prst="roundRect">
            <a:avLst>
              <a:gd name="adj" fmla="val 15000"/>
            </a:avLst>
          </a:prstGeom>
          <a:solidFill>
            <a:srgbClr val="FBEF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54296" y="3465576"/>
            <a:ext cx="3108960" cy="173736"/>
          </a:xfrm>
          <a:prstGeom prst="rect">
            <a:avLst/>
          </a:prstGeom>
          <a:noFill/>
        </p:spPr>
        <p:txBody>
          <a:bodyPr wrap="square" tIns="0" bIns="0" lIns="0" rIns="0" anchor="t">
            <a:spAutoFit/>
          </a:bodyPr>
          <a:lstStyle/>
          <a:p>
            <a:pPr algn="l">
              <a:lnSpc>
                <a:spcPts val="1232"/>
              </a:lnSpc>
              <a:spcAft>
                <a:spcPts val="100"/>
              </a:spcAft>
            </a:pPr>
            <a:r>
              <a:rPr sz="1100" b="1" i="0">
                <a:solidFill>
                  <a:srgbClr val="193D35"/>
                </a:solidFill>
                <a:latin typeface="Aptos"/>
              </a:rPr>
              <a:t>B — ĐÃ CÓ, GIÁN ĐOẠN</a:t>
            </a:r>
          </a:p>
        </p:txBody>
      </p:sp>
      <p:sp>
        <p:nvSpPr>
          <p:cNvPr id="24" name="TextBox 23"/>
          <p:cNvSpPr txBox="1"/>
          <p:nvPr/>
        </p:nvSpPr>
        <p:spPr>
          <a:xfrm>
            <a:off x="4672584" y="3995928"/>
            <a:ext cx="3090672" cy="676656"/>
          </a:xfrm>
          <a:prstGeom prst="rect">
            <a:avLst/>
          </a:prstGeom>
          <a:noFill/>
        </p:spPr>
        <p:txBody>
          <a:bodyPr wrap="square" tIns="0" bIns="0" lIns="0" rIns="0" anchor="t">
            <a:spAutoFit/>
          </a:bodyPr>
          <a:lstStyle/>
          <a:p>
            <a:pPr algn="l">
              <a:lnSpc>
                <a:spcPts val="1456"/>
              </a:lnSpc>
              <a:spcAft>
                <a:spcPts val="100"/>
              </a:spcAft>
            </a:pPr>
            <a:r>
              <a:rPr sz="1300" b="1" i="0">
                <a:solidFill>
                  <a:srgbClr val="193D35"/>
                </a:solidFill>
                <a:latin typeface="Aptos"/>
              </a:rPr>
              <a:t>Khoa: guitar · Vũ: ảnh/sách · Sang: nấu ăn</a:t>
            </a:r>
          </a:p>
        </p:txBody>
      </p:sp>
      <p:sp>
        <p:nvSpPr>
          <p:cNvPr id="25" name="TextBox 24"/>
          <p:cNvSpPr txBox="1"/>
          <p:nvPr/>
        </p:nvSpPr>
        <p:spPr>
          <a:xfrm>
            <a:off x="4663440" y="4946904"/>
            <a:ext cx="3118104" cy="365760"/>
          </a:xfrm>
          <a:prstGeom prst="rect">
            <a:avLst/>
          </a:prstGeom>
          <a:noFill/>
        </p:spPr>
        <p:txBody>
          <a:bodyPr wrap="square" tIns="0" bIns="0" lIns="0" rIns="0" anchor="t">
            <a:spAutoFit/>
          </a:bodyPr>
          <a:lstStyle/>
          <a:p>
            <a:pPr algn="l">
              <a:lnSpc>
                <a:spcPts val="1377"/>
              </a:lnSpc>
              <a:spcAft>
                <a:spcPts val="100"/>
              </a:spcAft>
            </a:pPr>
            <a:r>
              <a:rPr sz="1230" b="0" i="0">
                <a:solidFill>
                  <a:srgbClr val="5C776B"/>
                </a:solidFill>
                <a:latin typeface="Aptos"/>
              </a:rPr>
              <a:t>Tại sao cứ bỏ lỡ?</a:t>
            </a:r>
          </a:p>
        </p:txBody>
      </p:sp>
      <p:sp>
        <p:nvSpPr>
          <p:cNvPr id="26" name="Rounded Rectangle 25"/>
          <p:cNvSpPr/>
          <p:nvPr/>
        </p:nvSpPr>
        <p:spPr>
          <a:xfrm>
            <a:off x="8275320" y="3182112"/>
            <a:ext cx="3557016" cy="2414016"/>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421624" y="3355848"/>
            <a:ext cx="3264408" cy="365760"/>
          </a:xfrm>
          <a:prstGeom prst="roundRect">
            <a:avLst>
              <a:gd name="adj" fmla="val 15000"/>
            </a:avLst>
          </a:prstGeom>
          <a:solidFill>
            <a:srgbClr val="E7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67344" y="3465576"/>
            <a:ext cx="3108960" cy="173736"/>
          </a:xfrm>
          <a:prstGeom prst="rect">
            <a:avLst/>
          </a:prstGeom>
          <a:noFill/>
        </p:spPr>
        <p:txBody>
          <a:bodyPr wrap="square" tIns="0" bIns="0" lIns="0" rIns="0" anchor="t">
            <a:spAutoFit/>
          </a:bodyPr>
          <a:lstStyle/>
          <a:p>
            <a:pPr algn="l">
              <a:lnSpc>
                <a:spcPts val="1232"/>
              </a:lnSpc>
              <a:spcAft>
                <a:spcPts val="100"/>
              </a:spcAft>
            </a:pPr>
            <a:r>
              <a:rPr sz="1100" b="1" i="0">
                <a:solidFill>
                  <a:srgbClr val="193D35"/>
                </a:solidFill>
                <a:latin typeface="Aptos"/>
              </a:rPr>
              <a:t>C — ĐANG DUY TRÌ</a:t>
            </a:r>
          </a:p>
        </p:txBody>
      </p:sp>
      <p:sp>
        <p:nvSpPr>
          <p:cNvPr id="29" name="TextBox 28"/>
          <p:cNvSpPr txBox="1"/>
          <p:nvPr/>
        </p:nvSpPr>
        <p:spPr>
          <a:xfrm>
            <a:off x="8485632" y="3995928"/>
            <a:ext cx="3090672" cy="676656"/>
          </a:xfrm>
          <a:prstGeom prst="rect">
            <a:avLst/>
          </a:prstGeom>
          <a:noFill/>
        </p:spPr>
        <p:txBody>
          <a:bodyPr wrap="square" tIns="0" bIns="0" lIns="0" rIns="0" anchor="t">
            <a:spAutoFit/>
          </a:bodyPr>
          <a:lstStyle/>
          <a:p>
            <a:pPr algn="l">
              <a:lnSpc>
                <a:spcPts val="1456"/>
              </a:lnSpc>
              <a:spcAft>
                <a:spcPts val="100"/>
              </a:spcAft>
            </a:pPr>
            <a:r>
              <a:rPr sz="1300" b="1" i="0">
                <a:solidFill>
                  <a:srgbClr val="193D35"/>
                </a:solidFill>
                <a:latin typeface="Aptos"/>
              </a:rPr>
              <a:t>Dũng: chạy · Long: guitar/ảnh · Quang: cầu lông</a:t>
            </a:r>
          </a:p>
        </p:txBody>
      </p:sp>
      <p:sp>
        <p:nvSpPr>
          <p:cNvPr id="30" name="TextBox 29"/>
          <p:cNvSpPr txBox="1"/>
          <p:nvPr/>
        </p:nvSpPr>
        <p:spPr>
          <a:xfrm>
            <a:off x="8476488" y="4946904"/>
            <a:ext cx="3118104" cy="365760"/>
          </a:xfrm>
          <a:prstGeom prst="rect">
            <a:avLst/>
          </a:prstGeom>
          <a:noFill/>
        </p:spPr>
        <p:txBody>
          <a:bodyPr wrap="square" tIns="0" bIns="0" lIns="0" rIns="0" anchor="t">
            <a:spAutoFit/>
          </a:bodyPr>
          <a:lstStyle/>
          <a:p>
            <a:pPr algn="l">
              <a:lnSpc>
                <a:spcPts val="1377"/>
              </a:lnSpc>
              <a:spcAft>
                <a:spcPts val="100"/>
              </a:spcAft>
            </a:pPr>
            <a:r>
              <a:rPr sz="1230" b="0" i="0">
                <a:solidFill>
                  <a:srgbClr val="5C776B"/>
                </a:solidFill>
                <a:latin typeface="Aptos"/>
              </a:rPr>
              <a:t>Điều gì thực sự hiệu quả?</a:t>
            </a:r>
          </a:p>
        </p:txBody>
      </p:sp>
      <p:sp>
        <p:nvSpPr>
          <p:cNvPr id="31" name="TextBox 30"/>
          <p:cNvSpPr txBox="1"/>
          <p:nvPr/>
        </p:nvSpPr>
        <p:spPr>
          <a:xfrm>
            <a:off x="685800" y="5934456"/>
            <a:ext cx="10753344" cy="310896"/>
          </a:xfrm>
          <a:prstGeom prst="rect">
            <a:avLst/>
          </a:prstGeom>
          <a:noFill/>
        </p:spPr>
        <p:txBody>
          <a:bodyPr wrap="square" tIns="0" bIns="0" lIns="0" rIns="0" anchor="t">
            <a:spAutoFit/>
          </a:bodyPr>
          <a:lstStyle/>
          <a:p>
            <a:pPr algn="l">
              <a:lnSpc>
                <a:spcPts val="1456"/>
              </a:lnSpc>
              <a:spcAft>
                <a:spcPts val="100"/>
              </a:spcAft>
            </a:pPr>
            <a:r>
              <a:rPr sz="1300" b="1" i="0">
                <a:solidFill>
                  <a:srgbClr val="087F72"/>
                </a:solidFill>
                <a:latin typeface="Aptos"/>
              </a:rPr>
              <a:t>Phương pháp: 9 vai phỏng vấn mô phỏng do AI thể hiện · Không phải phỏng vấn người thật.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56032"/>
            <a:ext cx="7315200" cy="246888"/>
          </a:xfrm>
          <a:prstGeom prst="rect">
            <a:avLst/>
          </a:prstGeom>
          <a:noFill/>
        </p:spPr>
        <p:txBody>
          <a:bodyPr wrap="square" tIns="0" bIns="0" lIns="0" rIns="0" anchor="t">
            <a:spAutoFit/>
          </a:bodyPr>
          <a:lstStyle/>
          <a:p>
            <a:pPr algn="l">
              <a:lnSpc>
                <a:spcPts val="1131"/>
              </a:lnSpc>
              <a:spcAft>
                <a:spcPts val="100"/>
              </a:spcAft>
            </a:pPr>
            <a:r>
              <a:rPr sz="1010" b="1" i="0">
                <a:solidFill>
                  <a:srgbClr val="087F72"/>
                </a:solidFill>
                <a:latin typeface="Aptos"/>
              </a:rPr>
              <a:t>02  UX RESEARCH</a:t>
            </a:r>
          </a:p>
        </p:txBody>
      </p:sp>
      <p:sp>
        <p:nvSpPr>
          <p:cNvPr id="5" name="TextBox 4"/>
          <p:cNvSpPr txBox="1"/>
          <p:nvPr/>
        </p:nvSpPr>
        <p:spPr>
          <a:xfrm>
            <a:off x="566928" y="621792"/>
            <a:ext cx="10972800" cy="557784"/>
          </a:xfrm>
          <a:prstGeom prst="rect">
            <a:avLst/>
          </a:prstGeom>
          <a:noFill/>
        </p:spPr>
        <p:txBody>
          <a:bodyPr wrap="square" tIns="0" bIns="0" lIns="0" rIns="0" anchor="t">
            <a:spAutoFit/>
          </a:bodyPr>
          <a:lstStyle/>
          <a:p>
            <a:pPr algn="l">
              <a:lnSpc>
                <a:spcPts val="3024"/>
              </a:lnSpc>
              <a:spcAft>
                <a:spcPts val="100"/>
              </a:spcAft>
            </a:pPr>
            <a:r>
              <a:rPr sz="2700" b="1" i="0">
                <a:solidFill>
                  <a:srgbClr val="193D35"/>
                </a:solidFill>
                <a:latin typeface="Aptos"/>
              </a:rPr>
              <a:t>03 · Chúng tôi hỏi gì? Cùng bộ hỏi, khác câu đào sâu</a:t>
            </a:r>
          </a:p>
        </p:txBody>
      </p:sp>
      <p:sp>
        <p:nvSpPr>
          <p:cNvPr id="6" name="TextBox 5"/>
          <p:cNvSpPr txBox="1"/>
          <p:nvPr/>
        </p:nvSpPr>
        <p:spPr>
          <a:xfrm>
            <a:off x="594360" y="1261872"/>
            <a:ext cx="10972800" cy="393192"/>
          </a:xfrm>
          <a:prstGeom prst="rect">
            <a:avLst/>
          </a:prstGeom>
          <a:noFill/>
        </p:spPr>
        <p:txBody>
          <a:bodyPr wrap="square" tIns="0" bIns="0" lIns="0" rIns="0" anchor="t">
            <a:spAutoFit/>
          </a:bodyPr>
          <a:lstStyle/>
          <a:p>
            <a:pPr algn="l">
              <a:lnSpc>
                <a:spcPts val="1388"/>
              </a:lnSpc>
              <a:spcAft>
                <a:spcPts val="100"/>
              </a:spcAft>
            </a:pPr>
            <a:r>
              <a:rPr sz="1240" b="0" i="0">
                <a:solidFill>
                  <a:srgbClr val="5C776B"/>
                </a:solidFill>
                <a:latin typeface="Aptos"/>
              </a:rPr>
              <a:t>09 câu hỏi mở dùng chung cho các vai; thêm 03 câu theo trạng thái của từng nhóm.</a:t>
            </a:r>
          </a:p>
        </p:txBody>
      </p:sp>
      <p:sp>
        <p:nvSpPr>
          <p:cNvPr id="7" name="Rectangle 6"/>
          <p:cNvSpPr/>
          <p:nvPr/>
        </p:nvSpPr>
        <p:spPr>
          <a:xfrm>
            <a:off x="594360" y="6537960"/>
            <a:ext cx="10972800" cy="13716"/>
          </a:xfrm>
          <a:prstGeom prst="rect">
            <a:avLst/>
          </a:prstGeom>
          <a:solidFill>
            <a:srgbClr val="D7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6611112"/>
            <a:ext cx="6400800" cy="155448"/>
          </a:xfrm>
          <a:prstGeom prst="rect">
            <a:avLst/>
          </a:prstGeom>
          <a:noFill/>
        </p:spPr>
        <p:txBody>
          <a:bodyPr wrap="square" tIns="0" bIns="0" lIns="0" rIns="0" anchor="t">
            <a:spAutoFit/>
          </a:bodyPr>
          <a:lstStyle/>
          <a:p>
            <a:pPr algn="l">
              <a:lnSpc>
                <a:spcPts val="952"/>
              </a:lnSpc>
              <a:spcAft>
                <a:spcPts val="100"/>
              </a:spcAft>
            </a:pPr>
            <a:r>
              <a:rPr sz="850" b="1" i="0">
                <a:solidFill>
                  <a:srgbClr val="A7BCB1"/>
                </a:solidFill>
                <a:latin typeface="Aptos"/>
              </a:rPr>
              <a:t>HOBBY TRACKER  ·  UX / UI DESIGN JOURNEY</a:t>
            </a:r>
          </a:p>
        </p:txBody>
      </p:sp>
      <p:sp>
        <p:nvSpPr>
          <p:cNvPr id="9" name="TextBox 8"/>
          <p:cNvSpPr txBox="1"/>
          <p:nvPr/>
        </p:nvSpPr>
        <p:spPr>
          <a:xfrm>
            <a:off x="11100816" y="6583680"/>
            <a:ext cx="438912" cy="201168"/>
          </a:xfrm>
          <a:prstGeom prst="rect">
            <a:avLst/>
          </a:prstGeom>
          <a:noFill/>
        </p:spPr>
        <p:txBody>
          <a:bodyPr wrap="square" tIns="0" bIns="0" lIns="0" rIns="0" anchor="t">
            <a:spAutoFit/>
          </a:bodyPr>
          <a:lstStyle/>
          <a:p>
            <a:pPr algn="r">
              <a:lnSpc>
                <a:spcPts val="1008"/>
              </a:lnSpc>
              <a:spcAft>
                <a:spcPts val="100"/>
              </a:spcAft>
            </a:pPr>
            <a:r>
              <a:rPr sz="900" b="1" i="0">
                <a:solidFill>
                  <a:srgbClr val="087F72"/>
                </a:solidFill>
                <a:latin typeface="Aptos"/>
              </a:rPr>
              <a:t>04 / 12</a:t>
            </a:r>
          </a:p>
        </p:txBody>
      </p:sp>
      <p:sp>
        <p:nvSpPr>
          <p:cNvPr id="10" name="Rounded Rectangle 9"/>
          <p:cNvSpPr/>
          <p:nvPr/>
        </p:nvSpPr>
        <p:spPr>
          <a:xfrm>
            <a:off x="630936" y="1783080"/>
            <a:ext cx="3593592" cy="896112"/>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7" y="1929384"/>
            <a:ext cx="3273552" cy="612648"/>
          </a:xfrm>
          <a:prstGeom prst="rect">
            <a:avLst/>
          </a:prstGeom>
          <a:noFill/>
        </p:spPr>
        <p:txBody>
          <a:bodyPr wrap="square" tIns="0" bIns="0" lIns="0" rIns="0" anchor="t">
            <a:spAutoFit/>
          </a:bodyPr>
          <a:lstStyle/>
          <a:p>
            <a:pPr algn="l">
              <a:lnSpc>
                <a:spcPts val="1444"/>
              </a:lnSpc>
              <a:spcAft>
                <a:spcPts val="100"/>
              </a:spcAft>
            </a:pPr>
            <a:r>
              <a:rPr sz="1290" b="1" i="0">
                <a:solidFill>
                  <a:srgbClr val="193D35"/>
                </a:solidFill>
                <a:latin typeface="Aptos"/>
              </a:rPr>
              <a:t>Q1  Sau giờ học bạn dành thời gian rảnh cho gì?</a:t>
            </a:r>
          </a:p>
        </p:txBody>
      </p:sp>
      <p:sp>
        <p:nvSpPr>
          <p:cNvPr id="12" name="Rounded Rectangle 11"/>
          <p:cNvSpPr/>
          <p:nvPr/>
        </p:nvSpPr>
        <p:spPr>
          <a:xfrm>
            <a:off x="630936" y="2770632"/>
            <a:ext cx="3593592" cy="896112"/>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7" y="2916936"/>
            <a:ext cx="3273552" cy="612648"/>
          </a:xfrm>
          <a:prstGeom prst="rect">
            <a:avLst/>
          </a:prstGeom>
          <a:noFill/>
        </p:spPr>
        <p:txBody>
          <a:bodyPr wrap="square" tIns="0" bIns="0" lIns="0" rIns="0" anchor="t">
            <a:spAutoFit/>
          </a:bodyPr>
          <a:lstStyle/>
          <a:p>
            <a:pPr algn="l">
              <a:lnSpc>
                <a:spcPts val="1444"/>
              </a:lnSpc>
              <a:spcAft>
                <a:spcPts val="100"/>
              </a:spcAft>
            </a:pPr>
            <a:r>
              <a:rPr sz="1290" b="1" i="0">
                <a:solidFill>
                  <a:srgbClr val="193D35"/>
                </a:solidFill>
                <a:latin typeface="Aptos"/>
              </a:rPr>
              <a:t>Q2  Bạn đang thích hoặc muốn thử sở thích nào?</a:t>
            </a:r>
          </a:p>
        </p:txBody>
      </p:sp>
      <p:sp>
        <p:nvSpPr>
          <p:cNvPr id="14" name="Rounded Rectangle 13"/>
          <p:cNvSpPr/>
          <p:nvPr/>
        </p:nvSpPr>
        <p:spPr>
          <a:xfrm>
            <a:off x="630936" y="3758184"/>
            <a:ext cx="3593592" cy="896112"/>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7" y="3904488"/>
            <a:ext cx="3273552" cy="612648"/>
          </a:xfrm>
          <a:prstGeom prst="rect">
            <a:avLst/>
          </a:prstGeom>
          <a:noFill/>
        </p:spPr>
        <p:txBody>
          <a:bodyPr wrap="square" tIns="0" bIns="0" lIns="0" rIns="0" anchor="t">
            <a:spAutoFit/>
          </a:bodyPr>
          <a:lstStyle/>
          <a:p>
            <a:pPr algn="l">
              <a:lnSpc>
                <a:spcPts val="1444"/>
              </a:lnSpc>
              <a:spcAft>
                <a:spcPts val="100"/>
              </a:spcAft>
            </a:pPr>
            <a:r>
              <a:rPr sz="1290" b="1" i="0">
                <a:solidFill>
                  <a:srgbClr val="193D35"/>
                </a:solidFill>
                <a:latin typeface="Aptos"/>
              </a:rPr>
              <a:t>Q3  Bạn bắt đầu quan tâm đến nó từ đâu?</a:t>
            </a:r>
          </a:p>
        </p:txBody>
      </p:sp>
      <p:sp>
        <p:nvSpPr>
          <p:cNvPr id="16" name="Rounded Rectangle 15"/>
          <p:cNvSpPr/>
          <p:nvPr/>
        </p:nvSpPr>
        <p:spPr>
          <a:xfrm>
            <a:off x="4453127" y="1783080"/>
            <a:ext cx="3593592" cy="896112"/>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19" y="1929384"/>
            <a:ext cx="3273552" cy="612648"/>
          </a:xfrm>
          <a:prstGeom prst="rect">
            <a:avLst/>
          </a:prstGeom>
          <a:noFill/>
        </p:spPr>
        <p:txBody>
          <a:bodyPr wrap="square" tIns="0" bIns="0" lIns="0" rIns="0" anchor="t">
            <a:spAutoFit/>
          </a:bodyPr>
          <a:lstStyle/>
          <a:p>
            <a:pPr algn="l">
              <a:lnSpc>
                <a:spcPts val="1444"/>
              </a:lnSpc>
              <a:spcAft>
                <a:spcPts val="100"/>
              </a:spcAft>
            </a:pPr>
            <a:r>
              <a:rPr sz="1290" b="1" i="0">
                <a:solidFill>
                  <a:srgbClr val="193D35"/>
                </a:solidFill>
                <a:latin typeface="Aptos"/>
              </a:rPr>
              <a:t>Q4  Lần gần nhất định làm hobby, điều gì xảy ra?</a:t>
            </a:r>
          </a:p>
        </p:txBody>
      </p:sp>
      <p:sp>
        <p:nvSpPr>
          <p:cNvPr id="18" name="Rounded Rectangle 17"/>
          <p:cNvSpPr/>
          <p:nvPr/>
        </p:nvSpPr>
        <p:spPr>
          <a:xfrm>
            <a:off x="4453127" y="2770632"/>
            <a:ext cx="3593592" cy="896112"/>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17719" y="2916936"/>
            <a:ext cx="3273552" cy="612648"/>
          </a:xfrm>
          <a:prstGeom prst="rect">
            <a:avLst/>
          </a:prstGeom>
          <a:noFill/>
        </p:spPr>
        <p:txBody>
          <a:bodyPr wrap="square" tIns="0" bIns="0" lIns="0" rIns="0" anchor="t">
            <a:spAutoFit/>
          </a:bodyPr>
          <a:lstStyle/>
          <a:p>
            <a:pPr algn="l">
              <a:lnSpc>
                <a:spcPts val="1444"/>
              </a:lnSpc>
              <a:spcAft>
                <a:spcPts val="100"/>
              </a:spcAft>
            </a:pPr>
            <a:r>
              <a:rPr sz="1290" b="1" i="0">
                <a:solidFill>
                  <a:srgbClr val="193D35"/>
                </a:solidFill>
                <a:latin typeface="Aptos"/>
              </a:rPr>
              <a:t>Q5  Điều gì khiến bạn dễ / khó bắt đầu hoặc tiếp tục?</a:t>
            </a:r>
          </a:p>
        </p:txBody>
      </p:sp>
      <p:sp>
        <p:nvSpPr>
          <p:cNvPr id="20" name="Rounded Rectangle 19"/>
          <p:cNvSpPr/>
          <p:nvPr/>
        </p:nvSpPr>
        <p:spPr>
          <a:xfrm>
            <a:off x="4453127" y="3758184"/>
            <a:ext cx="3593592" cy="896112"/>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17719" y="3904488"/>
            <a:ext cx="3273552" cy="612648"/>
          </a:xfrm>
          <a:prstGeom prst="rect">
            <a:avLst/>
          </a:prstGeom>
          <a:noFill/>
        </p:spPr>
        <p:txBody>
          <a:bodyPr wrap="square" tIns="0" bIns="0" lIns="0" rIns="0" anchor="t">
            <a:spAutoFit/>
          </a:bodyPr>
          <a:lstStyle/>
          <a:p>
            <a:pPr algn="l">
              <a:lnSpc>
                <a:spcPts val="1444"/>
              </a:lnSpc>
              <a:spcAft>
                <a:spcPts val="100"/>
              </a:spcAft>
            </a:pPr>
            <a:r>
              <a:rPr sz="1290" b="1" i="0">
                <a:solidFill>
                  <a:srgbClr val="193D35"/>
                </a:solidFill>
                <a:latin typeface="Aptos"/>
              </a:rPr>
              <a:t>Q6  Mạng xã hội và video ngắn chiếm thời gian thế nào?</a:t>
            </a:r>
          </a:p>
        </p:txBody>
      </p:sp>
      <p:sp>
        <p:nvSpPr>
          <p:cNvPr id="22" name="Rounded Rectangle 21"/>
          <p:cNvSpPr/>
          <p:nvPr/>
        </p:nvSpPr>
        <p:spPr>
          <a:xfrm>
            <a:off x="8275319" y="1783080"/>
            <a:ext cx="3593592" cy="896112"/>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39911" y="1929384"/>
            <a:ext cx="3273552" cy="612648"/>
          </a:xfrm>
          <a:prstGeom prst="rect">
            <a:avLst/>
          </a:prstGeom>
          <a:noFill/>
        </p:spPr>
        <p:txBody>
          <a:bodyPr wrap="square" tIns="0" bIns="0" lIns="0" rIns="0" anchor="t">
            <a:spAutoFit/>
          </a:bodyPr>
          <a:lstStyle/>
          <a:p>
            <a:pPr algn="l">
              <a:lnSpc>
                <a:spcPts val="1444"/>
              </a:lnSpc>
              <a:spcAft>
                <a:spcPts val="100"/>
              </a:spcAft>
            </a:pPr>
            <a:r>
              <a:rPr sz="1290" b="1" i="0">
                <a:solidFill>
                  <a:srgbClr val="193D35"/>
                </a:solidFill>
                <a:latin typeface="Aptos"/>
              </a:rPr>
              <a:t>Q7  Bạn nhận biết sự tiến bộ của mình bằng cách nào?</a:t>
            </a:r>
          </a:p>
        </p:txBody>
      </p:sp>
      <p:sp>
        <p:nvSpPr>
          <p:cNvPr id="24" name="Rounded Rectangle 23"/>
          <p:cNvSpPr/>
          <p:nvPr/>
        </p:nvSpPr>
        <p:spPr>
          <a:xfrm>
            <a:off x="8275319" y="2770632"/>
            <a:ext cx="3593592" cy="896112"/>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39911" y="2916936"/>
            <a:ext cx="3273552" cy="612648"/>
          </a:xfrm>
          <a:prstGeom prst="rect">
            <a:avLst/>
          </a:prstGeom>
          <a:noFill/>
        </p:spPr>
        <p:txBody>
          <a:bodyPr wrap="square" tIns="0" bIns="0" lIns="0" rIns="0" anchor="t">
            <a:spAutoFit/>
          </a:bodyPr>
          <a:lstStyle/>
          <a:p>
            <a:pPr algn="l">
              <a:lnSpc>
                <a:spcPts val="1444"/>
              </a:lnSpc>
              <a:spcAft>
                <a:spcPts val="100"/>
              </a:spcAft>
            </a:pPr>
            <a:r>
              <a:rPr sz="1290" b="1" i="0">
                <a:solidFill>
                  <a:srgbClr val="193D35"/>
                </a:solidFill>
                <a:latin typeface="Aptos"/>
              </a:rPr>
              <a:t>Q8  Người khác hay cộng đồng ảnh hưởng ra sao?</a:t>
            </a:r>
          </a:p>
        </p:txBody>
      </p:sp>
      <p:sp>
        <p:nvSpPr>
          <p:cNvPr id="26" name="Rounded Rectangle 25"/>
          <p:cNvSpPr/>
          <p:nvPr/>
        </p:nvSpPr>
        <p:spPr>
          <a:xfrm>
            <a:off x="8275319" y="3758184"/>
            <a:ext cx="3593592" cy="896112"/>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39911" y="3904488"/>
            <a:ext cx="3273552" cy="612648"/>
          </a:xfrm>
          <a:prstGeom prst="rect">
            <a:avLst/>
          </a:prstGeom>
          <a:noFill/>
        </p:spPr>
        <p:txBody>
          <a:bodyPr wrap="square" tIns="0" bIns="0" lIns="0" rIns="0" anchor="t">
            <a:spAutoFit/>
          </a:bodyPr>
          <a:lstStyle/>
          <a:p>
            <a:pPr algn="l">
              <a:lnSpc>
                <a:spcPts val="1444"/>
              </a:lnSpc>
              <a:spcAft>
                <a:spcPts val="100"/>
              </a:spcAft>
            </a:pPr>
            <a:r>
              <a:rPr sz="1290" b="1" i="0">
                <a:solidFill>
                  <a:srgbClr val="193D35"/>
                </a:solidFill>
                <a:latin typeface="Aptos"/>
              </a:rPr>
              <a:t>Q9  Bạn thấy thế nào khi thử hobby với người lạ?</a:t>
            </a:r>
          </a:p>
        </p:txBody>
      </p:sp>
      <p:sp>
        <p:nvSpPr>
          <p:cNvPr id="28" name="Rounded Rectangle 27"/>
          <p:cNvSpPr/>
          <p:nvPr/>
        </p:nvSpPr>
        <p:spPr>
          <a:xfrm>
            <a:off x="658368" y="4855464"/>
            <a:ext cx="3538728" cy="1014984"/>
          </a:xfrm>
          <a:prstGeom prst="roundRect">
            <a:avLst>
              <a:gd name="adj" fmla="val 9000"/>
            </a:avLst>
          </a:prstGeom>
          <a:solidFill>
            <a:srgbClr val="E8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68096" y="5047488"/>
            <a:ext cx="429768" cy="329184"/>
          </a:xfrm>
          <a:prstGeom prst="roundRect">
            <a:avLst>
              <a:gd name="adj" fmla="val 25000"/>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3" y="5111496"/>
            <a:ext cx="301751" cy="164592"/>
          </a:xfrm>
          <a:prstGeom prst="rect">
            <a:avLst/>
          </a:prstGeom>
          <a:noFill/>
        </p:spPr>
        <p:txBody>
          <a:bodyPr wrap="square" tIns="0" bIns="0" lIns="0" rIns="0" anchor="t">
            <a:spAutoFit/>
          </a:bodyPr>
          <a:lstStyle/>
          <a:p>
            <a:pPr algn="ctr">
              <a:lnSpc>
                <a:spcPts val="1097"/>
              </a:lnSpc>
              <a:spcAft>
                <a:spcPts val="100"/>
              </a:spcAft>
            </a:pPr>
            <a:r>
              <a:rPr sz="980" b="1" i="0">
                <a:solidFill>
                  <a:srgbClr val="FFFFFF"/>
                </a:solidFill>
                <a:latin typeface="Aptos"/>
              </a:rPr>
              <a:t>A</a:t>
            </a:r>
          </a:p>
        </p:txBody>
      </p:sp>
      <p:sp>
        <p:nvSpPr>
          <p:cNvPr id="31" name="TextBox 30"/>
          <p:cNvSpPr txBox="1"/>
          <p:nvPr/>
        </p:nvSpPr>
        <p:spPr>
          <a:xfrm>
            <a:off x="1316736" y="5020056"/>
            <a:ext cx="2697480" cy="621792"/>
          </a:xfrm>
          <a:prstGeom prst="rect">
            <a:avLst/>
          </a:prstGeom>
          <a:noFill/>
        </p:spPr>
        <p:txBody>
          <a:bodyPr wrap="square" tIns="0" bIns="0" lIns="0" rIns="0" anchor="t">
            <a:spAutoFit/>
          </a:bodyPr>
          <a:lstStyle/>
          <a:p>
            <a:pPr algn="l">
              <a:lnSpc>
                <a:spcPts val="1366"/>
              </a:lnSpc>
              <a:spcAft>
                <a:spcPts val="100"/>
              </a:spcAft>
            </a:pPr>
            <a:r>
              <a:rPr sz="1220" b="0" i="0">
                <a:solidFill>
                  <a:srgbClr val="193D35"/>
                </a:solidFill>
                <a:latin typeface="Aptos"/>
              </a:rPr>
              <a:t>Vì sao chưa thử? Điều gì làm bạn ngại?</a:t>
            </a:r>
          </a:p>
        </p:txBody>
      </p:sp>
      <p:sp>
        <p:nvSpPr>
          <p:cNvPr id="32" name="Rounded Rectangle 31"/>
          <p:cNvSpPr/>
          <p:nvPr/>
        </p:nvSpPr>
        <p:spPr>
          <a:xfrm>
            <a:off x="4480559" y="4855464"/>
            <a:ext cx="3538728" cy="1014984"/>
          </a:xfrm>
          <a:prstGeom prst="roundRect">
            <a:avLst>
              <a:gd name="adj" fmla="val 9000"/>
            </a:avLst>
          </a:prstGeom>
          <a:solidFill>
            <a:srgbClr val="E8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590288" y="5047488"/>
            <a:ext cx="429768" cy="329184"/>
          </a:xfrm>
          <a:prstGeom prst="roundRect">
            <a:avLst>
              <a:gd name="adj" fmla="val 25000"/>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54296" y="5111496"/>
            <a:ext cx="301751" cy="164592"/>
          </a:xfrm>
          <a:prstGeom prst="rect">
            <a:avLst/>
          </a:prstGeom>
          <a:noFill/>
        </p:spPr>
        <p:txBody>
          <a:bodyPr wrap="square" tIns="0" bIns="0" lIns="0" rIns="0" anchor="t">
            <a:spAutoFit/>
          </a:bodyPr>
          <a:lstStyle/>
          <a:p>
            <a:pPr algn="ctr">
              <a:lnSpc>
                <a:spcPts val="1097"/>
              </a:lnSpc>
              <a:spcAft>
                <a:spcPts val="100"/>
              </a:spcAft>
            </a:pPr>
            <a:r>
              <a:rPr sz="980" b="1" i="0">
                <a:solidFill>
                  <a:srgbClr val="FFFFFF"/>
                </a:solidFill>
                <a:latin typeface="Aptos"/>
              </a:rPr>
              <a:t>B</a:t>
            </a:r>
          </a:p>
        </p:txBody>
      </p:sp>
      <p:sp>
        <p:nvSpPr>
          <p:cNvPr id="35" name="TextBox 34"/>
          <p:cNvSpPr txBox="1"/>
          <p:nvPr/>
        </p:nvSpPr>
        <p:spPr>
          <a:xfrm>
            <a:off x="5138927" y="5020056"/>
            <a:ext cx="2697480" cy="621792"/>
          </a:xfrm>
          <a:prstGeom prst="rect">
            <a:avLst/>
          </a:prstGeom>
          <a:noFill/>
        </p:spPr>
        <p:txBody>
          <a:bodyPr wrap="square" tIns="0" bIns="0" lIns="0" rIns="0" anchor="t">
            <a:spAutoFit/>
          </a:bodyPr>
          <a:lstStyle/>
          <a:p>
            <a:pPr algn="l">
              <a:lnSpc>
                <a:spcPts val="1366"/>
              </a:lnSpc>
              <a:spcAft>
                <a:spcPts val="100"/>
              </a:spcAft>
            </a:pPr>
            <a:r>
              <a:rPr sz="1220" b="0" i="0">
                <a:solidFill>
                  <a:srgbClr val="193D35"/>
                </a:solidFill>
                <a:latin typeface="Aptos"/>
              </a:rPr>
              <a:t>Lần bỏ dở gần nhất? Cách nào từng thử?</a:t>
            </a:r>
          </a:p>
        </p:txBody>
      </p:sp>
      <p:sp>
        <p:nvSpPr>
          <p:cNvPr id="36" name="Rounded Rectangle 35"/>
          <p:cNvSpPr/>
          <p:nvPr/>
        </p:nvSpPr>
        <p:spPr>
          <a:xfrm>
            <a:off x="8302752" y="4855464"/>
            <a:ext cx="3538728" cy="1014984"/>
          </a:xfrm>
          <a:prstGeom prst="roundRect">
            <a:avLst>
              <a:gd name="adj" fmla="val 9000"/>
            </a:avLst>
          </a:prstGeom>
          <a:solidFill>
            <a:srgbClr val="E8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412480" y="5047488"/>
            <a:ext cx="429768" cy="329184"/>
          </a:xfrm>
          <a:prstGeom prst="roundRect">
            <a:avLst>
              <a:gd name="adj" fmla="val 25000"/>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76488" y="5111496"/>
            <a:ext cx="301751" cy="164592"/>
          </a:xfrm>
          <a:prstGeom prst="rect">
            <a:avLst/>
          </a:prstGeom>
          <a:noFill/>
        </p:spPr>
        <p:txBody>
          <a:bodyPr wrap="square" tIns="0" bIns="0" lIns="0" rIns="0" anchor="t">
            <a:spAutoFit/>
          </a:bodyPr>
          <a:lstStyle/>
          <a:p>
            <a:pPr algn="ctr">
              <a:lnSpc>
                <a:spcPts val="1097"/>
              </a:lnSpc>
              <a:spcAft>
                <a:spcPts val="100"/>
              </a:spcAft>
            </a:pPr>
            <a:r>
              <a:rPr sz="980" b="1" i="0">
                <a:solidFill>
                  <a:srgbClr val="FFFFFF"/>
                </a:solidFill>
                <a:latin typeface="Aptos"/>
              </a:rPr>
              <a:t>C</a:t>
            </a:r>
          </a:p>
        </p:txBody>
      </p:sp>
      <p:sp>
        <p:nvSpPr>
          <p:cNvPr id="39" name="TextBox 38"/>
          <p:cNvSpPr txBox="1"/>
          <p:nvPr/>
        </p:nvSpPr>
        <p:spPr>
          <a:xfrm>
            <a:off x="8961120" y="5020056"/>
            <a:ext cx="2697480" cy="621792"/>
          </a:xfrm>
          <a:prstGeom prst="rect">
            <a:avLst/>
          </a:prstGeom>
          <a:noFill/>
        </p:spPr>
        <p:txBody>
          <a:bodyPr wrap="square" tIns="0" bIns="0" lIns="0" rIns="0" anchor="t">
            <a:spAutoFit/>
          </a:bodyPr>
          <a:lstStyle/>
          <a:p>
            <a:pPr algn="l">
              <a:lnSpc>
                <a:spcPts val="1366"/>
              </a:lnSpc>
              <a:spcAft>
                <a:spcPts val="100"/>
              </a:spcAft>
            </a:pPr>
            <a:r>
              <a:rPr sz="1220" b="0" i="0">
                <a:solidFill>
                  <a:srgbClr val="193D35"/>
                </a:solidFill>
                <a:latin typeface="Aptos"/>
              </a:rPr>
              <a:t>Tạo thói quen ra sao? Bạn đồng hành giúp gì?</a:t>
            </a:r>
          </a:p>
        </p:txBody>
      </p:sp>
      <p:sp>
        <p:nvSpPr>
          <p:cNvPr id="40" name="TextBox 39"/>
          <p:cNvSpPr txBox="1"/>
          <p:nvPr/>
        </p:nvSpPr>
        <p:spPr>
          <a:xfrm>
            <a:off x="685800" y="6044184"/>
            <a:ext cx="10936224" cy="274320"/>
          </a:xfrm>
          <a:prstGeom prst="rect">
            <a:avLst/>
          </a:prstGeom>
          <a:noFill/>
        </p:spPr>
        <p:txBody>
          <a:bodyPr wrap="square" tIns="0" bIns="0" lIns="0" rIns="0" anchor="t">
            <a:spAutoFit/>
          </a:bodyPr>
          <a:lstStyle/>
          <a:p>
            <a:pPr algn="l">
              <a:lnSpc>
                <a:spcPts val="1288"/>
              </a:lnSpc>
              <a:spcAft>
                <a:spcPts val="100"/>
              </a:spcAft>
            </a:pPr>
            <a:r>
              <a:rPr sz="1150" b="1" i="0">
                <a:solidFill>
                  <a:srgbClr val="087F72"/>
                </a:solidFill>
                <a:latin typeface="Aptos"/>
              </a:rPr>
              <a:t>Tôi yêu cầu câu hỏi tình huống để thấy hành vi thật trong từng câu chuyện, không hỏi “bạn có thích tính năng 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56032"/>
            <a:ext cx="7315200" cy="246888"/>
          </a:xfrm>
          <a:prstGeom prst="rect">
            <a:avLst/>
          </a:prstGeom>
          <a:noFill/>
        </p:spPr>
        <p:txBody>
          <a:bodyPr wrap="square" tIns="0" bIns="0" lIns="0" rIns="0" anchor="t">
            <a:spAutoFit/>
          </a:bodyPr>
          <a:lstStyle/>
          <a:p>
            <a:pPr algn="l">
              <a:lnSpc>
                <a:spcPts val="1131"/>
              </a:lnSpc>
              <a:spcAft>
                <a:spcPts val="100"/>
              </a:spcAft>
            </a:pPr>
            <a:r>
              <a:rPr sz="1010" b="1" i="0">
                <a:solidFill>
                  <a:srgbClr val="087F72"/>
                </a:solidFill>
                <a:latin typeface="Aptos"/>
              </a:rPr>
              <a:t>02  UX RESEARCH</a:t>
            </a:r>
          </a:p>
        </p:txBody>
      </p:sp>
      <p:sp>
        <p:nvSpPr>
          <p:cNvPr id="5" name="TextBox 4"/>
          <p:cNvSpPr txBox="1"/>
          <p:nvPr/>
        </p:nvSpPr>
        <p:spPr>
          <a:xfrm>
            <a:off x="566928" y="621792"/>
            <a:ext cx="10972800" cy="557784"/>
          </a:xfrm>
          <a:prstGeom prst="rect">
            <a:avLst/>
          </a:prstGeom>
          <a:noFill/>
        </p:spPr>
        <p:txBody>
          <a:bodyPr wrap="square" tIns="0" bIns="0" lIns="0" rIns="0" anchor="t">
            <a:spAutoFit/>
          </a:bodyPr>
          <a:lstStyle/>
          <a:p>
            <a:pPr algn="l">
              <a:lnSpc>
                <a:spcPts val="3024"/>
              </a:lnSpc>
              <a:spcAft>
                <a:spcPts val="100"/>
              </a:spcAft>
            </a:pPr>
            <a:r>
              <a:rPr sz="2700" b="1" i="0">
                <a:solidFill>
                  <a:srgbClr val="193D35"/>
                </a:solidFill>
                <a:latin typeface="Aptos"/>
              </a:rPr>
              <a:t>04 · 9 câu chuyện mô phỏng → so sánh 3 nhóm</a:t>
            </a:r>
          </a:p>
        </p:txBody>
      </p:sp>
      <p:sp>
        <p:nvSpPr>
          <p:cNvPr id="6" name="TextBox 5"/>
          <p:cNvSpPr txBox="1"/>
          <p:nvPr/>
        </p:nvSpPr>
        <p:spPr>
          <a:xfrm>
            <a:off x="594360" y="1261872"/>
            <a:ext cx="10972800" cy="393192"/>
          </a:xfrm>
          <a:prstGeom prst="rect">
            <a:avLst/>
          </a:prstGeom>
          <a:noFill/>
        </p:spPr>
        <p:txBody>
          <a:bodyPr wrap="square" tIns="0" bIns="0" lIns="0" rIns="0" anchor="t">
            <a:spAutoFit/>
          </a:bodyPr>
          <a:lstStyle/>
          <a:p>
            <a:pPr algn="l">
              <a:lnSpc>
                <a:spcPts val="1388"/>
              </a:lnSpc>
              <a:spcAft>
                <a:spcPts val="100"/>
              </a:spcAft>
            </a:pPr>
            <a:r>
              <a:rPr sz="1240" b="0" i="0">
                <a:solidFill>
                  <a:srgbClr val="5C776B"/>
                </a:solidFill>
                <a:latin typeface="Aptos"/>
              </a:rPr>
              <a:t>Mỗi người cho một góc nhìn riêng; insight hình thành từ đối chiếu, không lấy một câu trả lời làm kết luận.</a:t>
            </a:r>
          </a:p>
        </p:txBody>
      </p:sp>
      <p:sp>
        <p:nvSpPr>
          <p:cNvPr id="7" name="Rectangle 6"/>
          <p:cNvSpPr/>
          <p:nvPr/>
        </p:nvSpPr>
        <p:spPr>
          <a:xfrm>
            <a:off x="594360" y="6537960"/>
            <a:ext cx="10972800" cy="13716"/>
          </a:xfrm>
          <a:prstGeom prst="rect">
            <a:avLst/>
          </a:prstGeom>
          <a:solidFill>
            <a:srgbClr val="D7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6611112"/>
            <a:ext cx="6400800" cy="155448"/>
          </a:xfrm>
          <a:prstGeom prst="rect">
            <a:avLst/>
          </a:prstGeom>
          <a:noFill/>
        </p:spPr>
        <p:txBody>
          <a:bodyPr wrap="square" tIns="0" bIns="0" lIns="0" rIns="0" anchor="t">
            <a:spAutoFit/>
          </a:bodyPr>
          <a:lstStyle/>
          <a:p>
            <a:pPr algn="l">
              <a:lnSpc>
                <a:spcPts val="952"/>
              </a:lnSpc>
              <a:spcAft>
                <a:spcPts val="100"/>
              </a:spcAft>
            </a:pPr>
            <a:r>
              <a:rPr sz="850" b="1" i="0">
                <a:solidFill>
                  <a:srgbClr val="A7BCB1"/>
                </a:solidFill>
                <a:latin typeface="Aptos"/>
              </a:rPr>
              <a:t>HOBBY TRACKER  ·  UX / UI DESIGN JOURNEY</a:t>
            </a:r>
          </a:p>
        </p:txBody>
      </p:sp>
      <p:sp>
        <p:nvSpPr>
          <p:cNvPr id="9" name="TextBox 8"/>
          <p:cNvSpPr txBox="1"/>
          <p:nvPr/>
        </p:nvSpPr>
        <p:spPr>
          <a:xfrm>
            <a:off x="11100816" y="6583680"/>
            <a:ext cx="438912" cy="201168"/>
          </a:xfrm>
          <a:prstGeom prst="rect">
            <a:avLst/>
          </a:prstGeom>
          <a:noFill/>
        </p:spPr>
        <p:txBody>
          <a:bodyPr wrap="square" tIns="0" bIns="0" lIns="0" rIns="0" anchor="t">
            <a:spAutoFit/>
          </a:bodyPr>
          <a:lstStyle/>
          <a:p>
            <a:pPr algn="r">
              <a:lnSpc>
                <a:spcPts val="1008"/>
              </a:lnSpc>
              <a:spcAft>
                <a:spcPts val="100"/>
              </a:spcAft>
            </a:pPr>
            <a:r>
              <a:rPr sz="900" b="1" i="0">
                <a:solidFill>
                  <a:srgbClr val="087F72"/>
                </a:solidFill>
                <a:latin typeface="Aptos"/>
              </a:rPr>
              <a:t>05 / 12</a:t>
            </a:r>
          </a:p>
        </p:txBody>
      </p:sp>
      <p:sp>
        <p:nvSpPr>
          <p:cNvPr id="10" name="Rounded Rectangle 9"/>
          <p:cNvSpPr/>
          <p:nvPr/>
        </p:nvSpPr>
        <p:spPr>
          <a:xfrm>
            <a:off x="630936" y="1792224"/>
            <a:ext cx="3611880" cy="4562856"/>
          </a:xfrm>
          <a:prstGeom prst="roundRect">
            <a:avLst>
              <a:gd name="adj" fmla="val 11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68096" y="1975104"/>
            <a:ext cx="3346704" cy="466344"/>
          </a:xfrm>
          <a:prstGeom prst="roundRect">
            <a:avLst>
              <a:gd name="adj" fmla="val 12000"/>
            </a:avLst>
          </a:prstGeom>
          <a:solidFill>
            <a:srgbClr val="D1E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2121408"/>
            <a:ext cx="3017520" cy="210312"/>
          </a:xfrm>
          <a:prstGeom prst="rect">
            <a:avLst/>
          </a:prstGeom>
          <a:noFill/>
        </p:spPr>
        <p:txBody>
          <a:bodyPr wrap="square" tIns="0" bIns="0" lIns="0" rIns="0" anchor="t">
            <a:spAutoFit/>
          </a:bodyPr>
          <a:lstStyle/>
          <a:p>
            <a:pPr algn="l">
              <a:lnSpc>
                <a:spcPts val="1456"/>
              </a:lnSpc>
              <a:spcAft>
                <a:spcPts val="100"/>
              </a:spcAft>
            </a:pPr>
            <a:r>
              <a:rPr sz="1300" b="1" i="0">
                <a:solidFill>
                  <a:srgbClr val="193D35"/>
                </a:solidFill>
                <a:latin typeface="Aptos"/>
              </a:rPr>
              <a:t>A · CHƯA BẮT ĐẦU</a:t>
            </a:r>
          </a:p>
        </p:txBody>
      </p:sp>
      <p:sp>
        <p:nvSpPr>
          <p:cNvPr id="13" name="TextBox 12"/>
          <p:cNvSpPr txBox="1"/>
          <p:nvPr/>
        </p:nvSpPr>
        <p:spPr>
          <a:xfrm>
            <a:off x="832103" y="2633472"/>
            <a:ext cx="3145536" cy="228600"/>
          </a:xfrm>
          <a:prstGeom prst="rect">
            <a:avLst/>
          </a:prstGeom>
          <a:noFill/>
        </p:spPr>
        <p:txBody>
          <a:bodyPr wrap="square" tIns="0" bIns="0" lIns="0" rIns="0" anchor="t">
            <a:spAutoFit/>
          </a:bodyPr>
          <a:lstStyle/>
          <a:p>
            <a:pPr algn="l">
              <a:lnSpc>
                <a:spcPts val="1344"/>
              </a:lnSpc>
              <a:spcAft>
                <a:spcPts val="100"/>
              </a:spcAft>
            </a:pPr>
            <a:r>
              <a:rPr sz="1200" b="1" i="0">
                <a:solidFill>
                  <a:srgbClr val="087F72"/>
                </a:solidFill>
                <a:latin typeface="Aptos"/>
              </a:rPr>
              <a:t>Minh · 20</a:t>
            </a:r>
          </a:p>
        </p:txBody>
      </p:sp>
      <p:sp>
        <p:nvSpPr>
          <p:cNvPr id="14" name="TextBox 13"/>
          <p:cNvSpPr txBox="1"/>
          <p:nvPr/>
        </p:nvSpPr>
        <p:spPr>
          <a:xfrm>
            <a:off x="832103" y="2926079"/>
            <a:ext cx="3154680" cy="557784"/>
          </a:xfrm>
          <a:prstGeom prst="rect">
            <a:avLst/>
          </a:prstGeom>
          <a:noFill/>
        </p:spPr>
        <p:txBody>
          <a:bodyPr wrap="square" tIns="0" bIns="0" lIns="0" rIns="0" anchor="t">
            <a:spAutoFit/>
          </a:bodyPr>
          <a:lstStyle/>
          <a:p>
            <a:pPr algn="l">
              <a:lnSpc>
                <a:spcPts val="1299"/>
              </a:lnSpc>
              <a:spcAft>
                <a:spcPts val="100"/>
              </a:spcAft>
            </a:pPr>
            <a:r>
              <a:rPr sz="1160" b="0" i="0">
                <a:solidFill>
                  <a:srgbClr val="193D35"/>
                </a:solidFill>
                <a:latin typeface="Aptos"/>
              </a:rPr>
              <a:t>Lưu hướng dẫn ảnh nhưng chưa chụp; ngại nhóm giỏi.</a:t>
            </a:r>
          </a:p>
        </p:txBody>
      </p:sp>
      <p:sp>
        <p:nvSpPr>
          <p:cNvPr id="15" name="Rectangle 14"/>
          <p:cNvSpPr/>
          <p:nvPr/>
        </p:nvSpPr>
        <p:spPr>
          <a:xfrm>
            <a:off x="822959" y="3493008"/>
            <a:ext cx="3227832" cy="10972"/>
          </a:xfrm>
          <a:prstGeom prst="rect">
            <a:avLst/>
          </a:prstGeom>
          <a:solidFill>
            <a:srgbClr val="D7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3" y="3547872"/>
            <a:ext cx="3145536" cy="228600"/>
          </a:xfrm>
          <a:prstGeom prst="rect">
            <a:avLst/>
          </a:prstGeom>
          <a:noFill/>
        </p:spPr>
        <p:txBody>
          <a:bodyPr wrap="square" tIns="0" bIns="0" lIns="0" rIns="0" anchor="t">
            <a:spAutoFit/>
          </a:bodyPr>
          <a:lstStyle/>
          <a:p>
            <a:pPr algn="l">
              <a:lnSpc>
                <a:spcPts val="1344"/>
              </a:lnSpc>
              <a:spcAft>
                <a:spcPts val="100"/>
              </a:spcAft>
            </a:pPr>
            <a:r>
              <a:rPr sz="1200" b="1" i="0">
                <a:solidFill>
                  <a:srgbClr val="087F72"/>
                </a:solidFill>
                <a:latin typeface="Aptos"/>
              </a:rPr>
              <a:t>Linh · 19</a:t>
            </a:r>
          </a:p>
        </p:txBody>
      </p:sp>
      <p:sp>
        <p:nvSpPr>
          <p:cNvPr id="17" name="TextBox 16"/>
          <p:cNvSpPr txBox="1"/>
          <p:nvPr/>
        </p:nvSpPr>
        <p:spPr>
          <a:xfrm>
            <a:off x="832103" y="3840480"/>
            <a:ext cx="3154680" cy="557784"/>
          </a:xfrm>
          <a:prstGeom prst="rect">
            <a:avLst/>
          </a:prstGeom>
          <a:noFill/>
        </p:spPr>
        <p:txBody>
          <a:bodyPr wrap="square" tIns="0" bIns="0" lIns="0" rIns="0" anchor="t">
            <a:spAutoFit/>
          </a:bodyPr>
          <a:lstStyle/>
          <a:p>
            <a:pPr algn="l">
              <a:lnSpc>
                <a:spcPts val="1299"/>
              </a:lnSpc>
              <a:spcAft>
                <a:spcPts val="100"/>
              </a:spcAft>
            </a:pPr>
            <a:r>
              <a:rPr sz="1160" b="0" i="0">
                <a:solidFill>
                  <a:srgbClr val="193D35"/>
                </a:solidFill>
                <a:latin typeface="Aptos"/>
              </a:rPr>
              <a:t>Muốn vẽ; trì hoãn vì sợ bị đánh giá.</a:t>
            </a:r>
          </a:p>
        </p:txBody>
      </p:sp>
      <p:sp>
        <p:nvSpPr>
          <p:cNvPr id="18" name="Rectangle 17"/>
          <p:cNvSpPr/>
          <p:nvPr/>
        </p:nvSpPr>
        <p:spPr>
          <a:xfrm>
            <a:off x="822959" y="4407408"/>
            <a:ext cx="3227832" cy="10972"/>
          </a:xfrm>
          <a:prstGeom prst="rect">
            <a:avLst/>
          </a:prstGeom>
          <a:solidFill>
            <a:srgbClr val="D7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3" y="4462272"/>
            <a:ext cx="3145536" cy="228600"/>
          </a:xfrm>
          <a:prstGeom prst="rect">
            <a:avLst/>
          </a:prstGeom>
          <a:noFill/>
        </p:spPr>
        <p:txBody>
          <a:bodyPr wrap="square" tIns="0" bIns="0" lIns="0" rIns="0" anchor="t">
            <a:spAutoFit/>
          </a:bodyPr>
          <a:lstStyle/>
          <a:p>
            <a:pPr algn="l">
              <a:lnSpc>
                <a:spcPts val="1344"/>
              </a:lnSpc>
              <a:spcAft>
                <a:spcPts val="100"/>
              </a:spcAft>
            </a:pPr>
            <a:r>
              <a:rPr sz="1200" b="1" i="0">
                <a:solidFill>
                  <a:srgbClr val="087F72"/>
                </a:solidFill>
                <a:latin typeface="Aptos"/>
              </a:rPr>
              <a:t>Hùng · 22</a:t>
            </a:r>
          </a:p>
        </p:txBody>
      </p:sp>
      <p:sp>
        <p:nvSpPr>
          <p:cNvPr id="20" name="TextBox 19"/>
          <p:cNvSpPr txBox="1"/>
          <p:nvPr/>
        </p:nvSpPr>
        <p:spPr>
          <a:xfrm>
            <a:off x="832103" y="4754880"/>
            <a:ext cx="3154680" cy="557784"/>
          </a:xfrm>
          <a:prstGeom prst="rect">
            <a:avLst/>
          </a:prstGeom>
          <a:noFill/>
        </p:spPr>
        <p:txBody>
          <a:bodyPr wrap="square" tIns="0" bIns="0" lIns="0" rIns="0" anchor="t">
            <a:spAutoFit/>
          </a:bodyPr>
          <a:lstStyle/>
          <a:p>
            <a:pPr algn="l">
              <a:lnSpc>
                <a:spcPts val="1299"/>
              </a:lnSpc>
              <a:spcAft>
                <a:spcPts val="100"/>
              </a:spcAft>
            </a:pPr>
            <a:r>
              <a:rPr sz="1160" b="0" i="0">
                <a:solidFill>
                  <a:srgbClr val="193D35"/>
                </a:solidFill>
                <a:latin typeface="Aptos"/>
              </a:rPr>
              <a:t>Muốn cầu lông; thiếu bạn ngang trình độ.</a:t>
            </a:r>
          </a:p>
        </p:txBody>
      </p:sp>
      <p:sp>
        <p:nvSpPr>
          <p:cNvPr id="21" name="Rounded Rectangle 20"/>
          <p:cNvSpPr/>
          <p:nvPr/>
        </p:nvSpPr>
        <p:spPr>
          <a:xfrm>
            <a:off x="777240" y="5468112"/>
            <a:ext cx="3319272" cy="667512"/>
          </a:xfrm>
          <a:prstGeom prst="roundRect">
            <a:avLst>
              <a:gd name="adj" fmla="val 10000"/>
            </a:avLst>
          </a:prstGeom>
          <a:solidFill>
            <a:srgbClr val="E8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5632704"/>
            <a:ext cx="3081528" cy="411480"/>
          </a:xfrm>
          <a:prstGeom prst="rect">
            <a:avLst/>
          </a:prstGeom>
          <a:noFill/>
        </p:spPr>
        <p:txBody>
          <a:bodyPr wrap="square" tIns="0" bIns="0" lIns="0" rIns="0" anchor="t">
            <a:spAutoFit/>
          </a:bodyPr>
          <a:lstStyle/>
          <a:p>
            <a:pPr algn="l">
              <a:lnSpc>
                <a:spcPts val="1254"/>
              </a:lnSpc>
              <a:spcAft>
                <a:spcPts val="100"/>
              </a:spcAft>
            </a:pPr>
            <a:r>
              <a:rPr sz="1120" b="1" i="0">
                <a:solidFill>
                  <a:srgbClr val="087F72"/>
                </a:solidFill>
                <a:latin typeface="Aptos"/>
              </a:rPr>
              <a:t>CẦN: bước đầu riêng tư, kết nối tùy chọn.</a:t>
            </a:r>
          </a:p>
        </p:txBody>
      </p:sp>
      <p:sp>
        <p:nvSpPr>
          <p:cNvPr id="23" name="Rounded Rectangle 22"/>
          <p:cNvSpPr/>
          <p:nvPr/>
        </p:nvSpPr>
        <p:spPr>
          <a:xfrm>
            <a:off x="4453127" y="1792224"/>
            <a:ext cx="3611880" cy="4562856"/>
          </a:xfrm>
          <a:prstGeom prst="roundRect">
            <a:avLst>
              <a:gd name="adj" fmla="val 11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590288" y="1975104"/>
            <a:ext cx="3346704" cy="466344"/>
          </a:xfrm>
          <a:prstGeom prst="roundRect">
            <a:avLst>
              <a:gd name="adj" fmla="val 12000"/>
            </a:avLst>
          </a:prstGeom>
          <a:solidFill>
            <a:srgbClr val="FBEF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09159" y="2121408"/>
            <a:ext cx="3017520" cy="210312"/>
          </a:xfrm>
          <a:prstGeom prst="rect">
            <a:avLst/>
          </a:prstGeom>
          <a:noFill/>
        </p:spPr>
        <p:txBody>
          <a:bodyPr wrap="square" tIns="0" bIns="0" lIns="0" rIns="0" anchor="t">
            <a:spAutoFit/>
          </a:bodyPr>
          <a:lstStyle/>
          <a:p>
            <a:pPr algn="l">
              <a:lnSpc>
                <a:spcPts val="1456"/>
              </a:lnSpc>
              <a:spcAft>
                <a:spcPts val="100"/>
              </a:spcAft>
            </a:pPr>
            <a:r>
              <a:rPr sz="1300" b="1" i="0">
                <a:solidFill>
                  <a:srgbClr val="193D35"/>
                </a:solidFill>
                <a:latin typeface="Aptos"/>
              </a:rPr>
              <a:t>B · DỄ GIÁN ĐOẠN</a:t>
            </a:r>
          </a:p>
        </p:txBody>
      </p:sp>
      <p:sp>
        <p:nvSpPr>
          <p:cNvPr id="26" name="TextBox 25"/>
          <p:cNvSpPr txBox="1"/>
          <p:nvPr/>
        </p:nvSpPr>
        <p:spPr>
          <a:xfrm>
            <a:off x="4654295" y="2633472"/>
            <a:ext cx="3145536" cy="228600"/>
          </a:xfrm>
          <a:prstGeom prst="rect">
            <a:avLst/>
          </a:prstGeom>
          <a:noFill/>
        </p:spPr>
        <p:txBody>
          <a:bodyPr wrap="square" tIns="0" bIns="0" lIns="0" rIns="0" anchor="t">
            <a:spAutoFit/>
          </a:bodyPr>
          <a:lstStyle/>
          <a:p>
            <a:pPr algn="l">
              <a:lnSpc>
                <a:spcPts val="1344"/>
              </a:lnSpc>
              <a:spcAft>
                <a:spcPts val="100"/>
              </a:spcAft>
            </a:pPr>
            <a:r>
              <a:rPr sz="1200" b="1" i="0">
                <a:solidFill>
                  <a:srgbClr val="087F72"/>
                </a:solidFill>
                <a:latin typeface="Aptos"/>
              </a:rPr>
              <a:t>Khoa · 21</a:t>
            </a:r>
          </a:p>
        </p:txBody>
      </p:sp>
      <p:sp>
        <p:nvSpPr>
          <p:cNvPr id="27" name="TextBox 26"/>
          <p:cNvSpPr txBox="1"/>
          <p:nvPr/>
        </p:nvSpPr>
        <p:spPr>
          <a:xfrm>
            <a:off x="4654295" y="2926079"/>
            <a:ext cx="3154680" cy="557784"/>
          </a:xfrm>
          <a:prstGeom prst="rect">
            <a:avLst/>
          </a:prstGeom>
          <a:noFill/>
        </p:spPr>
        <p:txBody>
          <a:bodyPr wrap="square" tIns="0" bIns="0" lIns="0" rIns="0" anchor="t">
            <a:spAutoFit/>
          </a:bodyPr>
          <a:lstStyle/>
          <a:p>
            <a:pPr algn="l">
              <a:lnSpc>
                <a:spcPts val="1299"/>
              </a:lnSpc>
              <a:spcAft>
                <a:spcPts val="100"/>
              </a:spcAft>
            </a:pPr>
            <a:r>
              <a:rPr sz="1160" b="0" i="0">
                <a:solidFill>
                  <a:srgbClr val="193D35"/>
                </a:solidFill>
                <a:latin typeface="Aptos"/>
              </a:rPr>
              <a:t>Có guitar; TikTok lấy mất giờ tập.</a:t>
            </a:r>
          </a:p>
        </p:txBody>
      </p:sp>
      <p:sp>
        <p:nvSpPr>
          <p:cNvPr id="28" name="Rectangle 27"/>
          <p:cNvSpPr/>
          <p:nvPr/>
        </p:nvSpPr>
        <p:spPr>
          <a:xfrm>
            <a:off x="4645151" y="3493008"/>
            <a:ext cx="3227832" cy="10972"/>
          </a:xfrm>
          <a:prstGeom prst="rect">
            <a:avLst/>
          </a:prstGeom>
          <a:solidFill>
            <a:srgbClr val="D7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54295" y="3547872"/>
            <a:ext cx="3145536" cy="228600"/>
          </a:xfrm>
          <a:prstGeom prst="rect">
            <a:avLst/>
          </a:prstGeom>
          <a:noFill/>
        </p:spPr>
        <p:txBody>
          <a:bodyPr wrap="square" tIns="0" bIns="0" lIns="0" rIns="0" anchor="t">
            <a:spAutoFit/>
          </a:bodyPr>
          <a:lstStyle/>
          <a:p>
            <a:pPr algn="l">
              <a:lnSpc>
                <a:spcPts val="1344"/>
              </a:lnSpc>
              <a:spcAft>
                <a:spcPts val="100"/>
              </a:spcAft>
            </a:pPr>
            <a:r>
              <a:rPr sz="1200" b="1" i="0">
                <a:solidFill>
                  <a:srgbClr val="087F72"/>
                </a:solidFill>
                <a:latin typeface="Aptos"/>
              </a:rPr>
              <a:t>Vũ · 20</a:t>
            </a:r>
          </a:p>
        </p:txBody>
      </p:sp>
      <p:sp>
        <p:nvSpPr>
          <p:cNvPr id="30" name="TextBox 29"/>
          <p:cNvSpPr txBox="1"/>
          <p:nvPr/>
        </p:nvSpPr>
        <p:spPr>
          <a:xfrm>
            <a:off x="4654295" y="3840480"/>
            <a:ext cx="3154680" cy="557784"/>
          </a:xfrm>
          <a:prstGeom prst="rect">
            <a:avLst/>
          </a:prstGeom>
          <a:noFill/>
        </p:spPr>
        <p:txBody>
          <a:bodyPr wrap="square" tIns="0" bIns="0" lIns="0" rIns="0" anchor="t">
            <a:spAutoFit/>
          </a:bodyPr>
          <a:lstStyle/>
          <a:p>
            <a:pPr algn="l">
              <a:lnSpc>
                <a:spcPts val="1299"/>
              </a:lnSpc>
              <a:spcAft>
                <a:spcPts val="100"/>
              </a:spcAft>
            </a:pPr>
            <a:r>
              <a:rPr sz="1160" b="0" i="0">
                <a:solidFill>
                  <a:srgbClr val="193D35"/>
                </a:solidFill>
                <a:latin typeface="Aptos"/>
              </a:rPr>
              <a:t>Ảnh/đọc sách; deadline làm vỡ lịch.</a:t>
            </a:r>
          </a:p>
        </p:txBody>
      </p:sp>
      <p:sp>
        <p:nvSpPr>
          <p:cNvPr id="31" name="Rectangle 30"/>
          <p:cNvSpPr/>
          <p:nvPr/>
        </p:nvSpPr>
        <p:spPr>
          <a:xfrm>
            <a:off x="4645151" y="4407408"/>
            <a:ext cx="3227832" cy="10972"/>
          </a:xfrm>
          <a:prstGeom prst="rect">
            <a:avLst/>
          </a:prstGeom>
          <a:solidFill>
            <a:srgbClr val="D7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54295" y="4462272"/>
            <a:ext cx="3145536" cy="228600"/>
          </a:xfrm>
          <a:prstGeom prst="rect">
            <a:avLst/>
          </a:prstGeom>
          <a:noFill/>
        </p:spPr>
        <p:txBody>
          <a:bodyPr wrap="square" tIns="0" bIns="0" lIns="0" rIns="0" anchor="t">
            <a:spAutoFit/>
          </a:bodyPr>
          <a:lstStyle/>
          <a:p>
            <a:pPr algn="l">
              <a:lnSpc>
                <a:spcPts val="1344"/>
              </a:lnSpc>
              <a:spcAft>
                <a:spcPts val="100"/>
              </a:spcAft>
            </a:pPr>
            <a:r>
              <a:rPr sz="1200" b="1" i="0">
                <a:solidFill>
                  <a:srgbClr val="087F72"/>
                </a:solidFill>
                <a:latin typeface="Aptos"/>
              </a:rPr>
              <a:t>Sang · 23</a:t>
            </a:r>
          </a:p>
        </p:txBody>
      </p:sp>
      <p:sp>
        <p:nvSpPr>
          <p:cNvPr id="33" name="TextBox 32"/>
          <p:cNvSpPr txBox="1"/>
          <p:nvPr/>
        </p:nvSpPr>
        <p:spPr>
          <a:xfrm>
            <a:off x="4654295" y="4754880"/>
            <a:ext cx="3154680" cy="557784"/>
          </a:xfrm>
          <a:prstGeom prst="rect">
            <a:avLst/>
          </a:prstGeom>
          <a:noFill/>
        </p:spPr>
        <p:txBody>
          <a:bodyPr wrap="square" tIns="0" bIns="0" lIns="0" rIns="0" anchor="t">
            <a:spAutoFit/>
          </a:bodyPr>
          <a:lstStyle/>
          <a:p>
            <a:pPr algn="l">
              <a:lnSpc>
                <a:spcPts val="1299"/>
              </a:lnSpc>
              <a:spcAft>
                <a:spcPts val="100"/>
              </a:spcAft>
            </a:pPr>
            <a:r>
              <a:rPr sz="1160" b="0" i="0">
                <a:solidFill>
                  <a:srgbClr val="193D35"/>
                </a:solidFill>
                <a:latin typeface="Aptos"/>
              </a:rPr>
              <a:t>Nấu ăn; ca làm và mệt mỏi cản buổi dài.</a:t>
            </a:r>
          </a:p>
        </p:txBody>
      </p:sp>
      <p:sp>
        <p:nvSpPr>
          <p:cNvPr id="34" name="Rounded Rectangle 33"/>
          <p:cNvSpPr/>
          <p:nvPr/>
        </p:nvSpPr>
        <p:spPr>
          <a:xfrm>
            <a:off x="4599431" y="5468112"/>
            <a:ext cx="3319272" cy="667512"/>
          </a:xfrm>
          <a:prstGeom prst="roundRect">
            <a:avLst>
              <a:gd name="adj" fmla="val 10000"/>
            </a:avLst>
          </a:prstGeom>
          <a:solidFill>
            <a:srgbClr val="E8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00015" y="5632704"/>
            <a:ext cx="3081528" cy="411480"/>
          </a:xfrm>
          <a:prstGeom prst="rect">
            <a:avLst/>
          </a:prstGeom>
          <a:noFill/>
        </p:spPr>
        <p:txBody>
          <a:bodyPr wrap="square" tIns="0" bIns="0" lIns="0" rIns="0" anchor="t">
            <a:spAutoFit/>
          </a:bodyPr>
          <a:lstStyle/>
          <a:p>
            <a:pPr algn="l">
              <a:lnSpc>
                <a:spcPts val="1254"/>
              </a:lnSpc>
              <a:spcAft>
                <a:spcPts val="100"/>
              </a:spcAft>
            </a:pPr>
            <a:r>
              <a:rPr sz="1120" b="1" i="0">
                <a:solidFill>
                  <a:srgbClr val="087F72"/>
                </a:solidFill>
                <a:latin typeface="Aptos"/>
              </a:rPr>
              <a:t>CẦN: lịch linh hoạt, tập ngắn, ghi kết quả.</a:t>
            </a:r>
          </a:p>
        </p:txBody>
      </p:sp>
      <p:sp>
        <p:nvSpPr>
          <p:cNvPr id="36" name="Rounded Rectangle 35"/>
          <p:cNvSpPr/>
          <p:nvPr/>
        </p:nvSpPr>
        <p:spPr>
          <a:xfrm>
            <a:off x="8275319" y="1792224"/>
            <a:ext cx="3611880" cy="4562856"/>
          </a:xfrm>
          <a:prstGeom prst="roundRect">
            <a:avLst>
              <a:gd name="adj" fmla="val 11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412480" y="1975104"/>
            <a:ext cx="3346704" cy="466344"/>
          </a:xfrm>
          <a:prstGeom prst="roundRect">
            <a:avLst>
              <a:gd name="adj" fmla="val 12000"/>
            </a:avLst>
          </a:prstGeom>
          <a:solidFill>
            <a:srgbClr val="E7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31351" y="2121408"/>
            <a:ext cx="3017520" cy="210312"/>
          </a:xfrm>
          <a:prstGeom prst="rect">
            <a:avLst/>
          </a:prstGeom>
          <a:noFill/>
        </p:spPr>
        <p:txBody>
          <a:bodyPr wrap="square" tIns="0" bIns="0" lIns="0" rIns="0" anchor="t">
            <a:spAutoFit/>
          </a:bodyPr>
          <a:lstStyle/>
          <a:p>
            <a:pPr algn="l">
              <a:lnSpc>
                <a:spcPts val="1456"/>
              </a:lnSpc>
              <a:spcAft>
                <a:spcPts val="100"/>
              </a:spcAft>
            </a:pPr>
            <a:r>
              <a:rPr sz="1300" b="1" i="0">
                <a:solidFill>
                  <a:srgbClr val="193D35"/>
                </a:solidFill>
                <a:latin typeface="Aptos"/>
              </a:rPr>
              <a:t>C · DUY TRÌ ĐƯỢC</a:t>
            </a:r>
          </a:p>
        </p:txBody>
      </p:sp>
      <p:sp>
        <p:nvSpPr>
          <p:cNvPr id="39" name="TextBox 38"/>
          <p:cNvSpPr txBox="1"/>
          <p:nvPr/>
        </p:nvSpPr>
        <p:spPr>
          <a:xfrm>
            <a:off x="8476488" y="2633472"/>
            <a:ext cx="3145536" cy="228600"/>
          </a:xfrm>
          <a:prstGeom prst="rect">
            <a:avLst/>
          </a:prstGeom>
          <a:noFill/>
        </p:spPr>
        <p:txBody>
          <a:bodyPr wrap="square" tIns="0" bIns="0" lIns="0" rIns="0" anchor="t">
            <a:spAutoFit/>
          </a:bodyPr>
          <a:lstStyle/>
          <a:p>
            <a:pPr algn="l">
              <a:lnSpc>
                <a:spcPts val="1344"/>
              </a:lnSpc>
              <a:spcAft>
                <a:spcPts val="100"/>
              </a:spcAft>
            </a:pPr>
            <a:r>
              <a:rPr sz="1200" b="1" i="0">
                <a:solidFill>
                  <a:srgbClr val="087F72"/>
                </a:solidFill>
                <a:latin typeface="Aptos"/>
              </a:rPr>
              <a:t>Dũng · 22</a:t>
            </a:r>
          </a:p>
        </p:txBody>
      </p:sp>
      <p:sp>
        <p:nvSpPr>
          <p:cNvPr id="40" name="TextBox 39"/>
          <p:cNvSpPr txBox="1"/>
          <p:nvPr/>
        </p:nvSpPr>
        <p:spPr>
          <a:xfrm>
            <a:off x="8476488" y="2926079"/>
            <a:ext cx="3154680" cy="557784"/>
          </a:xfrm>
          <a:prstGeom prst="rect">
            <a:avLst/>
          </a:prstGeom>
          <a:noFill/>
        </p:spPr>
        <p:txBody>
          <a:bodyPr wrap="square" tIns="0" bIns="0" lIns="0" rIns="0" anchor="t">
            <a:spAutoFit/>
          </a:bodyPr>
          <a:lstStyle/>
          <a:p>
            <a:pPr algn="l">
              <a:lnSpc>
                <a:spcPts val="1299"/>
              </a:lnSpc>
              <a:spcAft>
                <a:spcPts val="100"/>
              </a:spcAft>
            </a:pPr>
            <a:r>
              <a:rPr sz="1160" b="0" i="0">
                <a:solidFill>
                  <a:srgbClr val="193D35"/>
                </a:solidFill>
                <a:latin typeface="Aptos"/>
              </a:rPr>
              <a:t>Chạy bộ nhờ routine và bạn đồng hành.</a:t>
            </a:r>
          </a:p>
        </p:txBody>
      </p:sp>
      <p:sp>
        <p:nvSpPr>
          <p:cNvPr id="41" name="Rectangle 40"/>
          <p:cNvSpPr/>
          <p:nvPr/>
        </p:nvSpPr>
        <p:spPr>
          <a:xfrm>
            <a:off x="8467344" y="3493008"/>
            <a:ext cx="3227832" cy="10972"/>
          </a:xfrm>
          <a:prstGeom prst="rect">
            <a:avLst/>
          </a:prstGeom>
          <a:solidFill>
            <a:srgbClr val="D7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76488" y="3547872"/>
            <a:ext cx="3145536" cy="228600"/>
          </a:xfrm>
          <a:prstGeom prst="rect">
            <a:avLst/>
          </a:prstGeom>
          <a:noFill/>
        </p:spPr>
        <p:txBody>
          <a:bodyPr wrap="square" tIns="0" bIns="0" lIns="0" rIns="0" anchor="t">
            <a:spAutoFit/>
          </a:bodyPr>
          <a:lstStyle/>
          <a:p>
            <a:pPr algn="l">
              <a:lnSpc>
                <a:spcPts val="1344"/>
              </a:lnSpc>
              <a:spcAft>
                <a:spcPts val="100"/>
              </a:spcAft>
            </a:pPr>
            <a:r>
              <a:rPr sz="1200" b="1" i="0">
                <a:solidFill>
                  <a:srgbClr val="087F72"/>
                </a:solidFill>
                <a:latin typeface="Aptos"/>
              </a:rPr>
              <a:t>Long · 24</a:t>
            </a:r>
          </a:p>
        </p:txBody>
      </p:sp>
      <p:sp>
        <p:nvSpPr>
          <p:cNvPr id="43" name="TextBox 42"/>
          <p:cNvSpPr txBox="1"/>
          <p:nvPr/>
        </p:nvSpPr>
        <p:spPr>
          <a:xfrm>
            <a:off x="8476488" y="3840480"/>
            <a:ext cx="3154680" cy="557784"/>
          </a:xfrm>
          <a:prstGeom prst="rect">
            <a:avLst/>
          </a:prstGeom>
          <a:noFill/>
        </p:spPr>
        <p:txBody>
          <a:bodyPr wrap="square" tIns="0" bIns="0" lIns="0" rIns="0" anchor="t">
            <a:spAutoFit/>
          </a:bodyPr>
          <a:lstStyle/>
          <a:p>
            <a:pPr algn="l">
              <a:lnSpc>
                <a:spcPts val="1299"/>
              </a:lnSpc>
              <a:spcAft>
                <a:spcPts val="100"/>
              </a:spcAft>
            </a:pPr>
            <a:r>
              <a:rPr sz="1160" b="0" i="0">
                <a:solidFill>
                  <a:srgbClr val="193D35"/>
                </a:solidFill>
                <a:latin typeface="Aptos"/>
              </a:rPr>
              <a:t>Khi bận, chơi guitar chỉ 10 phút.</a:t>
            </a:r>
          </a:p>
        </p:txBody>
      </p:sp>
      <p:sp>
        <p:nvSpPr>
          <p:cNvPr id="44" name="Rectangle 43"/>
          <p:cNvSpPr/>
          <p:nvPr/>
        </p:nvSpPr>
        <p:spPr>
          <a:xfrm>
            <a:off x="8467344" y="4407408"/>
            <a:ext cx="3227832" cy="10972"/>
          </a:xfrm>
          <a:prstGeom prst="rect">
            <a:avLst/>
          </a:prstGeom>
          <a:solidFill>
            <a:srgbClr val="D7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76488" y="4462272"/>
            <a:ext cx="3145536" cy="228600"/>
          </a:xfrm>
          <a:prstGeom prst="rect">
            <a:avLst/>
          </a:prstGeom>
          <a:noFill/>
        </p:spPr>
        <p:txBody>
          <a:bodyPr wrap="square" tIns="0" bIns="0" lIns="0" rIns="0" anchor="t">
            <a:spAutoFit/>
          </a:bodyPr>
          <a:lstStyle/>
          <a:p>
            <a:pPr algn="l">
              <a:lnSpc>
                <a:spcPts val="1344"/>
              </a:lnSpc>
              <a:spcAft>
                <a:spcPts val="100"/>
              </a:spcAft>
            </a:pPr>
            <a:r>
              <a:rPr sz="1200" b="1" i="0">
                <a:solidFill>
                  <a:srgbClr val="087F72"/>
                </a:solidFill>
                <a:latin typeface="Aptos"/>
              </a:rPr>
              <a:t>Quang · 21</a:t>
            </a:r>
          </a:p>
        </p:txBody>
      </p:sp>
      <p:sp>
        <p:nvSpPr>
          <p:cNvPr id="46" name="TextBox 45"/>
          <p:cNvSpPr txBox="1"/>
          <p:nvPr/>
        </p:nvSpPr>
        <p:spPr>
          <a:xfrm>
            <a:off x="8476488" y="4754880"/>
            <a:ext cx="3154680" cy="557784"/>
          </a:xfrm>
          <a:prstGeom prst="rect">
            <a:avLst/>
          </a:prstGeom>
          <a:noFill/>
        </p:spPr>
        <p:txBody>
          <a:bodyPr wrap="square" tIns="0" bIns="0" lIns="0" rIns="0" anchor="t">
            <a:spAutoFit/>
          </a:bodyPr>
          <a:lstStyle/>
          <a:p>
            <a:pPr algn="l">
              <a:lnSpc>
                <a:spcPts val="1299"/>
              </a:lnSpc>
              <a:spcAft>
                <a:spcPts val="100"/>
              </a:spcAft>
            </a:pPr>
            <a:r>
              <a:rPr sz="1160" b="0" i="0">
                <a:solidFill>
                  <a:srgbClr val="193D35"/>
                </a:solidFill>
                <a:latin typeface="Aptos"/>
              </a:rPr>
              <a:t>Hẹn lịch đánh cầu trước để có cam kết.</a:t>
            </a:r>
          </a:p>
        </p:txBody>
      </p:sp>
      <p:sp>
        <p:nvSpPr>
          <p:cNvPr id="47" name="Rounded Rectangle 46"/>
          <p:cNvSpPr/>
          <p:nvPr/>
        </p:nvSpPr>
        <p:spPr>
          <a:xfrm>
            <a:off x="8421624" y="5468112"/>
            <a:ext cx="3319272" cy="667512"/>
          </a:xfrm>
          <a:prstGeom prst="roundRect">
            <a:avLst>
              <a:gd name="adj" fmla="val 10000"/>
            </a:avLst>
          </a:prstGeom>
          <a:solidFill>
            <a:srgbClr val="E8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522207" y="5632704"/>
            <a:ext cx="3081528" cy="411480"/>
          </a:xfrm>
          <a:prstGeom prst="rect">
            <a:avLst/>
          </a:prstGeom>
          <a:noFill/>
        </p:spPr>
        <p:txBody>
          <a:bodyPr wrap="square" tIns="0" bIns="0" lIns="0" rIns="0" anchor="t">
            <a:spAutoFit/>
          </a:bodyPr>
          <a:lstStyle/>
          <a:p>
            <a:pPr algn="l">
              <a:lnSpc>
                <a:spcPts val="1254"/>
              </a:lnSpc>
              <a:spcAft>
                <a:spcPts val="100"/>
              </a:spcAft>
            </a:pPr>
            <a:r>
              <a:rPr sz="1120" b="1" i="0">
                <a:solidFill>
                  <a:srgbClr val="087F72"/>
                </a:solidFill>
                <a:latin typeface="Aptos"/>
              </a:rPr>
              <a:t>CẦN: tiến bộ thấy được, xã hội tự nguyện.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56032"/>
            <a:ext cx="7315200" cy="246888"/>
          </a:xfrm>
          <a:prstGeom prst="rect">
            <a:avLst/>
          </a:prstGeom>
          <a:noFill/>
        </p:spPr>
        <p:txBody>
          <a:bodyPr wrap="square" tIns="0" bIns="0" lIns="0" rIns="0" anchor="t">
            <a:spAutoFit/>
          </a:bodyPr>
          <a:lstStyle/>
          <a:p>
            <a:pPr algn="l">
              <a:lnSpc>
                <a:spcPts val="1131"/>
              </a:lnSpc>
              <a:spcAft>
                <a:spcPts val="100"/>
              </a:spcAft>
            </a:pPr>
            <a:r>
              <a:rPr sz="1010" b="1" i="0">
                <a:solidFill>
                  <a:srgbClr val="087F72"/>
                </a:solidFill>
                <a:latin typeface="Aptos"/>
              </a:rPr>
              <a:t>02  UX RESEARCH</a:t>
            </a:r>
          </a:p>
        </p:txBody>
      </p:sp>
      <p:sp>
        <p:nvSpPr>
          <p:cNvPr id="5" name="TextBox 4"/>
          <p:cNvSpPr txBox="1"/>
          <p:nvPr/>
        </p:nvSpPr>
        <p:spPr>
          <a:xfrm>
            <a:off x="566928" y="621792"/>
            <a:ext cx="10972800" cy="557784"/>
          </a:xfrm>
          <a:prstGeom prst="rect">
            <a:avLst/>
          </a:prstGeom>
          <a:noFill/>
        </p:spPr>
        <p:txBody>
          <a:bodyPr wrap="square" tIns="0" bIns="0" lIns="0" rIns="0" anchor="t">
            <a:spAutoFit/>
          </a:bodyPr>
          <a:lstStyle/>
          <a:p>
            <a:pPr algn="l">
              <a:lnSpc>
                <a:spcPts val="3024"/>
              </a:lnSpc>
              <a:spcAft>
                <a:spcPts val="100"/>
              </a:spcAft>
            </a:pPr>
            <a:r>
              <a:rPr sz="2700" b="1" i="0">
                <a:solidFill>
                  <a:srgbClr val="193D35"/>
                </a:solidFill>
                <a:latin typeface="Aptos"/>
              </a:rPr>
              <a:t>05 · Chốt persona: Minh cần bắt đầu, Khoa cần duy trì</a:t>
            </a:r>
          </a:p>
        </p:txBody>
      </p:sp>
      <p:sp>
        <p:nvSpPr>
          <p:cNvPr id="6" name="TextBox 5"/>
          <p:cNvSpPr txBox="1"/>
          <p:nvPr/>
        </p:nvSpPr>
        <p:spPr>
          <a:xfrm>
            <a:off x="594360" y="1261872"/>
            <a:ext cx="10972800" cy="393192"/>
          </a:xfrm>
          <a:prstGeom prst="rect">
            <a:avLst/>
          </a:prstGeom>
          <a:noFill/>
        </p:spPr>
        <p:txBody>
          <a:bodyPr wrap="square" tIns="0" bIns="0" lIns="0" rIns="0" anchor="t">
            <a:spAutoFit/>
          </a:bodyPr>
          <a:lstStyle/>
          <a:p>
            <a:pPr algn="l">
              <a:lnSpc>
                <a:spcPts val="1388"/>
              </a:lnSpc>
              <a:spcAft>
                <a:spcPts val="100"/>
              </a:spcAft>
            </a:pPr>
            <a:r>
              <a:rPr sz="1240" b="0" i="0">
                <a:solidFill>
                  <a:srgbClr val="5C776B"/>
                </a:solidFill>
                <a:latin typeface="Aptos"/>
              </a:rPr>
              <a:t>Bạn yêu cầu persona dựa vào đúng nhân vật đã mô phỏng — không ghép thành người tưởng tượng mới.</a:t>
            </a:r>
          </a:p>
        </p:txBody>
      </p:sp>
      <p:sp>
        <p:nvSpPr>
          <p:cNvPr id="7" name="Rectangle 6"/>
          <p:cNvSpPr/>
          <p:nvPr/>
        </p:nvSpPr>
        <p:spPr>
          <a:xfrm>
            <a:off x="594360" y="6537960"/>
            <a:ext cx="10972800" cy="13716"/>
          </a:xfrm>
          <a:prstGeom prst="rect">
            <a:avLst/>
          </a:prstGeom>
          <a:solidFill>
            <a:srgbClr val="D7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6611112"/>
            <a:ext cx="6400800" cy="155448"/>
          </a:xfrm>
          <a:prstGeom prst="rect">
            <a:avLst/>
          </a:prstGeom>
          <a:noFill/>
        </p:spPr>
        <p:txBody>
          <a:bodyPr wrap="square" tIns="0" bIns="0" lIns="0" rIns="0" anchor="t">
            <a:spAutoFit/>
          </a:bodyPr>
          <a:lstStyle/>
          <a:p>
            <a:pPr algn="l">
              <a:lnSpc>
                <a:spcPts val="952"/>
              </a:lnSpc>
              <a:spcAft>
                <a:spcPts val="100"/>
              </a:spcAft>
            </a:pPr>
            <a:r>
              <a:rPr sz="850" b="1" i="0">
                <a:solidFill>
                  <a:srgbClr val="A7BCB1"/>
                </a:solidFill>
                <a:latin typeface="Aptos"/>
              </a:rPr>
              <a:t>HOBBY TRACKER  ·  UX / UI DESIGN JOURNEY</a:t>
            </a:r>
          </a:p>
        </p:txBody>
      </p:sp>
      <p:sp>
        <p:nvSpPr>
          <p:cNvPr id="9" name="TextBox 8"/>
          <p:cNvSpPr txBox="1"/>
          <p:nvPr/>
        </p:nvSpPr>
        <p:spPr>
          <a:xfrm>
            <a:off x="11100816" y="6583680"/>
            <a:ext cx="438912" cy="201168"/>
          </a:xfrm>
          <a:prstGeom prst="rect">
            <a:avLst/>
          </a:prstGeom>
          <a:noFill/>
        </p:spPr>
        <p:txBody>
          <a:bodyPr wrap="square" tIns="0" bIns="0" lIns="0" rIns="0" anchor="t">
            <a:spAutoFit/>
          </a:bodyPr>
          <a:lstStyle/>
          <a:p>
            <a:pPr algn="r">
              <a:lnSpc>
                <a:spcPts val="1008"/>
              </a:lnSpc>
              <a:spcAft>
                <a:spcPts val="100"/>
              </a:spcAft>
            </a:pPr>
            <a:r>
              <a:rPr sz="900" b="1" i="0">
                <a:solidFill>
                  <a:srgbClr val="087F72"/>
                </a:solidFill>
                <a:latin typeface="Aptos"/>
              </a:rPr>
              <a:t>06 / 12</a:t>
            </a:r>
          </a:p>
        </p:txBody>
      </p:sp>
      <p:sp>
        <p:nvSpPr>
          <p:cNvPr id="10" name="Rounded Rectangle 9"/>
          <p:cNvSpPr/>
          <p:nvPr/>
        </p:nvSpPr>
        <p:spPr>
          <a:xfrm>
            <a:off x="658368" y="1810512"/>
            <a:ext cx="5285232" cy="4471416"/>
          </a:xfrm>
          <a:prstGeom prst="roundRect">
            <a:avLst>
              <a:gd name="adj" fmla="val 11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32103" y="1965960"/>
            <a:ext cx="4937760" cy="420624"/>
          </a:xfrm>
          <a:prstGeom prst="roundRect">
            <a:avLst>
              <a:gd name="adj" fmla="val 10000"/>
            </a:avLst>
          </a:prstGeom>
          <a:solidFill>
            <a:srgbClr val="D1E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7" y="2084831"/>
            <a:ext cx="822960" cy="228600"/>
          </a:xfrm>
          <a:prstGeom prst="rect">
            <a:avLst/>
          </a:prstGeom>
          <a:noFill/>
        </p:spPr>
        <p:txBody>
          <a:bodyPr wrap="square" tIns="0" bIns="0" lIns="0" rIns="0" anchor="t">
            <a:spAutoFit/>
          </a:bodyPr>
          <a:lstStyle/>
          <a:p>
            <a:pPr algn="l">
              <a:lnSpc>
                <a:spcPts val="1680"/>
              </a:lnSpc>
              <a:spcAft>
                <a:spcPts val="100"/>
              </a:spcAft>
            </a:pPr>
            <a:r>
              <a:rPr sz="1500" b="1" i="0">
                <a:solidFill>
                  <a:srgbClr val="193D35"/>
                </a:solidFill>
                <a:latin typeface="Aptos"/>
              </a:rPr>
              <a:t>MINH</a:t>
            </a:r>
          </a:p>
        </p:txBody>
      </p:sp>
      <p:sp>
        <p:nvSpPr>
          <p:cNvPr id="13" name="TextBox 12"/>
          <p:cNvSpPr txBox="1"/>
          <p:nvPr/>
        </p:nvSpPr>
        <p:spPr>
          <a:xfrm>
            <a:off x="1755648" y="2084831"/>
            <a:ext cx="3584448" cy="210312"/>
          </a:xfrm>
          <a:prstGeom prst="rect">
            <a:avLst/>
          </a:prstGeom>
          <a:noFill/>
        </p:spPr>
        <p:txBody>
          <a:bodyPr wrap="square" tIns="0" bIns="0" lIns="0" rIns="0" anchor="t">
            <a:spAutoFit/>
          </a:bodyPr>
          <a:lstStyle/>
          <a:p>
            <a:pPr algn="l">
              <a:lnSpc>
                <a:spcPts val="1344"/>
              </a:lnSpc>
              <a:spcAft>
                <a:spcPts val="100"/>
              </a:spcAft>
            </a:pPr>
            <a:r>
              <a:rPr sz="1200" b="0" i="0">
                <a:solidFill>
                  <a:srgbClr val="5C776B"/>
                </a:solidFill>
                <a:latin typeface="Aptos"/>
              </a:rPr>
              <a:t>20 tuổi · Primary</a:t>
            </a:r>
          </a:p>
        </p:txBody>
      </p:sp>
      <p:sp>
        <p:nvSpPr>
          <p:cNvPr id="14" name="TextBox 13"/>
          <p:cNvSpPr txBox="1"/>
          <p:nvPr/>
        </p:nvSpPr>
        <p:spPr>
          <a:xfrm>
            <a:off x="886968" y="2551176"/>
            <a:ext cx="996696" cy="219456"/>
          </a:xfrm>
          <a:prstGeom prst="rect">
            <a:avLst/>
          </a:prstGeom>
          <a:noFill/>
        </p:spPr>
        <p:txBody>
          <a:bodyPr wrap="square" tIns="0" bIns="0" lIns="0" rIns="0" anchor="t">
            <a:spAutoFit/>
          </a:bodyPr>
          <a:lstStyle/>
          <a:p>
            <a:pPr algn="l">
              <a:lnSpc>
                <a:spcPts val="1232"/>
              </a:lnSpc>
              <a:spcAft>
                <a:spcPts val="100"/>
              </a:spcAft>
            </a:pPr>
            <a:r>
              <a:rPr sz="1100" b="1" i="0">
                <a:solidFill>
                  <a:srgbClr val="087F72"/>
                </a:solidFill>
                <a:latin typeface="Aptos"/>
              </a:rPr>
              <a:t>Bối cảnh</a:t>
            </a:r>
          </a:p>
        </p:txBody>
      </p:sp>
      <p:sp>
        <p:nvSpPr>
          <p:cNvPr id="15" name="TextBox 14"/>
          <p:cNvSpPr txBox="1"/>
          <p:nvPr/>
        </p:nvSpPr>
        <p:spPr>
          <a:xfrm>
            <a:off x="1938528" y="2551176"/>
            <a:ext cx="3685032" cy="429768"/>
          </a:xfrm>
          <a:prstGeom prst="rect">
            <a:avLst/>
          </a:prstGeom>
          <a:noFill/>
        </p:spPr>
        <p:txBody>
          <a:bodyPr wrap="square" tIns="0" bIns="0" lIns="0" rIns="0" anchor="t">
            <a:spAutoFit/>
          </a:bodyPr>
          <a:lstStyle/>
          <a:p>
            <a:pPr algn="l">
              <a:lnSpc>
                <a:spcPts val="1299"/>
              </a:lnSpc>
              <a:spcAft>
                <a:spcPts val="100"/>
              </a:spcAft>
            </a:pPr>
            <a:r>
              <a:rPr sz="1160" b="0" i="0">
                <a:solidFill>
                  <a:srgbClr val="193D35"/>
                </a:solidFill>
                <a:latin typeface="Aptos"/>
              </a:rPr>
              <a:t>Chưa bắt đầu</a:t>
            </a:r>
          </a:p>
        </p:txBody>
      </p:sp>
      <p:sp>
        <p:nvSpPr>
          <p:cNvPr id="16" name="TextBox 15"/>
          <p:cNvSpPr txBox="1"/>
          <p:nvPr/>
        </p:nvSpPr>
        <p:spPr>
          <a:xfrm>
            <a:off x="886968" y="3054096"/>
            <a:ext cx="996696" cy="219456"/>
          </a:xfrm>
          <a:prstGeom prst="rect">
            <a:avLst/>
          </a:prstGeom>
          <a:noFill/>
        </p:spPr>
        <p:txBody>
          <a:bodyPr wrap="square" tIns="0" bIns="0" lIns="0" rIns="0" anchor="t">
            <a:spAutoFit/>
          </a:bodyPr>
          <a:lstStyle/>
          <a:p>
            <a:pPr algn="l">
              <a:lnSpc>
                <a:spcPts val="1232"/>
              </a:lnSpc>
              <a:spcAft>
                <a:spcPts val="100"/>
              </a:spcAft>
            </a:pPr>
            <a:r>
              <a:rPr sz="1100" b="1" i="0">
                <a:solidFill>
                  <a:srgbClr val="087F72"/>
                </a:solidFill>
                <a:latin typeface="Aptos"/>
              </a:rPr>
              <a:t>Mục tiêu</a:t>
            </a:r>
          </a:p>
        </p:txBody>
      </p:sp>
      <p:sp>
        <p:nvSpPr>
          <p:cNvPr id="17" name="TextBox 16"/>
          <p:cNvSpPr txBox="1"/>
          <p:nvPr/>
        </p:nvSpPr>
        <p:spPr>
          <a:xfrm>
            <a:off x="1938528" y="3054096"/>
            <a:ext cx="3685032" cy="429768"/>
          </a:xfrm>
          <a:prstGeom prst="rect">
            <a:avLst/>
          </a:prstGeom>
          <a:noFill/>
        </p:spPr>
        <p:txBody>
          <a:bodyPr wrap="square" tIns="0" bIns="0" lIns="0" rIns="0" anchor="t">
            <a:spAutoFit/>
          </a:bodyPr>
          <a:lstStyle/>
          <a:p>
            <a:pPr algn="l">
              <a:lnSpc>
                <a:spcPts val="1299"/>
              </a:lnSpc>
              <a:spcAft>
                <a:spcPts val="100"/>
              </a:spcAft>
            </a:pPr>
            <a:r>
              <a:rPr sz="1160" b="0" i="0">
                <a:solidFill>
                  <a:srgbClr val="193D35"/>
                </a:solidFill>
                <a:latin typeface="Aptos"/>
              </a:rPr>
              <a:t>Thử nhiếp ảnh, chụp ảnh ở trường</a:t>
            </a:r>
          </a:p>
        </p:txBody>
      </p:sp>
      <p:sp>
        <p:nvSpPr>
          <p:cNvPr id="18" name="TextBox 17"/>
          <p:cNvSpPr txBox="1"/>
          <p:nvPr/>
        </p:nvSpPr>
        <p:spPr>
          <a:xfrm>
            <a:off x="886968" y="3557016"/>
            <a:ext cx="996696" cy="219456"/>
          </a:xfrm>
          <a:prstGeom prst="rect">
            <a:avLst/>
          </a:prstGeom>
          <a:noFill/>
        </p:spPr>
        <p:txBody>
          <a:bodyPr wrap="square" tIns="0" bIns="0" lIns="0" rIns="0" anchor="t">
            <a:spAutoFit/>
          </a:bodyPr>
          <a:lstStyle/>
          <a:p>
            <a:pPr algn="l">
              <a:lnSpc>
                <a:spcPts val="1232"/>
              </a:lnSpc>
              <a:spcAft>
                <a:spcPts val="100"/>
              </a:spcAft>
            </a:pPr>
            <a:r>
              <a:rPr sz="1100" b="1" i="0">
                <a:solidFill>
                  <a:srgbClr val="087F72"/>
                </a:solidFill>
                <a:latin typeface="Aptos"/>
              </a:rPr>
              <a:t>Hành vi</a:t>
            </a:r>
          </a:p>
        </p:txBody>
      </p:sp>
      <p:sp>
        <p:nvSpPr>
          <p:cNvPr id="19" name="TextBox 18"/>
          <p:cNvSpPr txBox="1"/>
          <p:nvPr/>
        </p:nvSpPr>
        <p:spPr>
          <a:xfrm>
            <a:off x="1938528" y="3557016"/>
            <a:ext cx="3685032" cy="429768"/>
          </a:xfrm>
          <a:prstGeom prst="rect">
            <a:avLst/>
          </a:prstGeom>
          <a:noFill/>
        </p:spPr>
        <p:txBody>
          <a:bodyPr wrap="square" tIns="0" bIns="0" lIns="0" rIns="0" anchor="t">
            <a:spAutoFit/>
          </a:bodyPr>
          <a:lstStyle/>
          <a:p>
            <a:pPr algn="l">
              <a:lnSpc>
                <a:spcPts val="1299"/>
              </a:lnSpc>
              <a:spcAft>
                <a:spcPts val="100"/>
              </a:spcAft>
            </a:pPr>
            <a:r>
              <a:rPr sz="1160" b="0" i="0">
                <a:solidFill>
                  <a:srgbClr val="193D35"/>
                </a:solidFill>
                <a:latin typeface="Aptos"/>
              </a:rPr>
              <a:t>Lưu tutorial; xem ảnh; chưa thực hành</a:t>
            </a:r>
          </a:p>
        </p:txBody>
      </p:sp>
      <p:sp>
        <p:nvSpPr>
          <p:cNvPr id="20" name="TextBox 19"/>
          <p:cNvSpPr txBox="1"/>
          <p:nvPr/>
        </p:nvSpPr>
        <p:spPr>
          <a:xfrm>
            <a:off x="886968" y="4059936"/>
            <a:ext cx="996696" cy="219456"/>
          </a:xfrm>
          <a:prstGeom prst="rect">
            <a:avLst/>
          </a:prstGeom>
          <a:noFill/>
        </p:spPr>
        <p:txBody>
          <a:bodyPr wrap="square" tIns="0" bIns="0" lIns="0" rIns="0" anchor="t">
            <a:spAutoFit/>
          </a:bodyPr>
          <a:lstStyle/>
          <a:p>
            <a:pPr algn="l">
              <a:lnSpc>
                <a:spcPts val="1232"/>
              </a:lnSpc>
              <a:spcAft>
                <a:spcPts val="100"/>
              </a:spcAft>
            </a:pPr>
            <a:r>
              <a:rPr sz="1100" b="1" i="0">
                <a:solidFill>
                  <a:srgbClr val="087F72"/>
                </a:solidFill>
                <a:latin typeface="Aptos"/>
              </a:rPr>
              <a:t>Pain point</a:t>
            </a:r>
          </a:p>
        </p:txBody>
      </p:sp>
      <p:sp>
        <p:nvSpPr>
          <p:cNvPr id="21" name="TextBox 20"/>
          <p:cNvSpPr txBox="1"/>
          <p:nvPr/>
        </p:nvSpPr>
        <p:spPr>
          <a:xfrm>
            <a:off x="1938528" y="4059936"/>
            <a:ext cx="3685032" cy="429768"/>
          </a:xfrm>
          <a:prstGeom prst="rect">
            <a:avLst/>
          </a:prstGeom>
          <a:noFill/>
        </p:spPr>
        <p:txBody>
          <a:bodyPr wrap="square" tIns="0" bIns="0" lIns="0" rIns="0" anchor="t">
            <a:spAutoFit/>
          </a:bodyPr>
          <a:lstStyle/>
          <a:p>
            <a:pPr algn="l">
              <a:lnSpc>
                <a:spcPts val="1299"/>
              </a:lnSpc>
              <a:spcAft>
                <a:spcPts val="100"/>
              </a:spcAft>
            </a:pPr>
            <a:r>
              <a:rPr sz="1160" b="0" i="0">
                <a:solidFill>
                  <a:srgbClr val="193D35"/>
                </a:solidFill>
                <a:latin typeface="Aptos"/>
              </a:rPr>
              <a:t>Thiếu bước đầu, kinh nghiệm; sợ bị đánh giá</a:t>
            </a:r>
          </a:p>
        </p:txBody>
      </p:sp>
      <p:sp>
        <p:nvSpPr>
          <p:cNvPr id="22" name="TextBox 21"/>
          <p:cNvSpPr txBox="1"/>
          <p:nvPr/>
        </p:nvSpPr>
        <p:spPr>
          <a:xfrm>
            <a:off x="886968" y="4562856"/>
            <a:ext cx="996696" cy="219456"/>
          </a:xfrm>
          <a:prstGeom prst="rect">
            <a:avLst/>
          </a:prstGeom>
          <a:noFill/>
        </p:spPr>
        <p:txBody>
          <a:bodyPr wrap="square" tIns="0" bIns="0" lIns="0" rIns="0" anchor="t">
            <a:spAutoFit/>
          </a:bodyPr>
          <a:lstStyle/>
          <a:p>
            <a:pPr algn="l">
              <a:lnSpc>
                <a:spcPts val="1232"/>
              </a:lnSpc>
              <a:spcAft>
                <a:spcPts val="100"/>
              </a:spcAft>
            </a:pPr>
            <a:r>
              <a:rPr sz="1100" b="1" i="0">
                <a:solidFill>
                  <a:srgbClr val="087F72"/>
                </a:solidFill>
                <a:latin typeface="Aptos"/>
              </a:rPr>
              <a:t>Cần trong app</a:t>
            </a:r>
          </a:p>
        </p:txBody>
      </p:sp>
      <p:sp>
        <p:nvSpPr>
          <p:cNvPr id="23" name="TextBox 22"/>
          <p:cNvSpPr txBox="1"/>
          <p:nvPr/>
        </p:nvSpPr>
        <p:spPr>
          <a:xfrm>
            <a:off x="1938528" y="4562856"/>
            <a:ext cx="3685032" cy="429768"/>
          </a:xfrm>
          <a:prstGeom prst="rect">
            <a:avLst/>
          </a:prstGeom>
          <a:noFill/>
        </p:spPr>
        <p:txBody>
          <a:bodyPr wrap="square" tIns="0" bIns="0" lIns="0" rIns="0" anchor="t">
            <a:spAutoFit/>
          </a:bodyPr>
          <a:lstStyle/>
          <a:p>
            <a:pPr algn="l">
              <a:lnSpc>
                <a:spcPts val="1299"/>
              </a:lnSpc>
              <a:spcAft>
                <a:spcPts val="100"/>
              </a:spcAft>
            </a:pPr>
            <a:r>
              <a:rPr sz="1160" b="0" i="0">
                <a:solidFill>
                  <a:srgbClr val="193D35"/>
                </a:solidFill>
                <a:latin typeface="Aptos"/>
              </a:rPr>
              <a:t>Tự tạo hobby → lịch buổi đầu → tùy chọn nhóm</a:t>
            </a:r>
          </a:p>
        </p:txBody>
      </p:sp>
      <p:sp>
        <p:nvSpPr>
          <p:cNvPr id="24" name="Rounded Rectangle 23"/>
          <p:cNvSpPr/>
          <p:nvPr/>
        </p:nvSpPr>
        <p:spPr>
          <a:xfrm>
            <a:off x="841247" y="5184648"/>
            <a:ext cx="4910328" cy="841248"/>
          </a:xfrm>
          <a:prstGeom prst="roundRect">
            <a:avLst>
              <a:gd name="adj" fmla="val 10000"/>
            </a:avLst>
          </a:prstGeom>
          <a:solidFill>
            <a:srgbClr val="E8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5340096"/>
            <a:ext cx="4672584" cy="630936"/>
          </a:xfrm>
          <a:prstGeom prst="rect">
            <a:avLst/>
          </a:prstGeom>
          <a:noFill/>
        </p:spPr>
        <p:txBody>
          <a:bodyPr wrap="square" tIns="0" bIns="0" lIns="0" rIns="0" anchor="t">
            <a:spAutoFit/>
          </a:bodyPr>
          <a:lstStyle/>
          <a:p>
            <a:pPr algn="l">
              <a:lnSpc>
                <a:spcPts val="1254"/>
              </a:lnSpc>
              <a:spcAft>
                <a:spcPts val="100"/>
              </a:spcAft>
            </a:pPr>
            <a:r>
              <a:rPr sz="1120" b="1" i="0">
                <a:solidFill>
                  <a:srgbClr val="193D35"/>
                </a:solidFill>
                <a:latin typeface="Aptos"/>
              </a:rPr>
              <a:t>Sinh viên muốn khám phá sở thích mới nhưng khó bắt đầu vì thiếu định hướng, kinh nghiệm và sự tự tin khi tham gia cộng đồng.</a:t>
            </a:r>
          </a:p>
        </p:txBody>
      </p:sp>
      <p:sp>
        <p:nvSpPr>
          <p:cNvPr id="26" name="Rounded Rectangle 25"/>
          <p:cNvSpPr/>
          <p:nvPr/>
        </p:nvSpPr>
        <p:spPr>
          <a:xfrm>
            <a:off x="6199632" y="1810512"/>
            <a:ext cx="5285232" cy="4471416"/>
          </a:xfrm>
          <a:prstGeom prst="roundRect">
            <a:avLst>
              <a:gd name="adj" fmla="val 11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373368" y="1965960"/>
            <a:ext cx="4937760" cy="420624"/>
          </a:xfrm>
          <a:prstGeom prst="roundRect">
            <a:avLst>
              <a:gd name="adj" fmla="val 10000"/>
            </a:avLst>
          </a:prstGeom>
          <a:solidFill>
            <a:srgbClr val="FBEF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19672" y="2084831"/>
            <a:ext cx="822960" cy="228600"/>
          </a:xfrm>
          <a:prstGeom prst="rect">
            <a:avLst/>
          </a:prstGeom>
          <a:noFill/>
        </p:spPr>
        <p:txBody>
          <a:bodyPr wrap="square" tIns="0" bIns="0" lIns="0" rIns="0" anchor="t">
            <a:spAutoFit/>
          </a:bodyPr>
          <a:lstStyle/>
          <a:p>
            <a:pPr algn="l">
              <a:lnSpc>
                <a:spcPts val="1680"/>
              </a:lnSpc>
              <a:spcAft>
                <a:spcPts val="100"/>
              </a:spcAft>
            </a:pPr>
            <a:r>
              <a:rPr sz="1500" b="1" i="0">
                <a:solidFill>
                  <a:srgbClr val="193D35"/>
                </a:solidFill>
                <a:latin typeface="Aptos"/>
              </a:rPr>
              <a:t>KHOA</a:t>
            </a:r>
          </a:p>
        </p:txBody>
      </p:sp>
      <p:sp>
        <p:nvSpPr>
          <p:cNvPr id="29" name="TextBox 28"/>
          <p:cNvSpPr txBox="1"/>
          <p:nvPr/>
        </p:nvSpPr>
        <p:spPr>
          <a:xfrm>
            <a:off x="7296912" y="2084831"/>
            <a:ext cx="3584448" cy="210312"/>
          </a:xfrm>
          <a:prstGeom prst="rect">
            <a:avLst/>
          </a:prstGeom>
          <a:noFill/>
        </p:spPr>
        <p:txBody>
          <a:bodyPr wrap="square" tIns="0" bIns="0" lIns="0" rIns="0" anchor="t">
            <a:spAutoFit/>
          </a:bodyPr>
          <a:lstStyle/>
          <a:p>
            <a:pPr algn="l">
              <a:lnSpc>
                <a:spcPts val="1344"/>
              </a:lnSpc>
              <a:spcAft>
                <a:spcPts val="100"/>
              </a:spcAft>
            </a:pPr>
            <a:r>
              <a:rPr sz="1200" b="0" i="0">
                <a:solidFill>
                  <a:srgbClr val="5C776B"/>
                </a:solidFill>
                <a:latin typeface="Aptos"/>
              </a:rPr>
              <a:t>21 tuổi · Secondary</a:t>
            </a:r>
          </a:p>
        </p:txBody>
      </p:sp>
      <p:sp>
        <p:nvSpPr>
          <p:cNvPr id="30" name="TextBox 29"/>
          <p:cNvSpPr txBox="1"/>
          <p:nvPr/>
        </p:nvSpPr>
        <p:spPr>
          <a:xfrm>
            <a:off x="6428232" y="2551176"/>
            <a:ext cx="996696" cy="219456"/>
          </a:xfrm>
          <a:prstGeom prst="rect">
            <a:avLst/>
          </a:prstGeom>
          <a:noFill/>
        </p:spPr>
        <p:txBody>
          <a:bodyPr wrap="square" tIns="0" bIns="0" lIns="0" rIns="0" anchor="t">
            <a:spAutoFit/>
          </a:bodyPr>
          <a:lstStyle/>
          <a:p>
            <a:pPr algn="l">
              <a:lnSpc>
                <a:spcPts val="1232"/>
              </a:lnSpc>
              <a:spcAft>
                <a:spcPts val="100"/>
              </a:spcAft>
            </a:pPr>
            <a:r>
              <a:rPr sz="1100" b="1" i="0">
                <a:solidFill>
                  <a:srgbClr val="087F72"/>
                </a:solidFill>
                <a:latin typeface="Aptos"/>
              </a:rPr>
              <a:t>Bối cảnh</a:t>
            </a:r>
          </a:p>
        </p:txBody>
      </p:sp>
      <p:sp>
        <p:nvSpPr>
          <p:cNvPr id="31" name="TextBox 30"/>
          <p:cNvSpPr txBox="1"/>
          <p:nvPr/>
        </p:nvSpPr>
        <p:spPr>
          <a:xfrm>
            <a:off x="7479792" y="2551176"/>
            <a:ext cx="3685032" cy="429768"/>
          </a:xfrm>
          <a:prstGeom prst="rect">
            <a:avLst/>
          </a:prstGeom>
          <a:noFill/>
        </p:spPr>
        <p:txBody>
          <a:bodyPr wrap="square" tIns="0" bIns="0" lIns="0" rIns="0" anchor="t">
            <a:spAutoFit/>
          </a:bodyPr>
          <a:lstStyle/>
          <a:p>
            <a:pPr algn="l">
              <a:lnSpc>
                <a:spcPts val="1299"/>
              </a:lnSpc>
              <a:spcAft>
                <a:spcPts val="100"/>
              </a:spcAft>
            </a:pPr>
            <a:r>
              <a:rPr sz="1160" b="0" i="0">
                <a:solidFill>
                  <a:srgbClr val="193D35"/>
                </a:solidFill>
                <a:latin typeface="Aptos"/>
              </a:rPr>
              <a:t>Khó duy trì</a:t>
            </a:r>
          </a:p>
        </p:txBody>
      </p:sp>
      <p:sp>
        <p:nvSpPr>
          <p:cNvPr id="32" name="TextBox 31"/>
          <p:cNvSpPr txBox="1"/>
          <p:nvPr/>
        </p:nvSpPr>
        <p:spPr>
          <a:xfrm>
            <a:off x="6428232" y="3054096"/>
            <a:ext cx="996696" cy="219456"/>
          </a:xfrm>
          <a:prstGeom prst="rect">
            <a:avLst/>
          </a:prstGeom>
          <a:noFill/>
        </p:spPr>
        <p:txBody>
          <a:bodyPr wrap="square" tIns="0" bIns="0" lIns="0" rIns="0" anchor="t">
            <a:spAutoFit/>
          </a:bodyPr>
          <a:lstStyle/>
          <a:p>
            <a:pPr algn="l">
              <a:lnSpc>
                <a:spcPts val="1232"/>
              </a:lnSpc>
              <a:spcAft>
                <a:spcPts val="100"/>
              </a:spcAft>
            </a:pPr>
            <a:r>
              <a:rPr sz="1100" b="1" i="0">
                <a:solidFill>
                  <a:srgbClr val="087F72"/>
                </a:solidFill>
                <a:latin typeface="Aptos"/>
              </a:rPr>
              <a:t>Mục tiêu</a:t>
            </a:r>
          </a:p>
        </p:txBody>
      </p:sp>
      <p:sp>
        <p:nvSpPr>
          <p:cNvPr id="33" name="TextBox 32"/>
          <p:cNvSpPr txBox="1"/>
          <p:nvPr/>
        </p:nvSpPr>
        <p:spPr>
          <a:xfrm>
            <a:off x="7479792" y="3054096"/>
            <a:ext cx="3685032" cy="429768"/>
          </a:xfrm>
          <a:prstGeom prst="rect">
            <a:avLst/>
          </a:prstGeom>
          <a:noFill/>
        </p:spPr>
        <p:txBody>
          <a:bodyPr wrap="square" tIns="0" bIns="0" lIns="0" rIns="0" anchor="t">
            <a:spAutoFit/>
          </a:bodyPr>
          <a:lstStyle/>
          <a:p>
            <a:pPr algn="l">
              <a:lnSpc>
                <a:spcPts val="1299"/>
              </a:lnSpc>
              <a:spcAft>
                <a:spcPts val="100"/>
              </a:spcAft>
            </a:pPr>
            <a:r>
              <a:rPr sz="1160" b="0" i="0">
                <a:solidFill>
                  <a:srgbClr val="193D35"/>
                </a:solidFill>
                <a:latin typeface="Aptos"/>
              </a:rPr>
              <a:t>Tập guitar đều và nhận ra tiến bộ</a:t>
            </a:r>
          </a:p>
        </p:txBody>
      </p:sp>
      <p:sp>
        <p:nvSpPr>
          <p:cNvPr id="34" name="TextBox 33"/>
          <p:cNvSpPr txBox="1"/>
          <p:nvPr/>
        </p:nvSpPr>
        <p:spPr>
          <a:xfrm>
            <a:off x="6428232" y="3557016"/>
            <a:ext cx="996696" cy="219456"/>
          </a:xfrm>
          <a:prstGeom prst="rect">
            <a:avLst/>
          </a:prstGeom>
          <a:noFill/>
        </p:spPr>
        <p:txBody>
          <a:bodyPr wrap="square" tIns="0" bIns="0" lIns="0" rIns="0" anchor="t">
            <a:spAutoFit/>
          </a:bodyPr>
          <a:lstStyle/>
          <a:p>
            <a:pPr algn="l">
              <a:lnSpc>
                <a:spcPts val="1232"/>
              </a:lnSpc>
              <a:spcAft>
                <a:spcPts val="100"/>
              </a:spcAft>
            </a:pPr>
            <a:r>
              <a:rPr sz="1100" b="1" i="0">
                <a:solidFill>
                  <a:srgbClr val="087F72"/>
                </a:solidFill>
                <a:latin typeface="Aptos"/>
              </a:rPr>
              <a:t>Hành vi</a:t>
            </a:r>
          </a:p>
        </p:txBody>
      </p:sp>
      <p:sp>
        <p:nvSpPr>
          <p:cNvPr id="35" name="TextBox 34"/>
          <p:cNvSpPr txBox="1"/>
          <p:nvPr/>
        </p:nvSpPr>
        <p:spPr>
          <a:xfrm>
            <a:off x="7479792" y="3557016"/>
            <a:ext cx="3685032" cy="429768"/>
          </a:xfrm>
          <a:prstGeom prst="rect">
            <a:avLst/>
          </a:prstGeom>
          <a:noFill/>
        </p:spPr>
        <p:txBody>
          <a:bodyPr wrap="square" tIns="0" bIns="0" lIns="0" rIns="0" anchor="t">
            <a:spAutoFit/>
          </a:bodyPr>
          <a:lstStyle/>
          <a:p>
            <a:pPr algn="l">
              <a:lnSpc>
                <a:spcPts val="1299"/>
              </a:lnSpc>
              <a:spcAft>
                <a:spcPts val="100"/>
              </a:spcAft>
            </a:pPr>
            <a:r>
              <a:rPr sz="1160" b="0" i="0">
                <a:solidFill>
                  <a:srgbClr val="193D35"/>
                </a:solidFill>
                <a:latin typeface="Aptos"/>
              </a:rPr>
              <a:t>Có guitar nhưng xem video thay vì tập</a:t>
            </a:r>
          </a:p>
        </p:txBody>
      </p:sp>
      <p:sp>
        <p:nvSpPr>
          <p:cNvPr id="36" name="TextBox 35"/>
          <p:cNvSpPr txBox="1"/>
          <p:nvPr/>
        </p:nvSpPr>
        <p:spPr>
          <a:xfrm>
            <a:off x="6428232" y="4059936"/>
            <a:ext cx="996696" cy="219456"/>
          </a:xfrm>
          <a:prstGeom prst="rect">
            <a:avLst/>
          </a:prstGeom>
          <a:noFill/>
        </p:spPr>
        <p:txBody>
          <a:bodyPr wrap="square" tIns="0" bIns="0" lIns="0" rIns="0" anchor="t">
            <a:spAutoFit/>
          </a:bodyPr>
          <a:lstStyle/>
          <a:p>
            <a:pPr algn="l">
              <a:lnSpc>
                <a:spcPts val="1232"/>
              </a:lnSpc>
              <a:spcAft>
                <a:spcPts val="100"/>
              </a:spcAft>
            </a:pPr>
            <a:r>
              <a:rPr sz="1100" b="1" i="0">
                <a:solidFill>
                  <a:srgbClr val="087F72"/>
                </a:solidFill>
                <a:latin typeface="Aptos"/>
              </a:rPr>
              <a:t>Pain point</a:t>
            </a:r>
          </a:p>
        </p:txBody>
      </p:sp>
      <p:sp>
        <p:nvSpPr>
          <p:cNvPr id="37" name="TextBox 36"/>
          <p:cNvSpPr txBox="1"/>
          <p:nvPr/>
        </p:nvSpPr>
        <p:spPr>
          <a:xfrm>
            <a:off x="7479792" y="4059936"/>
            <a:ext cx="3685032" cy="429768"/>
          </a:xfrm>
          <a:prstGeom prst="rect">
            <a:avLst/>
          </a:prstGeom>
          <a:noFill/>
        </p:spPr>
        <p:txBody>
          <a:bodyPr wrap="square" tIns="0" bIns="0" lIns="0" rIns="0" anchor="t">
            <a:spAutoFit/>
          </a:bodyPr>
          <a:lstStyle/>
          <a:p>
            <a:pPr algn="l">
              <a:lnSpc>
                <a:spcPts val="1299"/>
              </a:lnSpc>
              <a:spcAft>
                <a:spcPts val="100"/>
              </a:spcAft>
            </a:pPr>
            <a:r>
              <a:rPr sz="1160" b="0" i="0">
                <a:solidFill>
                  <a:srgbClr val="193D35"/>
                </a:solidFill>
                <a:latin typeface="Aptos"/>
              </a:rPr>
              <a:t>TikTok, kỳ thi, mất động lực</a:t>
            </a:r>
          </a:p>
        </p:txBody>
      </p:sp>
      <p:sp>
        <p:nvSpPr>
          <p:cNvPr id="38" name="TextBox 37"/>
          <p:cNvSpPr txBox="1"/>
          <p:nvPr/>
        </p:nvSpPr>
        <p:spPr>
          <a:xfrm>
            <a:off x="6428232" y="4562856"/>
            <a:ext cx="996696" cy="219456"/>
          </a:xfrm>
          <a:prstGeom prst="rect">
            <a:avLst/>
          </a:prstGeom>
          <a:noFill/>
        </p:spPr>
        <p:txBody>
          <a:bodyPr wrap="square" tIns="0" bIns="0" lIns="0" rIns="0" anchor="t">
            <a:spAutoFit/>
          </a:bodyPr>
          <a:lstStyle/>
          <a:p>
            <a:pPr algn="l">
              <a:lnSpc>
                <a:spcPts val="1232"/>
              </a:lnSpc>
              <a:spcAft>
                <a:spcPts val="100"/>
              </a:spcAft>
            </a:pPr>
            <a:r>
              <a:rPr sz="1100" b="1" i="0">
                <a:solidFill>
                  <a:srgbClr val="087F72"/>
                </a:solidFill>
                <a:latin typeface="Aptos"/>
              </a:rPr>
              <a:t>Cần trong app</a:t>
            </a:r>
          </a:p>
        </p:txBody>
      </p:sp>
      <p:sp>
        <p:nvSpPr>
          <p:cNvPr id="39" name="TextBox 38"/>
          <p:cNvSpPr txBox="1"/>
          <p:nvPr/>
        </p:nvSpPr>
        <p:spPr>
          <a:xfrm>
            <a:off x="7479792" y="4562856"/>
            <a:ext cx="3685032" cy="429768"/>
          </a:xfrm>
          <a:prstGeom prst="rect">
            <a:avLst/>
          </a:prstGeom>
          <a:noFill/>
        </p:spPr>
        <p:txBody>
          <a:bodyPr wrap="square" tIns="0" bIns="0" lIns="0" rIns="0" anchor="t">
            <a:spAutoFit/>
          </a:bodyPr>
          <a:lstStyle/>
          <a:p>
            <a:pPr algn="l">
              <a:lnSpc>
                <a:spcPts val="1299"/>
              </a:lnSpc>
              <a:spcAft>
                <a:spcPts val="100"/>
              </a:spcAft>
            </a:pPr>
            <a:r>
              <a:rPr sz="1160" b="0" i="0">
                <a:solidFill>
                  <a:srgbClr val="193D35"/>
                </a:solidFill>
                <a:latin typeface="Aptos"/>
              </a:rPr>
              <a:t>Add Schedule → Hyper Mode → notes/history</a:t>
            </a:r>
          </a:p>
        </p:txBody>
      </p:sp>
      <p:sp>
        <p:nvSpPr>
          <p:cNvPr id="40" name="Rounded Rectangle 39"/>
          <p:cNvSpPr/>
          <p:nvPr/>
        </p:nvSpPr>
        <p:spPr>
          <a:xfrm>
            <a:off x="6382512" y="5184648"/>
            <a:ext cx="4910328" cy="841248"/>
          </a:xfrm>
          <a:prstGeom prst="roundRect">
            <a:avLst>
              <a:gd name="adj" fmla="val 10000"/>
            </a:avLst>
          </a:prstGeom>
          <a:solidFill>
            <a:srgbClr val="E8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10528" y="5340096"/>
            <a:ext cx="4672584" cy="630936"/>
          </a:xfrm>
          <a:prstGeom prst="rect">
            <a:avLst/>
          </a:prstGeom>
          <a:noFill/>
        </p:spPr>
        <p:txBody>
          <a:bodyPr wrap="square" tIns="0" bIns="0" lIns="0" rIns="0" anchor="t">
            <a:spAutoFit/>
          </a:bodyPr>
          <a:lstStyle/>
          <a:p>
            <a:pPr algn="l">
              <a:lnSpc>
                <a:spcPts val="1254"/>
              </a:lnSpc>
              <a:spcAft>
                <a:spcPts val="100"/>
              </a:spcAft>
            </a:pPr>
            <a:r>
              <a:rPr sz="1120" b="1" i="0">
                <a:solidFill>
                  <a:srgbClr val="193D35"/>
                </a:solidFill>
                <a:latin typeface="Aptos"/>
              </a:rPr>
              <a:t>Sinh viên đã có sở thích nhưng khó duy trì thực hành do phân tâm mạng xã hội, áp lực học tập và thiếu động lực khi chưa thấy tiến bộ.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56032"/>
            <a:ext cx="7315200" cy="246888"/>
          </a:xfrm>
          <a:prstGeom prst="rect">
            <a:avLst/>
          </a:prstGeom>
          <a:noFill/>
        </p:spPr>
        <p:txBody>
          <a:bodyPr wrap="square" tIns="0" bIns="0" lIns="0" rIns="0" anchor="t">
            <a:spAutoFit/>
          </a:bodyPr>
          <a:lstStyle/>
          <a:p>
            <a:pPr algn="l">
              <a:lnSpc>
                <a:spcPts val="1131"/>
              </a:lnSpc>
              <a:spcAft>
                <a:spcPts val="100"/>
              </a:spcAft>
            </a:pPr>
            <a:r>
              <a:rPr sz="1010" b="1" i="0">
                <a:solidFill>
                  <a:srgbClr val="087F72"/>
                </a:solidFill>
                <a:latin typeface="Aptos"/>
              </a:rPr>
              <a:t>03  UX DESIGN</a:t>
            </a:r>
          </a:p>
        </p:txBody>
      </p:sp>
      <p:sp>
        <p:nvSpPr>
          <p:cNvPr id="5" name="TextBox 4"/>
          <p:cNvSpPr txBox="1"/>
          <p:nvPr/>
        </p:nvSpPr>
        <p:spPr>
          <a:xfrm>
            <a:off x="566928" y="621792"/>
            <a:ext cx="10972800" cy="557784"/>
          </a:xfrm>
          <a:prstGeom prst="rect">
            <a:avLst/>
          </a:prstGeom>
          <a:noFill/>
        </p:spPr>
        <p:txBody>
          <a:bodyPr wrap="square" tIns="0" bIns="0" lIns="0" rIns="0" anchor="t">
            <a:spAutoFit/>
          </a:bodyPr>
          <a:lstStyle/>
          <a:p>
            <a:pPr algn="l">
              <a:lnSpc>
                <a:spcPts val="3024"/>
              </a:lnSpc>
              <a:spcAft>
                <a:spcPts val="100"/>
              </a:spcAft>
            </a:pPr>
            <a:r>
              <a:rPr sz="2700" b="1" i="0">
                <a:solidFill>
                  <a:srgbClr val="193D35"/>
                </a:solidFill>
                <a:latin typeface="Aptos"/>
              </a:rPr>
              <a:t>06 · UX Design: từ persona tới sitemap 4 tab</a:t>
            </a:r>
          </a:p>
        </p:txBody>
      </p:sp>
      <p:sp>
        <p:nvSpPr>
          <p:cNvPr id="6" name="TextBox 5"/>
          <p:cNvSpPr txBox="1"/>
          <p:nvPr/>
        </p:nvSpPr>
        <p:spPr>
          <a:xfrm>
            <a:off x="594360" y="1261872"/>
            <a:ext cx="10972800" cy="393192"/>
          </a:xfrm>
          <a:prstGeom prst="rect">
            <a:avLst/>
          </a:prstGeom>
          <a:noFill/>
        </p:spPr>
        <p:txBody>
          <a:bodyPr wrap="square" tIns="0" bIns="0" lIns="0" rIns="0" anchor="t">
            <a:spAutoFit/>
          </a:bodyPr>
          <a:lstStyle/>
          <a:p>
            <a:pPr algn="l">
              <a:lnSpc>
                <a:spcPts val="1388"/>
              </a:lnSpc>
              <a:spcAft>
                <a:spcPts val="100"/>
              </a:spcAft>
            </a:pPr>
            <a:r>
              <a:rPr sz="1240" b="0" i="0">
                <a:solidFill>
                  <a:srgbClr val="5C776B"/>
                </a:solidFill>
                <a:latin typeface="Aptos"/>
              </a:rPr>
              <a:t>Hệ thống được chia theo hành động người dùng — chứ không theo các module kỹ thuật.</a:t>
            </a:r>
          </a:p>
        </p:txBody>
      </p:sp>
      <p:sp>
        <p:nvSpPr>
          <p:cNvPr id="7" name="Rectangle 6"/>
          <p:cNvSpPr/>
          <p:nvPr/>
        </p:nvSpPr>
        <p:spPr>
          <a:xfrm>
            <a:off x="594360" y="6537960"/>
            <a:ext cx="10972800" cy="13716"/>
          </a:xfrm>
          <a:prstGeom prst="rect">
            <a:avLst/>
          </a:prstGeom>
          <a:solidFill>
            <a:srgbClr val="D7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6611112"/>
            <a:ext cx="6400800" cy="155448"/>
          </a:xfrm>
          <a:prstGeom prst="rect">
            <a:avLst/>
          </a:prstGeom>
          <a:noFill/>
        </p:spPr>
        <p:txBody>
          <a:bodyPr wrap="square" tIns="0" bIns="0" lIns="0" rIns="0" anchor="t">
            <a:spAutoFit/>
          </a:bodyPr>
          <a:lstStyle/>
          <a:p>
            <a:pPr algn="l">
              <a:lnSpc>
                <a:spcPts val="952"/>
              </a:lnSpc>
              <a:spcAft>
                <a:spcPts val="100"/>
              </a:spcAft>
            </a:pPr>
            <a:r>
              <a:rPr sz="850" b="1" i="0">
                <a:solidFill>
                  <a:srgbClr val="A7BCB1"/>
                </a:solidFill>
                <a:latin typeface="Aptos"/>
              </a:rPr>
              <a:t>HOBBY TRACKER  ·  UX / UI DESIGN JOURNEY</a:t>
            </a:r>
          </a:p>
        </p:txBody>
      </p:sp>
      <p:sp>
        <p:nvSpPr>
          <p:cNvPr id="9" name="TextBox 8"/>
          <p:cNvSpPr txBox="1"/>
          <p:nvPr/>
        </p:nvSpPr>
        <p:spPr>
          <a:xfrm>
            <a:off x="11100816" y="6583680"/>
            <a:ext cx="438912" cy="201168"/>
          </a:xfrm>
          <a:prstGeom prst="rect">
            <a:avLst/>
          </a:prstGeom>
          <a:noFill/>
        </p:spPr>
        <p:txBody>
          <a:bodyPr wrap="square" tIns="0" bIns="0" lIns="0" rIns="0" anchor="t">
            <a:spAutoFit/>
          </a:bodyPr>
          <a:lstStyle/>
          <a:p>
            <a:pPr algn="r">
              <a:lnSpc>
                <a:spcPts val="1008"/>
              </a:lnSpc>
              <a:spcAft>
                <a:spcPts val="100"/>
              </a:spcAft>
            </a:pPr>
            <a:r>
              <a:rPr sz="900" b="1" i="0">
                <a:solidFill>
                  <a:srgbClr val="087F72"/>
                </a:solidFill>
                <a:latin typeface="Aptos"/>
              </a:rPr>
              <a:t>07 / 12</a:t>
            </a:r>
          </a:p>
        </p:txBody>
      </p:sp>
      <p:sp>
        <p:nvSpPr>
          <p:cNvPr id="10" name="Rounded Rectangle 9"/>
          <p:cNvSpPr/>
          <p:nvPr/>
        </p:nvSpPr>
        <p:spPr>
          <a:xfrm>
            <a:off x="3566160" y="1755648"/>
            <a:ext cx="5074920" cy="448056"/>
          </a:xfrm>
          <a:prstGeom prst="roundRect">
            <a:avLst>
              <a:gd name="adj" fmla="val 10000"/>
            </a:avLst>
          </a:prstGeom>
          <a:solidFill>
            <a:srgbClr val="123D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85032" y="1901952"/>
            <a:ext cx="4846320" cy="182880"/>
          </a:xfrm>
          <a:prstGeom prst="rect">
            <a:avLst/>
          </a:prstGeom>
          <a:noFill/>
        </p:spPr>
        <p:txBody>
          <a:bodyPr wrap="square" tIns="0" bIns="0" lIns="0" rIns="0" anchor="t">
            <a:spAutoFit/>
          </a:bodyPr>
          <a:lstStyle/>
          <a:p>
            <a:pPr algn="ctr">
              <a:lnSpc>
                <a:spcPts val="1232"/>
              </a:lnSpc>
              <a:spcAft>
                <a:spcPts val="100"/>
              </a:spcAft>
            </a:pPr>
            <a:r>
              <a:rPr sz="1100" b="1" i="0">
                <a:solidFill>
                  <a:srgbClr val="FFFFFF"/>
                </a:solidFill>
                <a:latin typeface="Aptos"/>
              </a:rPr>
              <a:t>SIGN IN  /  REGISTER  /  FORGOT PASSWORD</a:t>
            </a:r>
          </a:p>
        </p:txBody>
      </p:sp>
      <p:sp>
        <p:nvSpPr>
          <p:cNvPr id="12" name="Rectangle 11"/>
          <p:cNvSpPr/>
          <p:nvPr/>
        </p:nvSpPr>
        <p:spPr>
          <a:xfrm>
            <a:off x="6071616" y="2221992"/>
            <a:ext cx="27432" cy="393192"/>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7512" y="2660904"/>
            <a:ext cx="2660904" cy="2395728"/>
          </a:xfrm>
          <a:prstGeom prst="roundRect">
            <a:avLst>
              <a:gd name="adj" fmla="val 9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95528" y="2834640"/>
            <a:ext cx="2404872" cy="475488"/>
          </a:xfrm>
          <a:prstGeom prst="roundRect">
            <a:avLst>
              <a:gd name="adj" fmla="val 9000"/>
            </a:avLst>
          </a:prstGeom>
          <a:solidFill>
            <a:srgbClr val="D1E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2971800"/>
            <a:ext cx="2167128" cy="201168"/>
          </a:xfrm>
          <a:prstGeom prst="rect">
            <a:avLst/>
          </a:prstGeom>
          <a:noFill/>
        </p:spPr>
        <p:txBody>
          <a:bodyPr wrap="square" tIns="0" bIns="0" lIns="0" rIns="0" anchor="t">
            <a:spAutoFit/>
          </a:bodyPr>
          <a:lstStyle/>
          <a:p>
            <a:pPr algn="l">
              <a:lnSpc>
                <a:spcPts val="1489"/>
              </a:lnSpc>
              <a:spcAft>
                <a:spcPts val="100"/>
              </a:spcAft>
            </a:pPr>
            <a:r>
              <a:rPr sz="1330" b="1" i="0">
                <a:solidFill>
                  <a:srgbClr val="193D35"/>
                </a:solidFill>
                <a:latin typeface="Aptos"/>
              </a:rPr>
              <a:t>HOME</a:t>
            </a:r>
          </a:p>
        </p:txBody>
      </p:sp>
      <p:sp>
        <p:nvSpPr>
          <p:cNvPr id="16" name="TextBox 15"/>
          <p:cNvSpPr txBox="1"/>
          <p:nvPr/>
        </p:nvSpPr>
        <p:spPr>
          <a:xfrm>
            <a:off x="868680" y="3502152"/>
            <a:ext cx="2286000" cy="246888"/>
          </a:xfrm>
          <a:prstGeom prst="rect">
            <a:avLst/>
          </a:prstGeom>
          <a:noFill/>
        </p:spPr>
        <p:txBody>
          <a:bodyPr wrap="square" tIns="0" bIns="0" lIns="0" rIns="0" anchor="t">
            <a:spAutoFit/>
          </a:bodyPr>
          <a:lstStyle/>
          <a:p>
            <a:pPr algn="l">
              <a:lnSpc>
                <a:spcPts val="1288"/>
              </a:lnSpc>
              <a:spcAft>
                <a:spcPts val="100"/>
              </a:spcAft>
            </a:pPr>
            <a:r>
              <a:rPr sz="1150" b="1" i="0">
                <a:solidFill>
                  <a:srgbClr val="087F72"/>
                </a:solidFill>
                <a:latin typeface="Aptos"/>
              </a:rPr>
              <a:t>Làm và theo dõi</a:t>
            </a:r>
          </a:p>
        </p:txBody>
      </p:sp>
      <p:sp>
        <p:nvSpPr>
          <p:cNvPr id="17" name="TextBox 16"/>
          <p:cNvSpPr txBox="1"/>
          <p:nvPr/>
        </p:nvSpPr>
        <p:spPr>
          <a:xfrm>
            <a:off x="850392" y="3886200"/>
            <a:ext cx="2304288" cy="347472"/>
          </a:xfrm>
          <a:prstGeom prst="rect">
            <a:avLst/>
          </a:prstGeom>
          <a:noFill/>
        </p:spPr>
        <p:txBody>
          <a:bodyPr wrap="square" tIns="0" bIns="0" lIns="0" rIns="0" anchor="t">
            <a:spAutoFit/>
          </a:bodyPr>
          <a:lstStyle/>
          <a:p>
            <a:pPr algn="l">
              <a:lnSpc>
                <a:spcPts val="1265"/>
              </a:lnSpc>
              <a:spcAft>
                <a:spcPts val="100"/>
              </a:spcAft>
            </a:pPr>
            <a:r>
              <a:rPr sz="1130" b="0" i="0">
                <a:solidFill>
                  <a:srgbClr val="193D35"/>
                </a:solidFill>
                <a:latin typeface="Aptos"/>
              </a:rPr>
              <a:t>• Lịch 7 ngày, Add Schedule</a:t>
            </a:r>
          </a:p>
        </p:txBody>
      </p:sp>
      <p:sp>
        <p:nvSpPr>
          <p:cNvPr id="18" name="TextBox 17"/>
          <p:cNvSpPr txBox="1"/>
          <p:nvPr/>
        </p:nvSpPr>
        <p:spPr>
          <a:xfrm>
            <a:off x="850392" y="4251960"/>
            <a:ext cx="2304288" cy="347472"/>
          </a:xfrm>
          <a:prstGeom prst="rect">
            <a:avLst/>
          </a:prstGeom>
          <a:noFill/>
        </p:spPr>
        <p:txBody>
          <a:bodyPr wrap="square" tIns="0" bIns="0" lIns="0" rIns="0" anchor="t">
            <a:spAutoFit/>
          </a:bodyPr>
          <a:lstStyle/>
          <a:p>
            <a:pPr algn="l">
              <a:lnSpc>
                <a:spcPts val="1265"/>
              </a:lnSpc>
              <a:spcAft>
                <a:spcPts val="100"/>
              </a:spcAft>
            </a:pPr>
            <a:r>
              <a:rPr sz="1130" b="0" i="0">
                <a:solidFill>
                  <a:srgbClr val="193D35"/>
                </a:solidFill>
                <a:latin typeface="Aptos"/>
              </a:rPr>
              <a:t>• Hyper timer + tools + notes</a:t>
            </a:r>
          </a:p>
        </p:txBody>
      </p:sp>
      <p:sp>
        <p:nvSpPr>
          <p:cNvPr id="19" name="TextBox 18"/>
          <p:cNvSpPr txBox="1"/>
          <p:nvPr/>
        </p:nvSpPr>
        <p:spPr>
          <a:xfrm>
            <a:off x="850392" y="4617720"/>
            <a:ext cx="2304288" cy="347472"/>
          </a:xfrm>
          <a:prstGeom prst="rect">
            <a:avLst/>
          </a:prstGeom>
          <a:noFill/>
        </p:spPr>
        <p:txBody>
          <a:bodyPr wrap="square" tIns="0" bIns="0" lIns="0" rIns="0" anchor="t">
            <a:spAutoFit/>
          </a:bodyPr>
          <a:lstStyle/>
          <a:p>
            <a:pPr algn="l">
              <a:lnSpc>
                <a:spcPts val="1265"/>
              </a:lnSpc>
              <a:spcAft>
                <a:spcPts val="100"/>
              </a:spcAft>
            </a:pPr>
            <a:r>
              <a:rPr sz="1130" b="0" i="0">
                <a:solidFill>
                  <a:srgbClr val="193D35"/>
                </a:solidFill>
                <a:latin typeface="Aptos"/>
              </a:rPr>
              <a:t>• Activity history, gợi ý</a:t>
            </a:r>
          </a:p>
        </p:txBody>
      </p:sp>
      <p:sp>
        <p:nvSpPr>
          <p:cNvPr id="20" name="Rounded Rectangle 19"/>
          <p:cNvSpPr/>
          <p:nvPr/>
        </p:nvSpPr>
        <p:spPr>
          <a:xfrm>
            <a:off x="3547872" y="2660904"/>
            <a:ext cx="2660904" cy="2395728"/>
          </a:xfrm>
          <a:prstGeom prst="roundRect">
            <a:avLst>
              <a:gd name="adj" fmla="val 9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675887" y="2834640"/>
            <a:ext cx="2404872" cy="475488"/>
          </a:xfrm>
          <a:prstGeom prst="roundRect">
            <a:avLst>
              <a:gd name="adj" fmla="val 9000"/>
            </a:avLst>
          </a:prstGeom>
          <a:solidFill>
            <a:srgbClr val="FBEF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76472" y="2971800"/>
            <a:ext cx="2167128" cy="201168"/>
          </a:xfrm>
          <a:prstGeom prst="rect">
            <a:avLst/>
          </a:prstGeom>
          <a:noFill/>
        </p:spPr>
        <p:txBody>
          <a:bodyPr wrap="square" tIns="0" bIns="0" lIns="0" rIns="0" anchor="t">
            <a:spAutoFit/>
          </a:bodyPr>
          <a:lstStyle/>
          <a:p>
            <a:pPr algn="l">
              <a:lnSpc>
                <a:spcPts val="1489"/>
              </a:lnSpc>
              <a:spcAft>
                <a:spcPts val="100"/>
              </a:spcAft>
            </a:pPr>
            <a:r>
              <a:rPr sz="1330" b="1" i="0">
                <a:solidFill>
                  <a:srgbClr val="193D35"/>
                </a:solidFill>
                <a:latin typeface="Aptos"/>
              </a:rPr>
              <a:t>MY HOBBIES</a:t>
            </a:r>
          </a:p>
        </p:txBody>
      </p:sp>
      <p:sp>
        <p:nvSpPr>
          <p:cNvPr id="23" name="TextBox 22"/>
          <p:cNvSpPr txBox="1"/>
          <p:nvPr/>
        </p:nvSpPr>
        <p:spPr>
          <a:xfrm>
            <a:off x="3749039" y="3502152"/>
            <a:ext cx="2286000" cy="246888"/>
          </a:xfrm>
          <a:prstGeom prst="rect">
            <a:avLst/>
          </a:prstGeom>
          <a:noFill/>
        </p:spPr>
        <p:txBody>
          <a:bodyPr wrap="square" tIns="0" bIns="0" lIns="0" rIns="0" anchor="t">
            <a:spAutoFit/>
          </a:bodyPr>
          <a:lstStyle/>
          <a:p>
            <a:pPr algn="l">
              <a:lnSpc>
                <a:spcPts val="1288"/>
              </a:lnSpc>
              <a:spcAft>
                <a:spcPts val="100"/>
              </a:spcAft>
            </a:pPr>
            <a:r>
              <a:rPr sz="1150" b="1" i="0">
                <a:solidFill>
                  <a:srgbClr val="087F72"/>
                </a:solidFill>
                <a:latin typeface="Aptos"/>
              </a:rPr>
              <a:t>Tự tạo &amp; quản lý</a:t>
            </a:r>
          </a:p>
        </p:txBody>
      </p:sp>
      <p:sp>
        <p:nvSpPr>
          <p:cNvPr id="24" name="TextBox 23"/>
          <p:cNvSpPr txBox="1"/>
          <p:nvPr/>
        </p:nvSpPr>
        <p:spPr>
          <a:xfrm>
            <a:off x="3730752" y="3886200"/>
            <a:ext cx="2304288" cy="347472"/>
          </a:xfrm>
          <a:prstGeom prst="rect">
            <a:avLst/>
          </a:prstGeom>
          <a:noFill/>
        </p:spPr>
        <p:txBody>
          <a:bodyPr wrap="square" tIns="0" bIns="0" lIns="0" rIns="0" anchor="t">
            <a:spAutoFit/>
          </a:bodyPr>
          <a:lstStyle/>
          <a:p>
            <a:pPr algn="l">
              <a:lnSpc>
                <a:spcPts val="1265"/>
              </a:lnSpc>
              <a:spcAft>
                <a:spcPts val="100"/>
              </a:spcAft>
            </a:pPr>
            <a:r>
              <a:rPr sz="1130" b="0" i="0">
                <a:solidFill>
                  <a:srgbClr val="193D35"/>
                </a:solidFill>
                <a:latin typeface="Aptos"/>
              </a:rPr>
              <a:t>• Collection, Create / Edit</a:t>
            </a:r>
          </a:p>
        </p:txBody>
      </p:sp>
      <p:sp>
        <p:nvSpPr>
          <p:cNvPr id="25" name="TextBox 24"/>
          <p:cNvSpPr txBox="1"/>
          <p:nvPr/>
        </p:nvSpPr>
        <p:spPr>
          <a:xfrm>
            <a:off x="3730752" y="4251960"/>
            <a:ext cx="2304288" cy="347472"/>
          </a:xfrm>
          <a:prstGeom prst="rect">
            <a:avLst/>
          </a:prstGeom>
          <a:noFill/>
        </p:spPr>
        <p:txBody>
          <a:bodyPr wrap="square" tIns="0" bIns="0" lIns="0" rIns="0" anchor="t">
            <a:spAutoFit/>
          </a:bodyPr>
          <a:lstStyle/>
          <a:p>
            <a:pPr algn="l">
              <a:lnSpc>
                <a:spcPts val="1265"/>
              </a:lnSpc>
              <a:spcAft>
                <a:spcPts val="100"/>
              </a:spcAft>
            </a:pPr>
            <a:r>
              <a:rPr sz="1130" b="0" i="0">
                <a:solidFill>
                  <a:srgbClr val="193D35"/>
                </a:solidFill>
                <a:latin typeface="Aptos"/>
              </a:rPr>
              <a:t>• Icon grid + màu + preview</a:t>
            </a:r>
          </a:p>
        </p:txBody>
      </p:sp>
      <p:sp>
        <p:nvSpPr>
          <p:cNvPr id="26" name="TextBox 25"/>
          <p:cNvSpPr txBox="1"/>
          <p:nvPr/>
        </p:nvSpPr>
        <p:spPr>
          <a:xfrm>
            <a:off x="3730752" y="4617720"/>
            <a:ext cx="2304288" cy="347472"/>
          </a:xfrm>
          <a:prstGeom prst="rect">
            <a:avLst/>
          </a:prstGeom>
          <a:noFill/>
        </p:spPr>
        <p:txBody>
          <a:bodyPr wrap="square" tIns="0" bIns="0" lIns="0" rIns="0" anchor="t">
            <a:spAutoFit/>
          </a:bodyPr>
          <a:lstStyle/>
          <a:p>
            <a:pPr algn="l">
              <a:lnSpc>
                <a:spcPts val="1265"/>
              </a:lnSpc>
              <a:spcAft>
                <a:spcPts val="100"/>
              </a:spcAft>
            </a:pPr>
            <a:r>
              <a:rPr sz="1130" b="0" i="0">
                <a:solidFill>
                  <a:srgbClr val="193D35"/>
                </a:solidFill>
                <a:latin typeface="Aptos"/>
              </a:rPr>
              <a:t>• Active / Interested</a:t>
            </a:r>
          </a:p>
        </p:txBody>
      </p:sp>
      <p:sp>
        <p:nvSpPr>
          <p:cNvPr id="27" name="Rounded Rectangle 26"/>
          <p:cNvSpPr/>
          <p:nvPr/>
        </p:nvSpPr>
        <p:spPr>
          <a:xfrm>
            <a:off x="6428231" y="2660904"/>
            <a:ext cx="2660904" cy="2395728"/>
          </a:xfrm>
          <a:prstGeom prst="roundRect">
            <a:avLst>
              <a:gd name="adj" fmla="val 9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556247" y="2834640"/>
            <a:ext cx="2404872" cy="475488"/>
          </a:xfrm>
          <a:prstGeom prst="roundRect">
            <a:avLst>
              <a:gd name="adj" fmla="val 9000"/>
            </a:avLst>
          </a:prstGeom>
          <a:solidFill>
            <a:srgbClr val="E7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56831" y="2971800"/>
            <a:ext cx="2167128" cy="201168"/>
          </a:xfrm>
          <a:prstGeom prst="rect">
            <a:avLst/>
          </a:prstGeom>
          <a:noFill/>
        </p:spPr>
        <p:txBody>
          <a:bodyPr wrap="square" tIns="0" bIns="0" lIns="0" rIns="0" anchor="t">
            <a:spAutoFit/>
          </a:bodyPr>
          <a:lstStyle/>
          <a:p>
            <a:pPr algn="l">
              <a:lnSpc>
                <a:spcPts val="1489"/>
              </a:lnSpc>
              <a:spcAft>
                <a:spcPts val="100"/>
              </a:spcAft>
            </a:pPr>
            <a:r>
              <a:rPr sz="1330" b="1" i="0">
                <a:solidFill>
                  <a:srgbClr val="193D35"/>
                </a:solidFill>
                <a:latin typeface="Aptos"/>
              </a:rPr>
              <a:t>COMMUNITY</a:t>
            </a:r>
          </a:p>
        </p:txBody>
      </p:sp>
      <p:sp>
        <p:nvSpPr>
          <p:cNvPr id="30" name="TextBox 29"/>
          <p:cNvSpPr txBox="1"/>
          <p:nvPr/>
        </p:nvSpPr>
        <p:spPr>
          <a:xfrm>
            <a:off x="6629399" y="3502152"/>
            <a:ext cx="2286000" cy="246888"/>
          </a:xfrm>
          <a:prstGeom prst="rect">
            <a:avLst/>
          </a:prstGeom>
          <a:noFill/>
        </p:spPr>
        <p:txBody>
          <a:bodyPr wrap="square" tIns="0" bIns="0" lIns="0" rIns="0" anchor="t">
            <a:spAutoFit/>
          </a:bodyPr>
          <a:lstStyle/>
          <a:p>
            <a:pPr algn="l">
              <a:lnSpc>
                <a:spcPts val="1288"/>
              </a:lnSpc>
              <a:spcAft>
                <a:spcPts val="100"/>
              </a:spcAft>
            </a:pPr>
            <a:r>
              <a:rPr sz="1150" b="1" i="0">
                <a:solidFill>
                  <a:srgbClr val="087F72"/>
                </a:solidFill>
                <a:latin typeface="Aptos"/>
              </a:rPr>
              <a:t>Kết nối khi muốn</a:t>
            </a:r>
          </a:p>
        </p:txBody>
      </p:sp>
      <p:sp>
        <p:nvSpPr>
          <p:cNvPr id="31" name="TextBox 30"/>
          <p:cNvSpPr txBox="1"/>
          <p:nvPr/>
        </p:nvSpPr>
        <p:spPr>
          <a:xfrm>
            <a:off x="6611112" y="3886200"/>
            <a:ext cx="2304288" cy="347472"/>
          </a:xfrm>
          <a:prstGeom prst="rect">
            <a:avLst/>
          </a:prstGeom>
          <a:noFill/>
        </p:spPr>
        <p:txBody>
          <a:bodyPr wrap="square" tIns="0" bIns="0" lIns="0" rIns="0" anchor="t">
            <a:spAutoFit/>
          </a:bodyPr>
          <a:lstStyle/>
          <a:p>
            <a:pPr algn="l">
              <a:lnSpc>
                <a:spcPts val="1265"/>
              </a:lnSpc>
              <a:spcAft>
                <a:spcPts val="100"/>
              </a:spcAft>
            </a:pPr>
            <a:r>
              <a:rPr sz="1130" b="0" i="0">
                <a:solidFill>
                  <a:srgbClr val="193D35"/>
                </a:solidFill>
                <a:latin typeface="Aptos"/>
              </a:rPr>
              <a:t>• Feed, Groups, Events</a:t>
            </a:r>
          </a:p>
        </p:txBody>
      </p:sp>
      <p:sp>
        <p:nvSpPr>
          <p:cNvPr id="32" name="TextBox 31"/>
          <p:cNvSpPr txBox="1"/>
          <p:nvPr/>
        </p:nvSpPr>
        <p:spPr>
          <a:xfrm>
            <a:off x="6611112" y="4251960"/>
            <a:ext cx="2304288" cy="347472"/>
          </a:xfrm>
          <a:prstGeom prst="rect">
            <a:avLst/>
          </a:prstGeom>
          <a:noFill/>
        </p:spPr>
        <p:txBody>
          <a:bodyPr wrap="square" tIns="0" bIns="0" lIns="0" rIns="0" anchor="t">
            <a:spAutoFit/>
          </a:bodyPr>
          <a:lstStyle/>
          <a:p>
            <a:pPr algn="l">
              <a:lnSpc>
                <a:spcPts val="1265"/>
              </a:lnSpc>
              <a:spcAft>
                <a:spcPts val="100"/>
              </a:spcAft>
            </a:pPr>
            <a:r>
              <a:rPr sz="1130" b="0" i="0">
                <a:solidFill>
                  <a:srgbClr val="193D35"/>
                </a:solidFill>
                <a:latin typeface="Aptos"/>
              </a:rPr>
              <a:t>• People, Chats trực tiếp/nhóm</a:t>
            </a:r>
          </a:p>
        </p:txBody>
      </p:sp>
      <p:sp>
        <p:nvSpPr>
          <p:cNvPr id="33" name="TextBox 32"/>
          <p:cNvSpPr txBox="1"/>
          <p:nvPr/>
        </p:nvSpPr>
        <p:spPr>
          <a:xfrm>
            <a:off x="6611112" y="4617720"/>
            <a:ext cx="2304288" cy="347472"/>
          </a:xfrm>
          <a:prstGeom prst="rect">
            <a:avLst/>
          </a:prstGeom>
          <a:noFill/>
        </p:spPr>
        <p:txBody>
          <a:bodyPr wrap="square" tIns="0" bIns="0" lIns="0" rIns="0" anchor="t">
            <a:spAutoFit/>
          </a:bodyPr>
          <a:lstStyle/>
          <a:p>
            <a:pPr algn="l">
              <a:lnSpc>
                <a:spcPts val="1265"/>
              </a:lnSpc>
              <a:spcAft>
                <a:spcPts val="100"/>
              </a:spcAft>
            </a:pPr>
            <a:r>
              <a:rPr sz="1130" b="0" i="0">
                <a:solidFill>
                  <a:srgbClr val="193D35"/>
                </a:solidFill>
                <a:latin typeface="Aptos"/>
              </a:rPr>
              <a:t>• RSVP → tùy chọn Add Home</a:t>
            </a:r>
          </a:p>
        </p:txBody>
      </p:sp>
      <p:sp>
        <p:nvSpPr>
          <p:cNvPr id="34" name="Rounded Rectangle 33"/>
          <p:cNvSpPr/>
          <p:nvPr/>
        </p:nvSpPr>
        <p:spPr>
          <a:xfrm>
            <a:off x="9308592" y="2660904"/>
            <a:ext cx="2660904" cy="2395728"/>
          </a:xfrm>
          <a:prstGeom prst="roundRect">
            <a:avLst>
              <a:gd name="adj" fmla="val 9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436608" y="2834640"/>
            <a:ext cx="2404872" cy="475488"/>
          </a:xfrm>
          <a:prstGeom prst="roundRect">
            <a:avLst>
              <a:gd name="adj" fmla="val 9000"/>
            </a:avLst>
          </a:prstGeom>
          <a:solidFill>
            <a:srgbClr val="EEE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537192" y="2971800"/>
            <a:ext cx="2167128" cy="201168"/>
          </a:xfrm>
          <a:prstGeom prst="rect">
            <a:avLst/>
          </a:prstGeom>
          <a:noFill/>
        </p:spPr>
        <p:txBody>
          <a:bodyPr wrap="square" tIns="0" bIns="0" lIns="0" rIns="0" anchor="t">
            <a:spAutoFit/>
          </a:bodyPr>
          <a:lstStyle/>
          <a:p>
            <a:pPr algn="l">
              <a:lnSpc>
                <a:spcPts val="1489"/>
              </a:lnSpc>
              <a:spcAft>
                <a:spcPts val="100"/>
              </a:spcAft>
            </a:pPr>
            <a:r>
              <a:rPr sz="1330" b="1" i="0">
                <a:solidFill>
                  <a:srgbClr val="193D35"/>
                </a:solidFill>
                <a:latin typeface="Aptos"/>
              </a:rPr>
              <a:t>SETTINGS</a:t>
            </a:r>
          </a:p>
        </p:txBody>
      </p:sp>
      <p:sp>
        <p:nvSpPr>
          <p:cNvPr id="37" name="TextBox 36"/>
          <p:cNvSpPr txBox="1"/>
          <p:nvPr/>
        </p:nvSpPr>
        <p:spPr>
          <a:xfrm>
            <a:off x="9509760" y="3502152"/>
            <a:ext cx="2286000" cy="246888"/>
          </a:xfrm>
          <a:prstGeom prst="rect">
            <a:avLst/>
          </a:prstGeom>
          <a:noFill/>
        </p:spPr>
        <p:txBody>
          <a:bodyPr wrap="square" tIns="0" bIns="0" lIns="0" rIns="0" anchor="t">
            <a:spAutoFit/>
          </a:bodyPr>
          <a:lstStyle/>
          <a:p>
            <a:pPr algn="l">
              <a:lnSpc>
                <a:spcPts val="1288"/>
              </a:lnSpc>
              <a:spcAft>
                <a:spcPts val="100"/>
              </a:spcAft>
            </a:pPr>
            <a:r>
              <a:rPr sz="1150" b="1" i="0">
                <a:solidFill>
                  <a:srgbClr val="087F72"/>
                </a:solidFill>
                <a:latin typeface="Aptos"/>
              </a:rPr>
              <a:t>Tùy chỉnh &amp; kiểm soát</a:t>
            </a:r>
          </a:p>
        </p:txBody>
      </p:sp>
      <p:sp>
        <p:nvSpPr>
          <p:cNvPr id="38" name="TextBox 37"/>
          <p:cNvSpPr txBox="1"/>
          <p:nvPr/>
        </p:nvSpPr>
        <p:spPr>
          <a:xfrm>
            <a:off x="9491472" y="3886200"/>
            <a:ext cx="2304288" cy="347472"/>
          </a:xfrm>
          <a:prstGeom prst="rect">
            <a:avLst/>
          </a:prstGeom>
          <a:noFill/>
        </p:spPr>
        <p:txBody>
          <a:bodyPr wrap="square" tIns="0" bIns="0" lIns="0" rIns="0" anchor="t">
            <a:spAutoFit/>
          </a:bodyPr>
          <a:lstStyle/>
          <a:p>
            <a:pPr algn="l">
              <a:lnSpc>
                <a:spcPts val="1265"/>
              </a:lnSpc>
              <a:spcAft>
                <a:spcPts val="100"/>
              </a:spcAft>
            </a:pPr>
            <a:r>
              <a:rPr sz="1130" b="0" i="0">
                <a:solidFill>
                  <a:srgbClr val="193D35"/>
                </a:solidFill>
                <a:latin typeface="Aptos"/>
              </a:rPr>
              <a:t>• Profile, connected tools</a:t>
            </a:r>
          </a:p>
        </p:txBody>
      </p:sp>
      <p:sp>
        <p:nvSpPr>
          <p:cNvPr id="39" name="TextBox 38"/>
          <p:cNvSpPr txBox="1"/>
          <p:nvPr/>
        </p:nvSpPr>
        <p:spPr>
          <a:xfrm>
            <a:off x="9491472" y="4251960"/>
            <a:ext cx="2304288" cy="347472"/>
          </a:xfrm>
          <a:prstGeom prst="rect">
            <a:avLst/>
          </a:prstGeom>
          <a:noFill/>
        </p:spPr>
        <p:txBody>
          <a:bodyPr wrap="square" tIns="0" bIns="0" lIns="0" rIns="0" anchor="t">
            <a:spAutoFit/>
          </a:bodyPr>
          <a:lstStyle/>
          <a:p>
            <a:pPr algn="l">
              <a:lnSpc>
                <a:spcPts val="1265"/>
              </a:lnSpc>
              <a:spcAft>
                <a:spcPts val="100"/>
              </a:spcAft>
            </a:pPr>
            <a:r>
              <a:rPr sz="1130" b="0" i="0">
                <a:solidFill>
                  <a:srgbClr val="193D35"/>
                </a:solidFill>
                <a:latin typeface="Aptos"/>
              </a:rPr>
              <a:t>• Reminders, themes, privacy</a:t>
            </a:r>
          </a:p>
        </p:txBody>
      </p:sp>
      <p:sp>
        <p:nvSpPr>
          <p:cNvPr id="40" name="TextBox 39"/>
          <p:cNvSpPr txBox="1"/>
          <p:nvPr/>
        </p:nvSpPr>
        <p:spPr>
          <a:xfrm>
            <a:off x="9491472" y="4617720"/>
            <a:ext cx="2304288" cy="347472"/>
          </a:xfrm>
          <a:prstGeom prst="rect">
            <a:avLst/>
          </a:prstGeom>
          <a:noFill/>
        </p:spPr>
        <p:txBody>
          <a:bodyPr wrap="square" tIns="0" bIns="0" lIns="0" rIns="0" anchor="t">
            <a:spAutoFit/>
          </a:bodyPr>
          <a:lstStyle/>
          <a:p>
            <a:pPr algn="l">
              <a:lnSpc>
                <a:spcPts val="1265"/>
              </a:lnSpc>
              <a:spcAft>
                <a:spcPts val="100"/>
              </a:spcAft>
            </a:pPr>
            <a:r>
              <a:rPr sz="1130" b="0" i="0">
                <a:solidFill>
                  <a:srgbClr val="193D35"/>
                </a:solidFill>
                <a:latin typeface="Aptos"/>
              </a:rPr>
              <a:t>• Sign Out + xác nhận</a:t>
            </a:r>
          </a:p>
        </p:txBody>
      </p:sp>
      <p:sp>
        <p:nvSpPr>
          <p:cNvPr id="41" name="Rounded Rectangle 40"/>
          <p:cNvSpPr/>
          <p:nvPr/>
        </p:nvSpPr>
        <p:spPr>
          <a:xfrm>
            <a:off x="722376" y="5376672"/>
            <a:ext cx="5212080" cy="896112"/>
          </a:xfrm>
          <a:prstGeom prst="roundRect">
            <a:avLst>
              <a:gd name="adj" fmla="val 14000"/>
            </a:avLst>
          </a:prstGeom>
          <a:solidFill>
            <a:srgbClr val="E8F5ED"/>
          </a:solidFill>
          <a:ln w="12700">
            <a:solidFill>
              <a:srgbClr val="B8DB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5486400"/>
            <a:ext cx="4937760" cy="164592"/>
          </a:xfrm>
          <a:prstGeom prst="rect">
            <a:avLst/>
          </a:prstGeom>
          <a:noFill/>
        </p:spPr>
        <p:txBody>
          <a:bodyPr wrap="square" tIns="0" bIns="0" lIns="0" rIns="0" anchor="t">
            <a:spAutoFit/>
          </a:bodyPr>
          <a:lstStyle/>
          <a:p>
            <a:pPr algn="l">
              <a:lnSpc>
                <a:spcPts val="1064"/>
              </a:lnSpc>
              <a:spcAft>
                <a:spcPts val="100"/>
              </a:spcAft>
            </a:pPr>
            <a:r>
              <a:rPr sz="950" b="1" i="0">
                <a:solidFill>
                  <a:srgbClr val="087F72"/>
                </a:solidFill>
                <a:latin typeface="Aptos"/>
              </a:rPr>
              <a:t>BẠN · QUYẾT ĐỊNH LAYOUT</a:t>
            </a:r>
          </a:p>
        </p:txBody>
      </p:sp>
      <p:sp>
        <p:nvSpPr>
          <p:cNvPr id="43" name="TextBox 42"/>
          <p:cNvSpPr txBox="1"/>
          <p:nvPr/>
        </p:nvSpPr>
        <p:spPr>
          <a:xfrm>
            <a:off x="877824" y="5733288"/>
            <a:ext cx="4910328" cy="512064"/>
          </a:xfrm>
          <a:prstGeom prst="rect">
            <a:avLst/>
          </a:prstGeom>
          <a:noFill/>
        </p:spPr>
        <p:txBody>
          <a:bodyPr wrap="square" tIns="0" bIns="0" lIns="0" rIns="0" anchor="t">
            <a:spAutoFit/>
          </a:bodyPr>
          <a:lstStyle/>
          <a:p>
            <a:pPr algn="l">
              <a:lnSpc>
                <a:spcPts val="1388"/>
              </a:lnSpc>
              <a:spcAft>
                <a:spcPts val="100"/>
              </a:spcAft>
            </a:pPr>
            <a:r>
              <a:rPr sz="1240" b="1" i="0">
                <a:solidFill>
                  <a:srgbClr val="193D35"/>
                </a:solidFill>
                <a:latin typeface="Aptos"/>
              </a:rPr>
              <a:t>“Home: chọn phương án C — Hybrid calendar, chạm ngày đổi danh sách hoạt động.”</a:t>
            </a:r>
          </a:p>
        </p:txBody>
      </p:sp>
      <p:sp>
        <p:nvSpPr>
          <p:cNvPr id="44" name="Rounded Rectangle 43"/>
          <p:cNvSpPr/>
          <p:nvPr/>
        </p:nvSpPr>
        <p:spPr>
          <a:xfrm>
            <a:off x="6089904" y="5376672"/>
            <a:ext cx="5349240" cy="896112"/>
          </a:xfrm>
          <a:prstGeom prst="roundRect">
            <a:avLst>
              <a:gd name="adj" fmla="val 10000"/>
            </a:avLst>
          </a:prstGeom>
          <a:solidFill>
            <a:srgbClr val="E8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91072" y="5522976"/>
            <a:ext cx="4956048" cy="219456"/>
          </a:xfrm>
          <a:prstGeom prst="rect">
            <a:avLst/>
          </a:prstGeom>
          <a:noFill/>
        </p:spPr>
        <p:txBody>
          <a:bodyPr wrap="square" tIns="0" bIns="0" lIns="0" rIns="0" anchor="t">
            <a:spAutoFit/>
          </a:bodyPr>
          <a:lstStyle/>
          <a:p>
            <a:pPr algn="l">
              <a:lnSpc>
                <a:spcPts val="1232"/>
              </a:lnSpc>
              <a:spcAft>
                <a:spcPts val="100"/>
              </a:spcAft>
            </a:pPr>
            <a:r>
              <a:rPr sz="1100" b="1" i="0">
                <a:solidFill>
                  <a:srgbClr val="087F72"/>
                </a:solidFill>
                <a:latin typeface="Aptos"/>
              </a:rPr>
              <a:t>QUY TẮC ACTIVE / INTERESTED</a:t>
            </a:r>
          </a:p>
        </p:txBody>
      </p:sp>
      <p:sp>
        <p:nvSpPr>
          <p:cNvPr id="46" name="TextBox 45"/>
          <p:cNvSpPr txBox="1"/>
          <p:nvPr/>
        </p:nvSpPr>
        <p:spPr>
          <a:xfrm>
            <a:off x="6291072" y="5852160"/>
            <a:ext cx="4956048" cy="384048"/>
          </a:xfrm>
          <a:prstGeom prst="rect">
            <a:avLst/>
          </a:prstGeom>
          <a:noFill/>
        </p:spPr>
        <p:txBody>
          <a:bodyPr wrap="square" tIns="0" bIns="0" lIns="0" rIns="0" anchor="t">
            <a:spAutoFit/>
          </a:bodyPr>
          <a:lstStyle/>
          <a:p>
            <a:pPr algn="l">
              <a:lnSpc>
                <a:spcPts val="1310"/>
              </a:lnSpc>
              <a:spcAft>
                <a:spcPts val="100"/>
              </a:spcAft>
            </a:pPr>
            <a:r>
              <a:rPr sz="1170" b="0" i="0">
                <a:solidFill>
                  <a:srgbClr val="193D35"/>
                </a:solidFill>
                <a:latin typeface="Aptos"/>
              </a:rPr>
              <a:t>Chỉ là mức ưu tiên gợi ý; cả hai đều có thể lên lịch và dùng Hyper. Đổi mức ưu tiên không xóa lịch.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56032"/>
            <a:ext cx="7315200" cy="246888"/>
          </a:xfrm>
          <a:prstGeom prst="rect">
            <a:avLst/>
          </a:prstGeom>
          <a:noFill/>
        </p:spPr>
        <p:txBody>
          <a:bodyPr wrap="square" tIns="0" bIns="0" lIns="0" rIns="0" anchor="t">
            <a:spAutoFit/>
          </a:bodyPr>
          <a:lstStyle/>
          <a:p>
            <a:pPr algn="l">
              <a:lnSpc>
                <a:spcPts val="1131"/>
              </a:lnSpc>
              <a:spcAft>
                <a:spcPts val="100"/>
              </a:spcAft>
            </a:pPr>
            <a:r>
              <a:rPr sz="1010" b="1" i="0">
                <a:solidFill>
                  <a:srgbClr val="087F72"/>
                </a:solidFill>
                <a:latin typeface="Aptos"/>
              </a:rPr>
              <a:t>03  UX DESIGN</a:t>
            </a:r>
          </a:p>
        </p:txBody>
      </p:sp>
      <p:sp>
        <p:nvSpPr>
          <p:cNvPr id="5" name="TextBox 4"/>
          <p:cNvSpPr txBox="1"/>
          <p:nvPr/>
        </p:nvSpPr>
        <p:spPr>
          <a:xfrm>
            <a:off x="566928" y="621792"/>
            <a:ext cx="10972800" cy="557784"/>
          </a:xfrm>
          <a:prstGeom prst="rect">
            <a:avLst/>
          </a:prstGeom>
          <a:noFill/>
        </p:spPr>
        <p:txBody>
          <a:bodyPr wrap="square" tIns="0" bIns="0" lIns="0" rIns="0" anchor="t">
            <a:spAutoFit/>
          </a:bodyPr>
          <a:lstStyle/>
          <a:p>
            <a:pPr algn="l">
              <a:lnSpc>
                <a:spcPts val="3024"/>
              </a:lnSpc>
              <a:spcAft>
                <a:spcPts val="100"/>
              </a:spcAft>
            </a:pPr>
            <a:r>
              <a:rPr sz="2700" b="1" i="0">
                <a:solidFill>
                  <a:srgbClr val="193D35"/>
                </a:solidFill>
                <a:latin typeface="Aptos"/>
              </a:rPr>
              <a:t>07 · Ba user flows quyết định những gì phải hoạt động</a:t>
            </a:r>
          </a:p>
        </p:txBody>
      </p:sp>
      <p:sp>
        <p:nvSpPr>
          <p:cNvPr id="6" name="TextBox 5"/>
          <p:cNvSpPr txBox="1"/>
          <p:nvPr/>
        </p:nvSpPr>
        <p:spPr>
          <a:xfrm>
            <a:off x="594360" y="1261872"/>
            <a:ext cx="10972800" cy="393192"/>
          </a:xfrm>
          <a:prstGeom prst="rect">
            <a:avLst/>
          </a:prstGeom>
          <a:noFill/>
        </p:spPr>
        <p:txBody>
          <a:bodyPr wrap="square" tIns="0" bIns="0" lIns="0" rIns="0" anchor="t">
            <a:spAutoFit/>
          </a:bodyPr>
          <a:lstStyle/>
          <a:p>
            <a:pPr algn="l">
              <a:lnSpc>
                <a:spcPts val="1388"/>
              </a:lnSpc>
              <a:spcAft>
                <a:spcPts val="100"/>
              </a:spcAft>
            </a:pPr>
            <a:r>
              <a:rPr sz="1240" b="0" i="0">
                <a:solidFill>
                  <a:srgbClr val="5C776B"/>
                </a:solidFill>
                <a:latin typeface="Aptos"/>
              </a:rPr>
              <a:t>Mỗi luồng có mục tiêu cuối rõ ràng và trường hợp cần xử lý khi người dùng không đi theo happy path.</a:t>
            </a:r>
          </a:p>
        </p:txBody>
      </p:sp>
      <p:sp>
        <p:nvSpPr>
          <p:cNvPr id="7" name="Rectangle 6"/>
          <p:cNvSpPr/>
          <p:nvPr/>
        </p:nvSpPr>
        <p:spPr>
          <a:xfrm>
            <a:off x="594360" y="6537960"/>
            <a:ext cx="10972800" cy="13716"/>
          </a:xfrm>
          <a:prstGeom prst="rect">
            <a:avLst/>
          </a:prstGeom>
          <a:solidFill>
            <a:srgbClr val="D7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6611112"/>
            <a:ext cx="6400800" cy="155448"/>
          </a:xfrm>
          <a:prstGeom prst="rect">
            <a:avLst/>
          </a:prstGeom>
          <a:noFill/>
        </p:spPr>
        <p:txBody>
          <a:bodyPr wrap="square" tIns="0" bIns="0" lIns="0" rIns="0" anchor="t">
            <a:spAutoFit/>
          </a:bodyPr>
          <a:lstStyle/>
          <a:p>
            <a:pPr algn="l">
              <a:lnSpc>
                <a:spcPts val="952"/>
              </a:lnSpc>
              <a:spcAft>
                <a:spcPts val="100"/>
              </a:spcAft>
            </a:pPr>
            <a:r>
              <a:rPr sz="850" b="1" i="0">
                <a:solidFill>
                  <a:srgbClr val="A7BCB1"/>
                </a:solidFill>
                <a:latin typeface="Aptos"/>
              </a:rPr>
              <a:t>HOBBY TRACKER  ·  UX / UI DESIGN JOURNEY</a:t>
            </a:r>
          </a:p>
        </p:txBody>
      </p:sp>
      <p:sp>
        <p:nvSpPr>
          <p:cNvPr id="9" name="TextBox 8"/>
          <p:cNvSpPr txBox="1"/>
          <p:nvPr/>
        </p:nvSpPr>
        <p:spPr>
          <a:xfrm>
            <a:off x="11100816" y="6583680"/>
            <a:ext cx="438912" cy="201168"/>
          </a:xfrm>
          <a:prstGeom prst="rect">
            <a:avLst/>
          </a:prstGeom>
          <a:noFill/>
        </p:spPr>
        <p:txBody>
          <a:bodyPr wrap="square" tIns="0" bIns="0" lIns="0" rIns="0" anchor="t">
            <a:spAutoFit/>
          </a:bodyPr>
          <a:lstStyle/>
          <a:p>
            <a:pPr algn="r">
              <a:lnSpc>
                <a:spcPts val="1008"/>
              </a:lnSpc>
              <a:spcAft>
                <a:spcPts val="100"/>
              </a:spcAft>
            </a:pPr>
            <a:r>
              <a:rPr sz="900" b="1" i="0">
                <a:solidFill>
                  <a:srgbClr val="087F72"/>
                </a:solidFill>
                <a:latin typeface="Aptos"/>
              </a:rPr>
              <a:t>08 / 12</a:t>
            </a:r>
          </a:p>
        </p:txBody>
      </p:sp>
      <p:sp>
        <p:nvSpPr>
          <p:cNvPr id="10" name="Rounded Rectangle 9"/>
          <p:cNvSpPr/>
          <p:nvPr/>
        </p:nvSpPr>
        <p:spPr>
          <a:xfrm>
            <a:off x="658368" y="1792224"/>
            <a:ext cx="10853928" cy="1325880"/>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4672" y="1929384"/>
            <a:ext cx="1892807" cy="310896"/>
          </a:xfrm>
          <a:prstGeom prst="roundRect">
            <a:avLst>
              <a:gd name="adj" fmla="val 13000"/>
            </a:avLst>
          </a:prstGeom>
          <a:solidFill>
            <a:srgbClr val="D1E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020824"/>
            <a:ext cx="1664208" cy="164592"/>
          </a:xfrm>
          <a:prstGeom prst="rect">
            <a:avLst/>
          </a:prstGeom>
          <a:noFill/>
        </p:spPr>
        <p:txBody>
          <a:bodyPr wrap="square" tIns="0" bIns="0" lIns="0" rIns="0" anchor="t">
            <a:spAutoFit/>
          </a:bodyPr>
          <a:lstStyle/>
          <a:p>
            <a:pPr algn="l">
              <a:lnSpc>
                <a:spcPts val="1097"/>
              </a:lnSpc>
              <a:spcAft>
                <a:spcPts val="100"/>
              </a:spcAft>
            </a:pPr>
            <a:r>
              <a:rPr sz="980" b="1" i="0">
                <a:solidFill>
                  <a:srgbClr val="193D35"/>
                </a:solidFill>
                <a:latin typeface="Aptos"/>
              </a:rPr>
              <a:t>01 · DISCOVER &amp; CREATE</a:t>
            </a:r>
          </a:p>
        </p:txBody>
      </p:sp>
      <p:sp>
        <p:nvSpPr>
          <p:cNvPr id="13" name="TextBox 12"/>
          <p:cNvSpPr txBox="1"/>
          <p:nvPr/>
        </p:nvSpPr>
        <p:spPr>
          <a:xfrm>
            <a:off x="914400" y="2395728"/>
            <a:ext cx="1609344" cy="219456"/>
          </a:xfrm>
          <a:prstGeom prst="rect">
            <a:avLst/>
          </a:prstGeom>
          <a:noFill/>
        </p:spPr>
        <p:txBody>
          <a:bodyPr wrap="square" tIns="0" bIns="0" lIns="0" rIns="0" anchor="t">
            <a:spAutoFit/>
          </a:bodyPr>
          <a:lstStyle/>
          <a:p>
            <a:pPr algn="l">
              <a:lnSpc>
                <a:spcPts val="1232"/>
              </a:lnSpc>
              <a:spcAft>
                <a:spcPts val="100"/>
              </a:spcAft>
            </a:pPr>
            <a:r>
              <a:rPr sz="1100" b="0" i="0">
                <a:solidFill>
                  <a:srgbClr val="5C776B"/>
                </a:solidFill>
                <a:latin typeface="Aptos"/>
              </a:rPr>
              <a:t>Minh</a:t>
            </a:r>
          </a:p>
        </p:txBody>
      </p:sp>
      <p:sp>
        <p:nvSpPr>
          <p:cNvPr id="14" name="TextBox 13"/>
          <p:cNvSpPr txBox="1"/>
          <p:nvPr/>
        </p:nvSpPr>
        <p:spPr>
          <a:xfrm>
            <a:off x="2743200" y="2011680"/>
            <a:ext cx="1408176" cy="475488"/>
          </a:xfrm>
          <a:prstGeom prst="rect">
            <a:avLst/>
          </a:prstGeom>
          <a:noFill/>
        </p:spPr>
        <p:txBody>
          <a:bodyPr wrap="square" tIns="0" bIns="0" lIns="0" rIns="0" anchor="t">
            <a:spAutoFit/>
          </a:bodyPr>
          <a:lstStyle/>
          <a:p>
            <a:pPr algn="ctr">
              <a:lnSpc>
                <a:spcPts val="1321"/>
              </a:lnSpc>
              <a:spcAft>
                <a:spcPts val="100"/>
              </a:spcAft>
            </a:pPr>
            <a:r>
              <a:rPr sz="1180" b="1" i="0">
                <a:solidFill>
                  <a:srgbClr val="193D35"/>
                </a:solidFill>
                <a:latin typeface="Aptos"/>
              </a:rPr>
              <a:t>Login</a:t>
            </a:r>
          </a:p>
        </p:txBody>
      </p:sp>
      <p:sp>
        <p:nvSpPr>
          <p:cNvPr id="15" name="TextBox 14"/>
          <p:cNvSpPr txBox="1"/>
          <p:nvPr/>
        </p:nvSpPr>
        <p:spPr>
          <a:xfrm>
            <a:off x="4160520" y="2066543"/>
            <a:ext cx="301752" cy="347472"/>
          </a:xfrm>
          <a:prstGeom prst="rect">
            <a:avLst/>
          </a:prstGeom>
          <a:noFill/>
        </p:spPr>
        <p:txBody>
          <a:bodyPr wrap="square" tIns="0" bIns="0" lIns="0" rIns="0" anchor="t">
            <a:spAutoFit/>
          </a:bodyPr>
          <a:lstStyle/>
          <a:p>
            <a:pPr algn="ctr">
              <a:lnSpc>
                <a:spcPts val="1904"/>
              </a:lnSpc>
              <a:spcAft>
                <a:spcPts val="100"/>
              </a:spcAft>
            </a:pPr>
            <a:r>
              <a:rPr sz="1700" b="1" i="0">
                <a:solidFill>
                  <a:srgbClr val="087F72"/>
                </a:solidFill>
                <a:latin typeface="Aptos"/>
              </a:rPr>
              <a:t>→</a:t>
            </a:r>
          </a:p>
        </p:txBody>
      </p:sp>
      <p:sp>
        <p:nvSpPr>
          <p:cNvPr id="16" name="TextBox 15"/>
          <p:cNvSpPr txBox="1"/>
          <p:nvPr/>
        </p:nvSpPr>
        <p:spPr>
          <a:xfrm>
            <a:off x="4480560" y="2011680"/>
            <a:ext cx="1408176" cy="475488"/>
          </a:xfrm>
          <a:prstGeom prst="rect">
            <a:avLst/>
          </a:prstGeom>
          <a:noFill/>
        </p:spPr>
        <p:txBody>
          <a:bodyPr wrap="square" tIns="0" bIns="0" lIns="0" rIns="0" anchor="t">
            <a:spAutoFit/>
          </a:bodyPr>
          <a:lstStyle/>
          <a:p>
            <a:pPr algn="ctr">
              <a:lnSpc>
                <a:spcPts val="1321"/>
              </a:lnSpc>
              <a:spcAft>
                <a:spcPts val="100"/>
              </a:spcAft>
            </a:pPr>
            <a:r>
              <a:rPr sz="1180" b="1" i="0">
                <a:solidFill>
                  <a:srgbClr val="193D35"/>
                </a:solidFill>
                <a:latin typeface="Aptos"/>
              </a:rPr>
              <a:t>My Hobbies</a:t>
            </a:r>
          </a:p>
        </p:txBody>
      </p:sp>
      <p:sp>
        <p:nvSpPr>
          <p:cNvPr id="17" name="TextBox 16"/>
          <p:cNvSpPr txBox="1"/>
          <p:nvPr/>
        </p:nvSpPr>
        <p:spPr>
          <a:xfrm>
            <a:off x="5897880" y="2066543"/>
            <a:ext cx="301752" cy="347472"/>
          </a:xfrm>
          <a:prstGeom prst="rect">
            <a:avLst/>
          </a:prstGeom>
          <a:noFill/>
        </p:spPr>
        <p:txBody>
          <a:bodyPr wrap="square" tIns="0" bIns="0" lIns="0" rIns="0" anchor="t">
            <a:spAutoFit/>
          </a:bodyPr>
          <a:lstStyle/>
          <a:p>
            <a:pPr algn="ctr">
              <a:lnSpc>
                <a:spcPts val="1904"/>
              </a:lnSpc>
              <a:spcAft>
                <a:spcPts val="100"/>
              </a:spcAft>
            </a:pPr>
            <a:r>
              <a:rPr sz="1700" b="1" i="0">
                <a:solidFill>
                  <a:srgbClr val="087F72"/>
                </a:solidFill>
                <a:latin typeface="Aptos"/>
              </a:rPr>
              <a:t>→</a:t>
            </a:r>
          </a:p>
        </p:txBody>
      </p:sp>
      <p:sp>
        <p:nvSpPr>
          <p:cNvPr id="18" name="TextBox 17"/>
          <p:cNvSpPr txBox="1"/>
          <p:nvPr/>
        </p:nvSpPr>
        <p:spPr>
          <a:xfrm>
            <a:off x="6217920" y="2011680"/>
            <a:ext cx="1408176" cy="475488"/>
          </a:xfrm>
          <a:prstGeom prst="rect">
            <a:avLst/>
          </a:prstGeom>
          <a:noFill/>
        </p:spPr>
        <p:txBody>
          <a:bodyPr wrap="square" tIns="0" bIns="0" lIns="0" rIns="0" anchor="t">
            <a:spAutoFit/>
          </a:bodyPr>
          <a:lstStyle/>
          <a:p>
            <a:pPr algn="ctr">
              <a:lnSpc>
                <a:spcPts val="1321"/>
              </a:lnSpc>
              <a:spcAft>
                <a:spcPts val="100"/>
              </a:spcAft>
            </a:pPr>
            <a:r>
              <a:rPr sz="1180" b="1" i="0">
                <a:solidFill>
                  <a:srgbClr val="193D35"/>
                </a:solidFill>
                <a:latin typeface="Aptos"/>
              </a:rPr>
              <a:t>Create / chọn icon, màu</a:t>
            </a:r>
          </a:p>
        </p:txBody>
      </p:sp>
      <p:sp>
        <p:nvSpPr>
          <p:cNvPr id="19" name="TextBox 18"/>
          <p:cNvSpPr txBox="1"/>
          <p:nvPr/>
        </p:nvSpPr>
        <p:spPr>
          <a:xfrm>
            <a:off x="7635240" y="2066543"/>
            <a:ext cx="301752" cy="347472"/>
          </a:xfrm>
          <a:prstGeom prst="rect">
            <a:avLst/>
          </a:prstGeom>
          <a:noFill/>
        </p:spPr>
        <p:txBody>
          <a:bodyPr wrap="square" tIns="0" bIns="0" lIns="0" rIns="0" anchor="t">
            <a:spAutoFit/>
          </a:bodyPr>
          <a:lstStyle/>
          <a:p>
            <a:pPr algn="ctr">
              <a:lnSpc>
                <a:spcPts val="1904"/>
              </a:lnSpc>
              <a:spcAft>
                <a:spcPts val="100"/>
              </a:spcAft>
            </a:pPr>
            <a:r>
              <a:rPr sz="1700" b="1" i="0">
                <a:solidFill>
                  <a:srgbClr val="087F72"/>
                </a:solidFill>
                <a:latin typeface="Aptos"/>
              </a:rPr>
              <a:t>→</a:t>
            </a:r>
          </a:p>
        </p:txBody>
      </p:sp>
      <p:sp>
        <p:nvSpPr>
          <p:cNvPr id="20" name="TextBox 19"/>
          <p:cNvSpPr txBox="1"/>
          <p:nvPr/>
        </p:nvSpPr>
        <p:spPr>
          <a:xfrm>
            <a:off x="7955279" y="2011680"/>
            <a:ext cx="1408176" cy="475488"/>
          </a:xfrm>
          <a:prstGeom prst="rect">
            <a:avLst/>
          </a:prstGeom>
          <a:noFill/>
        </p:spPr>
        <p:txBody>
          <a:bodyPr wrap="square" tIns="0" bIns="0" lIns="0" rIns="0" anchor="t">
            <a:spAutoFit/>
          </a:bodyPr>
          <a:lstStyle/>
          <a:p>
            <a:pPr algn="ctr">
              <a:lnSpc>
                <a:spcPts val="1321"/>
              </a:lnSpc>
              <a:spcAft>
                <a:spcPts val="100"/>
              </a:spcAft>
            </a:pPr>
            <a:r>
              <a:rPr sz="1180" b="1" i="0">
                <a:solidFill>
                  <a:srgbClr val="193D35"/>
                </a:solidFill>
                <a:latin typeface="Aptos"/>
              </a:rPr>
              <a:t>Active hoặc Interested</a:t>
            </a:r>
          </a:p>
        </p:txBody>
      </p:sp>
      <p:sp>
        <p:nvSpPr>
          <p:cNvPr id="21" name="TextBox 20"/>
          <p:cNvSpPr txBox="1"/>
          <p:nvPr/>
        </p:nvSpPr>
        <p:spPr>
          <a:xfrm>
            <a:off x="9372600" y="2066543"/>
            <a:ext cx="301752" cy="347472"/>
          </a:xfrm>
          <a:prstGeom prst="rect">
            <a:avLst/>
          </a:prstGeom>
          <a:noFill/>
        </p:spPr>
        <p:txBody>
          <a:bodyPr wrap="square" tIns="0" bIns="0" lIns="0" rIns="0" anchor="t">
            <a:spAutoFit/>
          </a:bodyPr>
          <a:lstStyle/>
          <a:p>
            <a:pPr algn="ctr">
              <a:lnSpc>
                <a:spcPts val="1904"/>
              </a:lnSpc>
              <a:spcAft>
                <a:spcPts val="100"/>
              </a:spcAft>
            </a:pPr>
            <a:r>
              <a:rPr sz="1700" b="1" i="0">
                <a:solidFill>
                  <a:srgbClr val="087F72"/>
                </a:solidFill>
                <a:latin typeface="Aptos"/>
              </a:rPr>
              <a:t>→</a:t>
            </a:r>
          </a:p>
        </p:txBody>
      </p:sp>
      <p:sp>
        <p:nvSpPr>
          <p:cNvPr id="22" name="TextBox 21"/>
          <p:cNvSpPr txBox="1"/>
          <p:nvPr/>
        </p:nvSpPr>
        <p:spPr>
          <a:xfrm>
            <a:off x="9692640" y="2011680"/>
            <a:ext cx="1408176" cy="475488"/>
          </a:xfrm>
          <a:prstGeom prst="rect">
            <a:avLst/>
          </a:prstGeom>
          <a:noFill/>
        </p:spPr>
        <p:txBody>
          <a:bodyPr wrap="square" tIns="0" bIns="0" lIns="0" rIns="0" anchor="t">
            <a:spAutoFit/>
          </a:bodyPr>
          <a:lstStyle/>
          <a:p>
            <a:pPr algn="ctr">
              <a:lnSpc>
                <a:spcPts val="1321"/>
              </a:lnSpc>
              <a:spcAft>
                <a:spcPts val="100"/>
              </a:spcAft>
            </a:pPr>
            <a:r>
              <a:rPr sz="1180" b="1" i="0">
                <a:solidFill>
                  <a:srgbClr val="193D35"/>
                </a:solidFill>
                <a:latin typeface="Aptos"/>
              </a:rPr>
              <a:t>Lưu hobby</a:t>
            </a:r>
          </a:p>
        </p:txBody>
      </p:sp>
      <p:sp>
        <p:nvSpPr>
          <p:cNvPr id="23" name="TextBox 22"/>
          <p:cNvSpPr txBox="1"/>
          <p:nvPr/>
        </p:nvSpPr>
        <p:spPr>
          <a:xfrm>
            <a:off x="2743200" y="2724912"/>
            <a:ext cx="8549640" cy="301752"/>
          </a:xfrm>
          <a:prstGeom prst="rect">
            <a:avLst/>
          </a:prstGeom>
          <a:noFill/>
        </p:spPr>
        <p:txBody>
          <a:bodyPr wrap="square" tIns="0" bIns="0" lIns="0" rIns="0" anchor="t">
            <a:spAutoFit/>
          </a:bodyPr>
          <a:lstStyle/>
          <a:p>
            <a:pPr algn="l">
              <a:lnSpc>
                <a:spcPts val="1176"/>
              </a:lnSpc>
              <a:spcAft>
                <a:spcPts val="100"/>
              </a:spcAft>
            </a:pPr>
            <a:r>
              <a:rPr sz="1050" b="0" i="0">
                <a:solidFill>
                  <a:srgbClr val="5C776B"/>
                </a:solidFill>
                <a:latin typeface="Aptos"/>
              </a:rPr>
              <a:t>Lỗi: thiếu tên, trùng tên hoặc chưa chọn priority → sửa trong form.</a:t>
            </a:r>
          </a:p>
        </p:txBody>
      </p:sp>
      <p:sp>
        <p:nvSpPr>
          <p:cNvPr id="24" name="Rounded Rectangle 23"/>
          <p:cNvSpPr/>
          <p:nvPr/>
        </p:nvSpPr>
        <p:spPr>
          <a:xfrm>
            <a:off x="658368" y="3255264"/>
            <a:ext cx="10853928" cy="1325880"/>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04672" y="3392424"/>
            <a:ext cx="1892807" cy="310896"/>
          </a:xfrm>
          <a:prstGeom prst="roundRect">
            <a:avLst>
              <a:gd name="adj" fmla="val 13000"/>
            </a:avLst>
          </a:prstGeom>
          <a:solidFill>
            <a:srgbClr val="FBEF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483864"/>
            <a:ext cx="1664208" cy="164592"/>
          </a:xfrm>
          <a:prstGeom prst="rect">
            <a:avLst/>
          </a:prstGeom>
          <a:noFill/>
        </p:spPr>
        <p:txBody>
          <a:bodyPr wrap="square" tIns="0" bIns="0" lIns="0" rIns="0" anchor="t">
            <a:spAutoFit/>
          </a:bodyPr>
          <a:lstStyle/>
          <a:p>
            <a:pPr algn="l">
              <a:lnSpc>
                <a:spcPts val="1097"/>
              </a:lnSpc>
              <a:spcAft>
                <a:spcPts val="100"/>
              </a:spcAft>
            </a:pPr>
            <a:r>
              <a:rPr sz="980" b="1" i="0">
                <a:solidFill>
                  <a:srgbClr val="193D35"/>
                </a:solidFill>
                <a:latin typeface="Aptos"/>
              </a:rPr>
              <a:t>02 · PLAN &amp; PRACTICE</a:t>
            </a:r>
          </a:p>
        </p:txBody>
      </p:sp>
      <p:sp>
        <p:nvSpPr>
          <p:cNvPr id="27" name="TextBox 26"/>
          <p:cNvSpPr txBox="1"/>
          <p:nvPr/>
        </p:nvSpPr>
        <p:spPr>
          <a:xfrm>
            <a:off x="914400" y="3858768"/>
            <a:ext cx="1609344" cy="219456"/>
          </a:xfrm>
          <a:prstGeom prst="rect">
            <a:avLst/>
          </a:prstGeom>
          <a:noFill/>
        </p:spPr>
        <p:txBody>
          <a:bodyPr wrap="square" tIns="0" bIns="0" lIns="0" rIns="0" anchor="t">
            <a:spAutoFit/>
          </a:bodyPr>
          <a:lstStyle/>
          <a:p>
            <a:pPr algn="l">
              <a:lnSpc>
                <a:spcPts val="1232"/>
              </a:lnSpc>
              <a:spcAft>
                <a:spcPts val="100"/>
              </a:spcAft>
            </a:pPr>
            <a:r>
              <a:rPr sz="1100" b="0" i="0">
                <a:solidFill>
                  <a:srgbClr val="5C776B"/>
                </a:solidFill>
                <a:latin typeface="Aptos"/>
              </a:rPr>
              <a:t>Khoa</a:t>
            </a:r>
          </a:p>
        </p:txBody>
      </p:sp>
      <p:sp>
        <p:nvSpPr>
          <p:cNvPr id="28" name="TextBox 27"/>
          <p:cNvSpPr txBox="1"/>
          <p:nvPr/>
        </p:nvSpPr>
        <p:spPr>
          <a:xfrm>
            <a:off x="2743200" y="3474720"/>
            <a:ext cx="1408176" cy="475488"/>
          </a:xfrm>
          <a:prstGeom prst="rect">
            <a:avLst/>
          </a:prstGeom>
          <a:noFill/>
        </p:spPr>
        <p:txBody>
          <a:bodyPr wrap="square" tIns="0" bIns="0" lIns="0" rIns="0" anchor="t">
            <a:spAutoFit/>
          </a:bodyPr>
          <a:lstStyle/>
          <a:p>
            <a:pPr algn="ctr">
              <a:lnSpc>
                <a:spcPts val="1321"/>
              </a:lnSpc>
              <a:spcAft>
                <a:spcPts val="100"/>
              </a:spcAft>
            </a:pPr>
            <a:r>
              <a:rPr sz="1180" b="1" i="0">
                <a:solidFill>
                  <a:srgbClr val="193D35"/>
                </a:solidFill>
                <a:latin typeface="Aptos"/>
              </a:rPr>
              <a:t>Home</a:t>
            </a:r>
          </a:p>
        </p:txBody>
      </p:sp>
      <p:sp>
        <p:nvSpPr>
          <p:cNvPr id="29" name="TextBox 28"/>
          <p:cNvSpPr txBox="1"/>
          <p:nvPr/>
        </p:nvSpPr>
        <p:spPr>
          <a:xfrm>
            <a:off x="4160520" y="3529584"/>
            <a:ext cx="301752" cy="347472"/>
          </a:xfrm>
          <a:prstGeom prst="rect">
            <a:avLst/>
          </a:prstGeom>
          <a:noFill/>
        </p:spPr>
        <p:txBody>
          <a:bodyPr wrap="square" tIns="0" bIns="0" lIns="0" rIns="0" anchor="t">
            <a:spAutoFit/>
          </a:bodyPr>
          <a:lstStyle/>
          <a:p>
            <a:pPr algn="ctr">
              <a:lnSpc>
                <a:spcPts val="1904"/>
              </a:lnSpc>
              <a:spcAft>
                <a:spcPts val="100"/>
              </a:spcAft>
            </a:pPr>
            <a:r>
              <a:rPr sz="1700" b="1" i="0">
                <a:solidFill>
                  <a:srgbClr val="087F72"/>
                </a:solidFill>
                <a:latin typeface="Aptos"/>
              </a:rPr>
              <a:t>→</a:t>
            </a:r>
          </a:p>
        </p:txBody>
      </p:sp>
      <p:sp>
        <p:nvSpPr>
          <p:cNvPr id="30" name="TextBox 29"/>
          <p:cNvSpPr txBox="1"/>
          <p:nvPr/>
        </p:nvSpPr>
        <p:spPr>
          <a:xfrm>
            <a:off x="4480560" y="3474720"/>
            <a:ext cx="1408176" cy="475488"/>
          </a:xfrm>
          <a:prstGeom prst="rect">
            <a:avLst/>
          </a:prstGeom>
          <a:noFill/>
        </p:spPr>
        <p:txBody>
          <a:bodyPr wrap="square" tIns="0" bIns="0" lIns="0" rIns="0" anchor="t">
            <a:spAutoFit/>
          </a:bodyPr>
          <a:lstStyle/>
          <a:p>
            <a:pPr algn="ctr">
              <a:lnSpc>
                <a:spcPts val="1321"/>
              </a:lnSpc>
              <a:spcAft>
                <a:spcPts val="100"/>
              </a:spcAft>
            </a:pPr>
            <a:r>
              <a:rPr sz="1180" b="1" i="0">
                <a:solidFill>
                  <a:srgbClr val="193D35"/>
                </a:solidFill>
                <a:latin typeface="Aptos"/>
              </a:rPr>
              <a:t>Add Schedule</a:t>
            </a:r>
          </a:p>
        </p:txBody>
      </p:sp>
      <p:sp>
        <p:nvSpPr>
          <p:cNvPr id="31" name="TextBox 30"/>
          <p:cNvSpPr txBox="1"/>
          <p:nvPr/>
        </p:nvSpPr>
        <p:spPr>
          <a:xfrm>
            <a:off x="5897880" y="3529584"/>
            <a:ext cx="301752" cy="347472"/>
          </a:xfrm>
          <a:prstGeom prst="rect">
            <a:avLst/>
          </a:prstGeom>
          <a:noFill/>
        </p:spPr>
        <p:txBody>
          <a:bodyPr wrap="square" tIns="0" bIns="0" lIns="0" rIns="0" anchor="t">
            <a:spAutoFit/>
          </a:bodyPr>
          <a:lstStyle/>
          <a:p>
            <a:pPr algn="ctr">
              <a:lnSpc>
                <a:spcPts val="1904"/>
              </a:lnSpc>
              <a:spcAft>
                <a:spcPts val="100"/>
              </a:spcAft>
            </a:pPr>
            <a:r>
              <a:rPr sz="1700" b="1" i="0">
                <a:solidFill>
                  <a:srgbClr val="087F72"/>
                </a:solidFill>
                <a:latin typeface="Aptos"/>
              </a:rPr>
              <a:t>→</a:t>
            </a:r>
          </a:p>
        </p:txBody>
      </p:sp>
      <p:sp>
        <p:nvSpPr>
          <p:cNvPr id="32" name="TextBox 31"/>
          <p:cNvSpPr txBox="1"/>
          <p:nvPr/>
        </p:nvSpPr>
        <p:spPr>
          <a:xfrm>
            <a:off x="6217920" y="3474720"/>
            <a:ext cx="1408176" cy="475488"/>
          </a:xfrm>
          <a:prstGeom prst="rect">
            <a:avLst/>
          </a:prstGeom>
          <a:noFill/>
        </p:spPr>
        <p:txBody>
          <a:bodyPr wrap="square" tIns="0" bIns="0" lIns="0" rIns="0" anchor="t">
            <a:spAutoFit/>
          </a:bodyPr>
          <a:lstStyle/>
          <a:p>
            <a:pPr algn="ctr">
              <a:lnSpc>
                <a:spcPts val="1321"/>
              </a:lnSpc>
              <a:spcAft>
                <a:spcPts val="100"/>
              </a:spcAft>
            </a:pPr>
            <a:r>
              <a:rPr sz="1180" b="1" i="0">
                <a:solidFill>
                  <a:srgbClr val="193D35"/>
                </a:solidFill>
                <a:latin typeface="Aptos"/>
              </a:rPr>
              <a:t>Hyper Mode: timer/tools</a:t>
            </a:r>
          </a:p>
        </p:txBody>
      </p:sp>
      <p:sp>
        <p:nvSpPr>
          <p:cNvPr id="33" name="TextBox 32"/>
          <p:cNvSpPr txBox="1"/>
          <p:nvPr/>
        </p:nvSpPr>
        <p:spPr>
          <a:xfrm>
            <a:off x="7635240" y="3529584"/>
            <a:ext cx="301752" cy="347472"/>
          </a:xfrm>
          <a:prstGeom prst="rect">
            <a:avLst/>
          </a:prstGeom>
          <a:noFill/>
        </p:spPr>
        <p:txBody>
          <a:bodyPr wrap="square" tIns="0" bIns="0" lIns="0" rIns="0" anchor="t">
            <a:spAutoFit/>
          </a:bodyPr>
          <a:lstStyle/>
          <a:p>
            <a:pPr algn="ctr">
              <a:lnSpc>
                <a:spcPts val="1904"/>
              </a:lnSpc>
              <a:spcAft>
                <a:spcPts val="100"/>
              </a:spcAft>
            </a:pPr>
            <a:r>
              <a:rPr sz="1700" b="1" i="0">
                <a:solidFill>
                  <a:srgbClr val="087F72"/>
                </a:solidFill>
                <a:latin typeface="Aptos"/>
              </a:rPr>
              <a:t>→</a:t>
            </a:r>
          </a:p>
        </p:txBody>
      </p:sp>
      <p:sp>
        <p:nvSpPr>
          <p:cNvPr id="34" name="TextBox 33"/>
          <p:cNvSpPr txBox="1"/>
          <p:nvPr/>
        </p:nvSpPr>
        <p:spPr>
          <a:xfrm>
            <a:off x="7955279" y="3474720"/>
            <a:ext cx="1408176" cy="475488"/>
          </a:xfrm>
          <a:prstGeom prst="rect">
            <a:avLst/>
          </a:prstGeom>
          <a:noFill/>
        </p:spPr>
        <p:txBody>
          <a:bodyPr wrap="square" tIns="0" bIns="0" lIns="0" rIns="0" anchor="t">
            <a:spAutoFit/>
          </a:bodyPr>
          <a:lstStyle/>
          <a:p>
            <a:pPr algn="ctr">
              <a:lnSpc>
                <a:spcPts val="1321"/>
              </a:lnSpc>
              <a:spcAft>
                <a:spcPts val="100"/>
              </a:spcAft>
            </a:pPr>
            <a:r>
              <a:rPr sz="1180" b="1" i="0">
                <a:solidFill>
                  <a:srgbClr val="193D35"/>
                </a:solidFill>
                <a:latin typeface="Aptos"/>
              </a:rPr>
              <a:t>Notes</a:t>
            </a:r>
          </a:p>
        </p:txBody>
      </p:sp>
      <p:sp>
        <p:nvSpPr>
          <p:cNvPr id="35" name="TextBox 34"/>
          <p:cNvSpPr txBox="1"/>
          <p:nvPr/>
        </p:nvSpPr>
        <p:spPr>
          <a:xfrm>
            <a:off x="9372600" y="3529584"/>
            <a:ext cx="301752" cy="347472"/>
          </a:xfrm>
          <a:prstGeom prst="rect">
            <a:avLst/>
          </a:prstGeom>
          <a:noFill/>
        </p:spPr>
        <p:txBody>
          <a:bodyPr wrap="square" tIns="0" bIns="0" lIns="0" rIns="0" anchor="t">
            <a:spAutoFit/>
          </a:bodyPr>
          <a:lstStyle/>
          <a:p>
            <a:pPr algn="ctr">
              <a:lnSpc>
                <a:spcPts val="1904"/>
              </a:lnSpc>
              <a:spcAft>
                <a:spcPts val="100"/>
              </a:spcAft>
            </a:pPr>
            <a:r>
              <a:rPr sz="1700" b="1" i="0">
                <a:solidFill>
                  <a:srgbClr val="087F72"/>
                </a:solidFill>
                <a:latin typeface="Aptos"/>
              </a:rPr>
              <a:t>→</a:t>
            </a:r>
          </a:p>
        </p:txBody>
      </p:sp>
      <p:sp>
        <p:nvSpPr>
          <p:cNvPr id="36" name="TextBox 35"/>
          <p:cNvSpPr txBox="1"/>
          <p:nvPr/>
        </p:nvSpPr>
        <p:spPr>
          <a:xfrm>
            <a:off x="9692640" y="3474720"/>
            <a:ext cx="1408176" cy="475488"/>
          </a:xfrm>
          <a:prstGeom prst="rect">
            <a:avLst/>
          </a:prstGeom>
          <a:noFill/>
        </p:spPr>
        <p:txBody>
          <a:bodyPr wrap="square" tIns="0" bIns="0" lIns="0" rIns="0" anchor="t">
            <a:spAutoFit/>
          </a:bodyPr>
          <a:lstStyle/>
          <a:p>
            <a:pPr algn="ctr">
              <a:lnSpc>
                <a:spcPts val="1321"/>
              </a:lnSpc>
              <a:spcAft>
                <a:spcPts val="100"/>
              </a:spcAft>
            </a:pPr>
            <a:r>
              <a:rPr sz="1180" b="1" i="0">
                <a:solidFill>
                  <a:srgbClr val="193D35"/>
                </a:solidFill>
                <a:latin typeface="Aptos"/>
              </a:rPr>
              <a:t>Finish → History</a:t>
            </a:r>
          </a:p>
        </p:txBody>
      </p:sp>
      <p:sp>
        <p:nvSpPr>
          <p:cNvPr id="37" name="TextBox 36"/>
          <p:cNvSpPr txBox="1"/>
          <p:nvPr/>
        </p:nvSpPr>
        <p:spPr>
          <a:xfrm>
            <a:off x="2743200" y="4187952"/>
            <a:ext cx="8549640" cy="301752"/>
          </a:xfrm>
          <a:prstGeom prst="rect">
            <a:avLst/>
          </a:prstGeom>
          <a:noFill/>
        </p:spPr>
        <p:txBody>
          <a:bodyPr wrap="square" tIns="0" bIns="0" lIns="0" rIns="0" anchor="t">
            <a:spAutoFit/>
          </a:bodyPr>
          <a:lstStyle/>
          <a:p>
            <a:pPr algn="l">
              <a:lnSpc>
                <a:spcPts val="1176"/>
              </a:lnSpc>
              <a:spcAft>
                <a:spcPts val="100"/>
              </a:spcAft>
            </a:pPr>
            <a:r>
              <a:rPr sz="1050" b="0" i="0">
                <a:solidFill>
                  <a:srgbClr val="5C776B"/>
                </a:solidFill>
                <a:latin typeface="Aptos"/>
              </a:rPr>
              <a:t>Ngoại lệ: chưa có hobby → Create; rời Hyper → tạm dừng/giữ bản nháp.</a:t>
            </a:r>
          </a:p>
        </p:txBody>
      </p:sp>
      <p:sp>
        <p:nvSpPr>
          <p:cNvPr id="38" name="Rounded Rectangle 37"/>
          <p:cNvSpPr/>
          <p:nvPr/>
        </p:nvSpPr>
        <p:spPr>
          <a:xfrm>
            <a:off x="658368" y="4718304"/>
            <a:ext cx="10853928" cy="1325880"/>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 y="4855464"/>
            <a:ext cx="1892807" cy="310896"/>
          </a:xfrm>
          <a:prstGeom prst="roundRect">
            <a:avLst>
              <a:gd name="adj" fmla="val 13000"/>
            </a:avLst>
          </a:prstGeom>
          <a:solidFill>
            <a:srgbClr val="E7F1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4946904"/>
            <a:ext cx="1664208" cy="164592"/>
          </a:xfrm>
          <a:prstGeom prst="rect">
            <a:avLst/>
          </a:prstGeom>
          <a:noFill/>
        </p:spPr>
        <p:txBody>
          <a:bodyPr wrap="square" tIns="0" bIns="0" lIns="0" rIns="0" anchor="t">
            <a:spAutoFit/>
          </a:bodyPr>
          <a:lstStyle/>
          <a:p>
            <a:pPr algn="l">
              <a:lnSpc>
                <a:spcPts val="1097"/>
              </a:lnSpc>
              <a:spcAft>
                <a:spcPts val="100"/>
              </a:spcAft>
            </a:pPr>
            <a:r>
              <a:rPr sz="980" b="1" i="0">
                <a:solidFill>
                  <a:srgbClr val="193D35"/>
                </a:solidFill>
                <a:latin typeface="Aptos"/>
              </a:rPr>
              <a:t>03 · CONNECT &amp; PARTICIPATE</a:t>
            </a:r>
          </a:p>
        </p:txBody>
      </p:sp>
      <p:sp>
        <p:nvSpPr>
          <p:cNvPr id="41" name="TextBox 40"/>
          <p:cNvSpPr txBox="1"/>
          <p:nvPr/>
        </p:nvSpPr>
        <p:spPr>
          <a:xfrm>
            <a:off x="914400" y="5321808"/>
            <a:ext cx="1609344" cy="219456"/>
          </a:xfrm>
          <a:prstGeom prst="rect">
            <a:avLst/>
          </a:prstGeom>
          <a:noFill/>
        </p:spPr>
        <p:txBody>
          <a:bodyPr wrap="square" tIns="0" bIns="0" lIns="0" rIns="0" anchor="t">
            <a:spAutoFit/>
          </a:bodyPr>
          <a:lstStyle/>
          <a:p>
            <a:pPr algn="l">
              <a:lnSpc>
                <a:spcPts val="1232"/>
              </a:lnSpc>
              <a:spcAft>
                <a:spcPts val="100"/>
              </a:spcAft>
            </a:pPr>
            <a:r>
              <a:rPr sz="1100" b="0" i="0">
                <a:solidFill>
                  <a:srgbClr val="5C776B"/>
                </a:solidFill>
                <a:latin typeface="Aptos"/>
              </a:rPr>
              <a:t>Minh / Khoa</a:t>
            </a:r>
          </a:p>
        </p:txBody>
      </p:sp>
      <p:sp>
        <p:nvSpPr>
          <p:cNvPr id="42" name="TextBox 41"/>
          <p:cNvSpPr txBox="1"/>
          <p:nvPr/>
        </p:nvSpPr>
        <p:spPr>
          <a:xfrm>
            <a:off x="2743200" y="4937760"/>
            <a:ext cx="1408176" cy="475488"/>
          </a:xfrm>
          <a:prstGeom prst="rect">
            <a:avLst/>
          </a:prstGeom>
          <a:noFill/>
        </p:spPr>
        <p:txBody>
          <a:bodyPr wrap="square" tIns="0" bIns="0" lIns="0" rIns="0" anchor="t">
            <a:spAutoFit/>
          </a:bodyPr>
          <a:lstStyle/>
          <a:p>
            <a:pPr algn="ctr">
              <a:lnSpc>
                <a:spcPts val="1321"/>
              </a:lnSpc>
              <a:spcAft>
                <a:spcPts val="100"/>
              </a:spcAft>
            </a:pPr>
            <a:r>
              <a:rPr sz="1180" b="1" i="0">
                <a:solidFill>
                  <a:srgbClr val="193D35"/>
                </a:solidFill>
                <a:latin typeface="Aptos"/>
              </a:rPr>
              <a:t>Community</a:t>
            </a:r>
          </a:p>
        </p:txBody>
      </p:sp>
      <p:sp>
        <p:nvSpPr>
          <p:cNvPr id="43" name="TextBox 42"/>
          <p:cNvSpPr txBox="1"/>
          <p:nvPr/>
        </p:nvSpPr>
        <p:spPr>
          <a:xfrm>
            <a:off x="4160520" y="4992624"/>
            <a:ext cx="301752" cy="347472"/>
          </a:xfrm>
          <a:prstGeom prst="rect">
            <a:avLst/>
          </a:prstGeom>
          <a:noFill/>
        </p:spPr>
        <p:txBody>
          <a:bodyPr wrap="square" tIns="0" bIns="0" lIns="0" rIns="0" anchor="t">
            <a:spAutoFit/>
          </a:bodyPr>
          <a:lstStyle/>
          <a:p>
            <a:pPr algn="ctr">
              <a:lnSpc>
                <a:spcPts val="1904"/>
              </a:lnSpc>
              <a:spcAft>
                <a:spcPts val="100"/>
              </a:spcAft>
            </a:pPr>
            <a:r>
              <a:rPr sz="1700" b="1" i="0">
                <a:solidFill>
                  <a:srgbClr val="087F72"/>
                </a:solidFill>
                <a:latin typeface="Aptos"/>
              </a:rPr>
              <a:t>→</a:t>
            </a:r>
          </a:p>
        </p:txBody>
      </p:sp>
      <p:sp>
        <p:nvSpPr>
          <p:cNvPr id="44" name="TextBox 43"/>
          <p:cNvSpPr txBox="1"/>
          <p:nvPr/>
        </p:nvSpPr>
        <p:spPr>
          <a:xfrm>
            <a:off x="4480560" y="4937760"/>
            <a:ext cx="1408176" cy="475488"/>
          </a:xfrm>
          <a:prstGeom prst="rect">
            <a:avLst/>
          </a:prstGeom>
          <a:noFill/>
        </p:spPr>
        <p:txBody>
          <a:bodyPr wrap="square" tIns="0" bIns="0" lIns="0" rIns="0" anchor="t">
            <a:spAutoFit/>
          </a:bodyPr>
          <a:lstStyle/>
          <a:p>
            <a:pPr algn="ctr">
              <a:lnSpc>
                <a:spcPts val="1321"/>
              </a:lnSpc>
              <a:spcAft>
                <a:spcPts val="100"/>
              </a:spcAft>
            </a:pPr>
            <a:r>
              <a:rPr sz="1180" b="1" i="0">
                <a:solidFill>
                  <a:srgbClr val="193D35"/>
                </a:solidFill>
                <a:latin typeface="Aptos"/>
              </a:rPr>
              <a:t>Feed / Groups</a:t>
            </a:r>
          </a:p>
        </p:txBody>
      </p:sp>
      <p:sp>
        <p:nvSpPr>
          <p:cNvPr id="45" name="TextBox 44"/>
          <p:cNvSpPr txBox="1"/>
          <p:nvPr/>
        </p:nvSpPr>
        <p:spPr>
          <a:xfrm>
            <a:off x="5897880" y="4992624"/>
            <a:ext cx="301752" cy="347472"/>
          </a:xfrm>
          <a:prstGeom prst="rect">
            <a:avLst/>
          </a:prstGeom>
          <a:noFill/>
        </p:spPr>
        <p:txBody>
          <a:bodyPr wrap="square" tIns="0" bIns="0" lIns="0" rIns="0" anchor="t">
            <a:spAutoFit/>
          </a:bodyPr>
          <a:lstStyle/>
          <a:p>
            <a:pPr algn="ctr">
              <a:lnSpc>
                <a:spcPts val="1904"/>
              </a:lnSpc>
              <a:spcAft>
                <a:spcPts val="100"/>
              </a:spcAft>
            </a:pPr>
            <a:r>
              <a:rPr sz="1700" b="1" i="0">
                <a:solidFill>
                  <a:srgbClr val="087F72"/>
                </a:solidFill>
                <a:latin typeface="Aptos"/>
              </a:rPr>
              <a:t>→</a:t>
            </a:r>
          </a:p>
        </p:txBody>
      </p:sp>
      <p:sp>
        <p:nvSpPr>
          <p:cNvPr id="46" name="TextBox 45"/>
          <p:cNvSpPr txBox="1"/>
          <p:nvPr/>
        </p:nvSpPr>
        <p:spPr>
          <a:xfrm>
            <a:off x="6217920" y="4937760"/>
            <a:ext cx="1408176" cy="475488"/>
          </a:xfrm>
          <a:prstGeom prst="rect">
            <a:avLst/>
          </a:prstGeom>
          <a:noFill/>
        </p:spPr>
        <p:txBody>
          <a:bodyPr wrap="square" tIns="0" bIns="0" lIns="0" rIns="0" anchor="t">
            <a:spAutoFit/>
          </a:bodyPr>
          <a:lstStyle/>
          <a:p>
            <a:pPr algn="ctr">
              <a:lnSpc>
                <a:spcPts val="1321"/>
              </a:lnSpc>
              <a:spcAft>
                <a:spcPts val="100"/>
              </a:spcAft>
            </a:pPr>
            <a:r>
              <a:rPr sz="1180" b="1" i="0">
                <a:solidFill>
                  <a:srgbClr val="193D35"/>
                </a:solidFill>
                <a:latin typeface="Aptos"/>
              </a:rPr>
              <a:t>Join / Message</a:t>
            </a:r>
          </a:p>
        </p:txBody>
      </p:sp>
      <p:sp>
        <p:nvSpPr>
          <p:cNvPr id="47" name="TextBox 46"/>
          <p:cNvSpPr txBox="1"/>
          <p:nvPr/>
        </p:nvSpPr>
        <p:spPr>
          <a:xfrm>
            <a:off x="7635240" y="4992624"/>
            <a:ext cx="301752" cy="347472"/>
          </a:xfrm>
          <a:prstGeom prst="rect">
            <a:avLst/>
          </a:prstGeom>
          <a:noFill/>
        </p:spPr>
        <p:txBody>
          <a:bodyPr wrap="square" tIns="0" bIns="0" lIns="0" rIns="0" anchor="t">
            <a:spAutoFit/>
          </a:bodyPr>
          <a:lstStyle/>
          <a:p>
            <a:pPr algn="ctr">
              <a:lnSpc>
                <a:spcPts val="1904"/>
              </a:lnSpc>
              <a:spcAft>
                <a:spcPts val="100"/>
              </a:spcAft>
            </a:pPr>
            <a:r>
              <a:rPr sz="1700" b="1" i="0">
                <a:solidFill>
                  <a:srgbClr val="087F72"/>
                </a:solidFill>
                <a:latin typeface="Aptos"/>
              </a:rPr>
              <a:t>→</a:t>
            </a:r>
          </a:p>
        </p:txBody>
      </p:sp>
      <p:sp>
        <p:nvSpPr>
          <p:cNvPr id="48" name="TextBox 47"/>
          <p:cNvSpPr txBox="1"/>
          <p:nvPr/>
        </p:nvSpPr>
        <p:spPr>
          <a:xfrm>
            <a:off x="7955279" y="4937760"/>
            <a:ext cx="1408176" cy="475488"/>
          </a:xfrm>
          <a:prstGeom prst="rect">
            <a:avLst/>
          </a:prstGeom>
          <a:noFill/>
        </p:spPr>
        <p:txBody>
          <a:bodyPr wrap="square" tIns="0" bIns="0" lIns="0" rIns="0" anchor="t">
            <a:spAutoFit/>
          </a:bodyPr>
          <a:lstStyle/>
          <a:p>
            <a:pPr algn="ctr">
              <a:lnSpc>
                <a:spcPts val="1321"/>
              </a:lnSpc>
              <a:spcAft>
                <a:spcPts val="100"/>
              </a:spcAft>
            </a:pPr>
            <a:r>
              <a:rPr sz="1180" b="1" i="0">
                <a:solidFill>
                  <a:srgbClr val="193D35"/>
                </a:solidFill>
                <a:latin typeface="Aptos"/>
              </a:rPr>
              <a:t>RSVP hoạt động</a:t>
            </a:r>
          </a:p>
        </p:txBody>
      </p:sp>
      <p:sp>
        <p:nvSpPr>
          <p:cNvPr id="49" name="TextBox 48"/>
          <p:cNvSpPr txBox="1"/>
          <p:nvPr/>
        </p:nvSpPr>
        <p:spPr>
          <a:xfrm>
            <a:off x="9372600" y="4992624"/>
            <a:ext cx="301752" cy="347472"/>
          </a:xfrm>
          <a:prstGeom prst="rect">
            <a:avLst/>
          </a:prstGeom>
          <a:noFill/>
        </p:spPr>
        <p:txBody>
          <a:bodyPr wrap="square" tIns="0" bIns="0" lIns="0" rIns="0" anchor="t">
            <a:spAutoFit/>
          </a:bodyPr>
          <a:lstStyle/>
          <a:p>
            <a:pPr algn="ctr">
              <a:lnSpc>
                <a:spcPts val="1904"/>
              </a:lnSpc>
              <a:spcAft>
                <a:spcPts val="100"/>
              </a:spcAft>
            </a:pPr>
            <a:r>
              <a:rPr sz="1700" b="1" i="0">
                <a:solidFill>
                  <a:srgbClr val="087F72"/>
                </a:solidFill>
                <a:latin typeface="Aptos"/>
              </a:rPr>
              <a:t>→</a:t>
            </a:r>
          </a:p>
        </p:txBody>
      </p:sp>
      <p:sp>
        <p:nvSpPr>
          <p:cNvPr id="50" name="TextBox 49"/>
          <p:cNvSpPr txBox="1"/>
          <p:nvPr/>
        </p:nvSpPr>
        <p:spPr>
          <a:xfrm>
            <a:off x="9692640" y="4937760"/>
            <a:ext cx="1408176" cy="475488"/>
          </a:xfrm>
          <a:prstGeom prst="rect">
            <a:avLst/>
          </a:prstGeom>
          <a:noFill/>
        </p:spPr>
        <p:txBody>
          <a:bodyPr wrap="square" tIns="0" bIns="0" lIns="0" rIns="0" anchor="t">
            <a:spAutoFit/>
          </a:bodyPr>
          <a:lstStyle/>
          <a:p>
            <a:pPr algn="ctr">
              <a:lnSpc>
                <a:spcPts val="1321"/>
              </a:lnSpc>
              <a:spcAft>
                <a:spcPts val="100"/>
              </a:spcAft>
            </a:pPr>
            <a:r>
              <a:rPr sz="1180" b="1" i="0">
                <a:solidFill>
                  <a:srgbClr val="193D35"/>
                </a:solidFill>
                <a:latin typeface="Aptos"/>
              </a:rPr>
              <a:t>Add Home nếu muốn</a:t>
            </a:r>
          </a:p>
        </p:txBody>
      </p:sp>
      <p:sp>
        <p:nvSpPr>
          <p:cNvPr id="51" name="TextBox 50"/>
          <p:cNvSpPr txBox="1"/>
          <p:nvPr/>
        </p:nvSpPr>
        <p:spPr>
          <a:xfrm>
            <a:off x="2743200" y="5650992"/>
            <a:ext cx="8549640" cy="301752"/>
          </a:xfrm>
          <a:prstGeom prst="rect">
            <a:avLst/>
          </a:prstGeom>
          <a:noFill/>
        </p:spPr>
        <p:txBody>
          <a:bodyPr wrap="square" tIns="0" bIns="0" lIns="0" rIns="0" anchor="t">
            <a:spAutoFit/>
          </a:bodyPr>
          <a:lstStyle/>
          <a:p>
            <a:pPr algn="l">
              <a:lnSpc>
                <a:spcPts val="1176"/>
              </a:lnSpc>
              <a:spcAft>
                <a:spcPts val="100"/>
              </a:spcAft>
            </a:pPr>
            <a:r>
              <a:rPr sz="1050" b="0" i="0">
                <a:solidFill>
                  <a:srgbClr val="5C776B"/>
                </a:solidFill>
                <a:latin typeface="Aptos"/>
              </a:rPr>
              <a:t>Lựa chọn khác: chỉ xem; RSVP không tự ghi lịch; nhắn tin là tự nguyện.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56032"/>
            <a:ext cx="7315200" cy="246888"/>
          </a:xfrm>
          <a:prstGeom prst="rect">
            <a:avLst/>
          </a:prstGeom>
          <a:noFill/>
        </p:spPr>
        <p:txBody>
          <a:bodyPr wrap="square" tIns="0" bIns="0" lIns="0" rIns="0" anchor="t">
            <a:spAutoFit/>
          </a:bodyPr>
          <a:lstStyle/>
          <a:p>
            <a:pPr algn="l">
              <a:lnSpc>
                <a:spcPts val="1131"/>
              </a:lnSpc>
              <a:spcAft>
                <a:spcPts val="100"/>
              </a:spcAft>
            </a:pPr>
            <a:r>
              <a:rPr sz="1010" b="1" i="0">
                <a:solidFill>
                  <a:srgbClr val="087F72"/>
                </a:solidFill>
                <a:latin typeface="Aptos"/>
              </a:rPr>
              <a:t>03  UX DESIGN</a:t>
            </a:r>
          </a:p>
        </p:txBody>
      </p:sp>
      <p:sp>
        <p:nvSpPr>
          <p:cNvPr id="5" name="TextBox 4"/>
          <p:cNvSpPr txBox="1"/>
          <p:nvPr/>
        </p:nvSpPr>
        <p:spPr>
          <a:xfrm>
            <a:off x="566928" y="621792"/>
            <a:ext cx="10972800" cy="557784"/>
          </a:xfrm>
          <a:prstGeom prst="rect">
            <a:avLst/>
          </a:prstGeom>
          <a:noFill/>
        </p:spPr>
        <p:txBody>
          <a:bodyPr wrap="square" tIns="0" bIns="0" lIns="0" rIns="0" anchor="t">
            <a:spAutoFit/>
          </a:bodyPr>
          <a:lstStyle/>
          <a:p>
            <a:pPr algn="l">
              <a:lnSpc>
                <a:spcPts val="3024"/>
              </a:lnSpc>
              <a:spcAft>
                <a:spcPts val="100"/>
              </a:spcAft>
            </a:pPr>
            <a:r>
              <a:rPr sz="2700" b="1" i="0">
                <a:solidFill>
                  <a:srgbClr val="193D35"/>
                </a:solidFill>
                <a:latin typeface="Aptos"/>
              </a:rPr>
              <a:t>08 · UX thay đổi vì bạn thử và phát hiện bước sai</a:t>
            </a:r>
          </a:p>
        </p:txBody>
      </p:sp>
      <p:sp>
        <p:nvSpPr>
          <p:cNvPr id="6" name="TextBox 5"/>
          <p:cNvSpPr txBox="1"/>
          <p:nvPr/>
        </p:nvSpPr>
        <p:spPr>
          <a:xfrm>
            <a:off x="594360" y="1261872"/>
            <a:ext cx="10972800" cy="393192"/>
          </a:xfrm>
          <a:prstGeom prst="rect">
            <a:avLst/>
          </a:prstGeom>
          <a:noFill/>
        </p:spPr>
        <p:txBody>
          <a:bodyPr wrap="square" tIns="0" bIns="0" lIns="0" rIns="0" anchor="t">
            <a:spAutoFit/>
          </a:bodyPr>
          <a:lstStyle/>
          <a:p>
            <a:pPr algn="l">
              <a:lnSpc>
                <a:spcPts val="1388"/>
              </a:lnSpc>
              <a:spcAft>
                <a:spcPts val="100"/>
              </a:spcAft>
            </a:pPr>
            <a:r>
              <a:rPr sz="1240" b="0" i="0">
                <a:solidFill>
                  <a:srgbClr val="5C776B"/>
                </a:solidFill>
                <a:latin typeface="Aptos"/>
              </a:rPr>
              <a:t>Hai chỉnh sửa đã thay đổi cấu trúc thao tác: thiếu nút lịch và sở thích bị giới hạn bởi catalog.</a:t>
            </a:r>
          </a:p>
        </p:txBody>
      </p:sp>
      <p:sp>
        <p:nvSpPr>
          <p:cNvPr id="7" name="Rectangle 6"/>
          <p:cNvSpPr/>
          <p:nvPr/>
        </p:nvSpPr>
        <p:spPr>
          <a:xfrm>
            <a:off x="594360" y="6537960"/>
            <a:ext cx="10972800" cy="13716"/>
          </a:xfrm>
          <a:prstGeom prst="rect">
            <a:avLst/>
          </a:prstGeom>
          <a:solidFill>
            <a:srgbClr val="D7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6611112"/>
            <a:ext cx="6400800" cy="155448"/>
          </a:xfrm>
          <a:prstGeom prst="rect">
            <a:avLst/>
          </a:prstGeom>
          <a:noFill/>
        </p:spPr>
        <p:txBody>
          <a:bodyPr wrap="square" tIns="0" bIns="0" lIns="0" rIns="0" anchor="t">
            <a:spAutoFit/>
          </a:bodyPr>
          <a:lstStyle/>
          <a:p>
            <a:pPr algn="l">
              <a:lnSpc>
                <a:spcPts val="952"/>
              </a:lnSpc>
              <a:spcAft>
                <a:spcPts val="100"/>
              </a:spcAft>
            </a:pPr>
            <a:r>
              <a:rPr sz="850" b="1" i="0">
                <a:solidFill>
                  <a:srgbClr val="A7BCB1"/>
                </a:solidFill>
                <a:latin typeface="Aptos"/>
              </a:rPr>
              <a:t>HOBBY TRACKER  ·  UX / UI DESIGN JOURNEY</a:t>
            </a:r>
          </a:p>
        </p:txBody>
      </p:sp>
      <p:sp>
        <p:nvSpPr>
          <p:cNvPr id="9" name="TextBox 8"/>
          <p:cNvSpPr txBox="1"/>
          <p:nvPr/>
        </p:nvSpPr>
        <p:spPr>
          <a:xfrm>
            <a:off x="11100816" y="6583680"/>
            <a:ext cx="438912" cy="201168"/>
          </a:xfrm>
          <a:prstGeom prst="rect">
            <a:avLst/>
          </a:prstGeom>
          <a:noFill/>
        </p:spPr>
        <p:txBody>
          <a:bodyPr wrap="square" tIns="0" bIns="0" lIns="0" rIns="0" anchor="t">
            <a:spAutoFit/>
          </a:bodyPr>
          <a:lstStyle/>
          <a:p>
            <a:pPr algn="r">
              <a:lnSpc>
                <a:spcPts val="1008"/>
              </a:lnSpc>
              <a:spcAft>
                <a:spcPts val="100"/>
              </a:spcAft>
            </a:pPr>
            <a:r>
              <a:rPr sz="900" b="1" i="0">
                <a:solidFill>
                  <a:srgbClr val="087F72"/>
                </a:solidFill>
                <a:latin typeface="Aptos"/>
              </a:rPr>
              <a:t>09 / 12</a:t>
            </a:r>
          </a:p>
        </p:txBody>
      </p:sp>
      <p:sp>
        <p:nvSpPr>
          <p:cNvPr id="10" name="Rounded Rectangle 9"/>
          <p:cNvSpPr/>
          <p:nvPr/>
        </p:nvSpPr>
        <p:spPr>
          <a:xfrm>
            <a:off x="640080" y="1755648"/>
            <a:ext cx="5431536" cy="4526280"/>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 y="1965960"/>
            <a:ext cx="5047488" cy="274320"/>
          </a:xfrm>
          <a:prstGeom prst="rect">
            <a:avLst/>
          </a:prstGeom>
          <a:noFill/>
        </p:spPr>
        <p:txBody>
          <a:bodyPr wrap="square" tIns="0" bIns="0" lIns="0" rIns="0" anchor="t">
            <a:spAutoFit/>
          </a:bodyPr>
          <a:lstStyle/>
          <a:p>
            <a:pPr algn="l">
              <a:lnSpc>
                <a:spcPts val="1568"/>
              </a:lnSpc>
              <a:spcAft>
                <a:spcPts val="100"/>
              </a:spcAft>
            </a:pPr>
            <a:r>
              <a:rPr sz="1400" b="1" i="0">
                <a:solidFill>
                  <a:srgbClr val="087F72"/>
                </a:solidFill>
                <a:latin typeface="Aptos"/>
              </a:rPr>
              <a:t>HOME — THIẾU “ADD SCHEDULE”</a:t>
            </a:r>
          </a:p>
        </p:txBody>
      </p:sp>
      <p:sp>
        <p:nvSpPr>
          <p:cNvPr id="12" name="TextBox 11"/>
          <p:cNvSpPr txBox="1"/>
          <p:nvPr/>
        </p:nvSpPr>
        <p:spPr>
          <a:xfrm>
            <a:off x="841248" y="2359152"/>
            <a:ext cx="4928616" cy="685800"/>
          </a:xfrm>
          <a:prstGeom prst="rect">
            <a:avLst/>
          </a:prstGeom>
          <a:noFill/>
        </p:spPr>
        <p:txBody>
          <a:bodyPr wrap="square" tIns="0" bIns="0" lIns="0" rIns="0" anchor="t">
            <a:spAutoFit/>
          </a:bodyPr>
          <a:lstStyle/>
          <a:p>
            <a:pPr algn="l">
              <a:lnSpc>
                <a:spcPts val="1456"/>
              </a:lnSpc>
              <a:spcAft>
                <a:spcPts val="100"/>
              </a:spcAft>
            </a:pPr>
            <a:r>
              <a:rPr sz="1300" b="1" i="0">
                <a:solidFill>
                  <a:srgbClr val="193D35"/>
                </a:solidFill>
                <a:latin typeface="Aptos"/>
              </a:rPr>
              <a:t>Bạn: “in this screen i dont see any option fo user to adf hobby action to scehdule”</a:t>
            </a:r>
          </a:p>
        </p:txBody>
      </p:sp>
      <p:sp>
        <p:nvSpPr>
          <p:cNvPr id="13" name="Rounded Rectangle 12"/>
          <p:cNvSpPr/>
          <p:nvPr/>
        </p:nvSpPr>
        <p:spPr>
          <a:xfrm>
            <a:off x="918972" y="3186684"/>
            <a:ext cx="1216152" cy="2459736"/>
          </a:xfrm>
          <a:prstGeom prst="roundRect">
            <a:avLst>
              <a:gd name="adj" fmla="val 7000"/>
            </a:avLst>
          </a:prstGeom>
          <a:solidFill>
            <a:srgbClr val="FFFFFF"/>
          </a:solidFill>
          <a:ln w="889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lide44_pic1.png"/>
          <p:cNvPicPr>
            <a:picLocks noChangeAspect="1"/>
          </p:cNvPicPr>
          <p:nvPr/>
        </p:nvPicPr>
        <p:blipFill>
          <a:blip r:embed="rId2"/>
          <a:stretch>
            <a:fillRect/>
          </a:stretch>
        </p:blipFill>
        <p:spPr>
          <a:xfrm>
            <a:off x="961460" y="3227832"/>
            <a:ext cx="1131174" cy="2377440"/>
          </a:xfrm>
          <a:prstGeom prst="rect">
            <a:avLst/>
          </a:prstGeom>
        </p:spPr>
      </p:pic>
      <p:sp>
        <p:nvSpPr>
          <p:cNvPr id="15" name="TextBox 14"/>
          <p:cNvSpPr txBox="1"/>
          <p:nvPr/>
        </p:nvSpPr>
        <p:spPr>
          <a:xfrm>
            <a:off x="1060704" y="5760720"/>
            <a:ext cx="914400" cy="201168"/>
          </a:xfrm>
          <a:prstGeom prst="rect">
            <a:avLst/>
          </a:prstGeom>
          <a:noFill/>
        </p:spPr>
        <p:txBody>
          <a:bodyPr wrap="square" tIns="0" bIns="0" lIns="0" rIns="0" anchor="t">
            <a:spAutoFit/>
          </a:bodyPr>
          <a:lstStyle/>
          <a:p>
            <a:pPr algn="ctr">
              <a:lnSpc>
                <a:spcPts val="1120"/>
              </a:lnSpc>
              <a:spcAft>
                <a:spcPts val="100"/>
              </a:spcAft>
            </a:pPr>
            <a:r>
              <a:rPr sz="1000" b="1" i="0">
                <a:solidFill>
                  <a:srgbClr val="5C776B"/>
                </a:solidFill>
                <a:latin typeface="Aptos"/>
              </a:rPr>
              <a:t>TRƯỚC</a:t>
            </a:r>
          </a:p>
        </p:txBody>
      </p:sp>
      <p:sp>
        <p:nvSpPr>
          <p:cNvPr id="16" name="Rounded Rectangle 15"/>
          <p:cNvSpPr/>
          <p:nvPr/>
        </p:nvSpPr>
        <p:spPr>
          <a:xfrm>
            <a:off x="2866644" y="3186684"/>
            <a:ext cx="1216152" cy="2459736"/>
          </a:xfrm>
          <a:prstGeom prst="roundRect">
            <a:avLst>
              <a:gd name="adj" fmla="val 7000"/>
            </a:avLst>
          </a:prstGeom>
          <a:solidFill>
            <a:srgbClr val="FFFFFF"/>
          </a:solidFill>
          <a:ln w="889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gallery_home_populated.png"/>
          <p:cNvPicPr>
            <a:picLocks noChangeAspect="1"/>
          </p:cNvPicPr>
          <p:nvPr/>
        </p:nvPicPr>
        <p:blipFill>
          <a:blip r:embed="rId3"/>
          <a:stretch>
            <a:fillRect/>
          </a:stretch>
        </p:blipFill>
        <p:spPr>
          <a:xfrm>
            <a:off x="2950660" y="3227832"/>
            <a:ext cx="1048118" cy="2377440"/>
          </a:xfrm>
          <a:prstGeom prst="rect">
            <a:avLst/>
          </a:prstGeom>
        </p:spPr>
      </p:pic>
      <p:sp>
        <p:nvSpPr>
          <p:cNvPr id="18" name="TextBox 17"/>
          <p:cNvSpPr txBox="1"/>
          <p:nvPr/>
        </p:nvSpPr>
        <p:spPr>
          <a:xfrm>
            <a:off x="3118104" y="5760720"/>
            <a:ext cx="548640" cy="201168"/>
          </a:xfrm>
          <a:prstGeom prst="rect">
            <a:avLst/>
          </a:prstGeom>
          <a:noFill/>
        </p:spPr>
        <p:txBody>
          <a:bodyPr wrap="square" tIns="0" bIns="0" lIns="0" rIns="0" anchor="t">
            <a:spAutoFit/>
          </a:bodyPr>
          <a:lstStyle/>
          <a:p>
            <a:pPr algn="ctr">
              <a:lnSpc>
                <a:spcPts val="1120"/>
              </a:lnSpc>
              <a:spcAft>
                <a:spcPts val="100"/>
              </a:spcAft>
            </a:pPr>
            <a:r>
              <a:rPr sz="1000" b="1" i="0">
                <a:solidFill>
                  <a:srgbClr val="087F72"/>
                </a:solidFill>
                <a:latin typeface="Aptos"/>
              </a:rPr>
              <a:t>SAU</a:t>
            </a:r>
          </a:p>
        </p:txBody>
      </p:sp>
      <p:sp>
        <p:nvSpPr>
          <p:cNvPr id="19" name="TextBox 18"/>
          <p:cNvSpPr txBox="1"/>
          <p:nvPr/>
        </p:nvSpPr>
        <p:spPr>
          <a:xfrm>
            <a:off x="4105656" y="3639312"/>
            <a:ext cx="1764792" cy="1874519"/>
          </a:xfrm>
          <a:prstGeom prst="rect">
            <a:avLst/>
          </a:prstGeom>
          <a:noFill/>
        </p:spPr>
        <p:txBody>
          <a:bodyPr wrap="square" tIns="0" bIns="0" lIns="0" rIns="0" anchor="t">
            <a:spAutoFit/>
          </a:bodyPr>
          <a:lstStyle/>
          <a:p>
            <a:pPr algn="l">
              <a:lnSpc>
                <a:spcPts val="1377"/>
              </a:lnSpc>
              <a:spcAft>
                <a:spcPts val="100"/>
              </a:spcAft>
            </a:pPr>
            <a:r>
              <a:rPr sz="1230" b="0" i="0">
                <a:solidFill>
                  <a:srgbClr val="193D35"/>
                </a:solidFill>
                <a:latin typeface="Aptos"/>
              </a:rPr>
              <a:t>+ Schedule hiện tại Home. Chọn mọi hobby, ngày, giờ, thời lượng.</a:t>
            </a:r>
          </a:p>
        </p:txBody>
      </p:sp>
      <p:sp>
        <p:nvSpPr>
          <p:cNvPr id="20" name="Rounded Rectangle 19"/>
          <p:cNvSpPr/>
          <p:nvPr/>
        </p:nvSpPr>
        <p:spPr>
          <a:xfrm>
            <a:off x="6199632" y="1755648"/>
            <a:ext cx="5330952" cy="4526280"/>
          </a:xfrm>
          <a:prstGeom prst="roundRect">
            <a:avLst>
              <a:gd name="adj" fmla="val 10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91656" y="1965960"/>
            <a:ext cx="4956048" cy="274320"/>
          </a:xfrm>
          <a:prstGeom prst="rect">
            <a:avLst/>
          </a:prstGeom>
          <a:noFill/>
        </p:spPr>
        <p:txBody>
          <a:bodyPr wrap="square" tIns="0" bIns="0" lIns="0" rIns="0" anchor="t">
            <a:spAutoFit/>
          </a:bodyPr>
          <a:lstStyle/>
          <a:p>
            <a:pPr algn="l">
              <a:lnSpc>
                <a:spcPts val="1568"/>
              </a:lnSpc>
              <a:spcAft>
                <a:spcPts val="100"/>
              </a:spcAft>
            </a:pPr>
            <a:r>
              <a:rPr sz="1400" b="1" i="0">
                <a:solidFill>
                  <a:srgbClr val="087F72"/>
                </a:solidFill>
                <a:latin typeface="Aptos"/>
              </a:rPr>
              <a:t>MY HOBBIES — BỎ CATALOG</a:t>
            </a:r>
          </a:p>
        </p:txBody>
      </p:sp>
      <p:sp>
        <p:nvSpPr>
          <p:cNvPr id="22" name="TextBox 21"/>
          <p:cNvSpPr txBox="1"/>
          <p:nvPr/>
        </p:nvSpPr>
        <p:spPr>
          <a:xfrm>
            <a:off x="6400800" y="2359152"/>
            <a:ext cx="4892040" cy="694944"/>
          </a:xfrm>
          <a:prstGeom prst="rect">
            <a:avLst/>
          </a:prstGeom>
          <a:noFill/>
        </p:spPr>
        <p:txBody>
          <a:bodyPr wrap="square" tIns="0" bIns="0" lIns="0" rIns="0" anchor="t">
            <a:spAutoFit/>
          </a:bodyPr>
          <a:lstStyle/>
          <a:p>
            <a:pPr algn="l">
              <a:lnSpc>
                <a:spcPts val="1456"/>
              </a:lnSpc>
              <a:spcAft>
                <a:spcPts val="100"/>
              </a:spcAft>
            </a:pPr>
            <a:r>
              <a:rPr sz="1300" b="1" i="0">
                <a:solidFill>
                  <a:srgbClr val="193D35"/>
                </a:solidFill>
                <a:latin typeface="Aptos"/>
              </a:rPr>
              <a:t>Bạn: “firts hobby is use own create , wtf u let user find hobby that sttupid”</a:t>
            </a:r>
          </a:p>
        </p:txBody>
      </p:sp>
      <p:sp>
        <p:nvSpPr>
          <p:cNvPr id="23" name="Rounded Rectangle 22"/>
          <p:cNvSpPr/>
          <p:nvPr/>
        </p:nvSpPr>
        <p:spPr>
          <a:xfrm>
            <a:off x="6437376" y="3218688"/>
            <a:ext cx="2240280" cy="2432304"/>
          </a:xfrm>
          <a:prstGeom prst="roundRect">
            <a:avLst>
              <a:gd name="adj" fmla="val 10000"/>
            </a:avLst>
          </a:prstGeom>
          <a:solidFill>
            <a:srgbClr val="E8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11112" y="3456432"/>
            <a:ext cx="1892807" cy="274320"/>
          </a:xfrm>
          <a:prstGeom prst="rect">
            <a:avLst/>
          </a:prstGeom>
          <a:noFill/>
        </p:spPr>
        <p:txBody>
          <a:bodyPr wrap="square" tIns="0" bIns="0" lIns="0" rIns="0" anchor="t">
            <a:spAutoFit/>
          </a:bodyPr>
          <a:lstStyle/>
          <a:p>
            <a:pPr algn="l">
              <a:lnSpc>
                <a:spcPts val="1198"/>
              </a:lnSpc>
              <a:spcAft>
                <a:spcPts val="100"/>
              </a:spcAft>
            </a:pPr>
            <a:r>
              <a:rPr sz="1070" b="1" i="0">
                <a:solidFill>
                  <a:srgbClr val="087F72"/>
                </a:solidFill>
                <a:latin typeface="Aptos"/>
              </a:rPr>
              <a:t>TRƯỚC · TÌM SẴN</a:t>
            </a:r>
          </a:p>
        </p:txBody>
      </p:sp>
      <p:sp>
        <p:nvSpPr>
          <p:cNvPr id="25" name="TextBox 24"/>
          <p:cNvSpPr txBox="1"/>
          <p:nvPr/>
        </p:nvSpPr>
        <p:spPr>
          <a:xfrm>
            <a:off x="6611112" y="3941063"/>
            <a:ext cx="1865376" cy="1426464"/>
          </a:xfrm>
          <a:prstGeom prst="rect">
            <a:avLst/>
          </a:prstGeom>
          <a:noFill/>
        </p:spPr>
        <p:txBody>
          <a:bodyPr wrap="square" tIns="0" bIns="0" lIns="0" rIns="0" anchor="t">
            <a:spAutoFit/>
          </a:bodyPr>
          <a:lstStyle/>
          <a:p>
            <a:pPr algn="l">
              <a:lnSpc>
                <a:spcPts val="1456"/>
              </a:lnSpc>
              <a:spcAft>
                <a:spcPts val="100"/>
              </a:spcAft>
            </a:pPr>
            <a:r>
              <a:rPr sz="1300" b="0" i="0">
                <a:solidFill>
                  <a:srgbClr val="193D35"/>
                </a:solidFill>
                <a:latin typeface="Aptos"/>
              </a:rPr>
              <a:t>Search catalog</a:t>
            </a:r>
          </a:p>
          <a:p>
            <a:pPr algn="l">
              <a:lnSpc>
                <a:spcPts val="1456"/>
              </a:lnSpc>
              <a:spcAft>
                <a:spcPts val="100"/>
              </a:spcAft>
            </a:pPr>
            <a:r>
              <a:rPr sz="1300" b="0" i="0">
                <a:solidFill>
                  <a:srgbClr val="193D35"/>
                </a:solidFill>
                <a:latin typeface="Aptos"/>
              </a:rPr>
              <a:t>Photography</a:t>
            </a:r>
          </a:p>
          <a:p>
            <a:pPr algn="l">
              <a:lnSpc>
                <a:spcPts val="1456"/>
              </a:lnSpc>
              <a:spcAft>
                <a:spcPts val="100"/>
              </a:spcAft>
            </a:pPr>
            <a:r>
              <a:rPr sz="1300" b="0" i="0">
                <a:solidFill>
                  <a:srgbClr val="193D35"/>
                </a:solidFill>
                <a:latin typeface="Aptos"/>
              </a:rPr>
              <a:t>Drawing</a:t>
            </a:r>
          </a:p>
          <a:p>
            <a:pPr algn="l">
              <a:lnSpc>
                <a:spcPts val="1456"/>
              </a:lnSpc>
              <a:spcAft>
                <a:spcPts val="100"/>
              </a:spcAft>
            </a:pPr>
            <a:r>
              <a:rPr sz="1300" b="0" i="0">
                <a:solidFill>
                  <a:srgbClr val="193D35"/>
                </a:solidFill>
                <a:latin typeface="Aptos"/>
              </a:rPr>
              <a:t>Badminton</a:t>
            </a:r>
          </a:p>
          <a:p>
            <a:pPr algn="l">
              <a:lnSpc>
                <a:spcPts val="1456"/>
              </a:lnSpc>
              <a:spcAft>
                <a:spcPts val="100"/>
              </a:spcAft>
            </a:pPr>
            <a:r>
              <a:rPr sz="1300" b="0" i="0">
                <a:solidFill>
                  <a:srgbClr val="193D35"/>
                </a:solidFill>
                <a:latin typeface="Aptos"/>
              </a:rPr>
              <a:t>...</a:t>
            </a:r>
          </a:p>
        </p:txBody>
      </p:sp>
      <p:sp>
        <p:nvSpPr>
          <p:cNvPr id="26" name="Rounded Rectangle 25"/>
          <p:cNvSpPr/>
          <p:nvPr/>
        </p:nvSpPr>
        <p:spPr>
          <a:xfrm>
            <a:off x="9212580" y="3177540"/>
            <a:ext cx="1143000" cy="2496312"/>
          </a:xfrm>
          <a:prstGeom prst="roundRect">
            <a:avLst>
              <a:gd name="adj" fmla="val 7000"/>
            </a:avLst>
          </a:prstGeom>
          <a:solidFill>
            <a:srgbClr val="FFFFFF"/>
          </a:solidFill>
          <a:ln w="889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gallery_create.png"/>
          <p:cNvPicPr>
            <a:picLocks noChangeAspect="1"/>
          </p:cNvPicPr>
          <p:nvPr/>
        </p:nvPicPr>
        <p:blipFill>
          <a:blip r:embed="rId4"/>
          <a:stretch>
            <a:fillRect/>
          </a:stretch>
        </p:blipFill>
        <p:spPr>
          <a:xfrm>
            <a:off x="9253728" y="3222702"/>
            <a:ext cx="1060704" cy="2405987"/>
          </a:xfrm>
          <a:prstGeom prst="rect">
            <a:avLst/>
          </a:prstGeom>
        </p:spPr>
      </p:pic>
      <p:sp>
        <p:nvSpPr>
          <p:cNvPr id="28" name="TextBox 27"/>
          <p:cNvSpPr txBox="1"/>
          <p:nvPr/>
        </p:nvSpPr>
        <p:spPr>
          <a:xfrm>
            <a:off x="9208008" y="5769864"/>
            <a:ext cx="1207008" cy="201168"/>
          </a:xfrm>
          <a:prstGeom prst="rect">
            <a:avLst/>
          </a:prstGeom>
          <a:noFill/>
        </p:spPr>
        <p:txBody>
          <a:bodyPr wrap="square" tIns="0" bIns="0" lIns="0" rIns="0" anchor="t">
            <a:spAutoFit/>
          </a:bodyPr>
          <a:lstStyle/>
          <a:p>
            <a:pPr algn="ctr">
              <a:lnSpc>
                <a:spcPts val="1120"/>
              </a:lnSpc>
              <a:spcAft>
                <a:spcPts val="100"/>
              </a:spcAft>
            </a:pPr>
            <a:r>
              <a:rPr sz="1000" b="1" i="0">
                <a:solidFill>
                  <a:srgbClr val="087F72"/>
                </a:solidFill>
                <a:latin typeface="Aptos"/>
              </a:rPr>
              <a:t>SAU · TỰ TẠO</a:t>
            </a:r>
          </a:p>
        </p:txBody>
      </p:sp>
      <p:sp>
        <p:nvSpPr>
          <p:cNvPr id="29" name="TextBox 28"/>
          <p:cNvSpPr txBox="1"/>
          <p:nvPr/>
        </p:nvSpPr>
        <p:spPr>
          <a:xfrm>
            <a:off x="10387584" y="3703320"/>
            <a:ext cx="978408" cy="1645920"/>
          </a:xfrm>
          <a:prstGeom prst="rect">
            <a:avLst/>
          </a:prstGeom>
          <a:noFill/>
        </p:spPr>
        <p:txBody>
          <a:bodyPr wrap="square" tIns="0" bIns="0" lIns="0" rIns="0" anchor="t">
            <a:spAutoFit/>
          </a:bodyPr>
          <a:lstStyle/>
          <a:p>
            <a:pPr algn="l">
              <a:lnSpc>
                <a:spcPts val="1276"/>
              </a:lnSpc>
              <a:spcAft>
                <a:spcPts val="100"/>
              </a:spcAft>
            </a:pPr>
            <a:r>
              <a:rPr sz="1140" b="0" i="0">
                <a:solidFill>
                  <a:srgbClr val="193D35"/>
                </a:solidFill>
                <a:latin typeface="Aptos"/>
              </a:rPr>
              <a:t>Tên tự do, mô tả, icon, màu, priority; không ép lựa chọn sẵn.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56032"/>
            <a:ext cx="7315200" cy="246888"/>
          </a:xfrm>
          <a:prstGeom prst="rect">
            <a:avLst/>
          </a:prstGeom>
          <a:noFill/>
        </p:spPr>
        <p:txBody>
          <a:bodyPr wrap="square" tIns="0" bIns="0" lIns="0" rIns="0" anchor="t">
            <a:spAutoFit/>
          </a:bodyPr>
          <a:lstStyle/>
          <a:p>
            <a:pPr algn="l">
              <a:lnSpc>
                <a:spcPts val="1131"/>
              </a:lnSpc>
              <a:spcAft>
                <a:spcPts val="100"/>
              </a:spcAft>
            </a:pPr>
            <a:r>
              <a:rPr sz="1010" b="1" i="0">
                <a:solidFill>
                  <a:srgbClr val="087F72"/>
                </a:solidFill>
                <a:latin typeface="Aptos"/>
              </a:rPr>
              <a:t>04  UI DESIGN</a:t>
            </a:r>
          </a:p>
        </p:txBody>
      </p:sp>
      <p:sp>
        <p:nvSpPr>
          <p:cNvPr id="5" name="TextBox 4"/>
          <p:cNvSpPr txBox="1"/>
          <p:nvPr/>
        </p:nvSpPr>
        <p:spPr>
          <a:xfrm>
            <a:off x="566928" y="621792"/>
            <a:ext cx="10972800" cy="557784"/>
          </a:xfrm>
          <a:prstGeom prst="rect">
            <a:avLst/>
          </a:prstGeom>
          <a:noFill/>
        </p:spPr>
        <p:txBody>
          <a:bodyPr wrap="square" tIns="0" bIns="0" lIns="0" rIns="0" anchor="t">
            <a:spAutoFit/>
          </a:bodyPr>
          <a:lstStyle/>
          <a:p>
            <a:pPr algn="l">
              <a:lnSpc>
                <a:spcPts val="3024"/>
              </a:lnSpc>
              <a:spcAft>
                <a:spcPts val="100"/>
              </a:spcAft>
            </a:pPr>
            <a:r>
              <a:rPr sz="2700" b="1" i="0">
                <a:solidFill>
                  <a:srgbClr val="193D35"/>
                </a:solidFill>
                <a:latin typeface="Aptos"/>
              </a:rPr>
              <a:t>09 · UI Design: Light là chuẩn trước, rồi mới có 7 chủ đề</a:t>
            </a:r>
          </a:p>
        </p:txBody>
      </p:sp>
      <p:sp>
        <p:nvSpPr>
          <p:cNvPr id="6" name="TextBox 5"/>
          <p:cNvSpPr txBox="1"/>
          <p:nvPr/>
        </p:nvSpPr>
        <p:spPr>
          <a:xfrm>
            <a:off x="594360" y="1261872"/>
            <a:ext cx="10972800" cy="393192"/>
          </a:xfrm>
          <a:prstGeom prst="rect">
            <a:avLst/>
          </a:prstGeom>
          <a:noFill/>
        </p:spPr>
        <p:txBody>
          <a:bodyPr wrap="square" tIns="0" bIns="0" lIns="0" rIns="0" anchor="t">
            <a:spAutoFit/>
          </a:bodyPr>
          <a:lstStyle/>
          <a:p>
            <a:pPr algn="l">
              <a:lnSpc>
                <a:spcPts val="1388"/>
              </a:lnSpc>
              <a:spcAft>
                <a:spcPts val="100"/>
              </a:spcAft>
            </a:pPr>
            <a:r>
              <a:rPr sz="1240" b="0" i="0">
                <a:solidFill>
                  <a:srgbClr val="5C776B"/>
                </a:solidFill>
                <a:latin typeface="Aptos"/>
              </a:rPr>
              <a:t>Bạn yêu cầu chốt bố cục, thao tác và khả năng đọc ở Light trước khi nhân sang các phong cách khác.</a:t>
            </a:r>
          </a:p>
        </p:txBody>
      </p:sp>
      <p:sp>
        <p:nvSpPr>
          <p:cNvPr id="7" name="Rectangle 6"/>
          <p:cNvSpPr/>
          <p:nvPr/>
        </p:nvSpPr>
        <p:spPr>
          <a:xfrm>
            <a:off x="594360" y="6537960"/>
            <a:ext cx="10972800" cy="13716"/>
          </a:xfrm>
          <a:prstGeom prst="rect">
            <a:avLst/>
          </a:prstGeom>
          <a:solidFill>
            <a:srgbClr val="D7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6611112"/>
            <a:ext cx="6400800" cy="155448"/>
          </a:xfrm>
          <a:prstGeom prst="rect">
            <a:avLst/>
          </a:prstGeom>
          <a:noFill/>
        </p:spPr>
        <p:txBody>
          <a:bodyPr wrap="square" tIns="0" bIns="0" lIns="0" rIns="0" anchor="t">
            <a:spAutoFit/>
          </a:bodyPr>
          <a:lstStyle/>
          <a:p>
            <a:pPr algn="l">
              <a:lnSpc>
                <a:spcPts val="952"/>
              </a:lnSpc>
              <a:spcAft>
                <a:spcPts val="100"/>
              </a:spcAft>
            </a:pPr>
            <a:r>
              <a:rPr sz="850" b="1" i="0">
                <a:solidFill>
                  <a:srgbClr val="A7BCB1"/>
                </a:solidFill>
                <a:latin typeface="Aptos"/>
              </a:rPr>
              <a:t>HOBBY TRACKER  ·  UX / UI DESIGN JOURNEY</a:t>
            </a:r>
          </a:p>
        </p:txBody>
      </p:sp>
      <p:sp>
        <p:nvSpPr>
          <p:cNvPr id="9" name="TextBox 8"/>
          <p:cNvSpPr txBox="1"/>
          <p:nvPr/>
        </p:nvSpPr>
        <p:spPr>
          <a:xfrm>
            <a:off x="11100816" y="6583680"/>
            <a:ext cx="438912" cy="201168"/>
          </a:xfrm>
          <a:prstGeom prst="rect">
            <a:avLst/>
          </a:prstGeom>
          <a:noFill/>
        </p:spPr>
        <p:txBody>
          <a:bodyPr wrap="square" tIns="0" bIns="0" lIns="0" rIns="0" anchor="t">
            <a:spAutoFit/>
          </a:bodyPr>
          <a:lstStyle/>
          <a:p>
            <a:pPr algn="r">
              <a:lnSpc>
                <a:spcPts val="1008"/>
              </a:lnSpc>
              <a:spcAft>
                <a:spcPts val="100"/>
              </a:spcAft>
            </a:pPr>
            <a:r>
              <a:rPr sz="900" b="1" i="0">
                <a:solidFill>
                  <a:srgbClr val="087F72"/>
                </a:solidFill>
                <a:latin typeface="Aptos"/>
              </a:rPr>
              <a:t>10 / 12</a:t>
            </a:r>
          </a:p>
        </p:txBody>
      </p:sp>
      <p:sp>
        <p:nvSpPr>
          <p:cNvPr id="10" name="Rounded Rectangle 9"/>
          <p:cNvSpPr/>
          <p:nvPr/>
        </p:nvSpPr>
        <p:spPr>
          <a:xfrm>
            <a:off x="626364" y="1796795"/>
            <a:ext cx="1417320" cy="3273552"/>
          </a:xfrm>
          <a:prstGeom prst="roundRect">
            <a:avLst>
              <a:gd name="adj" fmla="val 7000"/>
            </a:avLst>
          </a:prstGeom>
          <a:solidFill>
            <a:srgbClr val="FFFFFF"/>
          </a:solidFill>
          <a:ln w="889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heme_light.png"/>
          <p:cNvPicPr>
            <a:picLocks noChangeAspect="1"/>
          </p:cNvPicPr>
          <p:nvPr/>
        </p:nvPicPr>
        <p:blipFill>
          <a:blip r:embed="rId2"/>
          <a:stretch>
            <a:fillRect/>
          </a:stretch>
        </p:blipFill>
        <p:spPr>
          <a:xfrm>
            <a:off x="667512" y="1919459"/>
            <a:ext cx="1335024" cy="3028225"/>
          </a:xfrm>
          <a:prstGeom prst="rect">
            <a:avLst/>
          </a:prstGeom>
        </p:spPr>
      </p:pic>
      <p:sp>
        <p:nvSpPr>
          <p:cNvPr id="12" name="TextBox 11"/>
          <p:cNvSpPr txBox="1"/>
          <p:nvPr/>
        </p:nvSpPr>
        <p:spPr>
          <a:xfrm>
            <a:off x="667512" y="5138928"/>
            <a:ext cx="1335024" cy="219456"/>
          </a:xfrm>
          <a:prstGeom prst="rect">
            <a:avLst/>
          </a:prstGeom>
          <a:noFill/>
        </p:spPr>
        <p:txBody>
          <a:bodyPr wrap="square" tIns="0" bIns="0" lIns="0" rIns="0" anchor="t">
            <a:spAutoFit/>
          </a:bodyPr>
          <a:lstStyle/>
          <a:p>
            <a:pPr algn="ctr">
              <a:lnSpc>
                <a:spcPts val="1198"/>
              </a:lnSpc>
              <a:spcAft>
                <a:spcPts val="100"/>
              </a:spcAft>
            </a:pPr>
            <a:r>
              <a:rPr sz="1070" b="1" i="0">
                <a:solidFill>
                  <a:srgbClr val="087F72"/>
                </a:solidFill>
                <a:latin typeface="Aptos"/>
              </a:rPr>
              <a:t>LIGHT</a:t>
            </a:r>
          </a:p>
        </p:txBody>
      </p:sp>
      <p:sp>
        <p:nvSpPr>
          <p:cNvPr id="13" name="TextBox 12"/>
          <p:cNvSpPr txBox="1"/>
          <p:nvPr/>
        </p:nvSpPr>
        <p:spPr>
          <a:xfrm>
            <a:off x="667512" y="5413248"/>
            <a:ext cx="1335024" cy="384048"/>
          </a:xfrm>
          <a:prstGeom prst="rect">
            <a:avLst/>
          </a:prstGeom>
          <a:noFill/>
        </p:spPr>
        <p:txBody>
          <a:bodyPr wrap="square" tIns="0" bIns="0" lIns="0" rIns="0" anchor="t">
            <a:spAutoFit/>
          </a:bodyPr>
          <a:lstStyle/>
          <a:p>
            <a:pPr algn="ctr">
              <a:lnSpc>
                <a:spcPts val="1041"/>
              </a:lnSpc>
              <a:spcAft>
                <a:spcPts val="100"/>
              </a:spcAft>
            </a:pPr>
            <a:r>
              <a:rPr sz="930" b="0" i="0">
                <a:solidFill>
                  <a:srgbClr val="5C776B"/>
                </a:solidFill>
                <a:latin typeface="Aptos"/>
              </a:rPr>
              <a:t>Default / botanical</a:t>
            </a:r>
          </a:p>
        </p:txBody>
      </p:sp>
      <p:sp>
        <p:nvSpPr>
          <p:cNvPr id="14" name="Rounded Rectangle 13"/>
          <p:cNvSpPr/>
          <p:nvPr/>
        </p:nvSpPr>
        <p:spPr>
          <a:xfrm>
            <a:off x="2253996" y="1796795"/>
            <a:ext cx="1417320" cy="3273552"/>
          </a:xfrm>
          <a:prstGeom prst="roundRect">
            <a:avLst>
              <a:gd name="adj" fmla="val 7000"/>
            </a:avLst>
          </a:prstGeom>
          <a:solidFill>
            <a:srgbClr val="FFFFFF"/>
          </a:solidFill>
          <a:ln w="889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theme_dark.png"/>
          <p:cNvPicPr>
            <a:picLocks noChangeAspect="1"/>
          </p:cNvPicPr>
          <p:nvPr/>
        </p:nvPicPr>
        <p:blipFill>
          <a:blip r:embed="rId3"/>
          <a:stretch>
            <a:fillRect/>
          </a:stretch>
        </p:blipFill>
        <p:spPr>
          <a:xfrm>
            <a:off x="2295144" y="1919459"/>
            <a:ext cx="1335024" cy="3028225"/>
          </a:xfrm>
          <a:prstGeom prst="rect">
            <a:avLst/>
          </a:prstGeom>
        </p:spPr>
      </p:pic>
      <p:sp>
        <p:nvSpPr>
          <p:cNvPr id="16" name="TextBox 15"/>
          <p:cNvSpPr txBox="1"/>
          <p:nvPr/>
        </p:nvSpPr>
        <p:spPr>
          <a:xfrm>
            <a:off x="2295144" y="5138928"/>
            <a:ext cx="1335024" cy="219456"/>
          </a:xfrm>
          <a:prstGeom prst="rect">
            <a:avLst/>
          </a:prstGeom>
          <a:noFill/>
        </p:spPr>
        <p:txBody>
          <a:bodyPr wrap="square" tIns="0" bIns="0" lIns="0" rIns="0" anchor="t">
            <a:spAutoFit/>
          </a:bodyPr>
          <a:lstStyle/>
          <a:p>
            <a:pPr algn="ctr">
              <a:lnSpc>
                <a:spcPts val="1198"/>
              </a:lnSpc>
              <a:spcAft>
                <a:spcPts val="100"/>
              </a:spcAft>
            </a:pPr>
            <a:r>
              <a:rPr sz="1070" b="1" i="0">
                <a:solidFill>
                  <a:srgbClr val="193D35"/>
                </a:solidFill>
                <a:latin typeface="Aptos"/>
              </a:rPr>
              <a:t>DARK</a:t>
            </a:r>
          </a:p>
        </p:txBody>
      </p:sp>
      <p:sp>
        <p:nvSpPr>
          <p:cNvPr id="17" name="TextBox 16"/>
          <p:cNvSpPr txBox="1"/>
          <p:nvPr/>
        </p:nvSpPr>
        <p:spPr>
          <a:xfrm>
            <a:off x="2295144" y="5413248"/>
            <a:ext cx="1335024" cy="384048"/>
          </a:xfrm>
          <a:prstGeom prst="rect">
            <a:avLst/>
          </a:prstGeom>
          <a:noFill/>
        </p:spPr>
        <p:txBody>
          <a:bodyPr wrap="square" tIns="0" bIns="0" lIns="0" rIns="0" anchor="t">
            <a:spAutoFit/>
          </a:bodyPr>
          <a:lstStyle/>
          <a:p>
            <a:pPr algn="ctr">
              <a:lnSpc>
                <a:spcPts val="1041"/>
              </a:lnSpc>
              <a:spcAft>
                <a:spcPts val="100"/>
              </a:spcAft>
            </a:pPr>
            <a:r>
              <a:rPr sz="930" b="0" i="0">
                <a:solidFill>
                  <a:srgbClr val="5C776B"/>
                </a:solidFill>
                <a:latin typeface="Aptos"/>
              </a:rPr>
              <a:t>Midnight / cool</a:t>
            </a:r>
          </a:p>
        </p:txBody>
      </p:sp>
      <p:sp>
        <p:nvSpPr>
          <p:cNvPr id="18" name="Rounded Rectangle 17"/>
          <p:cNvSpPr/>
          <p:nvPr/>
        </p:nvSpPr>
        <p:spPr>
          <a:xfrm>
            <a:off x="3881628" y="1796795"/>
            <a:ext cx="1417320" cy="3273552"/>
          </a:xfrm>
          <a:prstGeom prst="roundRect">
            <a:avLst>
              <a:gd name="adj" fmla="val 7000"/>
            </a:avLst>
          </a:prstGeom>
          <a:solidFill>
            <a:srgbClr val="FFFFFF"/>
          </a:solidFill>
          <a:ln w="889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theme_energetic.png"/>
          <p:cNvPicPr>
            <a:picLocks noChangeAspect="1"/>
          </p:cNvPicPr>
          <p:nvPr/>
        </p:nvPicPr>
        <p:blipFill>
          <a:blip r:embed="rId4"/>
          <a:stretch>
            <a:fillRect/>
          </a:stretch>
        </p:blipFill>
        <p:spPr>
          <a:xfrm>
            <a:off x="3922776" y="1919459"/>
            <a:ext cx="1335024" cy="3028225"/>
          </a:xfrm>
          <a:prstGeom prst="rect">
            <a:avLst/>
          </a:prstGeom>
        </p:spPr>
      </p:pic>
      <p:sp>
        <p:nvSpPr>
          <p:cNvPr id="20" name="TextBox 19"/>
          <p:cNvSpPr txBox="1"/>
          <p:nvPr/>
        </p:nvSpPr>
        <p:spPr>
          <a:xfrm>
            <a:off x="3922776" y="5138928"/>
            <a:ext cx="1335024" cy="219456"/>
          </a:xfrm>
          <a:prstGeom prst="rect">
            <a:avLst/>
          </a:prstGeom>
          <a:noFill/>
        </p:spPr>
        <p:txBody>
          <a:bodyPr wrap="square" tIns="0" bIns="0" lIns="0" rIns="0" anchor="t">
            <a:spAutoFit/>
          </a:bodyPr>
          <a:lstStyle/>
          <a:p>
            <a:pPr algn="ctr">
              <a:lnSpc>
                <a:spcPts val="1198"/>
              </a:lnSpc>
              <a:spcAft>
                <a:spcPts val="100"/>
              </a:spcAft>
            </a:pPr>
            <a:r>
              <a:rPr sz="1070" b="1" i="0">
                <a:solidFill>
                  <a:srgbClr val="193D35"/>
                </a:solidFill>
                <a:latin typeface="Aptos"/>
              </a:rPr>
              <a:t>ENERGETIC</a:t>
            </a:r>
          </a:p>
        </p:txBody>
      </p:sp>
      <p:sp>
        <p:nvSpPr>
          <p:cNvPr id="21" name="TextBox 20"/>
          <p:cNvSpPr txBox="1"/>
          <p:nvPr/>
        </p:nvSpPr>
        <p:spPr>
          <a:xfrm>
            <a:off x="3922776" y="5413248"/>
            <a:ext cx="1335024" cy="384048"/>
          </a:xfrm>
          <a:prstGeom prst="rect">
            <a:avLst/>
          </a:prstGeom>
          <a:noFill/>
        </p:spPr>
        <p:txBody>
          <a:bodyPr wrap="square" tIns="0" bIns="0" lIns="0" rIns="0" anchor="t">
            <a:spAutoFit/>
          </a:bodyPr>
          <a:lstStyle/>
          <a:p>
            <a:pPr algn="ctr">
              <a:lnSpc>
                <a:spcPts val="1041"/>
              </a:lnSpc>
              <a:spcAft>
                <a:spcPts val="100"/>
              </a:spcAft>
            </a:pPr>
            <a:r>
              <a:rPr sz="930" b="0" i="0">
                <a:solidFill>
                  <a:srgbClr val="5C776B"/>
                </a:solidFill>
                <a:latin typeface="Aptos"/>
              </a:rPr>
              <a:t>Bold / sticker</a:t>
            </a:r>
          </a:p>
        </p:txBody>
      </p:sp>
      <p:sp>
        <p:nvSpPr>
          <p:cNvPr id="22" name="Rounded Rectangle 21"/>
          <p:cNvSpPr/>
          <p:nvPr/>
        </p:nvSpPr>
        <p:spPr>
          <a:xfrm>
            <a:off x="5509260" y="1796795"/>
            <a:ext cx="1417320" cy="3273552"/>
          </a:xfrm>
          <a:prstGeom prst="roundRect">
            <a:avLst>
              <a:gd name="adj" fmla="val 7000"/>
            </a:avLst>
          </a:prstGeom>
          <a:solidFill>
            <a:srgbClr val="FFFFFF"/>
          </a:solidFill>
          <a:ln w="889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theme_cyber.png"/>
          <p:cNvPicPr>
            <a:picLocks noChangeAspect="1"/>
          </p:cNvPicPr>
          <p:nvPr/>
        </p:nvPicPr>
        <p:blipFill>
          <a:blip r:embed="rId5"/>
          <a:stretch>
            <a:fillRect/>
          </a:stretch>
        </p:blipFill>
        <p:spPr>
          <a:xfrm>
            <a:off x="5550408" y="1919459"/>
            <a:ext cx="1335024" cy="3028225"/>
          </a:xfrm>
          <a:prstGeom prst="rect">
            <a:avLst/>
          </a:prstGeom>
        </p:spPr>
      </p:pic>
      <p:sp>
        <p:nvSpPr>
          <p:cNvPr id="24" name="TextBox 23"/>
          <p:cNvSpPr txBox="1"/>
          <p:nvPr/>
        </p:nvSpPr>
        <p:spPr>
          <a:xfrm>
            <a:off x="5550408" y="5138928"/>
            <a:ext cx="1335024" cy="219456"/>
          </a:xfrm>
          <a:prstGeom prst="rect">
            <a:avLst/>
          </a:prstGeom>
          <a:noFill/>
        </p:spPr>
        <p:txBody>
          <a:bodyPr wrap="square" tIns="0" bIns="0" lIns="0" rIns="0" anchor="t">
            <a:spAutoFit/>
          </a:bodyPr>
          <a:lstStyle/>
          <a:p>
            <a:pPr algn="ctr">
              <a:lnSpc>
                <a:spcPts val="1198"/>
              </a:lnSpc>
              <a:spcAft>
                <a:spcPts val="100"/>
              </a:spcAft>
            </a:pPr>
            <a:r>
              <a:rPr sz="1070" b="1" i="0">
                <a:solidFill>
                  <a:srgbClr val="193D35"/>
                </a:solidFill>
                <a:latin typeface="Aptos"/>
              </a:rPr>
              <a:t>CYBER</a:t>
            </a:r>
          </a:p>
        </p:txBody>
      </p:sp>
      <p:sp>
        <p:nvSpPr>
          <p:cNvPr id="25" name="TextBox 24"/>
          <p:cNvSpPr txBox="1"/>
          <p:nvPr/>
        </p:nvSpPr>
        <p:spPr>
          <a:xfrm>
            <a:off x="5550408" y="5413248"/>
            <a:ext cx="1335024" cy="384048"/>
          </a:xfrm>
          <a:prstGeom prst="rect">
            <a:avLst/>
          </a:prstGeom>
          <a:noFill/>
        </p:spPr>
        <p:txBody>
          <a:bodyPr wrap="square" tIns="0" bIns="0" lIns="0" rIns="0" anchor="t">
            <a:spAutoFit/>
          </a:bodyPr>
          <a:lstStyle/>
          <a:p>
            <a:pPr algn="ctr">
              <a:lnSpc>
                <a:spcPts val="1041"/>
              </a:lnSpc>
              <a:spcAft>
                <a:spcPts val="100"/>
              </a:spcAft>
            </a:pPr>
            <a:r>
              <a:rPr sz="930" b="0" i="0">
                <a:solidFill>
                  <a:srgbClr val="5C776B"/>
                </a:solidFill>
                <a:latin typeface="Aptos"/>
              </a:rPr>
              <a:t>Circuit / angular</a:t>
            </a:r>
          </a:p>
        </p:txBody>
      </p:sp>
      <p:sp>
        <p:nvSpPr>
          <p:cNvPr id="26" name="Rounded Rectangle 25"/>
          <p:cNvSpPr/>
          <p:nvPr/>
        </p:nvSpPr>
        <p:spPr>
          <a:xfrm>
            <a:off x="7136892" y="1796795"/>
            <a:ext cx="1417320" cy="3273552"/>
          </a:xfrm>
          <a:prstGeom prst="roundRect">
            <a:avLst>
              <a:gd name="adj" fmla="val 7000"/>
            </a:avLst>
          </a:prstGeom>
          <a:solidFill>
            <a:srgbClr val="FFFFFF"/>
          </a:solidFill>
          <a:ln w="889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theme_art.png"/>
          <p:cNvPicPr>
            <a:picLocks noChangeAspect="1"/>
          </p:cNvPicPr>
          <p:nvPr/>
        </p:nvPicPr>
        <p:blipFill>
          <a:blip r:embed="rId6"/>
          <a:stretch>
            <a:fillRect/>
          </a:stretch>
        </p:blipFill>
        <p:spPr>
          <a:xfrm>
            <a:off x="7178040" y="1919459"/>
            <a:ext cx="1335024" cy="3028225"/>
          </a:xfrm>
          <a:prstGeom prst="rect">
            <a:avLst/>
          </a:prstGeom>
        </p:spPr>
      </p:pic>
      <p:sp>
        <p:nvSpPr>
          <p:cNvPr id="28" name="TextBox 27"/>
          <p:cNvSpPr txBox="1"/>
          <p:nvPr/>
        </p:nvSpPr>
        <p:spPr>
          <a:xfrm>
            <a:off x="7178040" y="5138928"/>
            <a:ext cx="1335024" cy="219456"/>
          </a:xfrm>
          <a:prstGeom prst="rect">
            <a:avLst/>
          </a:prstGeom>
          <a:noFill/>
        </p:spPr>
        <p:txBody>
          <a:bodyPr wrap="square" tIns="0" bIns="0" lIns="0" rIns="0" anchor="t">
            <a:spAutoFit/>
          </a:bodyPr>
          <a:lstStyle/>
          <a:p>
            <a:pPr algn="ctr">
              <a:lnSpc>
                <a:spcPts val="1198"/>
              </a:lnSpc>
              <a:spcAft>
                <a:spcPts val="100"/>
              </a:spcAft>
            </a:pPr>
            <a:r>
              <a:rPr sz="1070" b="1" i="0">
                <a:solidFill>
                  <a:srgbClr val="193D35"/>
                </a:solidFill>
                <a:latin typeface="Aptos"/>
              </a:rPr>
              <a:t>ART</a:t>
            </a:r>
          </a:p>
        </p:txBody>
      </p:sp>
      <p:sp>
        <p:nvSpPr>
          <p:cNvPr id="29" name="TextBox 28"/>
          <p:cNvSpPr txBox="1"/>
          <p:nvPr/>
        </p:nvSpPr>
        <p:spPr>
          <a:xfrm>
            <a:off x="7178040" y="5413248"/>
            <a:ext cx="1335024" cy="384048"/>
          </a:xfrm>
          <a:prstGeom prst="rect">
            <a:avLst/>
          </a:prstGeom>
          <a:noFill/>
        </p:spPr>
        <p:txBody>
          <a:bodyPr wrap="square" tIns="0" bIns="0" lIns="0" rIns="0" anchor="t">
            <a:spAutoFit/>
          </a:bodyPr>
          <a:lstStyle/>
          <a:p>
            <a:pPr algn="ctr">
              <a:lnSpc>
                <a:spcPts val="1041"/>
              </a:lnSpc>
              <a:spcAft>
                <a:spcPts val="100"/>
              </a:spcAft>
            </a:pPr>
            <a:r>
              <a:rPr sz="930" b="0" i="0">
                <a:solidFill>
                  <a:srgbClr val="5C776B"/>
                </a:solidFill>
                <a:latin typeface="Aptos"/>
              </a:rPr>
              <a:t>Hand-drawn</a:t>
            </a:r>
          </a:p>
        </p:txBody>
      </p:sp>
      <p:sp>
        <p:nvSpPr>
          <p:cNvPr id="30" name="Rounded Rectangle 29"/>
          <p:cNvSpPr/>
          <p:nvPr/>
        </p:nvSpPr>
        <p:spPr>
          <a:xfrm>
            <a:off x="8764524" y="1796795"/>
            <a:ext cx="1417320" cy="3273552"/>
          </a:xfrm>
          <a:prstGeom prst="roundRect">
            <a:avLst>
              <a:gd name="adj" fmla="val 7000"/>
            </a:avLst>
          </a:prstGeom>
          <a:solidFill>
            <a:srgbClr val="FFFFFF"/>
          </a:solidFill>
          <a:ln w="889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theme_sad.png"/>
          <p:cNvPicPr>
            <a:picLocks noChangeAspect="1"/>
          </p:cNvPicPr>
          <p:nvPr/>
        </p:nvPicPr>
        <p:blipFill>
          <a:blip r:embed="rId7"/>
          <a:stretch>
            <a:fillRect/>
          </a:stretch>
        </p:blipFill>
        <p:spPr>
          <a:xfrm>
            <a:off x="8805672" y="1919459"/>
            <a:ext cx="1335024" cy="3028225"/>
          </a:xfrm>
          <a:prstGeom prst="rect">
            <a:avLst/>
          </a:prstGeom>
        </p:spPr>
      </p:pic>
      <p:sp>
        <p:nvSpPr>
          <p:cNvPr id="32" name="TextBox 31"/>
          <p:cNvSpPr txBox="1"/>
          <p:nvPr/>
        </p:nvSpPr>
        <p:spPr>
          <a:xfrm>
            <a:off x="8805672" y="5138928"/>
            <a:ext cx="1335024" cy="219456"/>
          </a:xfrm>
          <a:prstGeom prst="rect">
            <a:avLst/>
          </a:prstGeom>
          <a:noFill/>
        </p:spPr>
        <p:txBody>
          <a:bodyPr wrap="square" tIns="0" bIns="0" lIns="0" rIns="0" anchor="t">
            <a:spAutoFit/>
          </a:bodyPr>
          <a:lstStyle/>
          <a:p>
            <a:pPr algn="ctr">
              <a:lnSpc>
                <a:spcPts val="1198"/>
              </a:lnSpc>
              <a:spcAft>
                <a:spcPts val="100"/>
              </a:spcAft>
            </a:pPr>
            <a:r>
              <a:rPr sz="1070" b="1" i="0">
                <a:solidFill>
                  <a:srgbClr val="193D35"/>
                </a:solidFill>
                <a:latin typeface="Aptos"/>
              </a:rPr>
              <a:t>SAD</a:t>
            </a:r>
          </a:p>
        </p:txBody>
      </p:sp>
      <p:sp>
        <p:nvSpPr>
          <p:cNvPr id="33" name="TextBox 32"/>
          <p:cNvSpPr txBox="1"/>
          <p:nvPr/>
        </p:nvSpPr>
        <p:spPr>
          <a:xfrm>
            <a:off x="8805672" y="5413248"/>
            <a:ext cx="1335024" cy="384048"/>
          </a:xfrm>
          <a:prstGeom prst="rect">
            <a:avLst/>
          </a:prstGeom>
          <a:noFill/>
        </p:spPr>
        <p:txBody>
          <a:bodyPr wrap="square" tIns="0" bIns="0" lIns="0" rIns="0" anchor="t">
            <a:spAutoFit/>
          </a:bodyPr>
          <a:lstStyle/>
          <a:p>
            <a:pPr algn="ctr">
              <a:lnSpc>
                <a:spcPts val="1041"/>
              </a:lnSpc>
              <a:spcAft>
                <a:spcPts val="100"/>
              </a:spcAft>
            </a:pPr>
            <a:r>
              <a:rPr sz="930" b="0" i="0">
                <a:solidFill>
                  <a:srgbClr val="5C776B"/>
                </a:solidFill>
                <a:latin typeface="Aptos"/>
              </a:rPr>
              <a:t>Muted / fine-line</a:t>
            </a:r>
          </a:p>
        </p:txBody>
      </p:sp>
      <p:sp>
        <p:nvSpPr>
          <p:cNvPr id="34" name="Rounded Rectangle 33"/>
          <p:cNvSpPr/>
          <p:nvPr/>
        </p:nvSpPr>
        <p:spPr>
          <a:xfrm>
            <a:off x="10392156" y="1796795"/>
            <a:ext cx="1417320" cy="3273552"/>
          </a:xfrm>
          <a:prstGeom prst="roundRect">
            <a:avLst>
              <a:gd name="adj" fmla="val 7000"/>
            </a:avLst>
          </a:prstGeom>
          <a:solidFill>
            <a:srgbClr val="FFFFFF"/>
          </a:solidFill>
          <a:ln w="889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theme_rainy_day.png"/>
          <p:cNvPicPr>
            <a:picLocks noChangeAspect="1"/>
          </p:cNvPicPr>
          <p:nvPr/>
        </p:nvPicPr>
        <p:blipFill>
          <a:blip r:embed="rId8"/>
          <a:stretch>
            <a:fillRect/>
          </a:stretch>
        </p:blipFill>
        <p:spPr>
          <a:xfrm>
            <a:off x="10433304" y="1919459"/>
            <a:ext cx="1335024" cy="3028225"/>
          </a:xfrm>
          <a:prstGeom prst="rect">
            <a:avLst/>
          </a:prstGeom>
        </p:spPr>
      </p:pic>
      <p:sp>
        <p:nvSpPr>
          <p:cNvPr id="36" name="TextBox 35"/>
          <p:cNvSpPr txBox="1"/>
          <p:nvPr/>
        </p:nvSpPr>
        <p:spPr>
          <a:xfrm>
            <a:off x="10433304" y="5138928"/>
            <a:ext cx="1335024" cy="219456"/>
          </a:xfrm>
          <a:prstGeom prst="rect">
            <a:avLst/>
          </a:prstGeom>
          <a:noFill/>
        </p:spPr>
        <p:txBody>
          <a:bodyPr wrap="square" tIns="0" bIns="0" lIns="0" rIns="0" anchor="t">
            <a:spAutoFit/>
          </a:bodyPr>
          <a:lstStyle/>
          <a:p>
            <a:pPr algn="ctr">
              <a:lnSpc>
                <a:spcPts val="1198"/>
              </a:lnSpc>
              <a:spcAft>
                <a:spcPts val="100"/>
              </a:spcAft>
            </a:pPr>
            <a:r>
              <a:rPr sz="1070" b="1" i="0">
                <a:solidFill>
                  <a:srgbClr val="193D35"/>
                </a:solidFill>
                <a:latin typeface="Aptos"/>
              </a:rPr>
              <a:t>RAINY DAY</a:t>
            </a:r>
          </a:p>
        </p:txBody>
      </p:sp>
      <p:sp>
        <p:nvSpPr>
          <p:cNvPr id="37" name="TextBox 36"/>
          <p:cNvSpPr txBox="1"/>
          <p:nvPr/>
        </p:nvSpPr>
        <p:spPr>
          <a:xfrm>
            <a:off x="10433304" y="5413248"/>
            <a:ext cx="1335024" cy="384048"/>
          </a:xfrm>
          <a:prstGeom prst="rect">
            <a:avLst/>
          </a:prstGeom>
          <a:noFill/>
        </p:spPr>
        <p:txBody>
          <a:bodyPr wrap="square" tIns="0" bIns="0" lIns="0" rIns="0" anchor="t">
            <a:spAutoFit/>
          </a:bodyPr>
          <a:lstStyle/>
          <a:p>
            <a:pPr algn="ctr">
              <a:lnSpc>
                <a:spcPts val="1041"/>
              </a:lnSpc>
              <a:spcAft>
                <a:spcPts val="100"/>
              </a:spcAft>
            </a:pPr>
            <a:r>
              <a:rPr sz="930" b="0" i="0">
                <a:solidFill>
                  <a:srgbClr val="5C776B"/>
                </a:solidFill>
                <a:latin typeface="Aptos"/>
              </a:rPr>
              <a:t>Glass / water</a:t>
            </a:r>
          </a:p>
        </p:txBody>
      </p:sp>
      <p:sp>
        <p:nvSpPr>
          <p:cNvPr id="38" name="Rounded Rectangle 37"/>
          <p:cNvSpPr/>
          <p:nvPr/>
        </p:nvSpPr>
        <p:spPr>
          <a:xfrm>
            <a:off x="694944" y="6007608"/>
            <a:ext cx="10799064" cy="310896"/>
          </a:xfrm>
          <a:prstGeom prst="roundRect">
            <a:avLst>
              <a:gd name="adj" fmla="val 12000"/>
            </a:avLst>
          </a:prstGeom>
          <a:solidFill>
            <a:srgbClr val="E8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6080760"/>
            <a:ext cx="10515600" cy="164592"/>
          </a:xfrm>
          <a:prstGeom prst="rect">
            <a:avLst/>
          </a:prstGeom>
          <a:noFill/>
        </p:spPr>
        <p:txBody>
          <a:bodyPr wrap="square" tIns="0" bIns="0" lIns="0" rIns="0" anchor="t">
            <a:spAutoFit/>
          </a:bodyPr>
          <a:lstStyle/>
          <a:p>
            <a:pPr algn="l">
              <a:lnSpc>
                <a:spcPts val="1276"/>
              </a:lnSpc>
              <a:spcAft>
                <a:spcPts val="100"/>
              </a:spcAft>
            </a:pPr>
            <a:r>
              <a:rPr sz="1140" b="1" i="0">
                <a:solidFill>
                  <a:srgbClr val="087F72"/>
                </a:solidFill>
                <a:latin typeface="Aptos"/>
              </a:rPr>
              <a:t>Light: teal CTA / nền sáng / thẻ rõ · Các theme còn lại đổi icon, hình, card và navigation — không chỉ recolor.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56032"/>
            <a:ext cx="7315200" cy="246888"/>
          </a:xfrm>
          <a:prstGeom prst="rect">
            <a:avLst/>
          </a:prstGeom>
          <a:noFill/>
        </p:spPr>
        <p:txBody>
          <a:bodyPr wrap="square" tIns="0" bIns="0" lIns="0" rIns="0" anchor="t">
            <a:spAutoFit/>
          </a:bodyPr>
          <a:lstStyle/>
          <a:p>
            <a:pPr algn="l">
              <a:lnSpc>
                <a:spcPts val="1131"/>
              </a:lnSpc>
              <a:spcAft>
                <a:spcPts val="100"/>
              </a:spcAft>
            </a:pPr>
            <a:r>
              <a:rPr sz="1010" b="1" i="0">
                <a:solidFill>
                  <a:srgbClr val="087F72"/>
                </a:solidFill>
                <a:latin typeface="Aptos"/>
              </a:rPr>
              <a:t>04  UI DESIGN</a:t>
            </a:r>
          </a:p>
        </p:txBody>
      </p:sp>
      <p:sp>
        <p:nvSpPr>
          <p:cNvPr id="5" name="TextBox 4"/>
          <p:cNvSpPr txBox="1"/>
          <p:nvPr/>
        </p:nvSpPr>
        <p:spPr>
          <a:xfrm>
            <a:off x="566928" y="621792"/>
            <a:ext cx="10972800" cy="557784"/>
          </a:xfrm>
          <a:prstGeom prst="rect">
            <a:avLst/>
          </a:prstGeom>
          <a:noFill/>
        </p:spPr>
        <p:txBody>
          <a:bodyPr wrap="square" tIns="0" bIns="0" lIns="0" rIns="0" anchor="t">
            <a:spAutoFit/>
          </a:bodyPr>
          <a:lstStyle/>
          <a:p>
            <a:pPr algn="l">
              <a:lnSpc>
                <a:spcPts val="3024"/>
              </a:lnSpc>
              <a:spcAft>
                <a:spcPts val="100"/>
              </a:spcAft>
            </a:pPr>
            <a:r>
              <a:rPr sz="2700" b="1" i="0">
                <a:solidFill>
                  <a:srgbClr val="193D35"/>
                </a:solidFill>
                <a:latin typeface="Aptos"/>
              </a:rPr>
              <a:t>10 · Các chức năng cốt lõi được định hình qua phản biện UI</a:t>
            </a:r>
          </a:p>
        </p:txBody>
      </p:sp>
      <p:sp>
        <p:nvSpPr>
          <p:cNvPr id="6" name="TextBox 5"/>
          <p:cNvSpPr txBox="1"/>
          <p:nvPr/>
        </p:nvSpPr>
        <p:spPr>
          <a:xfrm>
            <a:off x="594360" y="1261872"/>
            <a:ext cx="10972800" cy="393192"/>
          </a:xfrm>
          <a:prstGeom prst="rect">
            <a:avLst/>
          </a:prstGeom>
          <a:noFill/>
        </p:spPr>
        <p:txBody>
          <a:bodyPr wrap="square" tIns="0" bIns="0" lIns="0" rIns="0" anchor="t">
            <a:spAutoFit/>
          </a:bodyPr>
          <a:lstStyle/>
          <a:p>
            <a:pPr algn="l">
              <a:lnSpc>
                <a:spcPts val="1388"/>
              </a:lnSpc>
              <a:spcAft>
                <a:spcPts val="100"/>
              </a:spcAft>
            </a:pPr>
            <a:r>
              <a:rPr sz="1240" b="0" i="0">
                <a:solidFill>
                  <a:srgbClr val="5C776B"/>
                </a:solidFill>
                <a:latin typeface="Aptos"/>
              </a:rPr>
              <a:t>Home/Hyper để thực hành thật; My Hobbies để tự tạo và cá nhân hóa — không chỉ xem màn hình đẹp.</a:t>
            </a:r>
          </a:p>
        </p:txBody>
      </p:sp>
      <p:sp>
        <p:nvSpPr>
          <p:cNvPr id="7" name="Rectangle 6"/>
          <p:cNvSpPr/>
          <p:nvPr/>
        </p:nvSpPr>
        <p:spPr>
          <a:xfrm>
            <a:off x="594360" y="6537960"/>
            <a:ext cx="10972800" cy="13716"/>
          </a:xfrm>
          <a:prstGeom prst="rect">
            <a:avLst/>
          </a:prstGeom>
          <a:solidFill>
            <a:srgbClr val="D7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6611112"/>
            <a:ext cx="6400800" cy="155448"/>
          </a:xfrm>
          <a:prstGeom prst="rect">
            <a:avLst/>
          </a:prstGeom>
          <a:noFill/>
        </p:spPr>
        <p:txBody>
          <a:bodyPr wrap="square" tIns="0" bIns="0" lIns="0" rIns="0" anchor="t">
            <a:spAutoFit/>
          </a:bodyPr>
          <a:lstStyle/>
          <a:p>
            <a:pPr algn="l">
              <a:lnSpc>
                <a:spcPts val="952"/>
              </a:lnSpc>
              <a:spcAft>
                <a:spcPts val="100"/>
              </a:spcAft>
            </a:pPr>
            <a:r>
              <a:rPr sz="850" b="1" i="0">
                <a:solidFill>
                  <a:srgbClr val="A7BCB1"/>
                </a:solidFill>
                <a:latin typeface="Aptos"/>
              </a:rPr>
              <a:t>HOBBY TRACKER  ·  UX / UI DESIGN JOURNEY</a:t>
            </a:r>
          </a:p>
        </p:txBody>
      </p:sp>
      <p:sp>
        <p:nvSpPr>
          <p:cNvPr id="9" name="TextBox 8"/>
          <p:cNvSpPr txBox="1"/>
          <p:nvPr/>
        </p:nvSpPr>
        <p:spPr>
          <a:xfrm>
            <a:off x="11100816" y="6583680"/>
            <a:ext cx="438912" cy="201168"/>
          </a:xfrm>
          <a:prstGeom prst="rect">
            <a:avLst/>
          </a:prstGeom>
          <a:noFill/>
        </p:spPr>
        <p:txBody>
          <a:bodyPr wrap="square" tIns="0" bIns="0" lIns="0" rIns="0" anchor="t">
            <a:spAutoFit/>
          </a:bodyPr>
          <a:lstStyle/>
          <a:p>
            <a:pPr algn="r">
              <a:lnSpc>
                <a:spcPts val="1008"/>
              </a:lnSpc>
              <a:spcAft>
                <a:spcPts val="100"/>
              </a:spcAft>
            </a:pPr>
            <a:r>
              <a:rPr sz="900" b="1" i="0">
                <a:solidFill>
                  <a:srgbClr val="087F72"/>
                </a:solidFill>
                <a:latin typeface="Aptos"/>
              </a:rPr>
              <a:t>11 / 12</a:t>
            </a:r>
          </a:p>
        </p:txBody>
      </p:sp>
      <p:sp>
        <p:nvSpPr>
          <p:cNvPr id="10" name="Rounded Rectangle 9"/>
          <p:cNvSpPr/>
          <p:nvPr/>
        </p:nvSpPr>
        <p:spPr>
          <a:xfrm>
            <a:off x="662940" y="1824228"/>
            <a:ext cx="1316736" cy="2926079"/>
          </a:xfrm>
          <a:prstGeom prst="roundRect">
            <a:avLst>
              <a:gd name="adj" fmla="val 7000"/>
            </a:avLst>
          </a:prstGeom>
          <a:solidFill>
            <a:srgbClr val="FFFFFF"/>
          </a:solidFill>
          <a:ln w="889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gallery_home_populated.png"/>
          <p:cNvPicPr>
            <a:picLocks noChangeAspect="1"/>
          </p:cNvPicPr>
          <p:nvPr/>
        </p:nvPicPr>
        <p:blipFill>
          <a:blip r:embed="rId2"/>
          <a:stretch>
            <a:fillRect/>
          </a:stretch>
        </p:blipFill>
        <p:spPr>
          <a:xfrm>
            <a:off x="704088" y="1887232"/>
            <a:ext cx="1234440" cy="2800071"/>
          </a:xfrm>
          <a:prstGeom prst="rect">
            <a:avLst/>
          </a:prstGeom>
        </p:spPr>
      </p:pic>
      <p:sp>
        <p:nvSpPr>
          <p:cNvPr id="12" name="TextBox 11"/>
          <p:cNvSpPr txBox="1"/>
          <p:nvPr/>
        </p:nvSpPr>
        <p:spPr>
          <a:xfrm>
            <a:off x="694944" y="4837176"/>
            <a:ext cx="1280160" cy="228600"/>
          </a:xfrm>
          <a:prstGeom prst="rect">
            <a:avLst/>
          </a:prstGeom>
          <a:noFill/>
        </p:spPr>
        <p:txBody>
          <a:bodyPr wrap="square" tIns="0" bIns="0" lIns="0" rIns="0" anchor="t">
            <a:spAutoFit/>
          </a:bodyPr>
          <a:lstStyle/>
          <a:p>
            <a:pPr algn="ctr">
              <a:lnSpc>
                <a:spcPts val="1232"/>
              </a:lnSpc>
              <a:spcAft>
                <a:spcPts val="100"/>
              </a:spcAft>
            </a:pPr>
            <a:r>
              <a:rPr sz="1100" b="1" i="0">
                <a:solidFill>
                  <a:srgbClr val="087F72"/>
                </a:solidFill>
                <a:latin typeface="Aptos"/>
              </a:rPr>
              <a:t>HOME</a:t>
            </a:r>
          </a:p>
        </p:txBody>
      </p:sp>
      <p:sp>
        <p:nvSpPr>
          <p:cNvPr id="13" name="TextBox 12"/>
          <p:cNvSpPr txBox="1"/>
          <p:nvPr/>
        </p:nvSpPr>
        <p:spPr>
          <a:xfrm>
            <a:off x="630936" y="5129784"/>
            <a:ext cx="1408176" cy="502920"/>
          </a:xfrm>
          <a:prstGeom prst="rect">
            <a:avLst/>
          </a:prstGeom>
          <a:noFill/>
        </p:spPr>
        <p:txBody>
          <a:bodyPr wrap="square" tIns="0" bIns="0" lIns="0" rIns="0" anchor="t">
            <a:spAutoFit/>
          </a:bodyPr>
          <a:lstStyle/>
          <a:p>
            <a:pPr algn="ctr">
              <a:lnSpc>
                <a:spcPts val="1097"/>
              </a:lnSpc>
              <a:spcAft>
                <a:spcPts val="100"/>
              </a:spcAft>
            </a:pPr>
            <a:r>
              <a:rPr sz="980" b="0" i="0">
                <a:solidFill>
                  <a:srgbClr val="5C776B"/>
                </a:solidFill>
                <a:latin typeface="Aptos"/>
              </a:rPr>
              <a:t>Lịch tuần + Add Schedule</a:t>
            </a:r>
          </a:p>
        </p:txBody>
      </p:sp>
      <p:sp>
        <p:nvSpPr>
          <p:cNvPr id="14" name="Rounded Rectangle 13"/>
          <p:cNvSpPr/>
          <p:nvPr/>
        </p:nvSpPr>
        <p:spPr>
          <a:xfrm>
            <a:off x="2162556" y="1824228"/>
            <a:ext cx="1316736" cy="2926079"/>
          </a:xfrm>
          <a:prstGeom prst="roundRect">
            <a:avLst>
              <a:gd name="adj" fmla="val 7000"/>
            </a:avLst>
          </a:prstGeom>
          <a:solidFill>
            <a:srgbClr val="FFFFFF"/>
          </a:solidFill>
          <a:ln w="889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gallery_hyper.png"/>
          <p:cNvPicPr>
            <a:picLocks noChangeAspect="1"/>
          </p:cNvPicPr>
          <p:nvPr/>
        </p:nvPicPr>
        <p:blipFill>
          <a:blip r:embed="rId3"/>
          <a:stretch>
            <a:fillRect/>
          </a:stretch>
        </p:blipFill>
        <p:spPr>
          <a:xfrm>
            <a:off x="2203704" y="1887232"/>
            <a:ext cx="1234440" cy="2800071"/>
          </a:xfrm>
          <a:prstGeom prst="rect">
            <a:avLst/>
          </a:prstGeom>
        </p:spPr>
      </p:pic>
      <p:sp>
        <p:nvSpPr>
          <p:cNvPr id="16" name="TextBox 15"/>
          <p:cNvSpPr txBox="1"/>
          <p:nvPr/>
        </p:nvSpPr>
        <p:spPr>
          <a:xfrm>
            <a:off x="2194560" y="4837176"/>
            <a:ext cx="1280160" cy="228600"/>
          </a:xfrm>
          <a:prstGeom prst="rect">
            <a:avLst/>
          </a:prstGeom>
          <a:noFill/>
        </p:spPr>
        <p:txBody>
          <a:bodyPr wrap="square" tIns="0" bIns="0" lIns="0" rIns="0" anchor="t">
            <a:spAutoFit/>
          </a:bodyPr>
          <a:lstStyle/>
          <a:p>
            <a:pPr algn="ctr">
              <a:lnSpc>
                <a:spcPts val="1232"/>
              </a:lnSpc>
              <a:spcAft>
                <a:spcPts val="100"/>
              </a:spcAft>
            </a:pPr>
            <a:r>
              <a:rPr sz="1100" b="1" i="0">
                <a:solidFill>
                  <a:srgbClr val="087F72"/>
                </a:solidFill>
                <a:latin typeface="Aptos"/>
              </a:rPr>
              <a:t>HYPER</a:t>
            </a:r>
          </a:p>
        </p:txBody>
      </p:sp>
      <p:sp>
        <p:nvSpPr>
          <p:cNvPr id="17" name="TextBox 16"/>
          <p:cNvSpPr txBox="1"/>
          <p:nvPr/>
        </p:nvSpPr>
        <p:spPr>
          <a:xfrm>
            <a:off x="2130552" y="5129784"/>
            <a:ext cx="1408176" cy="502920"/>
          </a:xfrm>
          <a:prstGeom prst="rect">
            <a:avLst/>
          </a:prstGeom>
          <a:noFill/>
        </p:spPr>
        <p:txBody>
          <a:bodyPr wrap="square" tIns="0" bIns="0" lIns="0" rIns="0" anchor="t">
            <a:spAutoFit/>
          </a:bodyPr>
          <a:lstStyle/>
          <a:p>
            <a:pPr algn="ctr">
              <a:lnSpc>
                <a:spcPts val="1097"/>
              </a:lnSpc>
              <a:spcAft>
                <a:spcPts val="100"/>
              </a:spcAft>
            </a:pPr>
            <a:r>
              <a:rPr sz="980" b="0" i="0">
                <a:solidFill>
                  <a:srgbClr val="5C776B"/>
                </a:solidFill>
                <a:latin typeface="Aptos"/>
              </a:rPr>
              <a:t>Timer + tools + notes</a:t>
            </a:r>
          </a:p>
        </p:txBody>
      </p:sp>
      <p:sp>
        <p:nvSpPr>
          <p:cNvPr id="18" name="Rounded Rectangle 17"/>
          <p:cNvSpPr/>
          <p:nvPr/>
        </p:nvSpPr>
        <p:spPr>
          <a:xfrm>
            <a:off x="3662172" y="1824228"/>
            <a:ext cx="1316736" cy="2926079"/>
          </a:xfrm>
          <a:prstGeom prst="roundRect">
            <a:avLst>
              <a:gd name="adj" fmla="val 7000"/>
            </a:avLst>
          </a:prstGeom>
          <a:solidFill>
            <a:srgbClr val="FFFFFF"/>
          </a:solidFill>
          <a:ln w="889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slide52_pic1.png"/>
          <p:cNvPicPr>
            <a:picLocks noChangeAspect="1"/>
          </p:cNvPicPr>
          <p:nvPr/>
        </p:nvPicPr>
        <p:blipFill>
          <a:blip r:embed="rId4"/>
          <a:stretch>
            <a:fillRect/>
          </a:stretch>
        </p:blipFill>
        <p:spPr>
          <a:xfrm>
            <a:off x="3703320" y="2575360"/>
            <a:ext cx="1234440" cy="1423814"/>
          </a:xfrm>
          <a:prstGeom prst="rect">
            <a:avLst/>
          </a:prstGeom>
        </p:spPr>
      </p:pic>
      <p:sp>
        <p:nvSpPr>
          <p:cNvPr id="20" name="TextBox 19"/>
          <p:cNvSpPr txBox="1"/>
          <p:nvPr/>
        </p:nvSpPr>
        <p:spPr>
          <a:xfrm>
            <a:off x="3694176" y="4837176"/>
            <a:ext cx="1280160" cy="228600"/>
          </a:xfrm>
          <a:prstGeom prst="rect">
            <a:avLst/>
          </a:prstGeom>
          <a:noFill/>
        </p:spPr>
        <p:txBody>
          <a:bodyPr wrap="square" tIns="0" bIns="0" lIns="0" rIns="0" anchor="t">
            <a:spAutoFit/>
          </a:bodyPr>
          <a:lstStyle/>
          <a:p>
            <a:pPr algn="ctr">
              <a:lnSpc>
                <a:spcPts val="1232"/>
              </a:lnSpc>
              <a:spcAft>
                <a:spcPts val="100"/>
              </a:spcAft>
            </a:pPr>
            <a:r>
              <a:rPr sz="1100" b="1" i="0">
                <a:solidFill>
                  <a:srgbClr val="087F72"/>
                </a:solidFill>
                <a:latin typeface="Aptos"/>
              </a:rPr>
              <a:t>ICON CŨ</a:t>
            </a:r>
          </a:p>
        </p:txBody>
      </p:sp>
      <p:sp>
        <p:nvSpPr>
          <p:cNvPr id="21" name="TextBox 20"/>
          <p:cNvSpPr txBox="1"/>
          <p:nvPr/>
        </p:nvSpPr>
        <p:spPr>
          <a:xfrm>
            <a:off x="3630168" y="5129784"/>
            <a:ext cx="1408176" cy="502920"/>
          </a:xfrm>
          <a:prstGeom prst="rect">
            <a:avLst/>
          </a:prstGeom>
          <a:noFill/>
        </p:spPr>
        <p:txBody>
          <a:bodyPr wrap="square" tIns="0" bIns="0" lIns="0" rIns="0" anchor="t">
            <a:spAutoFit/>
          </a:bodyPr>
          <a:lstStyle/>
          <a:p>
            <a:pPr algn="ctr">
              <a:lnSpc>
                <a:spcPts val="1097"/>
              </a:lnSpc>
              <a:spcAft>
                <a:spcPts val="100"/>
              </a:spcAft>
            </a:pPr>
            <a:r>
              <a:rPr sz="980" b="0" i="0">
                <a:solidFill>
                  <a:srgbClr val="5C776B"/>
                </a:solidFill>
                <a:latin typeface="Aptos"/>
              </a:rPr>
              <a:t>Dropdown chỉ có chữ</a:t>
            </a:r>
          </a:p>
        </p:txBody>
      </p:sp>
      <p:sp>
        <p:nvSpPr>
          <p:cNvPr id="22" name="Rounded Rectangle 21"/>
          <p:cNvSpPr/>
          <p:nvPr/>
        </p:nvSpPr>
        <p:spPr>
          <a:xfrm>
            <a:off x="5161788" y="1824228"/>
            <a:ext cx="1316736" cy="2926079"/>
          </a:xfrm>
          <a:prstGeom prst="roundRect">
            <a:avLst>
              <a:gd name="adj" fmla="val 7000"/>
            </a:avLst>
          </a:prstGeom>
          <a:solidFill>
            <a:srgbClr val="FFFFFF"/>
          </a:solidFill>
          <a:ln w="889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gallery_create.png"/>
          <p:cNvPicPr>
            <a:picLocks noChangeAspect="1"/>
          </p:cNvPicPr>
          <p:nvPr/>
        </p:nvPicPr>
        <p:blipFill>
          <a:blip r:embed="rId5"/>
          <a:stretch>
            <a:fillRect/>
          </a:stretch>
        </p:blipFill>
        <p:spPr>
          <a:xfrm>
            <a:off x="5202936" y="1887232"/>
            <a:ext cx="1234440" cy="2800071"/>
          </a:xfrm>
          <a:prstGeom prst="rect">
            <a:avLst/>
          </a:prstGeom>
        </p:spPr>
      </p:pic>
      <p:sp>
        <p:nvSpPr>
          <p:cNvPr id="24" name="TextBox 23"/>
          <p:cNvSpPr txBox="1"/>
          <p:nvPr/>
        </p:nvSpPr>
        <p:spPr>
          <a:xfrm>
            <a:off x="5193792" y="4837176"/>
            <a:ext cx="1280160" cy="228600"/>
          </a:xfrm>
          <a:prstGeom prst="rect">
            <a:avLst/>
          </a:prstGeom>
          <a:noFill/>
        </p:spPr>
        <p:txBody>
          <a:bodyPr wrap="square" tIns="0" bIns="0" lIns="0" rIns="0" anchor="t">
            <a:spAutoFit/>
          </a:bodyPr>
          <a:lstStyle/>
          <a:p>
            <a:pPr algn="ctr">
              <a:lnSpc>
                <a:spcPts val="1232"/>
              </a:lnSpc>
              <a:spcAft>
                <a:spcPts val="100"/>
              </a:spcAft>
            </a:pPr>
            <a:r>
              <a:rPr sz="1100" b="1" i="0">
                <a:solidFill>
                  <a:srgbClr val="087F72"/>
                </a:solidFill>
                <a:latin typeface="Aptos"/>
              </a:rPr>
              <a:t>CREATE V3</a:t>
            </a:r>
          </a:p>
        </p:txBody>
      </p:sp>
      <p:sp>
        <p:nvSpPr>
          <p:cNvPr id="25" name="TextBox 24"/>
          <p:cNvSpPr txBox="1"/>
          <p:nvPr/>
        </p:nvSpPr>
        <p:spPr>
          <a:xfrm>
            <a:off x="5129783" y="5129784"/>
            <a:ext cx="1408176" cy="502920"/>
          </a:xfrm>
          <a:prstGeom prst="rect">
            <a:avLst/>
          </a:prstGeom>
          <a:noFill/>
        </p:spPr>
        <p:txBody>
          <a:bodyPr wrap="square" tIns="0" bIns="0" lIns="0" rIns="0" anchor="t">
            <a:spAutoFit/>
          </a:bodyPr>
          <a:lstStyle/>
          <a:p>
            <a:pPr algn="ctr">
              <a:lnSpc>
                <a:spcPts val="1097"/>
              </a:lnSpc>
              <a:spcAft>
                <a:spcPts val="100"/>
              </a:spcAft>
            </a:pPr>
            <a:r>
              <a:rPr sz="980" b="0" i="0">
                <a:solidFill>
                  <a:srgbClr val="5C776B"/>
                </a:solidFill>
                <a:latin typeface="Aptos"/>
              </a:rPr>
              <a:t>Grid icon + màu + preview</a:t>
            </a:r>
          </a:p>
        </p:txBody>
      </p:sp>
      <p:sp>
        <p:nvSpPr>
          <p:cNvPr id="26" name="Rounded Rectangle 25"/>
          <p:cNvSpPr/>
          <p:nvPr/>
        </p:nvSpPr>
        <p:spPr>
          <a:xfrm>
            <a:off x="6848856" y="1847088"/>
            <a:ext cx="4599432" cy="1920240"/>
          </a:xfrm>
          <a:prstGeom prst="roundRect">
            <a:avLst>
              <a:gd name="adj" fmla="val 12000"/>
            </a:avLst>
          </a:prstGeom>
          <a:solidFill>
            <a:srgbClr val="E8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68312" y="2048256"/>
            <a:ext cx="4142232" cy="219456"/>
          </a:xfrm>
          <a:prstGeom prst="rect">
            <a:avLst/>
          </a:prstGeom>
          <a:noFill/>
        </p:spPr>
        <p:txBody>
          <a:bodyPr wrap="square" tIns="0" bIns="0" lIns="0" rIns="0" anchor="t">
            <a:spAutoFit/>
          </a:bodyPr>
          <a:lstStyle/>
          <a:p>
            <a:pPr algn="l">
              <a:lnSpc>
                <a:spcPts val="1232"/>
              </a:lnSpc>
              <a:spcAft>
                <a:spcPts val="100"/>
              </a:spcAft>
            </a:pPr>
            <a:r>
              <a:rPr sz="1100" b="1" i="0">
                <a:solidFill>
                  <a:srgbClr val="087F72"/>
                </a:solidFill>
                <a:latin typeface="Aptos"/>
              </a:rPr>
              <a:t>BẠN · Ý TƯỞNG HYPER MODE</a:t>
            </a:r>
          </a:p>
        </p:txBody>
      </p:sp>
      <p:sp>
        <p:nvSpPr>
          <p:cNvPr id="28" name="TextBox 27"/>
          <p:cNvSpPr txBox="1"/>
          <p:nvPr/>
        </p:nvSpPr>
        <p:spPr>
          <a:xfrm>
            <a:off x="7068312" y="2487168"/>
            <a:ext cx="4096512" cy="731520"/>
          </a:xfrm>
          <a:prstGeom prst="rect">
            <a:avLst/>
          </a:prstGeom>
          <a:noFill/>
        </p:spPr>
        <p:txBody>
          <a:bodyPr wrap="square" tIns="0" bIns="0" lIns="0" rIns="0" anchor="t">
            <a:spAutoFit/>
          </a:bodyPr>
          <a:lstStyle/>
          <a:p>
            <a:pPr algn="l">
              <a:lnSpc>
                <a:spcPts val="1568"/>
              </a:lnSpc>
              <a:spcAft>
                <a:spcPts val="100"/>
              </a:spcAft>
            </a:pPr>
            <a:r>
              <a:rPr sz="1400" b="1" i="0">
                <a:solidFill>
                  <a:srgbClr val="193D35"/>
                </a:solidFill>
                <a:latin typeface="Aptos"/>
              </a:rPr>
              <a:t>“...mode let user act with te hobby ... spotify, google ... timer ... note ... save them in home too”</a:t>
            </a:r>
          </a:p>
        </p:txBody>
      </p:sp>
      <p:sp>
        <p:nvSpPr>
          <p:cNvPr id="29" name="Rounded Rectangle 28"/>
          <p:cNvSpPr/>
          <p:nvPr/>
        </p:nvSpPr>
        <p:spPr>
          <a:xfrm>
            <a:off x="6848856" y="3950208"/>
            <a:ext cx="4599432" cy="2148840"/>
          </a:xfrm>
          <a:prstGeom prst="roundRect">
            <a:avLst>
              <a:gd name="adj" fmla="val 12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68312" y="4160520"/>
            <a:ext cx="4178808" cy="210312"/>
          </a:xfrm>
          <a:prstGeom prst="rect">
            <a:avLst/>
          </a:prstGeom>
          <a:noFill/>
        </p:spPr>
        <p:txBody>
          <a:bodyPr wrap="square" tIns="0" bIns="0" lIns="0" rIns="0" anchor="t">
            <a:spAutoFit/>
          </a:bodyPr>
          <a:lstStyle/>
          <a:p>
            <a:pPr algn="l">
              <a:lnSpc>
                <a:spcPts val="1232"/>
              </a:lnSpc>
              <a:spcAft>
                <a:spcPts val="100"/>
              </a:spcAft>
            </a:pPr>
            <a:r>
              <a:rPr sz="1100" b="1" i="0">
                <a:solidFill>
                  <a:srgbClr val="087F72"/>
                </a:solidFill>
                <a:latin typeface="Aptos"/>
              </a:rPr>
              <a:t>BẠN · PHẢN BIỆN CREATE HOBBY</a:t>
            </a:r>
          </a:p>
        </p:txBody>
      </p:sp>
      <p:sp>
        <p:nvSpPr>
          <p:cNvPr id="31" name="TextBox 30"/>
          <p:cNvSpPr txBox="1"/>
          <p:nvPr/>
        </p:nvSpPr>
        <p:spPr>
          <a:xfrm>
            <a:off x="7068312" y="4517136"/>
            <a:ext cx="4087368" cy="777240"/>
          </a:xfrm>
          <a:prstGeom prst="rect">
            <a:avLst/>
          </a:prstGeom>
          <a:noFill/>
        </p:spPr>
        <p:txBody>
          <a:bodyPr wrap="square" tIns="0" bIns="0" lIns="0" rIns="0" anchor="t">
            <a:spAutoFit/>
          </a:bodyPr>
          <a:lstStyle/>
          <a:p>
            <a:pPr algn="l">
              <a:lnSpc>
                <a:spcPts val="1556"/>
              </a:lnSpc>
              <a:spcAft>
                <a:spcPts val="100"/>
              </a:spcAft>
            </a:pPr>
            <a:r>
              <a:rPr sz="1390" b="1" i="0">
                <a:solidFill>
                  <a:srgbClr val="193D35"/>
                </a:solidFill>
                <a:latin typeface="Aptos"/>
              </a:rPr>
              <a:t>“why this ccrtahobby turn too ugly man , whe is my icon to choose not word”</a:t>
            </a:r>
          </a:p>
        </p:txBody>
      </p:sp>
      <p:sp>
        <p:nvSpPr>
          <p:cNvPr id="32" name="TextBox 31"/>
          <p:cNvSpPr txBox="1"/>
          <p:nvPr/>
        </p:nvSpPr>
        <p:spPr>
          <a:xfrm>
            <a:off x="7068312" y="5522976"/>
            <a:ext cx="4023360" cy="448056"/>
          </a:xfrm>
          <a:prstGeom prst="rect">
            <a:avLst/>
          </a:prstGeom>
          <a:noFill/>
        </p:spPr>
        <p:txBody>
          <a:bodyPr wrap="square" tIns="0" bIns="0" lIns="0" rIns="0" anchor="t">
            <a:spAutoFit/>
          </a:bodyPr>
          <a:lstStyle/>
          <a:p>
            <a:pPr algn="l">
              <a:lnSpc>
                <a:spcPts val="1299"/>
              </a:lnSpc>
              <a:spcAft>
                <a:spcPts val="100"/>
              </a:spcAft>
            </a:pPr>
            <a:r>
              <a:rPr sz="1160" b="0" i="0">
                <a:solidFill>
                  <a:srgbClr val="5C776B"/>
                </a:solidFill>
                <a:latin typeface="Aptos"/>
              </a:rPr>
              <a:t>→ Sửa icon grid 12 lựa chọn, 6 swatches, preview trực tiếp, priority dạng thẻ.</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56032"/>
            <a:ext cx="7315200" cy="246888"/>
          </a:xfrm>
          <a:prstGeom prst="rect">
            <a:avLst/>
          </a:prstGeom>
          <a:noFill/>
        </p:spPr>
        <p:txBody>
          <a:bodyPr wrap="square" tIns="0" bIns="0" lIns="0" rIns="0" anchor="t">
            <a:spAutoFit/>
          </a:bodyPr>
          <a:lstStyle/>
          <a:p>
            <a:pPr algn="l">
              <a:lnSpc>
                <a:spcPts val="1131"/>
              </a:lnSpc>
              <a:spcAft>
                <a:spcPts val="100"/>
              </a:spcAft>
            </a:pPr>
            <a:r>
              <a:rPr sz="1010" b="1" i="0">
                <a:solidFill>
                  <a:srgbClr val="087F72"/>
                </a:solidFill>
                <a:latin typeface="Aptos"/>
              </a:rPr>
              <a:t>05  PROTOTYPE</a:t>
            </a:r>
          </a:p>
        </p:txBody>
      </p:sp>
      <p:sp>
        <p:nvSpPr>
          <p:cNvPr id="5" name="TextBox 4"/>
          <p:cNvSpPr txBox="1"/>
          <p:nvPr/>
        </p:nvSpPr>
        <p:spPr>
          <a:xfrm>
            <a:off x="566928" y="621792"/>
            <a:ext cx="10972800" cy="557784"/>
          </a:xfrm>
          <a:prstGeom prst="rect">
            <a:avLst/>
          </a:prstGeom>
          <a:noFill/>
        </p:spPr>
        <p:txBody>
          <a:bodyPr wrap="square" tIns="0" bIns="0" lIns="0" rIns="0" anchor="t">
            <a:spAutoFit/>
          </a:bodyPr>
          <a:lstStyle/>
          <a:p>
            <a:pPr algn="l">
              <a:lnSpc>
                <a:spcPts val="3024"/>
              </a:lnSpc>
              <a:spcAft>
                <a:spcPts val="100"/>
              </a:spcAft>
            </a:pPr>
            <a:r>
              <a:rPr sz="2700" b="1" i="0">
                <a:solidFill>
                  <a:srgbClr val="193D35"/>
                </a:solidFill>
                <a:latin typeface="Aptos"/>
              </a:rPr>
              <a:t>11 · UI hoàn chỉnh, 3 luồng được thử và phê duyệt</a:t>
            </a:r>
          </a:p>
        </p:txBody>
      </p:sp>
      <p:sp>
        <p:nvSpPr>
          <p:cNvPr id="6" name="TextBox 5"/>
          <p:cNvSpPr txBox="1"/>
          <p:nvPr/>
        </p:nvSpPr>
        <p:spPr>
          <a:xfrm>
            <a:off x="594360" y="1261872"/>
            <a:ext cx="10972800" cy="393192"/>
          </a:xfrm>
          <a:prstGeom prst="rect">
            <a:avLst/>
          </a:prstGeom>
          <a:noFill/>
        </p:spPr>
        <p:txBody>
          <a:bodyPr wrap="square" tIns="0" bIns="0" lIns="0" rIns="0" anchor="t">
            <a:spAutoFit/>
          </a:bodyPr>
          <a:lstStyle/>
          <a:p>
            <a:pPr algn="l">
              <a:lnSpc>
                <a:spcPts val="1388"/>
              </a:lnSpc>
              <a:spcAft>
                <a:spcPts val="100"/>
              </a:spcAft>
            </a:pPr>
            <a:r>
              <a:rPr sz="1240" b="0" i="0">
                <a:solidFill>
                  <a:srgbClr val="5C776B"/>
                </a:solidFill>
                <a:latin typeface="Aptos"/>
              </a:rPr>
              <a:t>Community có Chats theo yêu cầu; Login đi thẳng Home; Sign Out được chuyển xuống cuối Settings.</a:t>
            </a:r>
          </a:p>
        </p:txBody>
      </p:sp>
      <p:sp>
        <p:nvSpPr>
          <p:cNvPr id="7" name="Rectangle 6"/>
          <p:cNvSpPr/>
          <p:nvPr/>
        </p:nvSpPr>
        <p:spPr>
          <a:xfrm>
            <a:off x="594360" y="6537960"/>
            <a:ext cx="10972800" cy="13716"/>
          </a:xfrm>
          <a:prstGeom prst="rect">
            <a:avLst/>
          </a:prstGeom>
          <a:solidFill>
            <a:srgbClr val="D7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4" y="6611112"/>
            <a:ext cx="6400800" cy="155448"/>
          </a:xfrm>
          <a:prstGeom prst="rect">
            <a:avLst/>
          </a:prstGeom>
          <a:noFill/>
        </p:spPr>
        <p:txBody>
          <a:bodyPr wrap="square" tIns="0" bIns="0" lIns="0" rIns="0" anchor="t">
            <a:spAutoFit/>
          </a:bodyPr>
          <a:lstStyle/>
          <a:p>
            <a:pPr algn="l">
              <a:lnSpc>
                <a:spcPts val="952"/>
              </a:lnSpc>
              <a:spcAft>
                <a:spcPts val="100"/>
              </a:spcAft>
            </a:pPr>
            <a:r>
              <a:rPr sz="850" b="1" i="0">
                <a:solidFill>
                  <a:srgbClr val="A7BCB1"/>
                </a:solidFill>
                <a:latin typeface="Aptos"/>
              </a:rPr>
              <a:t>HOBBY TRACKER  ·  UX / UI DESIGN JOURNEY</a:t>
            </a:r>
          </a:p>
        </p:txBody>
      </p:sp>
      <p:sp>
        <p:nvSpPr>
          <p:cNvPr id="9" name="TextBox 8"/>
          <p:cNvSpPr txBox="1"/>
          <p:nvPr/>
        </p:nvSpPr>
        <p:spPr>
          <a:xfrm>
            <a:off x="11100816" y="6583680"/>
            <a:ext cx="438912" cy="201168"/>
          </a:xfrm>
          <a:prstGeom prst="rect">
            <a:avLst/>
          </a:prstGeom>
          <a:noFill/>
        </p:spPr>
        <p:txBody>
          <a:bodyPr wrap="square" tIns="0" bIns="0" lIns="0" rIns="0" anchor="t">
            <a:spAutoFit/>
          </a:bodyPr>
          <a:lstStyle/>
          <a:p>
            <a:pPr algn="r">
              <a:lnSpc>
                <a:spcPts val="1008"/>
              </a:lnSpc>
              <a:spcAft>
                <a:spcPts val="100"/>
              </a:spcAft>
            </a:pPr>
            <a:r>
              <a:rPr sz="900" b="1" i="0">
                <a:solidFill>
                  <a:srgbClr val="087F72"/>
                </a:solidFill>
                <a:latin typeface="Aptos"/>
              </a:rPr>
              <a:t>12 / 12</a:t>
            </a:r>
          </a:p>
        </p:txBody>
      </p:sp>
      <p:sp>
        <p:nvSpPr>
          <p:cNvPr id="10" name="Rounded Rectangle 9"/>
          <p:cNvSpPr/>
          <p:nvPr/>
        </p:nvSpPr>
        <p:spPr>
          <a:xfrm>
            <a:off x="635508" y="1778508"/>
            <a:ext cx="1298448" cy="2898648"/>
          </a:xfrm>
          <a:prstGeom prst="roundRect">
            <a:avLst>
              <a:gd name="adj" fmla="val 7000"/>
            </a:avLst>
          </a:prstGeom>
          <a:solidFill>
            <a:srgbClr val="FFFFFF"/>
          </a:solidFill>
          <a:ln w="889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gallery_login.png"/>
          <p:cNvPicPr>
            <a:picLocks noChangeAspect="1"/>
          </p:cNvPicPr>
          <p:nvPr/>
        </p:nvPicPr>
        <p:blipFill>
          <a:blip r:embed="rId2"/>
          <a:stretch>
            <a:fillRect/>
          </a:stretch>
        </p:blipFill>
        <p:spPr>
          <a:xfrm>
            <a:off x="676656" y="1848537"/>
            <a:ext cx="1216152" cy="2758588"/>
          </a:xfrm>
          <a:prstGeom prst="rect">
            <a:avLst/>
          </a:prstGeom>
        </p:spPr>
      </p:pic>
      <p:sp>
        <p:nvSpPr>
          <p:cNvPr id="12" name="TextBox 11"/>
          <p:cNvSpPr txBox="1"/>
          <p:nvPr/>
        </p:nvSpPr>
        <p:spPr>
          <a:xfrm>
            <a:off x="676656" y="4754880"/>
            <a:ext cx="1216152" cy="219456"/>
          </a:xfrm>
          <a:prstGeom prst="rect">
            <a:avLst/>
          </a:prstGeom>
          <a:noFill/>
        </p:spPr>
        <p:txBody>
          <a:bodyPr wrap="square" tIns="0" bIns="0" lIns="0" rIns="0" anchor="t">
            <a:spAutoFit/>
          </a:bodyPr>
          <a:lstStyle/>
          <a:p>
            <a:pPr algn="ctr">
              <a:lnSpc>
                <a:spcPts val="1198"/>
              </a:lnSpc>
              <a:spcAft>
                <a:spcPts val="100"/>
              </a:spcAft>
            </a:pPr>
            <a:r>
              <a:rPr sz="1070" b="1" i="0">
                <a:solidFill>
                  <a:srgbClr val="087F72"/>
                </a:solidFill>
                <a:latin typeface="Aptos"/>
              </a:rPr>
              <a:t>LOGIN</a:t>
            </a:r>
          </a:p>
        </p:txBody>
      </p:sp>
      <p:sp>
        <p:nvSpPr>
          <p:cNvPr id="13" name="Rounded Rectangle 12"/>
          <p:cNvSpPr/>
          <p:nvPr/>
        </p:nvSpPr>
        <p:spPr>
          <a:xfrm>
            <a:off x="2061972" y="1778508"/>
            <a:ext cx="1298448" cy="2898648"/>
          </a:xfrm>
          <a:prstGeom prst="roundRect">
            <a:avLst>
              <a:gd name="adj" fmla="val 7000"/>
            </a:avLst>
          </a:prstGeom>
          <a:solidFill>
            <a:srgbClr val="FFFFFF"/>
          </a:solidFill>
          <a:ln w="889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gallery_feed.png"/>
          <p:cNvPicPr>
            <a:picLocks noChangeAspect="1"/>
          </p:cNvPicPr>
          <p:nvPr/>
        </p:nvPicPr>
        <p:blipFill>
          <a:blip r:embed="rId3"/>
          <a:stretch>
            <a:fillRect/>
          </a:stretch>
        </p:blipFill>
        <p:spPr>
          <a:xfrm>
            <a:off x="2103120" y="1848537"/>
            <a:ext cx="1216152" cy="2758588"/>
          </a:xfrm>
          <a:prstGeom prst="rect">
            <a:avLst/>
          </a:prstGeom>
        </p:spPr>
      </p:pic>
      <p:sp>
        <p:nvSpPr>
          <p:cNvPr id="15" name="TextBox 14"/>
          <p:cNvSpPr txBox="1"/>
          <p:nvPr/>
        </p:nvSpPr>
        <p:spPr>
          <a:xfrm>
            <a:off x="2103120" y="4754880"/>
            <a:ext cx="1216152" cy="219456"/>
          </a:xfrm>
          <a:prstGeom prst="rect">
            <a:avLst/>
          </a:prstGeom>
          <a:noFill/>
        </p:spPr>
        <p:txBody>
          <a:bodyPr wrap="square" tIns="0" bIns="0" lIns="0" rIns="0" anchor="t">
            <a:spAutoFit/>
          </a:bodyPr>
          <a:lstStyle/>
          <a:p>
            <a:pPr algn="ctr">
              <a:lnSpc>
                <a:spcPts val="1198"/>
              </a:lnSpc>
              <a:spcAft>
                <a:spcPts val="100"/>
              </a:spcAft>
            </a:pPr>
            <a:r>
              <a:rPr sz="1070" b="1" i="0">
                <a:solidFill>
                  <a:srgbClr val="087F72"/>
                </a:solidFill>
                <a:latin typeface="Aptos"/>
              </a:rPr>
              <a:t>FEED</a:t>
            </a:r>
          </a:p>
        </p:txBody>
      </p:sp>
      <p:sp>
        <p:nvSpPr>
          <p:cNvPr id="16" name="Rounded Rectangle 15"/>
          <p:cNvSpPr/>
          <p:nvPr/>
        </p:nvSpPr>
        <p:spPr>
          <a:xfrm>
            <a:off x="3488436" y="1778508"/>
            <a:ext cx="1298448" cy="2898648"/>
          </a:xfrm>
          <a:prstGeom prst="roundRect">
            <a:avLst>
              <a:gd name="adj" fmla="val 7000"/>
            </a:avLst>
          </a:prstGeom>
          <a:solidFill>
            <a:srgbClr val="FFFFFF"/>
          </a:solidFill>
          <a:ln w="889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gallery_chat_detail.png"/>
          <p:cNvPicPr>
            <a:picLocks noChangeAspect="1"/>
          </p:cNvPicPr>
          <p:nvPr/>
        </p:nvPicPr>
        <p:blipFill>
          <a:blip r:embed="rId4"/>
          <a:stretch>
            <a:fillRect/>
          </a:stretch>
        </p:blipFill>
        <p:spPr>
          <a:xfrm>
            <a:off x="3529584" y="1848537"/>
            <a:ext cx="1216152" cy="2758588"/>
          </a:xfrm>
          <a:prstGeom prst="rect">
            <a:avLst/>
          </a:prstGeom>
        </p:spPr>
      </p:pic>
      <p:sp>
        <p:nvSpPr>
          <p:cNvPr id="18" name="TextBox 17"/>
          <p:cNvSpPr txBox="1"/>
          <p:nvPr/>
        </p:nvSpPr>
        <p:spPr>
          <a:xfrm>
            <a:off x="3529584" y="4754880"/>
            <a:ext cx="1216152" cy="219456"/>
          </a:xfrm>
          <a:prstGeom prst="rect">
            <a:avLst/>
          </a:prstGeom>
          <a:noFill/>
        </p:spPr>
        <p:txBody>
          <a:bodyPr wrap="square" tIns="0" bIns="0" lIns="0" rIns="0" anchor="t">
            <a:spAutoFit/>
          </a:bodyPr>
          <a:lstStyle/>
          <a:p>
            <a:pPr algn="ctr">
              <a:lnSpc>
                <a:spcPts val="1198"/>
              </a:lnSpc>
              <a:spcAft>
                <a:spcPts val="100"/>
              </a:spcAft>
            </a:pPr>
            <a:r>
              <a:rPr sz="1070" b="1" i="0">
                <a:solidFill>
                  <a:srgbClr val="087F72"/>
                </a:solidFill>
                <a:latin typeface="Aptos"/>
              </a:rPr>
              <a:t>CHAT</a:t>
            </a:r>
          </a:p>
        </p:txBody>
      </p:sp>
      <p:sp>
        <p:nvSpPr>
          <p:cNvPr id="19" name="Rounded Rectangle 18"/>
          <p:cNvSpPr/>
          <p:nvPr/>
        </p:nvSpPr>
        <p:spPr>
          <a:xfrm>
            <a:off x="4914900" y="1778508"/>
            <a:ext cx="1298448" cy="2898648"/>
          </a:xfrm>
          <a:prstGeom prst="roundRect">
            <a:avLst>
              <a:gd name="adj" fmla="val 7000"/>
            </a:avLst>
          </a:prstGeom>
          <a:solidFill>
            <a:srgbClr val="FFFFFF"/>
          </a:solidFill>
          <a:ln w="889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gallery_settings.png"/>
          <p:cNvPicPr>
            <a:picLocks noChangeAspect="1"/>
          </p:cNvPicPr>
          <p:nvPr/>
        </p:nvPicPr>
        <p:blipFill>
          <a:blip r:embed="rId5"/>
          <a:stretch>
            <a:fillRect/>
          </a:stretch>
        </p:blipFill>
        <p:spPr>
          <a:xfrm>
            <a:off x="4956048" y="1848537"/>
            <a:ext cx="1216152" cy="2758588"/>
          </a:xfrm>
          <a:prstGeom prst="rect">
            <a:avLst/>
          </a:prstGeom>
        </p:spPr>
      </p:pic>
      <p:sp>
        <p:nvSpPr>
          <p:cNvPr id="21" name="TextBox 20"/>
          <p:cNvSpPr txBox="1"/>
          <p:nvPr/>
        </p:nvSpPr>
        <p:spPr>
          <a:xfrm>
            <a:off x="4956048" y="4754880"/>
            <a:ext cx="1216152" cy="219456"/>
          </a:xfrm>
          <a:prstGeom prst="rect">
            <a:avLst/>
          </a:prstGeom>
          <a:noFill/>
        </p:spPr>
        <p:txBody>
          <a:bodyPr wrap="square" tIns="0" bIns="0" lIns="0" rIns="0" anchor="t">
            <a:spAutoFit/>
          </a:bodyPr>
          <a:lstStyle/>
          <a:p>
            <a:pPr algn="ctr">
              <a:lnSpc>
                <a:spcPts val="1198"/>
              </a:lnSpc>
              <a:spcAft>
                <a:spcPts val="100"/>
              </a:spcAft>
            </a:pPr>
            <a:r>
              <a:rPr sz="1070" b="1" i="0">
                <a:solidFill>
                  <a:srgbClr val="087F72"/>
                </a:solidFill>
                <a:latin typeface="Aptos"/>
              </a:rPr>
              <a:t>SETTINGS</a:t>
            </a:r>
          </a:p>
        </p:txBody>
      </p:sp>
      <p:sp>
        <p:nvSpPr>
          <p:cNvPr id="22" name="Rounded Rectangle 21"/>
          <p:cNvSpPr/>
          <p:nvPr/>
        </p:nvSpPr>
        <p:spPr>
          <a:xfrm>
            <a:off x="6592824" y="1810512"/>
            <a:ext cx="4946904" cy="1719072"/>
          </a:xfrm>
          <a:prstGeom prst="roundRect">
            <a:avLst>
              <a:gd name="adj" fmla="val 12000"/>
            </a:avLst>
          </a:prstGeom>
          <a:solidFill>
            <a:srgbClr val="E8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03136" y="2029968"/>
            <a:ext cx="4572000" cy="256032"/>
          </a:xfrm>
          <a:prstGeom prst="rect">
            <a:avLst/>
          </a:prstGeom>
          <a:noFill/>
        </p:spPr>
        <p:txBody>
          <a:bodyPr wrap="square" tIns="0" bIns="0" lIns="0" rIns="0" anchor="t">
            <a:spAutoFit/>
          </a:bodyPr>
          <a:lstStyle/>
          <a:p>
            <a:pPr algn="l">
              <a:lnSpc>
                <a:spcPts val="1232"/>
              </a:lnSpc>
              <a:spcAft>
                <a:spcPts val="100"/>
              </a:spcAft>
            </a:pPr>
            <a:r>
              <a:rPr sz="1100" b="1" i="0">
                <a:solidFill>
                  <a:srgbClr val="087F72"/>
                </a:solidFill>
                <a:latin typeface="Aptos"/>
              </a:rPr>
              <a:t>BẠN · HAI YÊU CẦU SAU KHI TEST</a:t>
            </a:r>
          </a:p>
        </p:txBody>
      </p:sp>
      <p:sp>
        <p:nvSpPr>
          <p:cNvPr id="24" name="TextBox 23"/>
          <p:cNvSpPr txBox="1"/>
          <p:nvPr/>
        </p:nvSpPr>
        <p:spPr>
          <a:xfrm>
            <a:off x="6812280" y="2395728"/>
            <a:ext cx="4480560" cy="713232"/>
          </a:xfrm>
          <a:prstGeom prst="rect">
            <a:avLst/>
          </a:prstGeom>
          <a:noFill/>
        </p:spPr>
        <p:txBody>
          <a:bodyPr wrap="square" tIns="0" bIns="0" lIns="0" rIns="0" anchor="t">
            <a:spAutoFit/>
          </a:bodyPr>
          <a:lstStyle/>
          <a:p>
            <a:pPr algn="l">
              <a:lnSpc>
                <a:spcPts val="1680"/>
              </a:lnSpc>
              <a:spcAft>
                <a:spcPts val="100"/>
              </a:spcAft>
            </a:pPr>
            <a:r>
              <a:rPr sz="1500" b="1" i="0">
                <a:solidFill>
                  <a:srgbClr val="193D35"/>
                </a:solidFill>
                <a:latin typeface="Aptos"/>
              </a:rPr>
              <a:t>“make a chat section in this too”</a:t>
            </a:r>
          </a:p>
          <a:p>
            <a:pPr algn="l">
              <a:lnSpc>
                <a:spcPts val="1680"/>
              </a:lnSpc>
              <a:spcAft>
                <a:spcPts val="100"/>
              </a:spcAft>
            </a:pPr>
            <a:r>
              <a:rPr sz="1500" b="1" i="0">
                <a:solidFill>
                  <a:srgbClr val="193D35"/>
                </a:solidFill>
                <a:latin typeface="Aptos"/>
              </a:rPr>
              <a:t>“PUT IT IN SETTING” (Sign Out)</a:t>
            </a:r>
          </a:p>
        </p:txBody>
      </p:sp>
      <p:sp>
        <p:nvSpPr>
          <p:cNvPr id="25" name="TextBox 24"/>
          <p:cNvSpPr txBox="1"/>
          <p:nvPr/>
        </p:nvSpPr>
        <p:spPr>
          <a:xfrm>
            <a:off x="6803136" y="3127248"/>
            <a:ext cx="4425696" cy="384048"/>
          </a:xfrm>
          <a:prstGeom prst="rect">
            <a:avLst/>
          </a:prstGeom>
          <a:noFill/>
        </p:spPr>
        <p:txBody>
          <a:bodyPr wrap="square" tIns="0" bIns="0" lIns="0" rIns="0" anchor="t">
            <a:spAutoFit/>
          </a:bodyPr>
          <a:lstStyle/>
          <a:p>
            <a:pPr algn="l">
              <a:lnSpc>
                <a:spcPts val="1276"/>
              </a:lnSpc>
              <a:spcAft>
                <a:spcPts val="100"/>
              </a:spcAft>
            </a:pPr>
            <a:r>
              <a:rPr sz="1140" b="0" i="0">
                <a:solidFill>
                  <a:srgbClr val="5C776B"/>
                </a:solidFill>
                <a:latin typeface="Aptos"/>
              </a:rPr>
              <a:t>→ Chats 1–1/nhóm; Sign Out chỉ ở Settings, xác nhận rồi về Login.</a:t>
            </a:r>
          </a:p>
        </p:txBody>
      </p:sp>
      <p:sp>
        <p:nvSpPr>
          <p:cNvPr id="26" name="Rounded Rectangle 25"/>
          <p:cNvSpPr/>
          <p:nvPr/>
        </p:nvSpPr>
        <p:spPr>
          <a:xfrm>
            <a:off x="6592824" y="3721608"/>
            <a:ext cx="4946904" cy="2286000"/>
          </a:xfrm>
          <a:prstGeom prst="roundRect">
            <a:avLst>
              <a:gd name="adj" fmla="val 12000"/>
            </a:avLst>
          </a:prstGeom>
          <a:solidFill>
            <a:srgbClr val="FFFFFF"/>
          </a:solidFill>
          <a:ln w="12700">
            <a:solidFill>
              <a:srgbClr val="D7E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03136" y="3941063"/>
            <a:ext cx="4526280" cy="210312"/>
          </a:xfrm>
          <a:prstGeom prst="rect">
            <a:avLst/>
          </a:prstGeom>
          <a:noFill/>
        </p:spPr>
        <p:txBody>
          <a:bodyPr wrap="square" tIns="0" bIns="0" lIns="0" rIns="0" anchor="t">
            <a:spAutoFit/>
          </a:bodyPr>
          <a:lstStyle/>
          <a:p>
            <a:pPr algn="l">
              <a:lnSpc>
                <a:spcPts val="1232"/>
              </a:lnSpc>
              <a:spcAft>
                <a:spcPts val="100"/>
              </a:spcAft>
            </a:pPr>
            <a:r>
              <a:rPr sz="1100" b="1" i="0">
                <a:solidFill>
                  <a:srgbClr val="087F72"/>
                </a:solidFill>
                <a:latin typeface="Aptos"/>
              </a:rPr>
              <a:t>CHẠY THỬ TRÊN MỘT DỮ LIỆU CHUNG</a:t>
            </a:r>
          </a:p>
        </p:txBody>
      </p:sp>
      <p:sp>
        <p:nvSpPr>
          <p:cNvPr id="28" name="TextBox 27"/>
          <p:cNvSpPr txBox="1"/>
          <p:nvPr/>
        </p:nvSpPr>
        <p:spPr>
          <a:xfrm>
            <a:off x="6784848" y="4325112"/>
            <a:ext cx="4544568" cy="1106424"/>
          </a:xfrm>
          <a:prstGeom prst="rect">
            <a:avLst/>
          </a:prstGeom>
          <a:noFill/>
        </p:spPr>
        <p:txBody>
          <a:bodyPr wrap="square" tIns="0" bIns="0" lIns="0" rIns="0" anchor="t">
            <a:spAutoFit/>
          </a:bodyPr>
          <a:lstStyle/>
          <a:p>
            <a:pPr algn="l">
              <a:lnSpc>
                <a:spcPts val="1422"/>
              </a:lnSpc>
              <a:spcAft>
                <a:spcPts val="100"/>
              </a:spcAft>
            </a:pPr>
            <a:r>
              <a:rPr sz="1270" b="0" i="0">
                <a:solidFill>
                  <a:srgbClr val="193D35"/>
                </a:solidFill>
                <a:latin typeface="Aptos"/>
              </a:rPr>
              <a:t>01  Tạo Photography → dùng được tại Home.</a:t>
            </a:r>
          </a:p>
          <a:p>
            <a:pPr algn="l">
              <a:lnSpc>
                <a:spcPts val="1422"/>
              </a:lnSpc>
              <a:spcAft>
                <a:spcPts val="100"/>
              </a:spcAft>
            </a:pPr>
            <a:r>
              <a:rPr sz="1270" b="0" i="0">
                <a:solidFill>
                  <a:srgbClr val="193D35"/>
                </a:solidFill>
                <a:latin typeface="Aptos"/>
              </a:rPr>
              <a:t>02  Lập lịch → Hyper + notes → History.</a:t>
            </a:r>
          </a:p>
          <a:p>
            <a:pPr algn="l">
              <a:lnSpc>
                <a:spcPts val="1422"/>
              </a:lnSpc>
              <a:spcAft>
                <a:spcPts val="100"/>
              </a:spcAft>
            </a:pPr>
            <a:r>
              <a:rPr sz="1270" b="0" i="0">
                <a:solidFill>
                  <a:srgbClr val="193D35"/>
                </a:solidFill>
                <a:latin typeface="Aptos"/>
              </a:rPr>
              <a:t>03  Join nhóm → Chat; RSVP không tự vào lịch.</a:t>
            </a:r>
          </a:p>
        </p:txBody>
      </p:sp>
      <p:sp>
        <p:nvSpPr>
          <p:cNvPr id="29" name="TextBox 28"/>
          <p:cNvSpPr txBox="1"/>
          <p:nvPr/>
        </p:nvSpPr>
        <p:spPr>
          <a:xfrm>
            <a:off x="6793992" y="5577840"/>
            <a:ext cx="4462272" cy="310896"/>
          </a:xfrm>
          <a:prstGeom prst="rect">
            <a:avLst/>
          </a:prstGeom>
          <a:noFill/>
        </p:spPr>
        <p:txBody>
          <a:bodyPr wrap="square" tIns="0" bIns="0" lIns="0" rIns="0" anchor="t">
            <a:spAutoFit/>
          </a:bodyPr>
          <a:lstStyle/>
          <a:p>
            <a:pPr algn="l">
              <a:lnSpc>
                <a:spcPts val="1187"/>
              </a:lnSpc>
              <a:spcAft>
                <a:spcPts val="100"/>
              </a:spcAft>
            </a:pPr>
            <a:r>
              <a:rPr sz="1060" b="1" i="0">
                <a:solidFill>
                  <a:srgbClr val="5C776B"/>
                </a:solidFill>
                <a:latin typeface="Aptos"/>
              </a:rPr>
              <a:t>AI mô phỏng phỏng vấn, login và tin nhắn; con người quyết định phương án, thử và duyệt.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