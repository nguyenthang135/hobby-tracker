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6"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82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66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của buổi thuyết trình là kể quá trình tư duy và quyết định thiết kế, không tóm tắt một sản phẩm có sẵn.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ý trong bảng là trích ý từ tài liệu gốc HOBBY TRACKER USER STORIES (Fetch Timer) do người học cung cấp. Không phải chức năng tự phát mà AI tự nghĩ 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phần, nêu vai trò người làm và lý do và diễn biến quyết định ở phần này.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câu trả lời trên là tóm ý từ kịch bản AI đóng vai 9 sinh viên được thực hiện trong chat. Không nhận là phỏng vấn thực địa. Người thiết kế đã chủ động yêu cầu AI vào vai toàn bộ 9 người và chọn ba nhóm.</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này giữ nguyên một nhân vật phỏng vấn AI đóng vai, không phải persona composite. Các trường cụ thể chưa đủ dữ liệu đã được ghi rõ để không bịa thêm.</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này giữ nguyên một nhân vật phỏng vấn AI đóng vai, không phải persona composite. Các trường cụ thể chưa đủ dữ liệu đã được ghi rõ để không bịa thêm.</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này giữ nguyên một nhân vật phỏng vấn AI đóng vai, không phải persona composite. Các trường cụ thể chưa đủ dữ liệu đã được ghi rõ để không bịa thêm.</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 này giữ nguyên một nhân vật phỏng vấn AI đóng vai, không phải persona composite. Các trường cụ thể chưa đủ dữ liệu đã được ghi rõ để không bịa thêm.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phần, nêu vai trò người làm và lý do và diễn biến quyết định ở phần này.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phần, nêu vai trò người làm và lý do và diễn biến quyết định ở phần này.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phần, nêu vai trò người làm và lý do và diễn biến quyết định ở phần này.</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01  GIỚI THIỆU</a:t>
            </a:r>
          </a:p>
        </p:txBody>
      </p:sp>
      <p:sp>
        <p:nvSpPr>
          <p:cNvPr id="5" name="Rectangle 4"/>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7" name="TextBox 6"/>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01</a:t>
            </a:r>
          </a:p>
        </p:txBody>
      </p:sp>
      <p:sp>
        <p:nvSpPr>
          <p:cNvPr id="8" name="Rounded Rectangle 7"/>
          <p:cNvSpPr/>
          <p:nvPr/>
        </p:nvSpPr>
        <p:spPr>
          <a:xfrm>
            <a:off x="704088" y="987552"/>
            <a:ext cx="6428232" cy="5202936"/>
          </a:xfrm>
          <a:prstGeom prst="roundRect">
            <a:avLst>
              <a:gd name="adj" fmla="val 12000"/>
            </a:avLst>
          </a:prstGeom>
          <a:solidFill>
            <a:srgbClr val="12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280160"/>
            <a:ext cx="5897880" cy="329184"/>
          </a:xfrm>
          <a:prstGeom prst="rect">
            <a:avLst/>
          </a:prstGeom>
          <a:noFill/>
        </p:spPr>
        <p:txBody>
          <a:bodyPr wrap="square" lIns="0" tIns="0" rIns="0" bIns="0" anchor="t">
            <a:spAutoFit/>
          </a:bodyPr>
          <a:lstStyle/>
          <a:p>
            <a:pPr algn="l">
              <a:lnSpc>
                <a:spcPts val="1872"/>
              </a:lnSpc>
              <a:spcAft>
                <a:spcPts val="300"/>
              </a:spcAft>
            </a:pPr>
            <a:r>
              <a:rPr sz="1600" b="1" i="0">
                <a:solidFill>
                  <a:srgbClr val="EFAD62"/>
                </a:solidFill>
                <a:latin typeface="Inter"/>
              </a:rPr>
              <a:t>HOBBY TRACKER · UX / UI JOURNEY</a:t>
            </a:r>
          </a:p>
        </p:txBody>
      </p:sp>
      <p:sp>
        <p:nvSpPr>
          <p:cNvPr id="10" name="TextBox 9"/>
          <p:cNvSpPr txBox="1"/>
          <p:nvPr/>
        </p:nvSpPr>
        <p:spPr>
          <a:xfrm>
            <a:off x="978408" y="1856231"/>
            <a:ext cx="6208776" cy="1837943"/>
          </a:xfrm>
          <a:prstGeom prst="rect">
            <a:avLst/>
          </a:prstGeom>
          <a:noFill/>
        </p:spPr>
        <p:txBody>
          <a:bodyPr wrap="square" lIns="0" tIns="0" rIns="0" bIns="0" anchor="t">
            <a:spAutoFit/>
          </a:bodyPr>
          <a:lstStyle/>
          <a:p>
            <a:pPr algn="l">
              <a:lnSpc>
                <a:spcPts val="4563"/>
              </a:lnSpc>
              <a:spcAft>
                <a:spcPts val="300"/>
              </a:spcAft>
            </a:pPr>
            <a:r>
              <a:rPr sz="3900" b="1" i="0">
                <a:solidFill>
                  <a:srgbClr val="FFFFFF"/>
                </a:solidFill>
                <a:latin typeface="Inter"/>
              </a:rPr>
              <a:t>TỪ VẤN ĐỀ</a:t>
            </a:r>
          </a:p>
          <a:p>
            <a:pPr algn="l">
              <a:lnSpc>
                <a:spcPts val="4563"/>
              </a:lnSpc>
              <a:spcAft>
                <a:spcPts val="300"/>
              </a:spcAft>
            </a:pPr>
            <a:r>
              <a:rPr sz="3900" b="1" i="0">
                <a:solidFill>
                  <a:srgbClr val="FFFFFF"/>
                </a:solidFill>
                <a:latin typeface="Inter"/>
              </a:rPr>
              <a:t>ĐẾN THIẾT KẾ</a:t>
            </a:r>
          </a:p>
        </p:txBody>
      </p:sp>
      <p:sp>
        <p:nvSpPr>
          <p:cNvPr id="11" name="TextBox 10"/>
          <p:cNvSpPr txBox="1"/>
          <p:nvPr/>
        </p:nvSpPr>
        <p:spPr>
          <a:xfrm>
            <a:off x="1005840" y="4407408"/>
            <a:ext cx="5806440" cy="731520"/>
          </a:xfrm>
          <a:prstGeom prst="rect">
            <a:avLst/>
          </a:prstGeom>
          <a:noFill/>
        </p:spPr>
        <p:txBody>
          <a:bodyPr wrap="square" lIns="0" tIns="0" rIns="0" bIns="0" anchor="t">
            <a:spAutoFit/>
          </a:bodyPr>
          <a:lstStyle/>
          <a:p>
            <a:pPr algn="l">
              <a:lnSpc>
                <a:spcPts val="1754"/>
              </a:lnSpc>
              <a:spcAft>
                <a:spcPts val="300"/>
              </a:spcAft>
            </a:pPr>
            <a:r>
              <a:rPr sz="1500" b="0" i="0">
                <a:solidFill>
                  <a:srgbClr val="C8E6D9"/>
                </a:solidFill>
                <a:latin typeface="Inter"/>
              </a:rPr>
              <a:t>Hành trình làm việc, tranh luận và chỉnh sửa trực tiếp cùng ChatGPT.</a:t>
            </a:r>
          </a:p>
        </p:txBody>
      </p:sp>
      <p:pic>
        <p:nvPicPr>
          <p:cNvPr id="12" name="Picture 11" descr="gallery_home_populated.png"/>
          <p:cNvPicPr>
            <a:picLocks noChangeAspect="1"/>
          </p:cNvPicPr>
          <p:nvPr/>
        </p:nvPicPr>
        <p:blipFill>
          <a:blip r:embed="rId3"/>
          <a:stretch>
            <a:fillRect/>
          </a:stretch>
        </p:blipFill>
        <p:spPr>
          <a:xfrm>
            <a:off x="7342631" y="1329113"/>
            <a:ext cx="2020824" cy="4583820"/>
          </a:xfrm>
          <a:prstGeom prst="rect">
            <a:avLst/>
          </a:prstGeom>
        </p:spPr>
      </p:pic>
      <p:pic>
        <p:nvPicPr>
          <p:cNvPr id="13" name="Picture 12" descr="gallery_create.png"/>
          <p:cNvPicPr>
            <a:picLocks noChangeAspect="1"/>
          </p:cNvPicPr>
          <p:nvPr/>
        </p:nvPicPr>
        <p:blipFill>
          <a:blip r:embed="rId4"/>
          <a:stretch>
            <a:fillRect/>
          </a:stretch>
        </p:blipFill>
        <p:spPr>
          <a:xfrm>
            <a:off x="9601200" y="1422449"/>
            <a:ext cx="1938528" cy="43971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01  GIỚI THIỆU</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2808"/>
              </a:lnSpc>
              <a:spcAft>
                <a:spcPts val="300"/>
              </a:spcAft>
            </a:pPr>
            <a:r>
              <a:rPr sz="2400" b="1" i="0">
                <a:solidFill>
                  <a:srgbClr val="153E35"/>
                </a:solidFill>
                <a:latin typeface="Inter"/>
              </a:rPr>
              <a:t>Ý tưởng bắt đầu từ câu hỏi: sinh viên đang dùng thời gian rảnh như thế nào?</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Không phải sinh viên không có sở thích; vấn đề là từ ý muốn đến hành động có quá nhiều lực cản.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02</a:t>
            </a:r>
          </a:p>
        </p:txBody>
      </p:sp>
      <p:sp>
        <p:nvSpPr>
          <p:cNvPr id="10" name="Rounded Rectangle 9"/>
          <p:cNvSpPr/>
          <p:nvPr/>
        </p:nvSpPr>
        <p:spPr>
          <a:xfrm>
            <a:off x="658368" y="1865376"/>
            <a:ext cx="5257800" cy="283464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2057400"/>
            <a:ext cx="489204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BÀI TOÁN BAN ĐẦU</a:t>
            </a:r>
          </a:p>
        </p:txBody>
      </p:sp>
      <p:sp>
        <p:nvSpPr>
          <p:cNvPr id="12" name="TextBox 11"/>
          <p:cNvSpPr txBox="1"/>
          <p:nvPr/>
        </p:nvSpPr>
        <p:spPr>
          <a:xfrm>
            <a:off x="850392" y="2441448"/>
            <a:ext cx="4873752" cy="530352"/>
          </a:xfrm>
          <a:prstGeom prst="rect">
            <a:avLst/>
          </a:prstGeom>
          <a:noFill/>
        </p:spPr>
        <p:txBody>
          <a:bodyPr wrap="square" lIns="0" tIns="0" rIns="0" bIns="0" anchor="t">
            <a:spAutoFit/>
          </a:bodyPr>
          <a:lstStyle/>
          <a:p>
            <a:pPr algn="l">
              <a:lnSpc>
                <a:spcPts val="2457"/>
              </a:lnSpc>
              <a:spcAft>
                <a:spcPts val="300"/>
              </a:spcAft>
            </a:pPr>
            <a:r>
              <a:rPr sz="2100" b="1" i="0">
                <a:solidFill>
                  <a:srgbClr val="153E35"/>
                </a:solidFill>
                <a:latin typeface="Inter"/>
              </a:rPr>
              <a:t>Thực trạng được quan tâm</a:t>
            </a:r>
          </a:p>
        </p:txBody>
      </p:sp>
      <p:sp>
        <p:nvSpPr>
          <p:cNvPr id="13" name="TextBox 12"/>
          <p:cNvSpPr txBox="1"/>
          <p:nvPr/>
        </p:nvSpPr>
        <p:spPr>
          <a:xfrm>
            <a:off x="859536" y="3072384"/>
            <a:ext cx="4855464" cy="1536192"/>
          </a:xfrm>
          <a:prstGeom prst="rect">
            <a:avLst/>
          </a:prstGeom>
          <a:noFill/>
        </p:spPr>
        <p:txBody>
          <a:bodyPr wrap="square" lIns="0" tIns="0" rIns="0" bIns="0" anchor="t">
            <a:spAutoFit/>
          </a:bodyPr>
          <a:lstStyle/>
          <a:p>
            <a:pPr algn="l">
              <a:lnSpc>
                <a:spcPts val="2048"/>
              </a:lnSpc>
              <a:spcAft>
                <a:spcPts val="300"/>
              </a:spcAft>
            </a:pPr>
            <a:r>
              <a:rPr sz="1600" b="0" i="0">
                <a:solidFill>
                  <a:srgbClr val="617D71"/>
                </a:solidFill>
                <a:latin typeface="Inter"/>
              </a:rPr>
              <a:t>Sinh viên FPT 18–24 tuổi thường bị cuốn vào TikTok / video ngắn, học tập và hoạt động số. Nhiều người muốn có một hoạt động ý nghĩa nhưng dễ chần chừ hoặc bỏ dở.</a:t>
            </a:r>
          </a:p>
        </p:txBody>
      </p:sp>
      <p:sp>
        <p:nvSpPr>
          <p:cNvPr id="14" name="Rounded Rectangle 13"/>
          <p:cNvSpPr/>
          <p:nvPr/>
        </p:nvSpPr>
        <p:spPr>
          <a:xfrm>
            <a:off x="6172200" y="1865376"/>
            <a:ext cx="5340096" cy="283464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2057400"/>
            <a:ext cx="4974336"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HƯỚNG GIẢI QUYẾT</a:t>
            </a:r>
          </a:p>
        </p:txBody>
      </p:sp>
      <p:sp>
        <p:nvSpPr>
          <p:cNvPr id="16" name="TextBox 15"/>
          <p:cNvSpPr txBox="1"/>
          <p:nvPr/>
        </p:nvSpPr>
        <p:spPr>
          <a:xfrm>
            <a:off x="6364224" y="2441448"/>
            <a:ext cx="4956048" cy="530352"/>
          </a:xfrm>
          <a:prstGeom prst="rect">
            <a:avLst/>
          </a:prstGeom>
          <a:noFill/>
        </p:spPr>
        <p:txBody>
          <a:bodyPr wrap="square" lIns="0" tIns="0" rIns="0" bIns="0" anchor="t">
            <a:spAutoFit/>
          </a:bodyPr>
          <a:lstStyle/>
          <a:p>
            <a:pPr algn="l">
              <a:lnSpc>
                <a:spcPts val="2457"/>
              </a:lnSpc>
              <a:spcAft>
                <a:spcPts val="300"/>
              </a:spcAft>
            </a:pPr>
            <a:r>
              <a:rPr sz="2100" b="1" i="0">
                <a:solidFill>
                  <a:srgbClr val="153E35"/>
                </a:solidFill>
                <a:latin typeface="Inter"/>
              </a:rPr>
              <a:t>Điều muốn thay đổi</a:t>
            </a:r>
          </a:p>
        </p:txBody>
      </p:sp>
      <p:sp>
        <p:nvSpPr>
          <p:cNvPr id="17" name="TextBox 16"/>
          <p:cNvSpPr txBox="1"/>
          <p:nvPr/>
        </p:nvSpPr>
        <p:spPr>
          <a:xfrm>
            <a:off x="6373368" y="3072384"/>
            <a:ext cx="4937759" cy="1536192"/>
          </a:xfrm>
          <a:prstGeom prst="rect">
            <a:avLst/>
          </a:prstGeom>
          <a:noFill/>
        </p:spPr>
        <p:txBody>
          <a:bodyPr wrap="square" lIns="0" tIns="0" rIns="0" bIns="0" anchor="t">
            <a:spAutoFit/>
          </a:bodyPr>
          <a:lstStyle/>
          <a:p>
            <a:pPr algn="l">
              <a:lnSpc>
                <a:spcPts val="2048"/>
              </a:lnSpc>
              <a:spcAft>
                <a:spcPts val="300"/>
              </a:spcAft>
            </a:pPr>
            <a:r>
              <a:rPr sz="1600" b="0" i="0">
                <a:solidFill>
                  <a:srgbClr val="617D71"/>
                </a:solidFill>
                <a:latin typeface="Inter"/>
              </a:rPr>
              <a:t>Tạo một không gian giúp sinh viên bắt đầu sở thích do chính mình chọn, dành thời gian thật cho nó, thấy được tiến bộ, và kết nối khi muốn.</a:t>
            </a:r>
          </a:p>
        </p:txBody>
      </p:sp>
      <p:sp>
        <p:nvSpPr>
          <p:cNvPr id="18" name="Rounded Rectangle 17"/>
          <p:cNvSpPr/>
          <p:nvPr/>
        </p:nvSpPr>
        <p:spPr>
          <a:xfrm>
            <a:off x="731520" y="5202936"/>
            <a:ext cx="10716768" cy="713232"/>
          </a:xfrm>
          <a:prstGeom prst="roundRect">
            <a:avLst>
              <a:gd name="adj" fmla="val 12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6" y="5385816"/>
            <a:ext cx="10241280" cy="356616"/>
          </a:xfrm>
          <a:prstGeom prst="rect">
            <a:avLst/>
          </a:prstGeom>
          <a:noFill/>
        </p:spPr>
        <p:txBody>
          <a:bodyPr wrap="square" lIns="0" tIns="0" rIns="0" bIns="0" anchor="t">
            <a:spAutoFit/>
          </a:bodyPr>
          <a:lstStyle/>
          <a:p>
            <a:pPr algn="ctr">
              <a:lnSpc>
                <a:spcPts val="1989"/>
              </a:lnSpc>
              <a:spcAft>
                <a:spcPts val="300"/>
              </a:spcAft>
            </a:pPr>
            <a:r>
              <a:rPr sz="1700" b="1" i="0">
                <a:solidFill>
                  <a:srgbClr val="078674"/>
                </a:solidFill>
                <a:latin typeface="Inter"/>
              </a:rPr>
              <a:t>Tư tưởng xuyên suốt: bớt lướt vô thức → dành thời gian cho thứ mình thực sự thích.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01  GIỚI THIỆU</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Ứng dụng dành cho ai? Không phải mọi người dùng đều giống nhau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Phạm vi nghiên cứu được chọn: sinh viên FPT University, khoảng 18–24 tuổi.</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03</a:t>
            </a:r>
          </a:p>
        </p:txBody>
      </p:sp>
      <p:sp>
        <p:nvSpPr>
          <p:cNvPr id="10" name="Rounded Rectangle 9"/>
          <p:cNvSpPr/>
          <p:nvPr/>
        </p:nvSpPr>
        <p:spPr>
          <a:xfrm>
            <a:off x="658368" y="1874519"/>
            <a:ext cx="3593592" cy="341071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2066543"/>
            <a:ext cx="322783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TÌNH HUỐNG 1</a:t>
            </a:r>
          </a:p>
        </p:txBody>
      </p:sp>
      <p:sp>
        <p:nvSpPr>
          <p:cNvPr id="12" name="TextBox 11"/>
          <p:cNvSpPr txBox="1"/>
          <p:nvPr/>
        </p:nvSpPr>
        <p:spPr>
          <a:xfrm>
            <a:off x="850392" y="2450591"/>
            <a:ext cx="3209544"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CHƯA BẮT ĐẦU</a:t>
            </a:r>
          </a:p>
        </p:txBody>
      </p:sp>
      <p:sp>
        <p:nvSpPr>
          <p:cNvPr id="13" name="TextBox 12"/>
          <p:cNvSpPr txBox="1"/>
          <p:nvPr/>
        </p:nvSpPr>
        <p:spPr>
          <a:xfrm>
            <a:off x="859536" y="3081527"/>
            <a:ext cx="3191256" cy="2112264"/>
          </a:xfrm>
          <a:prstGeom prst="rect">
            <a:avLst/>
          </a:prstGeom>
          <a:noFill/>
        </p:spPr>
        <p:txBody>
          <a:bodyPr wrap="square" lIns="0" tIns="0" rIns="0" bIns="0" anchor="t">
            <a:spAutoFit/>
          </a:bodyPr>
          <a:lstStyle/>
          <a:p>
            <a:pPr algn="l">
              <a:lnSpc>
                <a:spcPts val="1715"/>
              </a:lnSpc>
              <a:spcAft>
                <a:spcPts val="300"/>
              </a:spcAft>
            </a:pPr>
            <a:r>
              <a:rPr sz="1340" b="0" i="0">
                <a:solidFill>
                  <a:srgbClr val="617D71"/>
                </a:solidFill>
                <a:latin typeface="Inter"/>
              </a:rPr>
              <a:t>Có ý tưởng sở thích, nhưng thiếu hướng dẫn và tự tin.</a:t>
            </a:r>
          </a:p>
          <a:p>
            <a:pPr algn="l">
              <a:lnSpc>
                <a:spcPts val="1715"/>
              </a:lnSpc>
              <a:spcAft>
                <a:spcPts val="300"/>
              </a:spcAft>
            </a:pPr>
            <a:endParaRPr sz="1340" b="0" i="0">
              <a:solidFill>
                <a:srgbClr val="617D71"/>
              </a:solidFill>
              <a:latin typeface="Inter"/>
            </a:endParaRPr>
          </a:p>
          <a:p>
            <a:pPr algn="l">
              <a:lnSpc>
                <a:spcPts val="1715"/>
              </a:lnSpc>
              <a:spcAft>
                <a:spcPts val="300"/>
              </a:spcAft>
            </a:pPr>
            <a:r>
              <a:rPr sz="1340" b="0" i="0">
                <a:solidFill>
                  <a:srgbClr val="617D71"/>
                </a:solidFill>
                <a:latin typeface="Inter"/>
              </a:rPr>
              <a:t>Cần: Tự tạo sở thích; bước đầu nhỏ; tùy chọn kết nối.</a:t>
            </a:r>
          </a:p>
        </p:txBody>
      </p:sp>
      <p:sp>
        <p:nvSpPr>
          <p:cNvPr id="14" name="Rounded Rectangle 13"/>
          <p:cNvSpPr/>
          <p:nvPr/>
        </p:nvSpPr>
        <p:spPr>
          <a:xfrm>
            <a:off x="4443983" y="1874519"/>
            <a:ext cx="3593592" cy="341071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26864" y="2066543"/>
            <a:ext cx="322783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TÌNH HUỐNG 2</a:t>
            </a:r>
          </a:p>
        </p:txBody>
      </p:sp>
      <p:sp>
        <p:nvSpPr>
          <p:cNvPr id="16" name="TextBox 15"/>
          <p:cNvSpPr txBox="1"/>
          <p:nvPr/>
        </p:nvSpPr>
        <p:spPr>
          <a:xfrm>
            <a:off x="4636007" y="2450591"/>
            <a:ext cx="3209544"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ĐÃ BẮT ĐẦU, HAY BỎ DỞ</a:t>
            </a:r>
          </a:p>
        </p:txBody>
      </p:sp>
      <p:sp>
        <p:nvSpPr>
          <p:cNvPr id="17" name="TextBox 16"/>
          <p:cNvSpPr txBox="1"/>
          <p:nvPr/>
        </p:nvSpPr>
        <p:spPr>
          <a:xfrm>
            <a:off x="4645151" y="3081527"/>
            <a:ext cx="3191256" cy="2112264"/>
          </a:xfrm>
          <a:prstGeom prst="rect">
            <a:avLst/>
          </a:prstGeom>
          <a:noFill/>
        </p:spPr>
        <p:txBody>
          <a:bodyPr wrap="square" lIns="0" tIns="0" rIns="0" bIns="0" anchor="t">
            <a:spAutoFit/>
          </a:bodyPr>
          <a:lstStyle/>
          <a:p>
            <a:pPr algn="l">
              <a:lnSpc>
                <a:spcPts val="1715"/>
              </a:lnSpc>
              <a:spcAft>
                <a:spcPts val="300"/>
              </a:spcAft>
            </a:pPr>
            <a:r>
              <a:rPr sz="1340" b="0" i="0">
                <a:solidFill>
                  <a:srgbClr val="617D71"/>
                </a:solidFill>
                <a:latin typeface="Inter"/>
              </a:rPr>
              <a:t>Học / làm / xem video khiến luyện tập không đều.</a:t>
            </a:r>
          </a:p>
          <a:p>
            <a:pPr algn="l">
              <a:lnSpc>
                <a:spcPts val="1715"/>
              </a:lnSpc>
              <a:spcAft>
                <a:spcPts val="300"/>
              </a:spcAft>
            </a:pPr>
            <a:endParaRPr sz="1340" b="0" i="0">
              <a:solidFill>
                <a:srgbClr val="617D71"/>
              </a:solidFill>
              <a:latin typeface="Inter"/>
            </a:endParaRPr>
          </a:p>
          <a:p>
            <a:pPr algn="l">
              <a:lnSpc>
                <a:spcPts val="1715"/>
              </a:lnSpc>
              <a:spcAft>
                <a:spcPts val="300"/>
              </a:spcAft>
            </a:pPr>
            <a:r>
              <a:rPr sz="1340" b="0" i="0">
                <a:solidFill>
                  <a:srgbClr val="617D71"/>
                </a:solidFill>
                <a:latin typeface="Inter"/>
              </a:rPr>
              <a:t>Cần: Lịch ngắn, công cụ tập trung, ghi tiến độ.</a:t>
            </a:r>
          </a:p>
        </p:txBody>
      </p:sp>
      <p:sp>
        <p:nvSpPr>
          <p:cNvPr id="18" name="Rounded Rectangle 17"/>
          <p:cNvSpPr/>
          <p:nvPr/>
        </p:nvSpPr>
        <p:spPr>
          <a:xfrm>
            <a:off x="8229600" y="1874519"/>
            <a:ext cx="3593592" cy="341071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2066543"/>
            <a:ext cx="322783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TÌNH HUỐNG 3</a:t>
            </a:r>
          </a:p>
        </p:txBody>
      </p:sp>
      <p:sp>
        <p:nvSpPr>
          <p:cNvPr id="20" name="TextBox 19"/>
          <p:cNvSpPr txBox="1"/>
          <p:nvPr/>
        </p:nvSpPr>
        <p:spPr>
          <a:xfrm>
            <a:off x="8421624" y="2450591"/>
            <a:ext cx="3209544"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ĐANG DUY TRÌ</a:t>
            </a:r>
          </a:p>
        </p:txBody>
      </p:sp>
      <p:sp>
        <p:nvSpPr>
          <p:cNvPr id="21" name="TextBox 20"/>
          <p:cNvSpPr txBox="1"/>
          <p:nvPr/>
        </p:nvSpPr>
        <p:spPr>
          <a:xfrm>
            <a:off x="8430768" y="3081527"/>
            <a:ext cx="3191256" cy="2112264"/>
          </a:xfrm>
          <a:prstGeom prst="rect">
            <a:avLst/>
          </a:prstGeom>
          <a:noFill/>
        </p:spPr>
        <p:txBody>
          <a:bodyPr wrap="square" lIns="0" tIns="0" rIns="0" bIns="0" anchor="t">
            <a:spAutoFit/>
          </a:bodyPr>
          <a:lstStyle/>
          <a:p>
            <a:pPr algn="l">
              <a:lnSpc>
                <a:spcPts val="1715"/>
              </a:lnSpc>
              <a:spcAft>
                <a:spcPts val="300"/>
              </a:spcAft>
            </a:pPr>
            <a:r>
              <a:rPr sz="1340" b="0" i="0">
                <a:solidFill>
                  <a:srgbClr val="617D71"/>
                </a:solidFill>
                <a:latin typeface="Inter"/>
              </a:rPr>
              <a:t>Có lịch, bạn đồng hành, động lực hoặc thói quen.</a:t>
            </a:r>
          </a:p>
          <a:p>
            <a:pPr algn="l">
              <a:lnSpc>
                <a:spcPts val="1715"/>
              </a:lnSpc>
              <a:spcAft>
                <a:spcPts val="300"/>
              </a:spcAft>
            </a:pPr>
            <a:endParaRPr sz="1340" b="0" i="0">
              <a:solidFill>
                <a:srgbClr val="617D71"/>
              </a:solidFill>
              <a:latin typeface="Inter"/>
            </a:endParaRPr>
          </a:p>
          <a:p>
            <a:pPr algn="l">
              <a:lnSpc>
                <a:spcPts val="1715"/>
              </a:lnSpc>
              <a:spcAft>
                <a:spcPts val="300"/>
              </a:spcAft>
            </a:pPr>
            <a:r>
              <a:rPr sz="1340" b="0" i="0">
                <a:solidFill>
                  <a:srgbClr val="617D71"/>
                </a:solidFill>
                <a:latin typeface="Inter"/>
              </a:rPr>
              <a:t>Cần: Theo dõi nhẹ nhàng; chia sẻ / cộng đồng tùy chọn.</a:t>
            </a:r>
          </a:p>
        </p:txBody>
      </p:sp>
      <p:sp>
        <p:nvSpPr>
          <p:cNvPr id="22" name="TextBox 21"/>
          <p:cNvSpPr txBox="1"/>
          <p:nvPr/>
        </p:nvSpPr>
        <p:spPr>
          <a:xfrm>
            <a:off x="777240" y="5815584"/>
            <a:ext cx="10680192" cy="365760"/>
          </a:xfrm>
          <a:prstGeom prst="rect">
            <a:avLst/>
          </a:prstGeom>
          <a:noFill/>
        </p:spPr>
        <p:txBody>
          <a:bodyPr wrap="square" lIns="0" tIns="0" rIns="0" bIns="0" anchor="t">
            <a:spAutoFit/>
          </a:bodyPr>
          <a:lstStyle/>
          <a:p>
            <a:pPr algn="l">
              <a:lnSpc>
                <a:spcPts val="1754"/>
              </a:lnSpc>
              <a:spcAft>
                <a:spcPts val="300"/>
              </a:spcAft>
            </a:pPr>
            <a:r>
              <a:rPr sz="1500" b="1" i="0">
                <a:solidFill>
                  <a:srgbClr val="078674"/>
                </a:solidFill>
                <a:latin typeface="Inter"/>
              </a:rPr>
              <a:t>Định hướng: tìm sự khác biệt giữa các nhóm, không ép tất cả vào một quy trình duy nhất.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01  GIỚI THIỆU</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Trước giao diện: bản user stories tên “Fetch Timer”</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Điểm xuất phát là yêu cầu do con người viết; ý tưởng phát triển dần thành Hobby Tracker.</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04</a:t>
            </a:r>
          </a:p>
        </p:txBody>
      </p:sp>
      <p:sp>
        <p:nvSpPr>
          <p:cNvPr id="10" name="Rounded Rectangle 9"/>
          <p:cNvSpPr/>
          <p:nvPr/>
        </p:nvSpPr>
        <p:spPr>
          <a:xfrm>
            <a:off x="676656" y="1801368"/>
            <a:ext cx="10780776"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1965960"/>
            <a:ext cx="2295144" cy="320040"/>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QUẢN LÝ THỜI GIAN</a:t>
            </a:r>
          </a:p>
        </p:txBody>
      </p:sp>
      <p:sp>
        <p:nvSpPr>
          <p:cNvPr id="12" name="TextBox 11"/>
          <p:cNvSpPr txBox="1"/>
          <p:nvPr/>
        </p:nvSpPr>
        <p:spPr>
          <a:xfrm>
            <a:off x="3145536" y="1938528"/>
            <a:ext cx="8028431" cy="448056"/>
          </a:xfrm>
          <a:prstGeom prst="rect">
            <a:avLst/>
          </a:prstGeom>
          <a:noFill/>
        </p:spPr>
        <p:txBody>
          <a:bodyPr wrap="square" lIns="0" tIns="0" rIns="0" bIns="0" anchor="t">
            <a:spAutoFit/>
          </a:bodyPr>
          <a:lstStyle/>
          <a:p>
            <a:pPr algn="l">
              <a:lnSpc>
                <a:spcPts val="1638"/>
              </a:lnSpc>
              <a:spcAft>
                <a:spcPts val="300"/>
              </a:spcAft>
            </a:pPr>
            <a:r>
              <a:rPr sz="1400" b="0" i="0">
                <a:solidFill>
                  <a:srgbClr val="153E35"/>
                </a:solidFill>
                <a:latin typeface="Inter"/>
              </a:rPr>
              <a:t>Sắp xếp thời gian biểu, lên lịch sự kiện / nhiệm vụ / lịch trình.</a:t>
            </a:r>
          </a:p>
        </p:txBody>
      </p:sp>
      <p:sp>
        <p:nvSpPr>
          <p:cNvPr id="13" name="Rounded Rectangle 12"/>
          <p:cNvSpPr/>
          <p:nvPr/>
        </p:nvSpPr>
        <p:spPr>
          <a:xfrm>
            <a:off x="676656" y="2651760"/>
            <a:ext cx="10780776" cy="704088"/>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 y="2816352"/>
            <a:ext cx="2295144" cy="320040"/>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TẬP TRUNG</a:t>
            </a:r>
          </a:p>
        </p:txBody>
      </p:sp>
      <p:sp>
        <p:nvSpPr>
          <p:cNvPr id="15" name="TextBox 14"/>
          <p:cNvSpPr txBox="1"/>
          <p:nvPr/>
        </p:nvSpPr>
        <p:spPr>
          <a:xfrm>
            <a:off x="3145536" y="2788920"/>
            <a:ext cx="8028431" cy="448056"/>
          </a:xfrm>
          <a:prstGeom prst="rect">
            <a:avLst/>
          </a:prstGeom>
          <a:noFill/>
        </p:spPr>
        <p:txBody>
          <a:bodyPr wrap="square" lIns="0" tIns="0" rIns="0" bIns="0" anchor="t">
            <a:spAutoFit/>
          </a:bodyPr>
          <a:lstStyle/>
          <a:p>
            <a:pPr algn="l">
              <a:lnSpc>
                <a:spcPts val="1638"/>
              </a:lnSpc>
              <a:spcAft>
                <a:spcPts val="300"/>
              </a:spcAft>
            </a:pPr>
            <a:r>
              <a:rPr sz="1400" b="0" i="0">
                <a:solidFill>
                  <a:srgbClr val="153E35"/>
                </a:solidFill>
                <a:latin typeface="Inter"/>
              </a:rPr>
              <a:t>Nhắc nhở, đánh dấu các mốc thời gian và tối ưu thời gian cho sở thích.</a:t>
            </a:r>
          </a:p>
        </p:txBody>
      </p:sp>
      <p:sp>
        <p:nvSpPr>
          <p:cNvPr id="16" name="Rounded Rectangle 15"/>
          <p:cNvSpPr/>
          <p:nvPr/>
        </p:nvSpPr>
        <p:spPr>
          <a:xfrm>
            <a:off x="676656" y="3502152"/>
            <a:ext cx="10780776"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5256" y="3666744"/>
            <a:ext cx="2295144" cy="320040"/>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CÔNG CỤ</a:t>
            </a:r>
          </a:p>
        </p:txBody>
      </p:sp>
      <p:sp>
        <p:nvSpPr>
          <p:cNvPr id="18" name="TextBox 17"/>
          <p:cNvSpPr txBox="1"/>
          <p:nvPr/>
        </p:nvSpPr>
        <p:spPr>
          <a:xfrm>
            <a:off x="3145536" y="3639312"/>
            <a:ext cx="8028431" cy="448056"/>
          </a:xfrm>
          <a:prstGeom prst="rect">
            <a:avLst/>
          </a:prstGeom>
          <a:noFill/>
        </p:spPr>
        <p:txBody>
          <a:bodyPr wrap="square" lIns="0" tIns="0" rIns="0" bIns="0" anchor="t">
            <a:spAutoFit/>
          </a:bodyPr>
          <a:lstStyle/>
          <a:p>
            <a:pPr algn="l">
              <a:lnSpc>
                <a:spcPts val="1638"/>
              </a:lnSpc>
              <a:spcAft>
                <a:spcPts val="300"/>
              </a:spcAft>
            </a:pPr>
            <a:r>
              <a:rPr sz="1400" b="0" i="0">
                <a:solidFill>
                  <a:srgbClr val="153E35"/>
                </a:solidFill>
                <a:latin typeface="Inter"/>
              </a:rPr>
              <a:t>Tích hợp Spotify / YouTube để hỗ trợ tập trung.</a:t>
            </a:r>
          </a:p>
        </p:txBody>
      </p:sp>
      <p:sp>
        <p:nvSpPr>
          <p:cNvPr id="19" name="Rounded Rectangle 18"/>
          <p:cNvSpPr/>
          <p:nvPr/>
        </p:nvSpPr>
        <p:spPr>
          <a:xfrm>
            <a:off x="676656" y="4352544"/>
            <a:ext cx="10780776" cy="704088"/>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 y="4517136"/>
            <a:ext cx="2295144" cy="320040"/>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TIẾN BỘ</a:t>
            </a:r>
          </a:p>
        </p:txBody>
      </p:sp>
      <p:sp>
        <p:nvSpPr>
          <p:cNvPr id="21" name="TextBox 20"/>
          <p:cNvSpPr txBox="1"/>
          <p:nvPr/>
        </p:nvSpPr>
        <p:spPr>
          <a:xfrm>
            <a:off x="3145536" y="4489704"/>
            <a:ext cx="8028431" cy="448056"/>
          </a:xfrm>
          <a:prstGeom prst="rect">
            <a:avLst/>
          </a:prstGeom>
          <a:noFill/>
        </p:spPr>
        <p:txBody>
          <a:bodyPr wrap="square" lIns="0" tIns="0" rIns="0" bIns="0" anchor="t">
            <a:spAutoFit/>
          </a:bodyPr>
          <a:lstStyle/>
          <a:p>
            <a:pPr algn="l">
              <a:lnSpc>
                <a:spcPts val="1638"/>
              </a:lnSpc>
              <a:spcAft>
                <a:spcPts val="300"/>
              </a:spcAft>
            </a:pPr>
            <a:r>
              <a:rPr sz="1400" b="0" i="0">
                <a:solidFill>
                  <a:srgbClr val="153E35"/>
                </a:solidFill>
                <a:latin typeface="Inter"/>
              </a:rPr>
              <a:t>Theo dõi sở thích, nhận đóng góp chuyên sâu và lưu khoảnh khắc.</a:t>
            </a:r>
          </a:p>
        </p:txBody>
      </p:sp>
      <p:sp>
        <p:nvSpPr>
          <p:cNvPr id="22" name="Rounded Rectangle 21"/>
          <p:cNvSpPr/>
          <p:nvPr/>
        </p:nvSpPr>
        <p:spPr>
          <a:xfrm>
            <a:off x="676656" y="5202936"/>
            <a:ext cx="10780776"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5367528"/>
            <a:ext cx="2295144" cy="320040"/>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KẾT NỐI</a:t>
            </a:r>
          </a:p>
        </p:txBody>
      </p:sp>
      <p:sp>
        <p:nvSpPr>
          <p:cNvPr id="24" name="TextBox 23"/>
          <p:cNvSpPr txBox="1"/>
          <p:nvPr/>
        </p:nvSpPr>
        <p:spPr>
          <a:xfrm>
            <a:off x="3145536" y="5340096"/>
            <a:ext cx="8028431" cy="448056"/>
          </a:xfrm>
          <a:prstGeom prst="rect">
            <a:avLst/>
          </a:prstGeom>
          <a:noFill/>
        </p:spPr>
        <p:txBody>
          <a:bodyPr wrap="square" lIns="0" tIns="0" rIns="0" bIns="0" anchor="t">
            <a:spAutoFit/>
          </a:bodyPr>
          <a:lstStyle/>
          <a:p>
            <a:pPr algn="l">
              <a:lnSpc>
                <a:spcPts val="1638"/>
              </a:lnSpc>
              <a:spcAft>
                <a:spcPts val="300"/>
              </a:spcAft>
            </a:pPr>
            <a:r>
              <a:rPr sz="1400" b="0" i="0">
                <a:solidFill>
                  <a:srgbClr val="153E35"/>
                </a:solidFill>
                <a:latin typeface="Inter"/>
              </a:rPr>
              <a:t>Liên kết với người có cùng sở thích; truyền cảm hứng hàng ngày.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01  GIỚI THIỆU</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Hướng xây dựng: ChatGPT cùng suy nghĩ — bạn là người chọn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Không có một lần nhập lệnh rồi “sinh app”. Mỗi chặng đi qua nhiều câu hỏi, thử nghiệm và sửa.</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05</a:t>
            </a:r>
          </a:p>
        </p:txBody>
      </p:sp>
      <p:sp>
        <p:nvSpPr>
          <p:cNvPr id="10" name="Rounded Rectangle 9"/>
          <p:cNvSpPr/>
          <p:nvPr/>
        </p:nvSpPr>
        <p:spPr>
          <a:xfrm>
            <a:off x="649224" y="1801368"/>
            <a:ext cx="5266944" cy="336499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3" y="1993392"/>
            <a:ext cx="4901183"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HÀNH ĐỘNG THỦ CÔNG</a:t>
            </a:r>
          </a:p>
        </p:txBody>
      </p:sp>
      <p:sp>
        <p:nvSpPr>
          <p:cNvPr id="12" name="TextBox 11"/>
          <p:cNvSpPr txBox="1"/>
          <p:nvPr/>
        </p:nvSpPr>
        <p:spPr>
          <a:xfrm>
            <a:off x="841247" y="2377440"/>
            <a:ext cx="4882896" cy="530352"/>
          </a:xfrm>
          <a:prstGeom prst="rect">
            <a:avLst/>
          </a:prstGeom>
          <a:noFill/>
        </p:spPr>
        <p:txBody>
          <a:bodyPr wrap="square" lIns="0" tIns="0" rIns="0" bIns="0" anchor="t">
            <a:spAutoFit/>
          </a:bodyPr>
          <a:lstStyle/>
          <a:p>
            <a:pPr algn="l">
              <a:lnSpc>
                <a:spcPts val="2340"/>
              </a:lnSpc>
              <a:spcAft>
                <a:spcPts val="300"/>
              </a:spcAft>
            </a:pPr>
            <a:r>
              <a:rPr sz="2000" b="1" i="0">
                <a:solidFill>
                  <a:srgbClr val="153E35"/>
                </a:solidFill>
                <a:latin typeface="Inter"/>
              </a:rPr>
              <a:t>BẠN — PRODUCT / UX OWNER</a:t>
            </a:r>
          </a:p>
        </p:txBody>
      </p:sp>
      <p:sp>
        <p:nvSpPr>
          <p:cNvPr id="13" name="TextBox 12"/>
          <p:cNvSpPr txBox="1"/>
          <p:nvPr/>
        </p:nvSpPr>
        <p:spPr>
          <a:xfrm>
            <a:off x="850392" y="3008376"/>
            <a:ext cx="4864607" cy="2066543"/>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Xác định đối tượng và vấn đề.</a:t>
            </a:r>
          </a:p>
          <a:p>
            <a:pPr algn="l">
              <a:lnSpc>
                <a:spcPts val="1792"/>
              </a:lnSpc>
              <a:spcAft>
                <a:spcPts val="300"/>
              </a:spcAft>
            </a:pPr>
            <a:r>
              <a:rPr sz="1400" b="0" i="0">
                <a:solidFill>
                  <a:srgbClr val="617D71"/>
                </a:solidFill>
                <a:latin typeface="Inter"/>
              </a:rPr>
              <a:t>Yêu cầu nghiên cứu; chọn nhóm nhân vật.</a:t>
            </a:r>
          </a:p>
          <a:p>
            <a:pPr algn="l">
              <a:lnSpc>
                <a:spcPts val="1792"/>
              </a:lnSpc>
              <a:spcAft>
                <a:spcPts val="300"/>
              </a:spcAft>
            </a:pPr>
            <a:r>
              <a:rPr sz="1400" b="0" i="0">
                <a:solidFill>
                  <a:srgbClr val="617D71"/>
                </a:solidFill>
                <a:latin typeface="Inter"/>
              </a:rPr>
              <a:t>Đọc, phản biện, bác bỏ khi sai.</a:t>
            </a:r>
          </a:p>
          <a:p>
            <a:pPr algn="l">
              <a:lnSpc>
                <a:spcPts val="1792"/>
              </a:lnSpc>
              <a:spcAft>
                <a:spcPts val="300"/>
              </a:spcAft>
            </a:pPr>
            <a:r>
              <a:rPr sz="1400" b="0" i="0">
                <a:solidFill>
                  <a:srgbClr val="617D71"/>
                </a:solidFill>
                <a:latin typeface="Inter"/>
              </a:rPr>
              <a:t>Test từng màn hình, xác nhận chức năng.</a:t>
            </a:r>
          </a:p>
          <a:p>
            <a:pPr algn="l">
              <a:lnSpc>
                <a:spcPts val="1792"/>
              </a:lnSpc>
              <a:spcAft>
                <a:spcPts val="300"/>
              </a:spcAft>
            </a:pPr>
            <a:r>
              <a:rPr sz="1400" b="0" i="0">
                <a:solidFill>
                  <a:srgbClr val="617D71"/>
                </a:solidFill>
                <a:latin typeface="Inter"/>
              </a:rPr>
              <a:t>Đặt thứ tự ưu tiên và duyệt phiên bản.</a:t>
            </a:r>
          </a:p>
        </p:txBody>
      </p:sp>
      <p:sp>
        <p:nvSpPr>
          <p:cNvPr id="14" name="Rounded Rectangle 13"/>
          <p:cNvSpPr/>
          <p:nvPr/>
        </p:nvSpPr>
        <p:spPr>
          <a:xfrm>
            <a:off x="6163056" y="1801368"/>
            <a:ext cx="5285232" cy="336499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5936" y="1993392"/>
            <a:ext cx="491947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PHẦN AI HỖ TRỢ</a:t>
            </a:r>
          </a:p>
        </p:txBody>
      </p:sp>
      <p:sp>
        <p:nvSpPr>
          <p:cNvPr id="16" name="TextBox 15"/>
          <p:cNvSpPr txBox="1"/>
          <p:nvPr/>
        </p:nvSpPr>
        <p:spPr>
          <a:xfrm>
            <a:off x="6355080" y="2377440"/>
            <a:ext cx="4901184" cy="530352"/>
          </a:xfrm>
          <a:prstGeom prst="rect">
            <a:avLst/>
          </a:prstGeom>
          <a:noFill/>
        </p:spPr>
        <p:txBody>
          <a:bodyPr wrap="square" lIns="0" tIns="0" rIns="0" bIns="0" anchor="t">
            <a:spAutoFit/>
          </a:bodyPr>
          <a:lstStyle/>
          <a:p>
            <a:pPr algn="l">
              <a:lnSpc>
                <a:spcPts val="2340"/>
              </a:lnSpc>
              <a:spcAft>
                <a:spcPts val="300"/>
              </a:spcAft>
            </a:pPr>
            <a:r>
              <a:rPr sz="2000" b="1" i="0">
                <a:solidFill>
                  <a:srgbClr val="153E35"/>
                </a:solidFill>
                <a:latin typeface="Inter"/>
              </a:rPr>
              <a:t>CHATGPT — RESEARCH &amp; DESIGN PARTNER</a:t>
            </a:r>
          </a:p>
        </p:txBody>
      </p:sp>
      <p:sp>
        <p:nvSpPr>
          <p:cNvPr id="17" name="TextBox 16"/>
          <p:cNvSpPr txBox="1"/>
          <p:nvPr/>
        </p:nvSpPr>
        <p:spPr>
          <a:xfrm>
            <a:off x="6364224" y="3008376"/>
            <a:ext cx="4882896" cy="2066543"/>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Gợi ý cấu trúc nghiên cứu.</a:t>
            </a:r>
          </a:p>
          <a:p>
            <a:pPr algn="l">
              <a:lnSpc>
                <a:spcPts val="1792"/>
              </a:lnSpc>
              <a:spcAft>
                <a:spcPts val="300"/>
              </a:spcAft>
            </a:pPr>
            <a:r>
              <a:rPr sz="1400" b="0" i="0">
                <a:solidFill>
                  <a:srgbClr val="617D71"/>
                </a:solidFill>
                <a:latin typeface="Inter"/>
              </a:rPr>
              <a:t>Đóng vai người được hỏi.</a:t>
            </a:r>
          </a:p>
          <a:p>
            <a:pPr algn="l">
              <a:lnSpc>
                <a:spcPts val="1792"/>
              </a:lnSpc>
              <a:spcAft>
                <a:spcPts val="300"/>
              </a:spcAft>
            </a:pPr>
            <a:r>
              <a:rPr sz="1400" b="0" i="0">
                <a:solidFill>
                  <a:srgbClr val="617D71"/>
                </a:solidFill>
                <a:latin typeface="Inter"/>
              </a:rPr>
              <a:t>Tổng hợp dữ liệu mô phỏng.</a:t>
            </a:r>
          </a:p>
          <a:p>
            <a:pPr algn="l">
              <a:lnSpc>
                <a:spcPts val="1792"/>
              </a:lnSpc>
              <a:spcAft>
                <a:spcPts val="300"/>
              </a:spcAft>
            </a:pPr>
            <a:r>
              <a:rPr sz="1400" b="0" i="0">
                <a:solidFill>
                  <a:srgbClr val="617D71"/>
                </a:solidFill>
                <a:latin typeface="Inter"/>
              </a:rPr>
              <a:t>Đề xuất sitemap, flow, bố cục, UI.</a:t>
            </a:r>
          </a:p>
          <a:p>
            <a:pPr algn="l">
              <a:lnSpc>
                <a:spcPts val="1792"/>
              </a:lnSpc>
              <a:spcAft>
                <a:spcPts val="300"/>
              </a:spcAft>
            </a:pPr>
            <a:r>
              <a:rPr sz="1400" b="0" i="0">
                <a:solidFill>
                  <a:srgbClr val="617D71"/>
                </a:solidFill>
                <a:latin typeface="Inter"/>
              </a:rPr>
              <a:t>Tạo bản xem thử, sửa và tích hợp.</a:t>
            </a:r>
          </a:p>
        </p:txBody>
      </p:sp>
      <p:sp>
        <p:nvSpPr>
          <p:cNvPr id="18" name="Rounded Rectangle 17"/>
          <p:cNvSpPr/>
          <p:nvPr/>
        </p:nvSpPr>
        <p:spPr>
          <a:xfrm>
            <a:off x="758952" y="5532120"/>
            <a:ext cx="10524744" cy="466344"/>
          </a:xfrm>
          <a:prstGeom prst="roundRect">
            <a:avLst>
              <a:gd name="adj" fmla="val 7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5641848"/>
            <a:ext cx="10149840" cy="219456"/>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Quyết định cuối nằm ở người thiết kế: đề xuất sai bị loại, phiên bản đúng mới được giữ.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01  GIỚI THIỆU</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Lộ trình kể lại từng cuộc trao đổi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Mỗi chặng bắt đầu từ câu hỏi, tiếp đến phương án ChatGPT và chỉnh sửa mà bạn yêu cầu.</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06</a:t>
            </a:r>
          </a:p>
        </p:txBody>
      </p:sp>
      <p:sp>
        <p:nvSpPr>
          <p:cNvPr id="10" name="Rounded Rectangle 9"/>
          <p:cNvSpPr/>
          <p:nvPr/>
        </p:nvSpPr>
        <p:spPr>
          <a:xfrm>
            <a:off x="685800" y="1810512"/>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002536"/>
            <a:ext cx="3209544"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a:t>
            </a:r>
          </a:p>
        </p:txBody>
      </p:sp>
      <p:sp>
        <p:nvSpPr>
          <p:cNvPr id="12" name="TextBox 11"/>
          <p:cNvSpPr txBox="1"/>
          <p:nvPr/>
        </p:nvSpPr>
        <p:spPr>
          <a:xfrm>
            <a:off x="877824" y="2386584"/>
            <a:ext cx="319125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INTRODUCTION</a:t>
            </a:r>
          </a:p>
        </p:txBody>
      </p:sp>
      <p:sp>
        <p:nvSpPr>
          <p:cNvPr id="13" name="TextBox 12"/>
          <p:cNvSpPr txBox="1"/>
          <p:nvPr/>
        </p:nvSpPr>
        <p:spPr>
          <a:xfrm>
            <a:off x="886968" y="3017520"/>
            <a:ext cx="3172968" cy="49377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Bài toán · đối tượng · mục tiêu</a:t>
            </a:r>
          </a:p>
        </p:txBody>
      </p:sp>
      <p:sp>
        <p:nvSpPr>
          <p:cNvPr id="14" name="Rounded Rectangle 13"/>
          <p:cNvSpPr/>
          <p:nvPr/>
        </p:nvSpPr>
        <p:spPr>
          <a:xfrm>
            <a:off x="4462272" y="1810512"/>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45152" y="2002536"/>
            <a:ext cx="3209544"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a:t>
            </a:r>
          </a:p>
        </p:txBody>
      </p:sp>
      <p:sp>
        <p:nvSpPr>
          <p:cNvPr id="16" name="TextBox 15"/>
          <p:cNvSpPr txBox="1"/>
          <p:nvPr/>
        </p:nvSpPr>
        <p:spPr>
          <a:xfrm>
            <a:off x="4654296" y="2386584"/>
            <a:ext cx="319125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UX RESEARCH</a:t>
            </a:r>
          </a:p>
        </p:txBody>
      </p:sp>
      <p:sp>
        <p:nvSpPr>
          <p:cNvPr id="17" name="TextBox 16"/>
          <p:cNvSpPr txBox="1"/>
          <p:nvPr/>
        </p:nvSpPr>
        <p:spPr>
          <a:xfrm>
            <a:off x="4663440" y="3017520"/>
            <a:ext cx="3172968" cy="49377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Kịch bản · 9 vai · nhóm · persona</a:t>
            </a:r>
          </a:p>
        </p:txBody>
      </p:sp>
      <p:sp>
        <p:nvSpPr>
          <p:cNvPr id="18" name="Rounded Rectangle 17"/>
          <p:cNvSpPr/>
          <p:nvPr/>
        </p:nvSpPr>
        <p:spPr>
          <a:xfrm>
            <a:off x="8238744" y="1810512"/>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21624" y="2002536"/>
            <a:ext cx="3209544"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a:t>
            </a:r>
          </a:p>
        </p:txBody>
      </p:sp>
      <p:sp>
        <p:nvSpPr>
          <p:cNvPr id="20" name="TextBox 19"/>
          <p:cNvSpPr txBox="1"/>
          <p:nvPr/>
        </p:nvSpPr>
        <p:spPr>
          <a:xfrm>
            <a:off x="8430768" y="2386584"/>
            <a:ext cx="319125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UX DESIGN</a:t>
            </a:r>
          </a:p>
        </p:txBody>
      </p:sp>
      <p:sp>
        <p:nvSpPr>
          <p:cNvPr id="21" name="TextBox 20"/>
          <p:cNvSpPr txBox="1"/>
          <p:nvPr/>
        </p:nvSpPr>
        <p:spPr>
          <a:xfrm>
            <a:off x="8439912" y="3017520"/>
            <a:ext cx="3172968" cy="49377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Sitemap · 3 flows · điều hướng</a:t>
            </a:r>
          </a:p>
        </p:txBody>
      </p:sp>
      <p:sp>
        <p:nvSpPr>
          <p:cNvPr id="22" name="Rounded Rectangle 21"/>
          <p:cNvSpPr/>
          <p:nvPr/>
        </p:nvSpPr>
        <p:spPr>
          <a:xfrm>
            <a:off x="685800" y="3785616"/>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3977640"/>
            <a:ext cx="3209544"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a:t>
            </a:r>
          </a:p>
        </p:txBody>
      </p:sp>
      <p:sp>
        <p:nvSpPr>
          <p:cNvPr id="24" name="TextBox 23"/>
          <p:cNvSpPr txBox="1"/>
          <p:nvPr/>
        </p:nvSpPr>
        <p:spPr>
          <a:xfrm>
            <a:off x="877824" y="4361688"/>
            <a:ext cx="319125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UI DESIGN</a:t>
            </a:r>
          </a:p>
        </p:txBody>
      </p:sp>
      <p:sp>
        <p:nvSpPr>
          <p:cNvPr id="25" name="TextBox 24"/>
          <p:cNvSpPr txBox="1"/>
          <p:nvPr/>
        </p:nvSpPr>
        <p:spPr>
          <a:xfrm>
            <a:off x="886968" y="4992624"/>
            <a:ext cx="3172968" cy="49377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Màn hình · màu · icon · before/after</a:t>
            </a:r>
          </a:p>
        </p:txBody>
      </p:sp>
      <p:sp>
        <p:nvSpPr>
          <p:cNvPr id="26" name="Rounded Rectangle 25"/>
          <p:cNvSpPr/>
          <p:nvPr/>
        </p:nvSpPr>
        <p:spPr>
          <a:xfrm>
            <a:off x="4462272" y="3785616"/>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45152" y="3977640"/>
            <a:ext cx="3209544"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a:t>
            </a:r>
          </a:p>
        </p:txBody>
      </p:sp>
      <p:sp>
        <p:nvSpPr>
          <p:cNvPr id="28" name="TextBox 27"/>
          <p:cNvSpPr txBox="1"/>
          <p:nvPr/>
        </p:nvSpPr>
        <p:spPr>
          <a:xfrm>
            <a:off x="4654296" y="4361688"/>
            <a:ext cx="319125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PROTOTYPE</a:t>
            </a:r>
          </a:p>
        </p:txBody>
      </p:sp>
      <p:sp>
        <p:nvSpPr>
          <p:cNvPr id="29" name="TextBox 28"/>
          <p:cNvSpPr txBox="1"/>
          <p:nvPr/>
        </p:nvSpPr>
        <p:spPr>
          <a:xfrm>
            <a:off x="4663440" y="4992624"/>
            <a:ext cx="3172968" cy="49377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Luồng tích hợp · thử nghiệm · giới hạn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02  UX RESEARCH</a:t>
            </a:r>
          </a:p>
        </p:txBody>
      </p:sp>
      <p:sp>
        <p:nvSpPr>
          <p:cNvPr id="5" name="Rectangle 4"/>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7" name="TextBox 6"/>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07</a:t>
            </a:r>
          </a:p>
        </p:txBody>
      </p:sp>
      <p:sp>
        <p:nvSpPr>
          <p:cNvPr id="8" name="Oval 7"/>
          <p:cNvSpPr/>
          <p:nvPr/>
        </p:nvSpPr>
        <p:spPr>
          <a:xfrm>
            <a:off x="8229600" y="-914400"/>
            <a:ext cx="4846320" cy="4846320"/>
          </a:xfrm>
          <a:prstGeom prst="ellipse">
            <a:avLst/>
          </a:prstGeom>
          <a:solidFill>
            <a:srgbClr val="0E4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2743200"/>
            <a:ext cx="3017520" cy="3017520"/>
          </a:xfrm>
          <a:prstGeom prst="ellipse">
            <a:avLst/>
          </a:prstGeom>
          <a:solidFill>
            <a:srgbClr val="14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804672"/>
            <a:ext cx="4572000" cy="365760"/>
          </a:xfrm>
          <a:prstGeom prst="rect">
            <a:avLst/>
          </a:prstGeom>
          <a:noFill/>
        </p:spPr>
        <p:txBody>
          <a:bodyPr wrap="square" lIns="0" tIns="0" rIns="0" bIns="0" anchor="t">
            <a:spAutoFit/>
          </a:bodyPr>
          <a:lstStyle/>
          <a:p>
            <a:pPr algn="l">
              <a:lnSpc>
                <a:spcPts val="1754"/>
              </a:lnSpc>
              <a:spcAft>
                <a:spcPts val="300"/>
              </a:spcAft>
            </a:pPr>
            <a:r>
              <a:rPr sz="1500" b="1" i="0">
                <a:solidFill>
                  <a:srgbClr val="EFAD62"/>
                </a:solidFill>
                <a:latin typeface="Inter"/>
              </a:rPr>
              <a:t>02  /  05</a:t>
            </a:r>
          </a:p>
        </p:txBody>
      </p:sp>
      <p:sp>
        <p:nvSpPr>
          <p:cNvPr id="11" name="TextBox 10"/>
          <p:cNvSpPr txBox="1"/>
          <p:nvPr/>
        </p:nvSpPr>
        <p:spPr>
          <a:xfrm>
            <a:off x="658368" y="1463040"/>
            <a:ext cx="9966960" cy="1737360"/>
          </a:xfrm>
          <a:prstGeom prst="rect">
            <a:avLst/>
          </a:prstGeom>
          <a:noFill/>
        </p:spPr>
        <p:txBody>
          <a:bodyPr wrap="square" lIns="0" tIns="0" rIns="0" bIns="0" anchor="t">
            <a:spAutoFit/>
          </a:bodyPr>
          <a:lstStyle/>
          <a:p>
            <a:pPr algn="l">
              <a:lnSpc>
                <a:spcPts val="4914"/>
              </a:lnSpc>
              <a:spcAft>
                <a:spcPts val="300"/>
              </a:spcAft>
            </a:pPr>
            <a:r>
              <a:rPr sz="4200" b="1" i="0">
                <a:solidFill>
                  <a:srgbClr val="FFFFFF"/>
                </a:solidFill>
                <a:latin typeface="Inter"/>
              </a:rPr>
              <a:t>UX RESEARCH</a:t>
            </a:r>
          </a:p>
        </p:txBody>
      </p:sp>
      <p:sp>
        <p:nvSpPr>
          <p:cNvPr id="12" name="TextBox 11"/>
          <p:cNvSpPr txBox="1"/>
          <p:nvPr/>
        </p:nvSpPr>
        <p:spPr>
          <a:xfrm>
            <a:off x="704088" y="3758184"/>
            <a:ext cx="9601200" cy="1051560"/>
          </a:xfrm>
          <a:prstGeom prst="rect">
            <a:avLst/>
          </a:prstGeom>
          <a:noFill/>
        </p:spPr>
        <p:txBody>
          <a:bodyPr wrap="square" lIns="0" tIns="0" rIns="0" bIns="0" anchor="t">
            <a:spAutoFit/>
          </a:bodyPr>
          <a:lstStyle/>
          <a:p>
            <a:pPr algn="l">
              <a:lnSpc>
                <a:spcPts val="2106"/>
              </a:lnSpc>
              <a:spcAft>
                <a:spcPts val="300"/>
              </a:spcAft>
            </a:pPr>
            <a:r>
              <a:rPr sz="1800" b="0" i="0">
                <a:solidFill>
                  <a:srgbClr val="B8D9CB"/>
                </a:solidFill>
                <a:latin typeface="Inter"/>
              </a:rPr>
              <a:t>Tại sao phải tìm hiểu → hỏi những gì → từng người nói gì → phân tích → persona và bài toán UX.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1 — Mục tiêu nghiên cứu: cần biết điều gì TRƯỚC khi vẽ giao diện?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Chúng tôi không đi tìm lời xác nhận cho một tính năng đã quyết định sẵn.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08</a:t>
            </a:r>
          </a:p>
        </p:txBody>
      </p:sp>
      <p:sp>
        <p:nvSpPr>
          <p:cNvPr id="10" name="Rounded Rectangle 9"/>
          <p:cNvSpPr/>
          <p:nvPr/>
        </p:nvSpPr>
        <p:spPr>
          <a:xfrm>
            <a:off x="667512" y="1856231"/>
            <a:ext cx="5394960" cy="172821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48255"/>
            <a:ext cx="5010912"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Mục tiêu 01 · KHỞI ĐẦU</a:t>
            </a:r>
          </a:p>
        </p:txBody>
      </p:sp>
      <p:sp>
        <p:nvSpPr>
          <p:cNvPr id="12" name="TextBox 11"/>
          <p:cNvSpPr txBox="1"/>
          <p:nvPr/>
        </p:nvSpPr>
        <p:spPr>
          <a:xfrm>
            <a:off x="868680" y="2679191"/>
            <a:ext cx="4992624" cy="813815"/>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Sinh viên có thích hoạt động ngoài màn hình nhưng chưa bắt đầu không? Trở ngại đầu tiên là gì?</a:t>
            </a:r>
          </a:p>
        </p:txBody>
      </p:sp>
      <p:sp>
        <p:nvSpPr>
          <p:cNvPr id="13" name="Rounded Rectangle 12"/>
          <p:cNvSpPr/>
          <p:nvPr/>
        </p:nvSpPr>
        <p:spPr>
          <a:xfrm>
            <a:off x="6281927" y="1856231"/>
            <a:ext cx="5394960" cy="172821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1" y="2048255"/>
            <a:ext cx="5010912"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Mục tiêu 02 · DUY TRÌ</a:t>
            </a:r>
          </a:p>
        </p:txBody>
      </p:sp>
      <p:sp>
        <p:nvSpPr>
          <p:cNvPr id="15" name="TextBox 14"/>
          <p:cNvSpPr txBox="1"/>
          <p:nvPr/>
        </p:nvSpPr>
        <p:spPr>
          <a:xfrm>
            <a:off x="6483095" y="2679191"/>
            <a:ext cx="4992624" cy="813815"/>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Vì sao các sở thích đang có bị gián đoạn? Lịch, động lực, sự tập trung tác động thế nào?</a:t>
            </a:r>
          </a:p>
        </p:txBody>
      </p:sp>
      <p:sp>
        <p:nvSpPr>
          <p:cNvPr id="16" name="Rounded Rectangle 15"/>
          <p:cNvSpPr/>
          <p:nvPr/>
        </p:nvSpPr>
        <p:spPr>
          <a:xfrm>
            <a:off x="667512" y="3776472"/>
            <a:ext cx="5394960" cy="172821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3968496"/>
            <a:ext cx="5010912"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Mục tiêu 03 · ĐỘNG LỰC TỐT</a:t>
            </a:r>
          </a:p>
        </p:txBody>
      </p:sp>
      <p:sp>
        <p:nvSpPr>
          <p:cNvPr id="18" name="TextBox 17"/>
          <p:cNvSpPr txBox="1"/>
          <p:nvPr/>
        </p:nvSpPr>
        <p:spPr>
          <a:xfrm>
            <a:off x="868680" y="4599431"/>
            <a:ext cx="4992624" cy="813815"/>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Những người đã duy trì sở thích làm gì khác? Điều gì có thể học mà không ép người khác?</a:t>
            </a:r>
          </a:p>
        </p:txBody>
      </p:sp>
      <p:sp>
        <p:nvSpPr>
          <p:cNvPr id="19" name="Rounded Rectangle 18"/>
          <p:cNvSpPr/>
          <p:nvPr/>
        </p:nvSpPr>
        <p:spPr>
          <a:xfrm>
            <a:off x="6281927" y="3776472"/>
            <a:ext cx="5394960" cy="172821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3951" y="3968496"/>
            <a:ext cx="5010912"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Mục tiêu 04 · KẾT NỐI</a:t>
            </a:r>
          </a:p>
        </p:txBody>
      </p:sp>
      <p:sp>
        <p:nvSpPr>
          <p:cNvPr id="21" name="TextBox 20"/>
          <p:cNvSpPr txBox="1"/>
          <p:nvPr/>
        </p:nvSpPr>
        <p:spPr>
          <a:xfrm>
            <a:off x="6483095" y="4599431"/>
            <a:ext cx="4992624" cy="813815"/>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Cộng đồng giúp hay gây ngại? Khi nào người dùng muốn trao đổi và khi nào muốn ở một mình?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2 — Giả thuyết ban đầu cần được chất vấn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Các giả thuyết giúp đặt câu hỏi; không được xem là sự thật khi chưa có dữ liệu thực địa.</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09</a:t>
            </a:r>
          </a:p>
        </p:txBody>
      </p:sp>
      <p:sp>
        <p:nvSpPr>
          <p:cNvPr id="10" name="Rounded Rectangle 9"/>
          <p:cNvSpPr/>
          <p:nvPr/>
        </p:nvSpPr>
        <p:spPr>
          <a:xfrm>
            <a:off x="667512" y="1819656"/>
            <a:ext cx="5376672"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4992624"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H1 · Không biết bắt đầu</a:t>
            </a:r>
          </a:p>
        </p:txBody>
      </p:sp>
      <p:sp>
        <p:nvSpPr>
          <p:cNvPr id="12" name="TextBox 11"/>
          <p:cNvSpPr txBox="1"/>
          <p:nvPr/>
        </p:nvSpPr>
        <p:spPr>
          <a:xfrm>
            <a:off x="868680" y="2642616"/>
            <a:ext cx="4974336" cy="841247"/>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Nếu một người chưa thử sở thích thì rào cản có thể nằm ở chỉ dẫn và sự tự tin.</a:t>
            </a:r>
          </a:p>
        </p:txBody>
      </p:sp>
      <p:sp>
        <p:nvSpPr>
          <p:cNvPr id="13" name="Rounded Rectangle 12"/>
          <p:cNvSpPr/>
          <p:nvPr/>
        </p:nvSpPr>
        <p:spPr>
          <a:xfrm>
            <a:off x="6272783" y="1819656"/>
            <a:ext cx="5376672"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2011680"/>
            <a:ext cx="4992624"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H2 · Thiếu tính liên tục</a:t>
            </a:r>
          </a:p>
        </p:txBody>
      </p:sp>
      <p:sp>
        <p:nvSpPr>
          <p:cNvPr id="15" name="TextBox 14"/>
          <p:cNvSpPr txBox="1"/>
          <p:nvPr/>
        </p:nvSpPr>
        <p:spPr>
          <a:xfrm>
            <a:off x="6473951" y="2642616"/>
            <a:ext cx="4974336" cy="841247"/>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Nếu đã thích nhưng bỏ dở, lý do có thể do lịch bận và mạng xã hội.</a:t>
            </a:r>
          </a:p>
        </p:txBody>
      </p:sp>
      <p:sp>
        <p:nvSpPr>
          <p:cNvPr id="16" name="Rounded Rectangle 15"/>
          <p:cNvSpPr/>
          <p:nvPr/>
        </p:nvSpPr>
        <p:spPr>
          <a:xfrm>
            <a:off x="667512" y="3767328"/>
            <a:ext cx="5376672"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3959352"/>
            <a:ext cx="4992624"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H3 · Động lực từ người khác</a:t>
            </a:r>
          </a:p>
        </p:txBody>
      </p:sp>
      <p:sp>
        <p:nvSpPr>
          <p:cNvPr id="18" name="TextBox 17"/>
          <p:cNvSpPr txBox="1"/>
          <p:nvPr/>
        </p:nvSpPr>
        <p:spPr>
          <a:xfrm>
            <a:off x="868680" y="4590288"/>
            <a:ext cx="4974336" cy="841247"/>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Bạn đồng hành có thể giúp duy trì, nhưng người mới có thể ngại bị đánh giá.</a:t>
            </a:r>
          </a:p>
        </p:txBody>
      </p:sp>
      <p:sp>
        <p:nvSpPr>
          <p:cNvPr id="19" name="Rounded Rectangle 18"/>
          <p:cNvSpPr/>
          <p:nvPr/>
        </p:nvSpPr>
        <p:spPr>
          <a:xfrm>
            <a:off x="6272783" y="3767328"/>
            <a:ext cx="5376672"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7" y="3959352"/>
            <a:ext cx="4992624"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H4 · Tiến bộ khó nhìn thấy</a:t>
            </a:r>
          </a:p>
        </p:txBody>
      </p:sp>
      <p:sp>
        <p:nvSpPr>
          <p:cNvPr id="21" name="TextBox 20"/>
          <p:cNvSpPr txBox="1"/>
          <p:nvPr/>
        </p:nvSpPr>
        <p:spPr>
          <a:xfrm>
            <a:off x="6473951" y="4590288"/>
            <a:ext cx="4974336" cy="841247"/>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Ghi lại buổi tập và thành tựu có thể khuyến khích quay lại.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3 — Quyết định chia nhóm: không trộn tất cả người tham gia</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chọn hướng C: nghiên cứu CẢ khám phá sở thích mới và duy trì sở thích đã có.</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10</a:t>
            </a:r>
          </a:p>
        </p:txBody>
      </p:sp>
      <p:sp>
        <p:nvSpPr>
          <p:cNvPr id="10" name="Rounded Rectangle 9"/>
          <p:cNvSpPr/>
          <p:nvPr/>
        </p:nvSpPr>
        <p:spPr>
          <a:xfrm>
            <a:off x="658368" y="1828800"/>
            <a:ext cx="3584448" cy="37581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2020824"/>
            <a:ext cx="3200400" cy="530352"/>
          </a:xfrm>
          <a:prstGeom prst="rect">
            <a:avLst/>
          </a:prstGeom>
          <a:noFill/>
        </p:spPr>
        <p:txBody>
          <a:bodyPr wrap="square" lIns="0" tIns="0" rIns="0" bIns="0" anchor="t">
            <a:spAutoFit/>
          </a:bodyPr>
          <a:lstStyle/>
          <a:p>
            <a:pPr algn="l">
              <a:lnSpc>
                <a:spcPts val="1930"/>
              </a:lnSpc>
              <a:spcAft>
                <a:spcPts val="300"/>
              </a:spcAft>
            </a:pPr>
            <a:r>
              <a:rPr sz="1650" b="1" i="0">
                <a:solidFill>
                  <a:srgbClr val="153E35"/>
                </a:solidFill>
                <a:latin typeface="Inter"/>
              </a:rPr>
              <a:t>A · CHƯA BẮT ĐẦU</a:t>
            </a:r>
          </a:p>
        </p:txBody>
      </p:sp>
      <p:sp>
        <p:nvSpPr>
          <p:cNvPr id="12" name="TextBox 11"/>
          <p:cNvSpPr txBox="1"/>
          <p:nvPr/>
        </p:nvSpPr>
        <p:spPr>
          <a:xfrm>
            <a:off x="859536" y="2651760"/>
            <a:ext cx="3182112" cy="2843784"/>
          </a:xfrm>
          <a:prstGeom prst="rect">
            <a:avLst/>
          </a:prstGeom>
          <a:noFill/>
        </p:spPr>
        <p:txBody>
          <a:bodyPr wrap="square" lIns="0" tIns="0" rIns="0" bIns="0" anchor="t">
            <a:spAutoFit/>
          </a:bodyPr>
          <a:lstStyle/>
          <a:p>
            <a:pPr algn="l">
              <a:lnSpc>
                <a:spcPts val="1740"/>
              </a:lnSpc>
              <a:spcAft>
                <a:spcPts val="300"/>
              </a:spcAft>
            </a:pPr>
            <a:r>
              <a:rPr sz="1360" b="0" i="0">
                <a:solidFill>
                  <a:srgbClr val="617D71"/>
                </a:solidFill>
                <a:latin typeface="Inter"/>
              </a:rPr>
              <a:t>Minh (20, nhiếp ảnh)</a:t>
            </a:r>
          </a:p>
          <a:p>
            <a:pPr algn="l">
              <a:lnSpc>
                <a:spcPts val="1740"/>
              </a:lnSpc>
              <a:spcAft>
                <a:spcPts val="300"/>
              </a:spcAft>
            </a:pPr>
            <a:r>
              <a:rPr sz="1360" b="0" i="0">
                <a:solidFill>
                  <a:srgbClr val="617D71"/>
                </a:solidFill>
                <a:latin typeface="Inter"/>
              </a:rPr>
              <a:t>Linh (19, vẽ)</a:t>
            </a:r>
          </a:p>
          <a:p>
            <a:pPr algn="l">
              <a:lnSpc>
                <a:spcPts val="1740"/>
              </a:lnSpc>
              <a:spcAft>
                <a:spcPts val="300"/>
              </a:spcAft>
            </a:pPr>
            <a:r>
              <a:rPr sz="1360" b="0" i="0">
                <a:solidFill>
                  <a:srgbClr val="617D71"/>
                </a:solidFill>
                <a:latin typeface="Inter"/>
              </a:rPr>
              <a:t>Hùng (22, cầu lông)</a:t>
            </a:r>
          </a:p>
          <a:p>
            <a:pPr algn="l">
              <a:lnSpc>
                <a:spcPts val="1740"/>
              </a:lnSpc>
              <a:spcAft>
                <a:spcPts val="300"/>
              </a:spcAft>
            </a:pPr>
            <a:endParaRPr sz="1360" b="0" i="0">
              <a:solidFill>
                <a:srgbClr val="617D71"/>
              </a:solidFill>
              <a:latin typeface="Inter"/>
            </a:endParaRPr>
          </a:p>
          <a:p>
            <a:pPr algn="l">
              <a:lnSpc>
                <a:spcPts val="1740"/>
              </a:lnSpc>
              <a:spcAft>
                <a:spcPts val="300"/>
              </a:spcAft>
            </a:pPr>
            <a:r>
              <a:rPr sz="1360" b="0" i="0">
                <a:solidFill>
                  <a:srgbClr val="617D71"/>
                </a:solidFill>
                <a:latin typeface="Inter"/>
              </a:rPr>
              <a:t>Muốn bắt đầu nhưng gặp trở ngại.</a:t>
            </a:r>
          </a:p>
        </p:txBody>
      </p:sp>
      <p:sp>
        <p:nvSpPr>
          <p:cNvPr id="13" name="Rounded Rectangle 12"/>
          <p:cNvSpPr/>
          <p:nvPr/>
        </p:nvSpPr>
        <p:spPr>
          <a:xfrm>
            <a:off x="4462272" y="1828800"/>
            <a:ext cx="3584448" cy="37581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2020824"/>
            <a:ext cx="3200400" cy="530352"/>
          </a:xfrm>
          <a:prstGeom prst="rect">
            <a:avLst/>
          </a:prstGeom>
          <a:noFill/>
        </p:spPr>
        <p:txBody>
          <a:bodyPr wrap="square" lIns="0" tIns="0" rIns="0" bIns="0" anchor="t">
            <a:spAutoFit/>
          </a:bodyPr>
          <a:lstStyle/>
          <a:p>
            <a:pPr algn="l">
              <a:lnSpc>
                <a:spcPts val="1930"/>
              </a:lnSpc>
              <a:spcAft>
                <a:spcPts val="300"/>
              </a:spcAft>
            </a:pPr>
            <a:r>
              <a:rPr sz="1650" b="1" i="0">
                <a:solidFill>
                  <a:srgbClr val="153E35"/>
                </a:solidFill>
                <a:latin typeface="Inter"/>
              </a:rPr>
              <a:t>B · ĐÃ CÓ / GIÁN ĐOẠN</a:t>
            </a:r>
          </a:p>
        </p:txBody>
      </p:sp>
      <p:sp>
        <p:nvSpPr>
          <p:cNvPr id="15" name="TextBox 14"/>
          <p:cNvSpPr txBox="1"/>
          <p:nvPr/>
        </p:nvSpPr>
        <p:spPr>
          <a:xfrm>
            <a:off x="4663440" y="2651760"/>
            <a:ext cx="3182112" cy="2843784"/>
          </a:xfrm>
          <a:prstGeom prst="rect">
            <a:avLst/>
          </a:prstGeom>
          <a:noFill/>
        </p:spPr>
        <p:txBody>
          <a:bodyPr wrap="square" lIns="0" tIns="0" rIns="0" bIns="0" anchor="t">
            <a:spAutoFit/>
          </a:bodyPr>
          <a:lstStyle/>
          <a:p>
            <a:pPr algn="l">
              <a:lnSpc>
                <a:spcPts val="1740"/>
              </a:lnSpc>
              <a:spcAft>
                <a:spcPts val="300"/>
              </a:spcAft>
            </a:pPr>
            <a:r>
              <a:rPr sz="1360" b="0" i="0">
                <a:solidFill>
                  <a:srgbClr val="617D71"/>
                </a:solidFill>
                <a:latin typeface="Inter"/>
              </a:rPr>
              <a:t>Khoa (21, guitar)</a:t>
            </a:r>
          </a:p>
          <a:p>
            <a:pPr algn="l">
              <a:lnSpc>
                <a:spcPts val="1740"/>
              </a:lnSpc>
              <a:spcAft>
                <a:spcPts val="300"/>
              </a:spcAft>
            </a:pPr>
            <a:r>
              <a:rPr sz="1360" b="0" i="0">
                <a:solidFill>
                  <a:srgbClr val="617D71"/>
                </a:solidFill>
                <a:latin typeface="Inter"/>
              </a:rPr>
              <a:t>Vũ (20, ảnh và đọc sách)</a:t>
            </a:r>
          </a:p>
          <a:p>
            <a:pPr algn="l">
              <a:lnSpc>
                <a:spcPts val="1740"/>
              </a:lnSpc>
              <a:spcAft>
                <a:spcPts val="300"/>
              </a:spcAft>
            </a:pPr>
            <a:r>
              <a:rPr sz="1360" b="0" i="0">
                <a:solidFill>
                  <a:srgbClr val="617D71"/>
                </a:solidFill>
                <a:latin typeface="Inter"/>
              </a:rPr>
              <a:t>Sang (23, nấu ăn)</a:t>
            </a:r>
          </a:p>
          <a:p>
            <a:pPr algn="l">
              <a:lnSpc>
                <a:spcPts val="1740"/>
              </a:lnSpc>
              <a:spcAft>
                <a:spcPts val="300"/>
              </a:spcAft>
            </a:pPr>
            <a:endParaRPr sz="1360" b="0" i="0">
              <a:solidFill>
                <a:srgbClr val="617D71"/>
              </a:solidFill>
              <a:latin typeface="Inter"/>
            </a:endParaRPr>
          </a:p>
          <a:p>
            <a:pPr algn="l">
              <a:lnSpc>
                <a:spcPts val="1740"/>
              </a:lnSpc>
              <a:spcAft>
                <a:spcPts val="300"/>
              </a:spcAft>
            </a:pPr>
            <a:r>
              <a:rPr sz="1360" b="0" i="0">
                <a:solidFill>
                  <a:srgbClr val="617D71"/>
                </a:solidFill>
                <a:latin typeface="Inter"/>
              </a:rPr>
              <a:t>Muốn duy trì nhưng dễ bỏ lỡ.</a:t>
            </a:r>
          </a:p>
        </p:txBody>
      </p:sp>
      <p:sp>
        <p:nvSpPr>
          <p:cNvPr id="16" name="Rounded Rectangle 15"/>
          <p:cNvSpPr/>
          <p:nvPr/>
        </p:nvSpPr>
        <p:spPr>
          <a:xfrm>
            <a:off x="8266176" y="1828800"/>
            <a:ext cx="3584448" cy="37581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58200" y="2020824"/>
            <a:ext cx="3200400" cy="530352"/>
          </a:xfrm>
          <a:prstGeom prst="rect">
            <a:avLst/>
          </a:prstGeom>
          <a:noFill/>
        </p:spPr>
        <p:txBody>
          <a:bodyPr wrap="square" lIns="0" tIns="0" rIns="0" bIns="0" anchor="t">
            <a:spAutoFit/>
          </a:bodyPr>
          <a:lstStyle/>
          <a:p>
            <a:pPr algn="l">
              <a:lnSpc>
                <a:spcPts val="1930"/>
              </a:lnSpc>
              <a:spcAft>
                <a:spcPts val="300"/>
              </a:spcAft>
            </a:pPr>
            <a:r>
              <a:rPr sz="1650" b="1" i="0">
                <a:solidFill>
                  <a:srgbClr val="153E35"/>
                </a:solidFill>
                <a:latin typeface="Inter"/>
              </a:rPr>
              <a:t>C · DUY TRÌ ĐƯỢC</a:t>
            </a:r>
          </a:p>
        </p:txBody>
      </p:sp>
      <p:sp>
        <p:nvSpPr>
          <p:cNvPr id="18" name="TextBox 17"/>
          <p:cNvSpPr txBox="1"/>
          <p:nvPr/>
        </p:nvSpPr>
        <p:spPr>
          <a:xfrm>
            <a:off x="8467344" y="2651760"/>
            <a:ext cx="3182112" cy="2843784"/>
          </a:xfrm>
          <a:prstGeom prst="rect">
            <a:avLst/>
          </a:prstGeom>
          <a:noFill/>
        </p:spPr>
        <p:txBody>
          <a:bodyPr wrap="square" lIns="0" tIns="0" rIns="0" bIns="0" anchor="t">
            <a:spAutoFit/>
          </a:bodyPr>
          <a:lstStyle/>
          <a:p>
            <a:pPr algn="l">
              <a:lnSpc>
                <a:spcPts val="1740"/>
              </a:lnSpc>
              <a:spcAft>
                <a:spcPts val="300"/>
              </a:spcAft>
            </a:pPr>
            <a:r>
              <a:rPr sz="1360" b="0" i="0">
                <a:solidFill>
                  <a:srgbClr val="617D71"/>
                </a:solidFill>
                <a:latin typeface="Inter"/>
              </a:rPr>
              <a:t>Dũng (22, chạy bộ)</a:t>
            </a:r>
          </a:p>
          <a:p>
            <a:pPr algn="l">
              <a:lnSpc>
                <a:spcPts val="1740"/>
              </a:lnSpc>
              <a:spcAft>
                <a:spcPts val="300"/>
              </a:spcAft>
            </a:pPr>
            <a:r>
              <a:rPr sz="1360" b="0" i="0">
                <a:solidFill>
                  <a:srgbClr val="617D71"/>
                </a:solidFill>
                <a:latin typeface="Inter"/>
              </a:rPr>
              <a:t>Long (24, guitar / ảnh)</a:t>
            </a:r>
          </a:p>
          <a:p>
            <a:pPr algn="l">
              <a:lnSpc>
                <a:spcPts val="1740"/>
              </a:lnSpc>
              <a:spcAft>
                <a:spcPts val="300"/>
              </a:spcAft>
            </a:pPr>
            <a:r>
              <a:rPr sz="1360" b="0" i="0">
                <a:solidFill>
                  <a:srgbClr val="617D71"/>
                </a:solidFill>
                <a:latin typeface="Inter"/>
              </a:rPr>
              <a:t>Quang (21, cầu lông)</a:t>
            </a:r>
          </a:p>
          <a:p>
            <a:pPr algn="l">
              <a:lnSpc>
                <a:spcPts val="1740"/>
              </a:lnSpc>
              <a:spcAft>
                <a:spcPts val="300"/>
              </a:spcAft>
            </a:pPr>
            <a:endParaRPr sz="1360" b="0" i="0">
              <a:solidFill>
                <a:srgbClr val="617D71"/>
              </a:solidFill>
              <a:latin typeface="Inter"/>
            </a:endParaRPr>
          </a:p>
          <a:p>
            <a:pPr algn="l">
              <a:lnSpc>
                <a:spcPts val="1740"/>
              </a:lnSpc>
              <a:spcAft>
                <a:spcPts val="300"/>
              </a:spcAft>
            </a:pPr>
            <a:r>
              <a:rPr sz="1360" b="0" i="0">
                <a:solidFill>
                  <a:srgbClr val="617D71"/>
                </a:solidFill>
                <a:latin typeface="Inter"/>
              </a:rPr>
              <a:t>Tìm hành vi hỗ trợ thói quen.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4 — Bạn chọn cách tạo tình huống: AI vào vai 9 người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Thiết kế nghiên cứu dạng role-play vì muốn khám phá kịch bản trước khi thiết kế UI.</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11</a:t>
            </a:r>
          </a:p>
        </p:txBody>
      </p:sp>
      <p:sp>
        <p:nvSpPr>
          <p:cNvPr id="10" name="Rounded Rectangle 9"/>
          <p:cNvSpPr/>
          <p:nvPr/>
        </p:nvSpPr>
        <p:spPr>
          <a:xfrm>
            <a:off x="658368" y="1819656"/>
            <a:ext cx="5285232" cy="1517904"/>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3" y="1947672"/>
            <a:ext cx="491947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YÊU CẦU TRONG CHAT</a:t>
            </a:r>
          </a:p>
        </p:txBody>
      </p:sp>
      <p:sp>
        <p:nvSpPr>
          <p:cNvPr id="12" name="TextBox 11"/>
          <p:cNvSpPr txBox="1"/>
          <p:nvPr/>
        </p:nvSpPr>
        <p:spPr>
          <a:xfrm>
            <a:off x="832103" y="2267712"/>
            <a:ext cx="4946904" cy="923543"/>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“i want you to be all nine participants”</a:t>
            </a:r>
          </a:p>
        </p:txBody>
      </p:sp>
      <p:sp>
        <p:nvSpPr>
          <p:cNvPr id="13" name="Rounded Rectangle 12"/>
          <p:cNvSpPr/>
          <p:nvPr/>
        </p:nvSpPr>
        <p:spPr>
          <a:xfrm>
            <a:off x="6181344" y="1819656"/>
            <a:ext cx="5330952" cy="15179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947672"/>
            <a:ext cx="496519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PHẢN HỒI</a:t>
            </a:r>
          </a:p>
        </p:txBody>
      </p:sp>
      <p:sp>
        <p:nvSpPr>
          <p:cNvPr id="15" name="TextBox 14"/>
          <p:cNvSpPr txBox="1"/>
          <p:nvPr/>
        </p:nvSpPr>
        <p:spPr>
          <a:xfrm>
            <a:off x="6355080" y="2267712"/>
            <a:ext cx="4992624" cy="923543"/>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Xây dựng 9 kịch bản người dùng: mỗi vai có hoàn cảnh, hobby, mức tự tin, thói quen và trở ngại khác nhau. Phỏng vấn cùng bộ hỏi để so sánh.</a:t>
            </a:r>
          </a:p>
        </p:txBody>
      </p:sp>
      <p:sp>
        <p:nvSpPr>
          <p:cNvPr id="16" name="Rounded Rectangle 15"/>
          <p:cNvSpPr/>
          <p:nvPr/>
        </p:nvSpPr>
        <p:spPr>
          <a:xfrm>
            <a:off x="667512" y="3721608"/>
            <a:ext cx="10835640" cy="1399032"/>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3913632"/>
            <a:ext cx="1046988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CÁCH TỔ CHỨC</a:t>
            </a:r>
          </a:p>
        </p:txBody>
      </p:sp>
      <p:sp>
        <p:nvSpPr>
          <p:cNvPr id="18" name="TextBox 17"/>
          <p:cNvSpPr txBox="1"/>
          <p:nvPr/>
        </p:nvSpPr>
        <p:spPr>
          <a:xfrm>
            <a:off x="859536" y="4297680"/>
            <a:ext cx="10451592"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Phương pháp: phỏng vấn giả lập bằng câu hỏi mở</a:t>
            </a:r>
          </a:p>
        </p:txBody>
      </p:sp>
      <p:sp>
        <p:nvSpPr>
          <p:cNvPr id="19" name="TextBox 18"/>
          <p:cNvSpPr txBox="1"/>
          <p:nvPr/>
        </p:nvSpPr>
        <p:spPr>
          <a:xfrm>
            <a:off x="868680" y="4928616"/>
            <a:ext cx="10433304" cy="100584"/>
          </a:xfrm>
          <a:prstGeom prst="rect">
            <a:avLst/>
          </a:prstGeom>
          <a:noFill/>
        </p:spPr>
        <p:txBody>
          <a:bodyPr wrap="square" lIns="0" tIns="0" rIns="0" bIns="0" anchor="t">
            <a:spAutoFit/>
          </a:bodyPr>
          <a:lstStyle/>
          <a:p>
            <a:pPr algn="l">
              <a:lnSpc>
                <a:spcPts val="1728"/>
              </a:lnSpc>
              <a:spcAft>
                <a:spcPts val="300"/>
              </a:spcAft>
            </a:pPr>
            <a:r>
              <a:rPr sz="1350" b="0" i="0">
                <a:solidFill>
                  <a:srgbClr val="617D71"/>
                </a:solidFill>
                <a:latin typeface="Inter"/>
              </a:rPr>
              <a:t>09 câu hỏi chung × 09 vai + 03 câu đào sâu riêng cho từng nhóm. Dữ liệu phù hợp khám phá kịch bản; không đại diện cho tỷ lệ hay hành vi của sinh viên thực.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Bộ câu hỏi chung 01–05</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Bộ câu hỏi mở dùng chung cho chín vai. Để nguyên câu chữ của kịch bản tiếng Anh.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12</a:t>
            </a:r>
          </a:p>
        </p:txBody>
      </p:sp>
      <p:sp>
        <p:nvSpPr>
          <p:cNvPr id="10" name="Rounded Rectangle 9"/>
          <p:cNvSpPr/>
          <p:nvPr/>
        </p:nvSpPr>
        <p:spPr>
          <a:xfrm>
            <a:off x="676656" y="1828800"/>
            <a:ext cx="10789920" cy="7223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50392" y="1993392"/>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103120"/>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1</a:t>
            </a:r>
          </a:p>
        </p:txBody>
      </p:sp>
      <p:sp>
        <p:nvSpPr>
          <p:cNvPr id="13" name="TextBox 12"/>
          <p:cNvSpPr txBox="1"/>
          <p:nvPr/>
        </p:nvSpPr>
        <p:spPr>
          <a:xfrm>
            <a:off x="1463040" y="1965960"/>
            <a:ext cx="9619488" cy="530352"/>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Can you walk me through how you usually spend your free time after university?</a:t>
            </a:r>
          </a:p>
        </p:txBody>
      </p:sp>
      <p:sp>
        <p:nvSpPr>
          <p:cNvPr id="14" name="Rounded Rectangle 13"/>
          <p:cNvSpPr/>
          <p:nvPr/>
        </p:nvSpPr>
        <p:spPr>
          <a:xfrm>
            <a:off x="676656" y="2660904"/>
            <a:ext cx="10789920" cy="7223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0392" y="2825496"/>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2935224"/>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2</a:t>
            </a:r>
          </a:p>
        </p:txBody>
      </p:sp>
      <p:sp>
        <p:nvSpPr>
          <p:cNvPr id="17" name="TextBox 16"/>
          <p:cNvSpPr txBox="1"/>
          <p:nvPr/>
        </p:nvSpPr>
        <p:spPr>
          <a:xfrm>
            <a:off x="1463040" y="2798064"/>
            <a:ext cx="9619488" cy="530352"/>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Tell me about your current hobbies or an activity you’ve wanted to try.</a:t>
            </a:r>
          </a:p>
        </p:txBody>
      </p:sp>
      <p:sp>
        <p:nvSpPr>
          <p:cNvPr id="18" name="Rounded Rectangle 17"/>
          <p:cNvSpPr/>
          <p:nvPr/>
        </p:nvSpPr>
        <p:spPr>
          <a:xfrm>
            <a:off x="676656" y="3493008"/>
            <a:ext cx="10789920" cy="7223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50392" y="3657600"/>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3767328"/>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3</a:t>
            </a:r>
          </a:p>
        </p:txBody>
      </p:sp>
      <p:sp>
        <p:nvSpPr>
          <p:cNvPr id="21" name="TextBox 20"/>
          <p:cNvSpPr txBox="1"/>
          <p:nvPr/>
        </p:nvSpPr>
        <p:spPr>
          <a:xfrm>
            <a:off x="1463040" y="3630168"/>
            <a:ext cx="9619488" cy="530352"/>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How did you first become interested in that activity?</a:t>
            </a:r>
          </a:p>
        </p:txBody>
      </p:sp>
      <p:sp>
        <p:nvSpPr>
          <p:cNvPr id="22" name="Rounded Rectangle 21"/>
          <p:cNvSpPr/>
          <p:nvPr/>
        </p:nvSpPr>
        <p:spPr>
          <a:xfrm>
            <a:off x="676656" y="4325112"/>
            <a:ext cx="10789920" cy="7223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0392" y="4489704"/>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599432"/>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4</a:t>
            </a:r>
          </a:p>
        </p:txBody>
      </p:sp>
      <p:sp>
        <p:nvSpPr>
          <p:cNvPr id="25" name="TextBox 24"/>
          <p:cNvSpPr txBox="1"/>
          <p:nvPr/>
        </p:nvSpPr>
        <p:spPr>
          <a:xfrm>
            <a:off x="1463040" y="4462272"/>
            <a:ext cx="9619488" cy="530352"/>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Tell me about the last time you planned to do a hobby-related activity. What happened?</a:t>
            </a:r>
          </a:p>
        </p:txBody>
      </p:sp>
      <p:sp>
        <p:nvSpPr>
          <p:cNvPr id="26" name="Rounded Rectangle 25"/>
          <p:cNvSpPr/>
          <p:nvPr/>
        </p:nvSpPr>
        <p:spPr>
          <a:xfrm>
            <a:off x="676656" y="5157216"/>
            <a:ext cx="10789920" cy="722376"/>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0392" y="5321808"/>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5431536"/>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5</a:t>
            </a:r>
          </a:p>
        </p:txBody>
      </p:sp>
      <p:sp>
        <p:nvSpPr>
          <p:cNvPr id="29" name="TextBox 28"/>
          <p:cNvSpPr txBox="1"/>
          <p:nvPr/>
        </p:nvSpPr>
        <p:spPr>
          <a:xfrm>
            <a:off x="1463040" y="5294376"/>
            <a:ext cx="9619488" cy="530352"/>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What makes it difficult or easy for you to start or continue a hobby?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Bộ câu hỏi chung 06–09</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Bộ câu hỏi mở dùng chung cho chín vai. Để nguyên câu chữ của kịch bản tiếng Anh.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13</a:t>
            </a:r>
          </a:p>
        </p:txBody>
      </p:sp>
      <p:sp>
        <p:nvSpPr>
          <p:cNvPr id="10" name="Rounded Rectangle 9"/>
          <p:cNvSpPr/>
          <p:nvPr/>
        </p:nvSpPr>
        <p:spPr>
          <a:xfrm>
            <a:off x="676656" y="1828800"/>
            <a:ext cx="10789920" cy="87782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50392" y="1993392"/>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103120"/>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6</a:t>
            </a:r>
          </a:p>
        </p:txBody>
      </p:sp>
      <p:sp>
        <p:nvSpPr>
          <p:cNvPr id="13" name="TextBox 12"/>
          <p:cNvSpPr txBox="1"/>
          <p:nvPr/>
        </p:nvSpPr>
        <p:spPr>
          <a:xfrm>
            <a:off x="1463040" y="1965960"/>
            <a:ext cx="9619488" cy="694944"/>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What role do social media and short-form videos play in your free time?</a:t>
            </a:r>
          </a:p>
        </p:txBody>
      </p:sp>
      <p:sp>
        <p:nvSpPr>
          <p:cNvPr id="14" name="Rounded Rectangle 13"/>
          <p:cNvSpPr/>
          <p:nvPr/>
        </p:nvSpPr>
        <p:spPr>
          <a:xfrm>
            <a:off x="676656" y="2834640"/>
            <a:ext cx="10789920" cy="87782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0392" y="2999232"/>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3108960"/>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7</a:t>
            </a:r>
          </a:p>
        </p:txBody>
      </p:sp>
      <p:sp>
        <p:nvSpPr>
          <p:cNvPr id="17" name="TextBox 16"/>
          <p:cNvSpPr txBox="1"/>
          <p:nvPr/>
        </p:nvSpPr>
        <p:spPr>
          <a:xfrm>
            <a:off x="1463040" y="2971800"/>
            <a:ext cx="9619488" cy="694944"/>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How do you recognize your progress or achievements in a hobby?</a:t>
            </a:r>
          </a:p>
        </p:txBody>
      </p:sp>
      <p:sp>
        <p:nvSpPr>
          <p:cNvPr id="18" name="Rounded Rectangle 17"/>
          <p:cNvSpPr/>
          <p:nvPr/>
        </p:nvSpPr>
        <p:spPr>
          <a:xfrm>
            <a:off x="676656" y="3840480"/>
            <a:ext cx="10789920" cy="87782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50392" y="4005072"/>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4114800"/>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8</a:t>
            </a:r>
          </a:p>
        </p:txBody>
      </p:sp>
      <p:sp>
        <p:nvSpPr>
          <p:cNvPr id="21" name="TextBox 20"/>
          <p:cNvSpPr txBox="1"/>
          <p:nvPr/>
        </p:nvSpPr>
        <p:spPr>
          <a:xfrm>
            <a:off x="1463040" y="3977640"/>
            <a:ext cx="9619488" cy="694944"/>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Have other people or communities influenced your hobbies? How?</a:t>
            </a:r>
          </a:p>
        </p:txBody>
      </p:sp>
      <p:sp>
        <p:nvSpPr>
          <p:cNvPr id="22" name="Rounded Rectangle 21"/>
          <p:cNvSpPr/>
          <p:nvPr/>
        </p:nvSpPr>
        <p:spPr>
          <a:xfrm>
            <a:off x="676656" y="4846320"/>
            <a:ext cx="10789920" cy="87782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0392" y="5010912"/>
            <a:ext cx="374904" cy="374904"/>
          </a:xfrm>
          <a:prstGeom prst="ellipse">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5120640"/>
            <a:ext cx="201168" cy="146304"/>
          </a:xfrm>
          <a:prstGeom prst="rect">
            <a:avLst/>
          </a:prstGeom>
          <a:noFill/>
        </p:spPr>
        <p:txBody>
          <a:bodyPr wrap="square" lIns="0" tIns="0" rIns="0" bIns="0" anchor="t">
            <a:spAutoFit/>
          </a:bodyPr>
          <a:lstStyle/>
          <a:p>
            <a:pPr algn="ctr">
              <a:lnSpc>
                <a:spcPts val="1170"/>
              </a:lnSpc>
              <a:spcAft>
                <a:spcPts val="300"/>
              </a:spcAft>
            </a:pPr>
            <a:r>
              <a:rPr sz="1000" b="1" i="0">
                <a:solidFill>
                  <a:srgbClr val="FFFFFF"/>
                </a:solidFill>
                <a:latin typeface="Inter"/>
              </a:rPr>
              <a:t>9</a:t>
            </a:r>
          </a:p>
        </p:txBody>
      </p:sp>
      <p:sp>
        <p:nvSpPr>
          <p:cNvPr id="25" name="TextBox 24"/>
          <p:cNvSpPr txBox="1"/>
          <p:nvPr/>
        </p:nvSpPr>
        <p:spPr>
          <a:xfrm>
            <a:off x="1463040" y="4983480"/>
            <a:ext cx="9619488" cy="694944"/>
          </a:xfrm>
          <a:prstGeom prst="rect">
            <a:avLst/>
          </a:prstGeom>
          <a:noFill/>
        </p:spPr>
        <p:txBody>
          <a:bodyPr wrap="square" lIns="0" tIns="0" rIns="0" bIns="0" anchor="t">
            <a:spAutoFit/>
          </a:bodyPr>
          <a:lstStyle/>
          <a:p>
            <a:pPr algn="l">
              <a:lnSpc>
                <a:spcPts val="1649"/>
              </a:lnSpc>
              <a:spcAft>
                <a:spcPts val="300"/>
              </a:spcAft>
            </a:pPr>
            <a:r>
              <a:rPr sz="1410" b="0" i="0">
                <a:solidFill>
                  <a:srgbClr val="153E35"/>
                </a:solidFill>
                <a:latin typeface="Inter"/>
              </a:rPr>
              <a:t>How do you feel about trying a new hobby that involves meeting or interacting with unfamiliar people?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Câu hỏi riêng: cùng câu hỏi gốc nhưng mỗi nhóm được đào sâu khác nhau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Lý do: “không bắt đầu được” và “bỏ dở” không phải cùng một kiểu vấn đề.</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14</a:t>
            </a:r>
          </a:p>
        </p:txBody>
      </p:sp>
      <p:sp>
        <p:nvSpPr>
          <p:cNvPr id="10" name="Rounded Rectangle 9"/>
          <p:cNvSpPr/>
          <p:nvPr/>
        </p:nvSpPr>
        <p:spPr>
          <a:xfrm>
            <a:off x="667512" y="1819656"/>
            <a:ext cx="3584448" cy="400507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11680"/>
            <a:ext cx="3200400" cy="530352"/>
          </a:xfrm>
          <a:prstGeom prst="rect">
            <a:avLst/>
          </a:prstGeom>
          <a:noFill/>
        </p:spPr>
        <p:txBody>
          <a:bodyPr wrap="square" lIns="0" tIns="0" rIns="0" bIns="0" anchor="t">
            <a:spAutoFit/>
          </a:bodyPr>
          <a:lstStyle/>
          <a:p>
            <a:pPr algn="l">
              <a:lnSpc>
                <a:spcPts val="1801"/>
              </a:lnSpc>
              <a:spcAft>
                <a:spcPts val="300"/>
              </a:spcAft>
            </a:pPr>
            <a:r>
              <a:rPr sz="1540" b="1" i="0">
                <a:solidFill>
                  <a:srgbClr val="153E35"/>
                </a:solidFill>
                <a:latin typeface="Inter"/>
              </a:rPr>
              <a:t>A — CHƯA BẮT ĐẦU</a:t>
            </a:r>
          </a:p>
        </p:txBody>
      </p:sp>
      <p:sp>
        <p:nvSpPr>
          <p:cNvPr id="12" name="TextBox 11"/>
          <p:cNvSpPr txBox="1"/>
          <p:nvPr/>
        </p:nvSpPr>
        <p:spPr>
          <a:xfrm>
            <a:off x="868680" y="2642616"/>
            <a:ext cx="3182112" cy="3090672"/>
          </a:xfrm>
          <a:prstGeom prst="rect">
            <a:avLst/>
          </a:prstGeom>
          <a:noFill/>
        </p:spPr>
        <p:txBody>
          <a:bodyPr wrap="square" lIns="0" tIns="0" rIns="0" bIns="0" anchor="t">
            <a:spAutoFit/>
          </a:bodyPr>
          <a:lstStyle/>
          <a:p>
            <a:pPr algn="l">
              <a:lnSpc>
                <a:spcPts val="1702"/>
              </a:lnSpc>
              <a:spcAft>
                <a:spcPts val="300"/>
              </a:spcAft>
            </a:pPr>
            <a:r>
              <a:rPr sz="1330" b="0" i="0">
                <a:solidFill>
                  <a:srgbClr val="617D71"/>
                </a:solidFill>
                <a:latin typeface="Inter"/>
              </a:rPr>
              <a:t>F1. Muốn thử hoạt động nào nhưng chưa thử?</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F2. Điều gì ngăn cản bước đầu tiên?</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F3. Ngại giao tiếp / bị đánh giá khi tham gia cộng đồng không?</a:t>
            </a:r>
          </a:p>
        </p:txBody>
      </p:sp>
      <p:sp>
        <p:nvSpPr>
          <p:cNvPr id="13" name="Rounded Rectangle 12"/>
          <p:cNvSpPr/>
          <p:nvPr/>
        </p:nvSpPr>
        <p:spPr>
          <a:xfrm>
            <a:off x="4462272" y="1819656"/>
            <a:ext cx="3584448" cy="400507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2011680"/>
            <a:ext cx="3200400" cy="530352"/>
          </a:xfrm>
          <a:prstGeom prst="rect">
            <a:avLst/>
          </a:prstGeom>
          <a:noFill/>
        </p:spPr>
        <p:txBody>
          <a:bodyPr wrap="square" lIns="0" tIns="0" rIns="0" bIns="0" anchor="t">
            <a:spAutoFit/>
          </a:bodyPr>
          <a:lstStyle/>
          <a:p>
            <a:pPr algn="l">
              <a:lnSpc>
                <a:spcPts val="1801"/>
              </a:lnSpc>
              <a:spcAft>
                <a:spcPts val="300"/>
              </a:spcAft>
            </a:pPr>
            <a:r>
              <a:rPr sz="1540" b="1" i="0">
                <a:solidFill>
                  <a:srgbClr val="153E35"/>
                </a:solidFill>
                <a:latin typeface="Inter"/>
              </a:rPr>
              <a:t>B — GIÁN ĐOẠN</a:t>
            </a:r>
          </a:p>
        </p:txBody>
      </p:sp>
      <p:sp>
        <p:nvSpPr>
          <p:cNvPr id="15" name="TextBox 14"/>
          <p:cNvSpPr txBox="1"/>
          <p:nvPr/>
        </p:nvSpPr>
        <p:spPr>
          <a:xfrm>
            <a:off x="4663440" y="2642616"/>
            <a:ext cx="3182112" cy="3090672"/>
          </a:xfrm>
          <a:prstGeom prst="rect">
            <a:avLst/>
          </a:prstGeom>
          <a:noFill/>
        </p:spPr>
        <p:txBody>
          <a:bodyPr wrap="square" lIns="0" tIns="0" rIns="0" bIns="0" anchor="t">
            <a:spAutoFit/>
          </a:bodyPr>
          <a:lstStyle/>
          <a:p>
            <a:pPr algn="l">
              <a:lnSpc>
                <a:spcPts val="1702"/>
              </a:lnSpc>
              <a:spcAft>
                <a:spcPts val="300"/>
              </a:spcAft>
            </a:pPr>
            <a:r>
              <a:rPr sz="1330" b="0" i="0">
                <a:solidFill>
                  <a:srgbClr val="617D71"/>
                </a:solidFill>
                <a:latin typeface="Inter"/>
              </a:rPr>
              <a:t>F1. Lần gần nhất bạn dừng hoạt động là khi nào?</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F2. Học tập / công việc / mạng xã hội tác động ra sao?</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F3. Đã thử nhắc nhở, lập lịch hay mẹo gì chưa?</a:t>
            </a:r>
          </a:p>
        </p:txBody>
      </p:sp>
      <p:sp>
        <p:nvSpPr>
          <p:cNvPr id="16" name="Rounded Rectangle 15"/>
          <p:cNvSpPr/>
          <p:nvPr/>
        </p:nvSpPr>
        <p:spPr>
          <a:xfrm>
            <a:off x="8257032" y="1819656"/>
            <a:ext cx="3584448" cy="400507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49056" y="2011680"/>
            <a:ext cx="3200400" cy="530352"/>
          </a:xfrm>
          <a:prstGeom prst="rect">
            <a:avLst/>
          </a:prstGeom>
          <a:noFill/>
        </p:spPr>
        <p:txBody>
          <a:bodyPr wrap="square" lIns="0" tIns="0" rIns="0" bIns="0" anchor="t">
            <a:spAutoFit/>
          </a:bodyPr>
          <a:lstStyle/>
          <a:p>
            <a:pPr algn="l">
              <a:lnSpc>
                <a:spcPts val="1801"/>
              </a:lnSpc>
              <a:spcAft>
                <a:spcPts val="300"/>
              </a:spcAft>
            </a:pPr>
            <a:r>
              <a:rPr sz="1540" b="1" i="0">
                <a:solidFill>
                  <a:srgbClr val="153E35"/>
                </a:solidFill>
                <a:latin typeface="Inter"/>
              </a:rPr>
              <a:t>C — DUY TRÌ</a:t>
            </a:r>
          </a:p>
        </p:txBody>
      </p:sp>
      <p:sp>
        <p:nvSpPr>
          <p:cNvPr id="18" name="TextBox 17"/>
          <p:cNvSpPr txBox="1"/>
          <p:nvPr/>
        </p:nvSpPr>
        <p:spPr>
          <a:xfrm>
            <a:off x="8458200" y="2642616"/>
            <a:ext cx="3182112" cy="3090672"/>
          </a:xfrm>
          <a:prstGeom prst="rect">
            <a:avLst/>
          </a:prstGeom>
          <a:noFill/>
        </p:spPr>
        <p:txBody>
          <a:bodyPr wrap="square" lIns="0" tIns="0" rIns="0" bIns="0" anchor="t">
            <a:spAutoFit/>
          </a:bodyPr>
          <a:lstStyle/>
          <a:p>
            <a:pPr algn="l">
              <a:lnSpc>
                <a:spcPts val="1702"/>
              </a:lnSpc>
              <a:spcAft>
                <a:spcPts val="300"/>
              </a:spcAft>
            </a:pPr>
            <a:r>
              <a:rPr sz="1330" b="0" i="0">
                <a:solidFill>
                  <a:srgbClr val="617D71"/>
                </a:solidFill>
                <a:latin typeface="Inter"/>
              </a:rPr>
              <a:t>F1. Thói quen hiện tại hình thành thế nào?</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F2. Những ngày bận, làm sao tiếp tục?</a:t>
            </a:r>
          </a:p>
          <a:p>
            <a:pPr algn="l">
              <a:lnSpc>
                <a:spcPts val="1702"/>
              </a:lnSpc>
              <a:spcAft>
                <a:spcPts val="300"/>
              </a:spcAft>
            </a:pPr>
            <a:endParaRPr sz="1330" b="0" i="0">
              <a:solidFill>
                <a:srgbClr val="617D71"/>
              </a:solidFill>
              <a:latin typeface="Inter"/>
            </a:endParaRPr>
          </a:p>
          <a:p>
            <a:pPr algn="l">
              <a:lnSpc>
                <a:spcPts val="1702"/>
              </a:lnSpc>
              <a:spcAft>
                <a:spcPts val="300"/>
              </a:spcAft>
            </a:pPr>
            <a:r>
              <a:rPr sz="1330" b="0" i="0">
                <a:solidFill>
                  <a:srgbClr val="617D71"/>
                </a:solidFill>
                <a:latin typeface="Inter"/>
              </a:rPr>
              <a:t>F3. Bạn bè hoặc cộng đồng duy trì động lực thế nào?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Minh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A • 20 tuổi · nhiếp ảnh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15</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TikTok, bài tập</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Muốn thử chụp ảnh ở trường</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Ảnh trên Instagram</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Đã lưu tutorial, chưa chụp</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Không biết bước đầu</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10 phút xem thành 2 giờ</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Muốn thấy ảnh trước và sau</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Nhóm có vẻ toàn người giỏi</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Lo khi gặp người lạ</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A</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Muốn chụp ảnh lâu rồi  •  Không rõ cách học và thiết bị  •  Sợ lộ mình chưa biết gì</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Linh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A • 19 tuổi · vẽ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16</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Video, nhạc, bạn bè</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Vẽ / digital illustration</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cùng lớp đăng tranh</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Định vẽ Chủ nhật rồi hoãn</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Sợ so sánh với người khác</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Video truyền cảm hứng nhưng chiếm giờ</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So tranh cũ và tranh mới</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Ngại chia sẻ với bạn</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Thích tự tập một mình</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A</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Muốn vẽ từ học kỳ trước  •  Suy nghĩ quá nhiều về kỹ năng  •  Ngại bị nhận xét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Hùng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A • 22 tuổi · cầu lông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17</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Game, video thể thao</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Muốn chơi cầu lông</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Xem sinh viên chơi trên sân</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Bỏ lỡ cơ hội tham gia</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Thiếu bạn ngang trình độ</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Mạng xã hội không là chính</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Đánh được cả trận</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Chưa quen nhóm chơi</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Muốn nhóm người mới</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A</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Quan tâm từ đầu năm  •  Khó tìm bạn cùng trình  •  Ngại người quá giỏi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Khoa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B • 21 tuổi · guitar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18</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Học, game, TikTok</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Guitar</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cùng phòng</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Xem video thay vì tập</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Tiến bộ quá chậm</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TikTok dễ gây xao nhãng</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Chơi được bài mới</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cùng phòng động viên</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Ngại đàn trước đông người</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B</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Bỏ tập vào mùa thi  •  Áp lực, xem video dễ hơn  •  Đã tắt nhiều lần nhắc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Vũ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B • 20 tuổi · ảnh / sách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19</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Bài tập, YouTube, bạn bè</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Ảnh và đọc sách</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Chuyến đi đại học</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Deadline thay buổi đi chụp</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Lịch học khó đoán</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Video đôi lúc quá đà</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So ảnh trước và sau</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rủ đi event</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Ưa nhóm nhỏ</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B</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Bỏ dở mùa làm project  •  Ưu tiên deadline  •  Đã thử calendar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Sang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B • 23 tuổi · nấu ăn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20</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Đi làm thêm sau giờ học</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Nấu ăn</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Nấu cùng gia đình</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Ca làm bất ngờ đổi</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Mệt sau học và làm</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Xem mạng tìm công thức</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Nhớ món đã làm</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chia sẻ công thức</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Không rảnh meetup thường</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B</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Bỏ khi tăng ca  •  Học + làm + mệt  •  Thử công thức 20 phút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Dũng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C • 22 tuổi · chạy bộ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21</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Chạy 3 buổi / tuần</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Chạy bộ</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Đưa chạy vào routine</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Thói quen sau giờ học</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Lịch cố định giúp làm</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Có dùng nội dung số</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Theo dõi độ bền / quãng đường</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chạy cùng tạo cam kết</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bè khiến dễ kết nối</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C</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Tập thành thói quen  •  Bận thì tập ngắn  •  Có bạn giúp duy trì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Long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C • 24 tuổi · guitar / ảnh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22</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Luyện guitar đều</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Guitar và nhiếp ảnh</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Yêu âm nhạc và ảnh</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Có lịch luyện trong tuần</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Thích luyện không cần ép</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Xem nội dung kỹ năng</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Nhìn thấy kỹ thuật tốt hơn</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Trao đổi tips</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Ưa nhóm nhỏ</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C</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Chừa giờ hàng tuần  •  Bận vẫn chơi 10 phút  •  Không phụ thuộc phản hồi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Quang — hành vi, rào cản và trả lời theo câu hỏi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Nhóm C • 21 tuổi · cầu lông • Tóm lược 9 câu trả lời của VAI MÔ PHỎNG; không phải người tham gia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23</a:t>
            </a:r>
          </a:p>
        </p:txBody>
      </p:sp>
      <p:sp>
        <p:nvSpPr>
          <p:cNvPr id="10" name="Rounded Rectangle 9"/>
          <p:cNvSpPr/>
          <p:nvPr/>
        </p:nvSpPr>
        <p:spPr>
          <a:xfrm>
            <a:off x="621792"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01  Thời gian rảnh</a:t>
            </a:r>
          </a:p>
        </p:txBody>
      </p:sp>
      <p:sp>
        <p:nvSpPr>
          <p:cNvPr id="12" name="TextBox 11"/>
          <p:cNvSpPr txBox="1"/>
          <p:nvPr/>
        </p:nvSpPr>
        <p:spPr>
          <a:xfrm>
            <a:off x="2258568"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Chơi với bạn</a:t>
            </a:r>
          </a:p>
        </p:txBody>
      </p:sp>
      <p:sp>
        <p:nvSpPr>
          <p:cNvPr id="13" name="Rounded Rectangle 12"/>
          <p:cNvSpPr/>
          <p:nvPr/>
        </p:nvSpPr>
        <p:spPr>
          <a:xfrm>
            <a:off x="621792"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02  Sở thích</a:t>
            </a:r>
          </a:p>
        </p:txBody>
      </p:sp>
      <p:sp>
        <p:nvSpPr>
          <p:cNvPr id="15" name="TextBox 14"/>
          <p:cNvSpPr txBox="1"/>
          <p:nvPr/>
        </p:nvSpPr>
        <p:spPr>
          <a:xfrm>
            <a:off x="2258568"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Cầu lông</a:t>
            </a:r>
          </a:p>
        </p:txBody>
      </p:sp>
      <p:sp>
        <p:nvSpPr>
          <p:cNvPr id="16" name="Rounded Rectangle 15"/>
          <p:cNvSpPr/>
          <p:nvPr/>
        </p:nvSpPr>
        <p:spPr>
          <a:xfrm>
            <a:off x="621792"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03  Bắt đầu quan tâm</a:t>
            </a:r>
          </a:p>
        </p:txBody>
      </p:sp>
      <p:sp>
        <p:nvSpPr>
          <p:cNvPr id="18" name="TextBox 17"/>
          <p:cNvSpPr txBox="1"/>
          <p:nvPr/>
        </p:nvSpPr>
        <p:spPr>
          <a:xfrm>
            <a:off x="2258568"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Bạn bè giới thiệu</a:t>
            </a:r>
          </a:p>
        </p:txBody>
      </p:sp>
      <p:sp>
        <p:nvSpPr>
          <p:cNvPr id="19" name="Rounded Rectangle 18"/>
          <p:cNvSpPr/>
          <p:nvPr/>
        </p:nvSpPr>
        <p:spPr>
          <a:xfrm>
            <a:off x="621792"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04  Lần định thực hành</a:t>
            </a:r>
          </a:p>
        </p:txBody>
      </p:sp>
      <p:sp>
        <p:nvSpPr>
          <p:cNvPr id="21" name="TextBox 20"/>
          <p:cNvSpPr txBox="1"/>
          <p:nvPr/>
        </p:nvSpPr>
        <p:spPr>
          <a:xfrm>
            <a:off x="2258568"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Có lịch hẹn từ trước</a:t>
            </a:r>
          </a:p>
        </p:txBody>
      </p:sp>
      <p:sp>
        <p:nvSpPr>
          <p:cNvPr id="22" name="Rounded Rectangle 21"/>
          <p:cNvSpPr/>
          <p:nvPr/>
        </p:nvSpPr>
        <p:spPr>
          <a:xfrm>
            <a:off x="621792" y="5010912"/>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20640"/>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05  Rào cản</a:t>
            </a:r>
          </a:p>
        </p:txBody>
      </p:sp>
      <p:sp>
        <p:nvSpPr>
          <p:cNvPr id="24" name="TextBox 23"/>
          <p:cNvSpPr txBox="1"/>
          <p:nvPr/>
        </p:nvSpPr>
        <p:spPr>
          <a:xfrm>
            <a:off x="2258568" y="5102352"/>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Có người chờ nên đi</a:t>
            </a:r>
          </a:p>
        </p:txBody>
      </p:sp>
      <p:sp>
        <p:nvSpPr>
          <p:cNvPr id="25" name="Rounded Rectangle 24"/>
          <p:cNvSpPr/>
          <p:nvPr/>
        </p:nvSpPr>
        <p:spPr>
          <a:xfrm>
            <a:off x="6272783" y="1792224"/>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1901952"/>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06  Mạng xã hội</a:t>
            </a:r>
          </a:p>
        </p:txBody>
      </p:sp>
      <p:sp>
        <p:nvSpPr>
          <p:cNvPr id="27" name="TextBox 26"/>
          <p:cNvSpPr txBox="1"/>
          <p:nvPr/>
        </p:nvSpPr>
        <p:spPr>
          <a:xfrm>
            <a:off x="7909559" y="1883664"/>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Xem clip kỹ thuật</a:t>
            </a:r>
          </a:p>
        </p:txBody>
      </p:sp>
      <p:sp>
        <p:nvSpPr>
          <p:cNvPr id="28" name="Rounded Rectangle 27"/>
          <p:cNvSpPr/>
          <p:nvPr/>
        </p:nvSpPr>
        <p:spPr>
          <a:xfrm>
            <a:off x="6272783" y="2596896"/>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82512" y="2706624"/>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07  Nhìn thấy tiến bộ</a:t>
            </a:r>
          </a:p>
        </p:txBody>
      </p:sp>
      <p:sp>
        <p:nvSpPr>
          <p:cNvPr id="30" name="TextBox 29"/>
          <p:cNvSpPr txBox="1"/>
          <p:nvPr/>
        </p:nvSpPr>
        <p:spPr>
          <a:xfrm>
            <a:off x="7909559" y="2688336"/>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Qua kết quả tập</a:t>
            </a:r>
          </a:p>
        </p:txBody>
      </p:sp>
      <p:sp>
        <p:nvSpPr>
          <p:cNvPr id="31" name="Rounded Rectangle 30"/>
          <p:cNvSpPr/>
          <p:nvPr/>
        </p:nvSpPr>
        <p:spPr>
          <a:xfrm>
            <a:off x="6272783" y="3401568"/>
            <a:ext cx="5468112" cy="722376"/>
          </a:xfrm>
          <a:prstGeom prst="roundRect">
            <a:avLst>
              <a:gd name="adj" fmla="val 4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3511296"/>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08  Ảnh hưởng từ người khác</a:t>
            </a:r>
          </a:p>
        </p:txBody>
      </p:sp>
      <p:sp>
        <p:nvSpPr>
          <p:cNvPr id="33" name="TextBox 32"/>
          <p:cNvSpPr txBox="1"/>
          <p:nvPr/>
        </p:nvSpPr>
        <p:spPr>
          <a:xfrm>
            <a:off x="7909559" y="3493008"/>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Nhóm chơi rất quan trọng</a:t>
            </a:r>
          </a:p>
        </p:txBody>
      </p:sp>
      <p:sp>
        <p:nvSpPr>
          <p:cNvPr id="34" name="Rounded Rectangle 33"/>
          <p:cNvSpPr/>
          <p:nvPr/>
        </p:nvSpPr>
        <p:spPr>
          <a:xfrm>
            <a:off x="6272783" y="4206240"/>
            <a:ext cx="5468112" cy="722376"/>
          </a:xfrm>
          <a:prstGeom prst="roundRect">
            <a:avLst>
              <a:gd name="adj" fmla="val 4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82512" y="4315968"/>
            <a:ext cx="1536192" cy="502920"/>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09  Tương tác người lạ</a:t>
            </a:r>
          </a:p>
        </p:txBody>
      </p:sp>
      <p:sp>
        <p:nvSpPr>
          <p:cNvPr id="36" name="TextBox 35"/>
          <p:cNvSpPr txBox="1"/>
          <p:nvPr/>
        </p:nvSpPr>
        <p:spPr>
          <a:xfrm>
            <a:off x="7909559" y="4297679"/>
            <a:ext cx="3694176" cy="557784"/>
          </a:xfrm>
          <a:prstGeom prst="rect">
            <a:avLst/>
          </a:prstGeom>
          <a:noFill/>
        </p:spPr>
        <p:txBody>
          <a:bodyPr wrap="square" lIns="0" tIns="0" rIns="0" bIns="0" anchor="t">
            <a:spAutoFit/>
          </a:bodyPr>
          <a:lstStyle/>
          <a:p>
            <a:pPr algn="l">
              <a:lnSpc>
                <a:spcPts val="1392"/>
              </a:lnSpc>
              <a:spcAft>
                <a:spcPts val="300"/>
              </a:spcAft>
            </a:pPr>
            <a:r>
              <a:rPr sz="1190" b="0" i="0">
                <a:solidFill>
                  <a:srgbClr val="153E35"/>
                </a:solidFill>
                <a:latin typeface="Inter"/>
              </a:rPr>
              <a:t>Quen bạn nên ít ngại</a:t>
            </a:r>
          </a:p>
        </p:txBody>
      </p:sp>
      <p:sp>
        <p:nvSpPr>
          <p:cNvPr id="37" name="Rounded Rectangle 36"/>
          <p:cNvSpPr/>
          <p:nvPr/>
        </p:nvSpPr>
        <p:spPr>
          <a:xfrm>
            <a:off x="6272784" y="5056632"/>
            <a:ext cx="5486400" cy="1170432"/>
          </a:xfrm>
          <a:prstGeom prst="roundRect">
            <a:avLst>
              <a:gd name="adj" fmla="val 10000"/>
            </a:avLst>
          </a:prstGeom>
          <a:solidFill>
            <a:srgbClr val="FF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5664" y="5175504"/>
            <a:ext cx="5120640" cy="219456"/>
          </a:xfrm>
          <a:prstGeom prst="rect">
            <a:avLst/>
          </a:prstGeom>
          <a:noFill/>
        </p:spPr>
        <p:txBody>
          <a:bodyPr wrap="square" lIns="0" tIns="0" rIns="0" bIns="0" anchor="t">
            <a:spAutoFit/>
          </a:bodyPr>
          <a:lstStyle/>
          <a:p>
            <a:pPr algn="l">
              <a:lnSpc>
                <a:spcPts val="1170"/>
              </a:lnSpc>
              <a:spcAft>
                <a:spcPts val="300"/>
              </a:spcAft>
            </a:pPr>
            <a:r>
              <a:rPr sz="1000" b="1" i="0">
                <a:solidFill>
                  <a:srgbClr val="AE633B"/>
                </a:solidFill>
                <a:latin typeface="Inter"/>
              </a:rPr>
              <a:t>03 CÂU ĐÀO SÂU RIÊNG NHÓM C</a:t>
            </a:r>
          </a:p>
        </p:txBody>
      </p:sp>
      <p:sp>
        <p:nvSpPr>
          <p:cNvPr id="39" name="TextBox 38"/>
          <p:cNvSpPr txBox="1"/>
          <p:nvPr/>
        </p:nvSpPr>
        <p:spPr>
          <a:xfrm>
            <a:off x="6446520" y="5486400"/>
            <a:ext cx="5020056" cy="676656"/>
          </a:xfrm>
          <a:prstGeom prst="rect">
            <a:avLst/>
          </a:prstGeom>
          <a:noFill/>
        </p:spPr>
        <p:txBody>
          <a:bodyPr wrap="square" lIns="0" tIns="0" rIns="0" bIns="0" anchor="t">
            <a:spAutoFit/>
          </a:bodyPr>
          <a:lstStyle/>
          <a:p>
            <a:pPr algn="l">
              <a:lnSpc>
                <a:spcPts val="1228"/>
              </a:lnSpc>
              <a:spcAft>
                <a:spcPts val="300"/>
              </a:spcAft>
            </a:pPr>
            <a:r>
              <a:rPr sz="1050" b="0" i="0">
                <a:solidFill>
                  <a:srgbClr val="153E35"/>
                </a:solidFill>
                <a:latin typeface="Inter"/>
              </a:rPr>
              <a:t>Hẹn lịch từ trước  •  Lỡ buổi thì tuần sau  •  Nhóm tạo cam kết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Nhóm A — vấn đề không chỉ là kiến thức</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Sau mỗi nhóm, chúng tôi xem xét sự tương đồng và khác biệt trước khi kết luận.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24</a:t>
            </a:r>
          </a:p>
        </p:txBody>
      </p:sp>
      <p:sp>
        <p:nvSpPr>
          <p:cNvPr id="10" name="Rounded Rectangle 9"/>
          <p:cNvSpPr/>
          <p:nvPr/>
        </p:nvSpPr>
        <p:spPr>
          <a:xfrm>
            <a:off x="667512" y="1764792"/>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956816"/>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01</a:t>
            </a:r>
          </a:p>
        </p:txBody>
      </p:sp>
      <p:sp>
        <p:nvSpPr>
          <p:cNvPr id="12" name="TextBox 11"/>
          <p:cNvSpPr txBox="1"/>
          <p:nvPr/>
        </p:nvSpPr>
        <p:spPr>
          <a:xfrm>
            <a:off x="877825" y="2237556"/>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Minh: </a:t>
            </a:r>
            <a:r>
              <a:rPr sz="1200" b="0" i="0" dirty="0" err="1">
                <a:solidFill>
                  <a:srgbClr val="617D71"/>
                </a:solidFill>
                <a:latin typeface="Inter"/>
              </a:rPr>
              <a:t>không</a:t>
            </a:r>
            <a:r>
              <a:rPr sz="1200" b="0" i="0" dirty="0">
                <a:solidFill>
                  <a:srgbClr val="617D71"/>
                </a:solidFill>
                <a:latin typeface="Inter"/>
              </a:rPr>
              <a:t> </a:t>
            </a:r>
            <a:r>
              <a:rPr sz="1200" b="0" i="0" dirty="0" err="1">
                <a:solidFill>
                  <a:srgbClr val="617D71"/>
                </a:solidFill>
                <a:latin typeface="Inter"/>
              </a:rPr>
              <a:t>biết</a:t>
            </a:r>
            <a:r>
              <a:rPr sz="1200" b="0" i="0" dirty="0">
                <a:solidFill>
                  <a:srgbClr val="617D71"/>
                </a:solidFill>
                <a:latin typeface="Inter"/>
              </a:rPr>
              <a:t> </a:t>
            </a:r>
            <a:r>
              <a:rPr sz="1200" b="0" i="0" dirty="0" err="1">
                <a:solidFill>
                  <a:srgbClr val="617D71"/>
                </a:solidFill>
                <a:latin typeface="Inter"/>
              </a:rPr>
              <a:t>bước</a:t>
            </a:r>
            <a:r>
              <a:rPr sz="1200" b="0" i="0" dirty="0">
                <a:solidFill>
                  <a:srgbClr val="617D71"/>
                </a:solidFill>
                <a:latin typeface="Inter"/>
              </a:rPr>
              <a:t> </a:t>
            </a:r>
            <a:r>
              <a:rPr sz="1200" b="0" i="0" dirty="0" err="1">
                <a:solidFill>
                  <a:srgbClr val="617D71"/>
                </a:solidFill>
                <a:latin typeface="Inter"/>
              </a:rPr>
              <a:t>đầu</a:t>
            </a:r>
            <a:r>
              <a:rPr sz="1200" b="0" i="0" dirty="0">
                <a:solidFill>
                  <a:srgbClr val="617D71"/>
                </a:solidFill>
                <a:latin typeface="Inter"/>
              </a:rPr>
              <a:t>, </a:t>
            </a:r>
            <a:r>
              <a:rPr sz="1200" b="0" i="0" dirty="0" err="1">
                <a:solidFill>
                  <a:srgbClr val="617D71"/>
                </a:solidFill>
                <a:latin typeface="Inter"/>
              </a:rPr>
              <a:t>ngại</a:t>
            </a:r>
            <a:r>
              <a:rPr sz="1200" b="0" i="0" dirty="0">
                <a:solidFill>
                  <a:srgbClr val="617D71"/>
                </a:solidFill>
                <a:latin typeface="Inter"/>
              </a:rPr>
              <a:t> </a:t>
            </a:r>
            <a:r>
              <a:rPr sz="1200" b="0" i="0" dirty="0" err="1">
                <a:solidFill>
                  <a:srgbClr val="617D71"/>
                </a:solidFill>
                <a:latin typeface="Inter"/>
              </a:rPr>
              <a:t>nhóm</a:t>
            </a:r>
            <a:r>
              <a:rPr sz="1200" b="0" i="0" dirty="0">
                <a:solidFill>
                  <a:srgbClr val="617D71"/>
                </a:solidFill>
                <a:latin typeface="Inter"/>
              </a:rPr>
              <a:t> </a:t>
            </a:r>
            <a:r>
              <a:rPr sz="1200" b="0" i="0" dirty="0" err="1">
                <a:solidFill>
                  <a:srgbClr val="617D71"/>
                </a:solidFill>
                <a:latin typeface="Inter"/>
              </a:rPr>
              <a:t>toàn</a:t>
            </a:r>
            <a:r>
              <a:rPr sz="1200" b="0" i="0" dirty="0">
                <a:solidFill>
                  <a:srgbClr val="617D71"/>
                </a:solidFill>
                <a:latin typeface="Inter"/>
              </a:rPr>
              <a:t> </a:t>
            </a:r>
            <a:r>
              <a:rPr sz="1200" b="0" i="0" dirty="0" err="1">
                <a:solidFill>
                  <a:srgbClr val="617D71"/>
                </a:solidFill>
                <a:latin typeface="Inter"/>
              </a:rPr>
              <a:t>người</a:t>
            </a:r>
            <a:r>
              <a:rPr sz="1200" b="0" i="0" dirty="0">
                <a:solidFill>
                  <a:srgbClr val="617D71"/>
                </a:solidFill>
                <a:latin typeface="Inter"/>
              </a:rPr>
              <a:t> </a:t>
            </a:r>
            <a:r>
              <a:rPr sz="1200" b="0" i="0" dirty="0" err="1">
                <a:solidFill>
                  <a:srgbClr val="617D71"/>
                </a:solidFill>
                <a:latin typeface="Inter"/>
              </a:rPr>
              <a:t>giỏi</a:t>
            </a:r>
            <a:r>
              <a:rPr sz="1200" b="0" i="0" dirty="0">
                <a:solidFill>
                  <a:srgbClr val="617D71"/>
                </a:solidFill>
                <a:latin typeface="Inter"/>
              </a:rPr>
              <a:t>.</a:t>
            </a:r>
          </a:p>
        </p:txBody>
      </p:sp>
      <p:sp>
        <p:nvSpPr>
          <p:cNvPr id="13" name="Rounded Rectangle 12"/>
          <p:cNvSpPr/>
          <p:nvPr/>
        </p:nvSpPr>
        <p:spPr>
          <a:xfrm>
            <a:off x="667512" y="2788920"/>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2980944"/>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02</a:t>
            </a:r>
          </a:p>
        </p:txBody>
      </p:sp>
      <p:sp>
        <p:nvSpPr>
          <p:cNvPr id="15" name="TextBox 14"/>
          <p:cNvSpPr txBox="1"/>
          <p:nvPr/>
        </p:nvSpPr>
        <p:spPr>
          <a:xfrm>
            <a:off x="956229" y="3310322"/>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Linh: </a:t>
            </a:r>
            <a:r>
              <a:rPr sz="1200" b="0" i="0" dirty="0" err="1">
                <a:solidFill>
                  <a:srgbClr val="617D71"/>
                </a:solidFill>
                <a:latin typeface="Inter"/>
              </a:rPr>
              <a:t>sợ</a:t>
            </a:r>
            <a:r>
              <a:rPr sz="1200" b="0" i="0" dirty="0">
                <a:solidFill>
                  <a:srgbClr val="617D71"/>
                </a:solidFill>
                <a:latin typeface="Inter"/>
              </a:rPr>
              <a:t> </a:t>
            </a:r>
            <a:r>
              <a:rPr sz="1200" b="0" i="0" dirty="0" err="1">
                <a:solidFill>
                  <a:srgbClr val="617D71"/>
                </a:solidFill>
                <a:latin typeface="Inter"/>
              </a:rPr>
              <a:t>bị</a:t>
            </a:r>
            <a:r>
              <a:rPr sz="1200" b="0" i="0" dirty="0">
                <a:solidFill>
                  <a:srgbClr val="617D71"/>
                </a:solidFill>
                <a:latin typeface="Inter"/>
              </a:rPr>
              <a:t> </a:t>
            </a:r>
            <a:r>
              <a:rPr sz="1200" b="0" i="0" dirty="0" err="1">
                <a:solidFill>
                  <a:srgbClr val="617D71"/>
                </a:solidFill>
                <a:latin typeface="Inter"/>
              </a:rPr>
              <a:t>đánh</a:t>
            </a:r>
            <a:r>
              <a:rPr sz="1200" b="0" i="0" dirty="0">
                <a:solidFill>
                  <a:srgbClr val="617D71"/>
                </a:solidFill>
                <a:latin typeface="Inter"/>
              </a:rPr>
              <a:t> </a:t>
            </a:r>
            <a:r>
              <a:rPr sz="1200" b="0" i="0" dirty="0" err="1">
                <a:solidFill>
                  <a:srgbClr val="617D71"/>
                </a:solidFill>
                <a:latin typeface="Inter"/>
              </a:rPr>
              <a:t>giá</a:t>
            </a:r>
            <a:r>
              <a:rPr sz="1200" b="0" i="0" dirty="0">
                <a:solidFill>
                  <a:srgbClr val="617D71"/>
                </a:solidFill>
                <a:latin typeface="Inter"/>
              </a:rPr>
              <a:t>, </a:t>
            </a:r>
            <a:r>
              <a:rPr sz="1200" b="0" i="0" dirty="0" err="1">
                <a:solidFill>
                  <a:srgbClr val="617D71"/>
                </a:solidFill>
                <a:latin typeface="Inter"/>
              </a:rPr>
              <a:t>muốn</a:t>
            </a:r>
            <a:r>
              <a:rPr sz="1200" b="0" i="0" dirty="0">
                <a:solidFill>
                  <a:srgbClr val="617D71"/>
                </a:solidFill>
                <a:latin typeface="Inter"/>
              </a:rPr>
              <a:t> </a:t>
            </a:r>
            <a:r>
              <a:rPr sz="1200" b="0" i="0" dirty="0" err="1">
                <a:solidFill>
                  <a:srgbClr val="617D71"/>
                </a:solidFill>
                <a:latin typeface="Inter"/>
              </a:rPr>
              <a:t>luyện</a:t>
            </a:r>
            <a:r>
              <a:rPr sz="1200" b="0" i="0" dirty="0">
                <a:solidFill>
                  <a:srgbClr val="617D71"/>
                </a:solidFill>
                <a:latin typeface="Inter"/>
              </a:rPr>
              <a:t> </a:t>
            </a:r>
            <a:r>
              <a:rPr sz="1200" b="0" i="0" dirty="0" err="1">
                <a:solidFill>
                  <a:srgbClr val="617D71"/>
                </a:solidFill>
                <a:latin typeface="Inter"/>
              </a:rPr>
              <a:t>riêng</a:t>
            </a:r>
            <a:r>
              <a:rPr sz="1200" b="0" i="0" dirty="0">
                <a:solidFill>
                  <a:srgbClr val="617D71"/>
                </a:solidFill>
                <a:latin typeface="Inter"/>
              </a:rPr>
              <a:t> </a:t>
            </a:r>
            <a:r>
              <a:rPr sz="1200" b="0" i="0" dirty="0" err="1">
                <a:solidFill>
                  <a:srgbClr val="617D71"/>
                </a:solidFill>
                <a:latin typeface="Inter"/>
              </a:rPr>
              <a:t>trước</a:t>
            </a:r>
            <a:r>
              <a:rPr sz="1200" b="0" i="0" dirty="0">
                <a:solidFill>
                  <a:srgbClr val="617D71"/>
                </a:solidFill>
                <a:latin typeface="Inter"/>
              </a:rPr>
              <a:t>.</a:t>
            </a:r>
          </a:p>
        </p:txBody>
      </p:sp>
      <p:sp>
        <p:nvSpPr>
          <p:cNvPr id="16" name="Rounded Rectangle 15"/>
          <p:cNvSpPr/>
          <p:nvPr/>
        </p:nvSpPr>
        <p:spPr>
          <a:xfrm>
            <a:off x="667512" y="3813048"/>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4005072"/>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03</a:t>
            </a:r>
          </a:p>
        </p:txBody>
      </p:sp>
      <p:sp>
        <p:nvSpPr>
          <p:cNvPr id="18" name="TextBox 17"/>
          <p:cNvSpPr txBox="1"/>
          <p:nvPr/>
        </p:nvSpPr>
        <p:spPr>
          <a:xfrm>
            <a:off x="956229" y="4285812"/>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Hùng: </a:t>
            </a:r>
            <a:r>
              <a:rPr sz="1200" b="0" i="0" dirty="0" err="1">
                <a:solidFill>
                  <a:srgbClr val="617D71"/>
                </a:solidFill>
                <a:latin typeface="Inter"/>
              </a:rPr>
              <a:t>thiếu</a:t>
            </a:r>
            <a:r>
              <a:rPr sz="1200" b="0" i="0" dirty="0">
                <a:solidFill>
                  <a:srgbClr val="617D71"/>
                </a:solidFill>
                <a:latin typeface="Inter"/>
              </a:rPr>
              <a:t> </a:t>
            </a:r>
            <a:r>
              <a:rPr sz="1200" b="0" i="0" dirty="0" err="1">
                <a:solidFill>
                  <a:srgbClr val="617D71"/>
                </a:solidFill>
                <a:latin typeface="Inter"/>
              </a:rPr>
              <a:t>người</a:t>
            </a:r>
            <a:r>
              <a:rPr sz="1200" b="0" i="0" dirty="0">
                <a:solidFill>
                  <a:srgbClr val="617D71"/>
                </a:solidFill>
                <a:latin typeface="Inter"/>
              </a:rPr>
              <a:t> </a:t>
            </a:r>
            <a:r>
              <a:rPr sz="1200" b="0" i="0" dirty="0" err="1">
                <a:solidFill>
                  <a:srgbClr val="617D71"/>
                </a:solidFill>
                <a:latin typeface="Inter"/>
              </a:rPr>
              <a:t>cùng</a:t>
            </a:r>
            <a:r>
              <a:rPr sz="1200" b="0" i="0" dirty="0">
                <a:solidFill>
                  <a:srgbClr val="617D71"/>
                </a:solidFill>
                <a:latin typeface="Inter"/>
              </a:rPr>
              <a:t> </a:t>
            </a:r>
            <a:r>
              <a:rPr sz="1200" b="0" i="0" dirty="0" err="1">
                <a:solidFill>
                  <a:srgbClr val="617D71"/>
                </a:solidFill>
                <a:latin typeface="Inter"/>
              </a:rPr>
              <a:t>trình</a:t>
            </a:r>
            <a:r>
              <a:rPr sz="1200" b="0" i="0" dirty="0">
                <a:solidFill>
                  <a:srgbClr val="617D71"/>
                </a:solidFill>
                <a:latin typeface="Inter"/>
              </a:rPr>
              <a:t> </a:t>
            </a:r>
            <a:r>
              <a:rPr sz="1200" b="0" i="0" dirty="0" err="1">
                <a:solidFill>
                  <a:srgbClr val="617D71"/>
                </a:solidFill>
                <a:latin typeface="Inter"/>
              </a:rPr>
              <a:t>độ</a:t>
            </a:r>
            <a:r>
              <a:rPr sz="1200" b="0" i="0" dirty="0">
                <a:solidFill>
                  <a:srgbClr val="617D71"/>
                </a:solidFill>
                <a:latin typeface="Inter"/>
              </a:rPr>
              <a:t>, </a:t>
            </a:r>
            <a:r>
              <a:rPr sz="1200" b="0" i="0" dirty="0" err="1">
                <a:solidFill>
                  <a:srgbClr val="617D71"/>
                </a:solidFill>
                <a:latin typeface="Inter"/>
              </a:rPr>
              <a:t>sợ</a:t>
            </a:r>
            <a:r>
              <a:rPr sz="1200" b="0" i="0" dirty="0">
                <a:solidFill>
                  <a:srgbClr val="617D71"/>
                </a:solidFill>
                <a:latin typeface="Inter"/>
              </a:rPr>
              <a:t> </a:t>
            </a:r>
            <a:r>
              <a:rPr sz="1200" b="0" i="0" dirty="0" err="1">
                <a:solidFill>
                  <a:srgbClr val="617D71"/>
                </a:solidFill>
                <a:latin typeface="Inter"/>
              </a:rPr>
              <a:t>lạc</a:t>
            </a:r>
            <a:r>
              <a:rPr sz="1200" b="0" i="0" dirty="0">
                <a:solidFill>
                  <a:srgbClr val="617D71"/>
                </a:solidFill>
                <a:latin typeface="Inter"/>
              </a:rPr>
              <a:t> </a:t>
            </a:r>
            <a:r>
              <a:rPr sz="1200" b="0" i="0" dirty="0" err="1">
                <a:solidFill>
                  <a:srgbClr val="617D71"/>
                </a:solidFill>
                <a:latin typeface="Inter"/>
              </a:rPr>
              <a:t>lõng</a:t>
            </a:r>
            <a:r>
              <a:rPr sz="1200" b="0" i="0" dirty="0">
                <a:solidFill>
                  <a:srgbClr val="617D71"/>
                </a:solidFill>
                <a:latin typeface="Inter"/>
              </a:rPr>
              <a:t>.</a:t>
            </a:r>
          </a:p>
        </p:txBody>
      </p:sp>
      <p:sp>
        <p:nvSpPr>
          <p:cNvPr id="19" name="Rounded Rectangle 18"/>
          <p:cNvSpPr/>
          <p:nvPr/>
        </p:nvSpPr>
        <p:spPr>
          <a:xfrm>
            <a:off x="7763256" y="1783080"/>
            <a:ext cx="3703320" cy="3648456"/>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0" y="1975104"/>
            <a:ext cx="3319272"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AI ĐỀ XUẤT HƯỚNG UX</a:t>
            </a:r>
          </a:p>
        </p:txBody>
      </p:sp>
      <p:sp>
        <p:nvSpPr>
          <p:cNvPr id="21" name="TextBox 20"/>
          <p:cNvSpPr txBox="1"/>
          <p:nvPr/>
        </p:nvSpPr>
        <p:spPr>
          <a:xfrm>
            <a:off x="7964424" y="2606040"/>
            <a:ext cx="3300984" cy="2734056"/>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Cần tự tạo sở thích + nội dung bắt đầu nhẹ + Community chỉ là lựa chọn.</a:t>
            </a:r>
          </a:p>
        </p:txBody>
      </p:sp>
      <p:sp>
        <p:nvSpPr>
          <p:cNvPr id="22" name="Rounded Rectangle 21"/>
          <p:cNvSpPr/>
          <p:nvPr/>
        </p:nvSpPr>
        <p:spPr>
          <a:xfrm>
            <a:off x="676656" y="5093208"/>
            <a:ext cx="10808208" cy="658368"/>
          </a:xfrm>
          <a:prstGeom prst="roundRect">
            <a:avLst>
              <a:gd name="adj" fmla="val 9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Nhóm B — có sở thích nhưng khó biến ý định thành buổi tập</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Sau mỗi nhóm, chúng tôi xem xét sự tương đồng và khác biệt trước khi kết luận.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25</a:t>
            </a:r>
          </a:p>
        </p:txBody>
      </p:sp>
      <p:sp>
        <p:nvSpPr>
          <p:cNvPr id="10" name="Rounded Rectangle 9"/>
          <p:cNvSpPr/>
          <p:nvPr/>
        </p:nvSpPr>
        <p:spPr>
          <a:xfrm>
            <a:off x="667512" y="1764792"/>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956816"/>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01</a:t>
            </a:r>
          </a:p>
        </p:txBody>
      </p:sp>
      <p:sp>
        <p:nvSpPr>
          <p:cNvPr id="12" name="TextBox 11"/>
          <p:cNvSpPr txBox="1"/>
          <p:nvPr/>
        </p:nvSpPr>
        <p:spPr>
          <a:xfrm>
            <a:off x="1179965" y="2257011"/>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Khoa: TikTok “</a:t>
            </a:r>
            <a:r>
              <a:rPr sz="1200" b="0" i="0" dirty="0" err="1">
                <a:solidFill>
                  <a:srgbClr val="617D71"/>
                </a:solidFill>
                <a:latin typeface="Inter"/>
              </a:rPr>
              <a:t>ăn</a:t>
            </a:r>
            <a:r>
              <a:rPr sz="1200" b="0" i="0" dirty="0">
                <a:solidFill>
                  <a:srgbClr val="617D71"/>
                </a:solidFill>
                <a:latin typeface="Inter"/>
              </a:rPr>
              <a:t>” </a:t>
            </a:r>
            <a:r>
              <a:rPr sz="1200" b="0" i="0" dirty="0" err="1">
                <a:solidFill>
                  <a:srgbClr val="617D71"/>
                </a:solidFill>
                <a:latin typeface="Inter"/>
              </a:rPr>
              <a:t>thời</a:t>
            </a:r>
            <a:r>
              <a:rPr sz="1200" b="0" i="0" dirty="0">
                <a:solidFill>
                  <a:srgbClr val="617D71"/>
                </a:solidFill>
                <a:latin typeface="Inter"/>
              </a:rPr>
              <a:t> </a:t>
            </a:r>
            <a:r>
              <a:rPr sz="1200" b="0" i="0" dirty="0" err="1">
                <a:solidFill>
                  <a:srgbClr val="617D71"/>
                </a:solidFill>
                <a:latin typeface="Inter"/>
              </a:rPr>
              <a:t>gian</a:t>
            </a:r>
            <a:r>
              <a:rPr sz="1200" b="0" i="0" dirty="0">
                <a:solidFill>
                  <a:srgbClr val="617D71"/>
                </a:solidFill>
                <a:latin typeface="Inter"/>
              </a:rPr>
              <a:t> </a:t>
            </a:r>
            <a:r>
              <a:rPr sz="1200" b="0" i="0" dirty="0" err="1">
                <a:solidFill>
                  <a:srgbClr val="617D71"/>
                </a:solidFill>
                <a:latin typeface="Inter"/>
              </a:rPr>
              <a:t>muốn</a:t>
            </a:r>
            <a:r>
              <a:rPr sz="1200" b="0" i="0" dirty="0">
                <a:solidFill>
                  <a:srgbClr val="617D71"/>
                </a:solidFill>
                <a:latin typeface="Inter"/>
              </a:rPr>
              <a:t> </a:t>
            </a:r>
            <a:r>
              <a:rPr sz="1200" b="0" i="0" dirty="0" err="1">
                <a:solidFill>
                  <a:srgbClr val="617D71"/>
                </a:solidFill>
                <a:latin typeface="Inter"/>
              </a:rPr>
              <a:t>tập</a:t>
            </a:r>
            <a:r>
              <a:rPr sz="1200" b="0" i="0" dirty="0">
                <a:solidFill>
                  <a:srgbClr val="617D71"/>
                </a:solidFill>
                <a:latin typeface="Inter"/>
              </a:rPr>
              <a:t> guitar.</a:t>
            </a:r>
          </a:p>
        </p:txBody>
      </p:sp>
      <p:sp>
        <p:nvSpPr>
          <p:cNvPr id="13" name="Rounded Rectangle 12"/>
          <p:cNvSpPr/>
          <p:nvPr/>
        </p:nvSpPr>
        <p:spPr>
          <a:xfrm>
            <a:off x="667512" y="2788920"/>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2980944"/>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02</a:t>
            </a:r>
          </a:p>
        </p:txBody>
      </p:sp>
      <p:sp>
        <p:nvSpPr>
          <p:cNvPr id="15" name="TextBox 14"/>
          <p:cNvSpPr txBox="1"/>
          <p:nvPr/>
        </p:nvSpPr>
        <p:spPr>
          <a:xfrm>
            <a:off x="1069849" y="3232500"/>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Vũ: </a:t>
            </a:r>
            <a:r>
              <a:rPr sz="1200" b="0" i="0" dirty="0" err="1">
                <a:solidFill>
                  <a:srgbClr val="617D71"/>
                </a:solidFill>
                <a:latin typeface="Inter"/>
              </a:rPr>
              <a:t>bài</a:t>
            </a:r>
            <a:r>
              <a:rPr sz="1200" b="0" i="0" dirty="0">
                <a:solidFill>
                  <a:srgbClr val="617D71"/>
                </a:solidFill>
                <a:latin typeface="Inter"/>
              </a:rPr>
              <a:t> </a:t>
            </a:r>
            <a:r>
              <a:rPr sz="1200" b="0" i="0" dirty="0" err="1">
                <a:solidFill>
                  <a:srgbClr val="617D71"/>
                </a:solidFill>
                <a:latin typeface="Inter"/>
              </a:rPr>
              <a:t>tập</a:t>
            </a:r>
            <a:r>
              <a:rPr sz="1200" b="0" i="0" dirty="0">
                <a:solidFill>
                  <a:srgbClr val="617D71"/>
                </a:solidFill>
                <a:latin typeface="Inter"/>
              </a:rPr>
              <a:t> </a:t>
            </a:r>
            <a:r>
              <a:rPr sz="1200" b="0" i="0" dirty="0" err="1">
                <a:solidFill>
                  <a:srgbClr val="617D71"/>
                </a:solidFill>
                <a:latin typeface="Inter"/>
              </a:rPr>
              <a:t>và</a:t>
            </a:r>
            <a:r>
              <a:rPr sz="1200" b="0" i="0" dirty="0">
                <a:solidFill>
                  <a:srgbClr val="617D71"/>
                </a:solidFill>
                <a:latin typeface="Inter"/>
              </a:rPr>
              <a:t> deadline </a:t>
            </a:r>
            <a:r>
              <a:rPr sz="1200" b="0" i="0" dirty="0" err="1">
                <a:solidFill>
                  <a:srgbClr val="617D71"/>
                </a:solidFill>
                <a:latin typeface="Inter"/>
              </a:rPr>
              <a:t>phá</a:t>
            </a:r>
            <a:r>
              <a:rPr sz="1200" b="0" i="0" dirty="0">
                <a:solidFill>
                  <a:srgbClr val="617D71"/>
                </a:solidFill>
                <a:latin typeface="Inter"/>
              </a:rPr>
              <a:t> </a:t>
            </a:r>
            <a:r>
              <a:rPr sz="1200" b="0" i="0" dirty="0" err="1">
                <a:solidFill>
                  <a:srgbClr val="617D71"/>
                </a:solidFill>
                <a:latin typeface="Inter"/>
              </a:rPr>
              <a:t>lịch</a:t>
            </a:r>
            <a:r>
              <a:rPr sz="1200" b="0" i="0" dirty="0">
                <a:solidFill>
                  <a:srgbClr val="617D71"/>
                </a:solidFill>
                <a:latin typeface="Inter"/>
              </a:rPr>
              <a:t> </a:t>
            </a:r>
            <a:r>
              <a:rPr sz="1200" b="0" i="0" dirty="0" err="1">
                <a:solidFill>
                  <a:srgbClr val="617D71"/>
                </a:solidFill>
                <a:latin typeface="Inter"/>
              </a:rPr>
              <a:t>cố</a:t>
            </a:r>
            <a:r>
              <a:rPr sz="1200" b="0" i="0" dirty="0">
                <a:solidFill>
                  <a:srgbClr val="617D71"/>
                </a:solidFill>
                <a:latin typeface="Inter"/>
              </a:rPr>
              <a:t> </a:t>
            </a:r>
            <a:r>
              <a:rPr sz="1200" b="0" i="0" dirty="0" err="1">
                <a:solidFill>
                  <a:srgbClr val="617D71"/>
                </a:solidFill>
                <a:latin typeface="Inter"/>
              </a:rPr>
              <a:t>định</a:t>
            </a:r>
            <a:r>
              <a:rPr sz="1200" b="0" i="0" dirty="0">
                <a:solidFill>
                  <a:srgbClr val="617D71"/>
                </a:solidFill>
                <a:latin typeface="Inter"/>
              </a:rPr>
              <a:t>.</a:t>
            </a:r>
          </a:p>
        </p:txBody>
      </p:sp>
      <p:sp>
        <p:nvSpPr>
          <p:cNvPr id="16" name="Rounded Rectangle 15"/>
          <p:cNvSpPr/>
          <p:nvPr/>
        </p:nvSpPr>
        <p:spPr>
          <a:xfrm>
            <a:off x="667512" y="3813048"/>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4005072"/>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03</a:t>
            </a:r>
          </a:p>
        </p:txBody>
      </p:sp>
      <p:sp>
        <p:nvSpPr>
          <p:cNvPr id="18" name="TextBox 17"/>
          <p:cNvSpPr txBox="1"/>
          <p:nvPr/>
        </p:nvSpPr>
        <p:spPr>
          <a:xfrm>
            <a:off x="1069849" y="4246902"/>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Sang: ca </a:t>
            </a:r>
            <a:r>
              <a:rPr sz="1200" b="0" i="0" dirty="0" err="1">
                <a:solidFill>
                  <a:srgbClr val="617D71"/>
                </a:solidFill>
                <a:latin typeface="Inter"/>
              </a:rPr>
              <a:t>làm</a:t>
            </a:r>
            <a:r>
              <a:rPr sz="1200" b="0" i="0" dirty="0">
                <a:solidFill>
                  <a:srgbClr val="617D71"/>
                </a:solidFill>
                <a:latin typeface="Inter"/>
              </a:rPr>
              <a:t> </a:t>
            </a:r>
            <a:r>
              <a:rPr sz="1200" b="0" i="0" dirty="0" err="1">
                <a:solidFill>
                  <a:srgbClr val="617D71"/>
                </a:solidFill>
                <a:latin typeface="Inter"/>
              </a:rPr>
              <a:t>và</a:t>
            </a:r>
            <a:r>
              <a:rPr sz="1200" b="0" i="0" dirty="0">
                <a:solidFill>
                  <a:srgbClr val="617D71"/>
                </a:solidFill>
                <a:latin typeface="Inter"/>
              </a:rPr>
              <a:t> </a:t>
            </a:r>
            <a:r>
              <a:rPr sz="1200" b="0" i="0" dirty="0" err="1">
                <a:solidFill>
                  <a:srgbClr val="617D71"/>
                </a:solidFill>
                <a:latin typeface="Inter"/>
              </a:rPr>
              <a:t>mệt</a:t>
            </a:r>
            <a:r>
              <a:rPr sz="1200" b="0" i="0" dirty="0">
                <a:solidFill>
                  <a:srgbClr val="617D71"/>
                </a:solidFill>
                <a:latin typeface="Inter"/>
              </a:rPr>
              <a:t> </a:t>
            </a:r>
            <a:r>
              <a:rPr sz="1200" b="0" i="0" dirty="0" err="1">
                <a:solidFill>
                  <a:srgbClr val="617D71"/>
                </a:solidFill>
                <a:latin typeface="Inter"/>
              </a:rPr>
              <a:t>mỏi</a:t>
            </a:r>
            <a:r>
              <a:rPr sz="1200" b="0" i="0" dirty="0">
                <a:solidFill>
                  <a:srgbClr val="617D71"/>
                </a:solidFill>
                <a:latin typeface="Inter"/>
              </a:rPr>
              <a:t> </a:t>
            </a:r>
            <a:r>
              <a:rPr sz="1200" b="0" i="0" dirty="0" err="1">
                <a:solidFill>
                  <a:srgbClr val="617D71"/>
                </a:solidFill>
                <a:latin typeface="Inter"/>
              </a:rPr>
              <a:t>khiến</a:t>
            </a:r>
            <a:r>
              <a:rPr sz="1200" b="0" i="0" dirty="0">
                <a:solidFill>
                  <a:srgbClr val="617D71"/>
                </a:solidFill>
                <a:latin typeface="Inter"/>
              </a:rPr>
              <a:t> </a:t>
            </a:r>
            <a:r>
              <a:rPr sz="1200" b="0" i="0" dirty="0" err="1">
                <a:solidFill>
                  <a:srgbClr val="617D71"/>
                </a:solidFill>
                <a:latin typeface="Inter"/>
              </a:rPr>
              <a:t>khó</a:t>
            </a:r>
            <a:r>
              <a:rPr sz="1200" b="0" i="0" dirty="0">
                <a:solidFill>
                  <a:srgbClr val="617D71"/>
                </a:solidFill>
                <a:latin typeface="Inter"/>
              </a:rPr>
              <a:t> </a:t>
            </a:r>
            <a:r>
              <a:rPr sz="1200" b="0" i="0" dirty="0" err="1">
                <a:solidFill>
                  <a:srgbClr val="617D71"/>
                </a:solidFill>
                <a:latin typeface="Inter"/>
              </a:rPr>
              <a:t>dành</a:t>
            </a:r>
            <a:r>
              <a:rPr sz="1200" b="0" i="0" dirty="0">
                <a:solidFill>
                  <a:srgbClr val="617D71"/>
                </a:solidFill>
                <a:latin typeface="Inter"/>
              </a:rPr>
              <a:t> </a:t>
            </a:r>
            <a:r>
              <a:rPr sz="1200" b="0" i="0" dirty="0" err="1">
                <a:solidFill>
                  <a:srgbClr val="617D71"/>
                </a:solidFill>
                <a:latin typeface="Inter"/>
              </a:rPr>
              <a:t>một</a:t>
            </a:r>
            <a:r>
              <a:rPr sz="1200" b="0" i="0" dirty="0">
                <a:solidFill>
                  <a:srgbClr val="617D71"/>
                </a:solidFill>
                <a:latin typeface="Inter"/>
              </a:rPr>
              <a:t> </a:t>
            </a:r>
            <a:r>
              <a:rPr sz="1200" b="0" i="0" dirty="0" err="1">
                <a:solidFill>
                  <a:srgbClr val="617D71"/>
                </a:solidFill>
                <a:latin typeface="Inter"/>
              </a:rPr>
              <a:t>buổi</a:t>
            </a:r>
            <a:r>
              <a:rPr sz="1200" b="0" i="0" dirty="0">
                <a:solidFill>
                  <a:srgbClr val="617D71"/>
                </a:solidFill>
                <a:latin typeface="Inter"/>
              </a:rPr>
              <a:t> </a:t>
            </a:r>
            <a:r>
              <a:rPr sz="1200" b="0" i="0" dirty="0" err="1">
                <a:solidFill>
                  <a:srgbClr val="617D71"/>
                </a:solidFill>
                <a:latin typeface="Inter"/>
              </a:rPr>
              <a:t>dài</a:t>
            </a:r>
            <a:r>
              <a:rPr sz="1200" b="0" i="0" dirty="0">
                <a:solidFill>
                  <a:srgbClr val="617D71"/>
                </a:solidFill>
                <a:latin typeface="Inter"/>
              </a:rPr>
              <a:t>.</a:t>
            </a:r>
          </a:p>
        </p:txBody>
      </p:sp>
      <p:sp>
        <p:nvSpPr>
          <p:cNvPr id="19" name="Rounded Rectangle 18"/>
          <p:cNvSpPr/>
          <p:nvPr/>
        </p:nvSpPr>
        <p:spPr>
          <a:xfrm>
            <a:off x="7763256" y="1783080"/>
            <a:ext cx="3703320" cy="3648456"/>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0" y="1975104"/>
            <a:ext cx="3319272"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AI ĐỀ XUẤT HƯỚNG UX</a:t>
            </a:r>
          </a:p>
        </p:txBody>
      </p:sp>
      <p:sp>
        <p:nvSpPr>
          <p:cNvPr id="21" name="TextBox 20"/>
          <p:cNvSpPr txBox="1"/>
          <p:nvPr/>
        </p:nvSpPr>
        <p:spPr>
          <a:xfrm>
            <a:off x="7964424" y="2606040"/>
            <a:ext cx="3300984" cy="2734056"/>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Tạo lịch linh hoạt, hành động bắt đầu ngay, phiên ngắn, lưu thời lượng và ghi chú.</a:t>
            </a:r>
          </a:p>
        </p:txBody>
      </p:sp>
      <p:sp>
        <p:nvSpPr>
          <p:cNvPr id="22" name="Rounded Rectangle 21"/>
          <p:cNvSpPr/>
          <p:nvPr/>
        </p:nvSpPr>
        <p:spPr>
          <a:xfrm>
            <a:off x="676656" y="5093208"/>
            <a:ext cx="10808208" cy="658368"/>
          </a:xfrm>
          <a:prstGeom prst="roundRect">
            <a:avLst>
              <a:gd name="adj" fmla="val 9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Nhóm C — điều gì đã hoạt động mà không gây ép buộc?</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Sau mỗi nhóm, chúng tôi xem xét sự tương đồng và khác biệt trước khi kết luận.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26</a:t>
            </a:r>
          </a:p>
        </p:txBody>
      </p:sp>
      <p:sp>
        <p:nvSpPr>
          <p:cNvPr id="10" name="Rounded Rectangle 9"/>
          <p:cNvSpPr/>
          <p:nvPr/>
        </p:nvSpPr>
        <p:spPr>
          <a:xfrm>
            <a:off x="667512" y="1764792"/>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956816"/>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01</a:t>
            </a:r>
          </a:p>
        </p:txBody>
      </p:sp>
      <p:sp>
        <p:nvSpPr>
          <p:cNvPr id="12" name="TextBox 11"/>
          <p:cNvSpPr txBox="1"/>
          <p:nvPr/>
        </p:nvSpPr>
        <p:spPr>
          <a:xfrm>
            <a:off x="1069849" y="2159735"/>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Dũng: routine </a:t>
            </a:r>
            <a:r>
              <a:rPr sz="1200" b="0" i="0" dirty="0" err="1">
                <a:solidFill>
                  <a:srgbClr val="617D71"/>
                </a:solidFill>
                <a:latin typeface="Inter"/>
              </a:rPr>
              <a:t>và</a:t>
            </a:r>
            <a:r>
              <a:rPr sz="1200" b="0" i="0" dirty="0">
                <a:solidFill>
                  <a:srgbClr val="617D71"/>
                </a:solidFill>
                <a:latin typeface="Inter"/>
              </a:rPr>
              <a:t> </a:t>
            </a:r>
            <a:r>
              <a:rPr sz="1200" b="0" i="0" dirty="0" err="1">
                <a:solidFill>
                  <a:srgbClr val="617D71"/>
                </a:solidFill>
                <a:latin typeface="Inter"/>
              </a:rPr>
              <a:t>bạn</a:t>
            </a:r>
            <a:r>
              <a:rPr sz="1200" b="0" i="0" dirty="0">
                <a:solidFill>
                  <a:srgbClr val="617D71"/>
                </a:solidFill>
                <a:latin typeface="Inter"/>
              </a:rPr>
              <a:t> </a:t>
            </a:r>
            <a:r>
              <a:rPr sz="1200" b="0" i="0" dirty="0" err="1">
                <a:solidFill>
                  <a:srgbClr val="617D71"/>
                </a:solidFill>
                <a:latin typeface="Inter"/>
              </a:rPr>
              <a:t>đồng</a:t>
            </a:r>
            <a:r>
              <a:rPr sz="1200" b="0" i="0" dirty="0">
                <a:solidFill>
                  <a:srgbClr val="617D71"/>
                </a:solidFill>
                <a:latin typeface="Inter"/>
              </a:rPr>
              <a:t> </a:t>
            </a:r>
            <a:r>
              <a:rPr sz="1200" b="0" i="0" dirty="0" err="1">
                <a:solidFill>
                  <a:srgbClr val="617D71"/>
                </a:solidFill>
                <a:latin typeface="Inter"/>
              </a:rPr>
              <a:t>hành</a:t>
            </a:r>
            <a:r>
              <a:rPr sz="1200" b="0" i="0" dirty="0">
                <a:solidFill>
                  <a:srgbClr val="617D71"/>
                </a:solidFill>
                <a:latin typeface="Inter"/>
              </a:rPr>
              <a:t>.</a:t>
            </a:r>
          </a:p>
        </p:txBody>
      </p:sp>
      <p:sp>
        <p:nvSpPr>
          <p:cNvPr id="13" name="Rounded Rectangle 12"/>
          <p:cNvSpPr/>
          <p:nvPr/>
        </p:nvSpPr>
        <p:spPr>
          <a:xfrm>
            <a:off x="667512" y="2788920"/>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2980944"/>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02</a:t>
            </a:r>
          </a:p>
        </p:txBody>
      </p:sp>
      <p:sp>
        <p:nvSpPr>
          <p:cNvPr id="15" name="TextBox 14"/>
          <p:cNvSpPr txBox="1"/>
          <p:nvPr/>
        </p:nvSpPr>
        <p:spPr>
          <a:xfrm>
            <a:off x="985412" y="3242228"/>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Long: </a:t>
            </a:r>
            <a:r>
              <a:rPr sz="1200" b="0" i="0" dirty="0" err="1">
                <a:solidFill>
                  <a:srgbClr val="617D71"/>
                </a:solidFill>
                <a:latin typeface="Inter"/>
              </a:rPr>
              <a:t>ngày</a:t>
            </a:r>
            <a:r>
              <a:rPr sz="1200" b="0" i="0" dirty="0">
                <a:solidFill>
                  <a:srgbClr val="617D71"/>
                </a:solidFill>
                <a:latin typeface="Inter"/>
              </a:rPr>
              <a:t> </a:t>
            </a:r>
            <a:r>
              <a:rPr sz="1200" b="0" i="0" dirty="0" err="1">
                <a:solidFill>
                  <a:srgbClr val="617D71"/>
                </a:solidFill>
                <a:latin typeface="Inter"/>
              </a:rPr>
              <a:t>bận</a:t>
            </a:r>
            <a:r>
              <a:rPr sz="1200" b="0" i="0" dirty="0">
                <a:solidFill>
                  <a:srgbClr val="617D71"/>
                </a:solidFill>
                <a:latin typeface="Inter"/>
              </a:rPr>
              <a:t> </a:t>
            </a:r>
            <a:r>
              <a:rPr sz="1200" b="0" i="0" dirty="0" err="1">
                <a:solidFill>
                  <a:srgbClr val="617D71"/>
                </a:solidFill>
                <a:latin typeface="Inter"/>
              </a:rPr>
              <a:t>chỉ</a:t>
            </a:r>
            <a:r>
              <a:rPr sz="1200" b="0" i="0" dirty="0">
                <a:solidFill>
                  <a:srgbClr val="617D71"/>
                </a:solidFill>
                <a:latin typeface="Inter"/>
              </a:rPr>
              <a:t> </a:t>
            </a:r>
            <a:r>
              <a:rPr sz="1200" b="0" i="0" dirty="0" err="1">
                <a:solidFill>
                  <a:srgbClr val="617D71"/>
                </a:solidFill>
                <a:latin typeface="Inter"/>
              </a:rPr>
              <a:t>cần</a:t>
            </a:r>
            <a:r>
              <a:rPr sz="1200" b="0" i="0" dirty="0">
                <a:solidFill>
                  <a:srgbClr val="617D71"/>
                </a:solidFill>
                <a:latin typeface="Inter"/>
              </a:rPr>
              <a:t> </a:t>
            </a:r>
            <a:r>
              <a:rPr sz="1200" b="0" i="0" dirty="0" err="1">
                <a:solidFill>
                  <a:srgbClr val="617D71"/>
                </a:solidFill>
                <a:latin typeface="Inter"/>
              </a:rPr>
              <a:t>chơi</a:t>
            </a:r>
            <a:r>
              <a:rPr sz="1200" b="0" i="0" dirty="0">
                <a:solidFill>
                  <a:srgbClr val="617D71"/>
                </a:solidFill>
                <a:latin typeface="Inter"/>
              </a:rPr>
              <a:t> 10 </a:t>
            </a:r>
            <a:r>
              <a:rPr sz="1200" b="0" i="0" dirty="0" err="1">
                <a:solidFill>
                  <a:srgbClr val="617D71"/>
                </a:solidFill>
                <a:latin typeface="Inter"/>
              </a:rPr>
              <a:t>phút</a:t>
            </a:r>
            <a:r>
              <a:rPr sz="1200" b="0" i="0" dirty="0">
                <a:solidFill>
                  <a:srgbClr val="617D71"/>
                </a:solidFill>
                <a:latin typeface="Inter"/>
              </a:rPr>
              <a:t>.</a:t>
            </a:r>
          </a:p>
        </p:txBody>
      </p:sp>
      <p:sp>
        <p:nvSpPr>
          <p:cNvPr id="16" name="Rounded Rectangle 15"/>
          <p:cNvSpPr/>
          <p:nvPr/>
        </p:nvSpPr>
        <p:spPr>
          <a:xfrm>
            <a:off x="667512" y="3813048"/>
            <a:ext cx="6876288" cy="91440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9536" y="4005072"/>
            <a:ext cx="6492240"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03</a:t>
            </a:r>
          </a:p>
        </p:txBody>
      </p:sp>
      <p:sp>
        <p:nvSpPr>
          <p:cNvPr id="18" name="TextBox 17"/>
          <p:cNvSpPr txBox="1"/>
          <p:nvPr/>
        </p:nvSpPr>
        <p:spPr>
          <a:xfrm>
            <a:off x="985412" y="4270248"/>
            <a:ext cx="6473951" cy="0"/>
          </a:xfrm>
          <a:prstGeom prst="rect">
            <a:avLst/>
          </a:prstGeom>
          <a:noFill/>
        </p:spPr>
        <p:txBody>
          <a:bodyPr wrap="square" lIns="0" tIns="0" rIns="0" bIns="0" anchor="t">
            <a:spAutoFit/>
          </a:bodyPr>
          <a:lstStyle/>
          <a:p>
            <a:pPr algn="l">
              <a:lnSpc>
                <a:spcPts val="1536"/>
              </a:lnSpc>
              <a:spcAft>
                <a:spcPts val="300"/>
              </a:spcAft>
            </a:pPr>
            <a:r>
              <a:rPr sz="1200" b="0" i="0" dirty="0">
                <a:solidFill>
                  <a:srgbClr val="617D71"/>
                </a:solidFill>
                <a:latin typeface="Inter"/>
              </a:rPr>
              <a:t>Quang: </a:t>
            </a:r>
            <a:r>
              <a:rPr sz="1200" b="0" i="0" dirty="0" err="1">
                <a:solidFill>
                  <a:srgbClr val="617D71"/>
                </a:solidFill>
                <a:latin typeface="Inter"/>
              </a:rPr>
              <a:t>hẹn</a:t>
            </a:r>
            <a:r>
              <a:rPr sz="1200" b="0" i="0" dirty="0">
                <a:solidFill>
                  <a:srgbClr val="617D71"/>
                </a:solidFill>
                <a:latin typeface="Inter"/>
              </a:rPr>
              <a:t> </a:t>
            </a:r>
            <a:r>
              <a:rPr sz="1200" b="0" i="0" dirty="0" err="1">
                <a:solidFill>
                  <a:srgbClr val="617D71"/>
                </a:solidFill>
                <a:latin typeface="Inter"/>
              </a:rPr>
              <a:t>bạn</a:t>
            </a:r>
            <a:r>
              <a:rPr sz="1200" b="0" i="0" dirty="0">
                <a:solidFill>
                  <a:srgbClr val="617D71"/>
                </a:solidFill>
                <a:latin typeface="Inter"/>
              </a:rPr>
              <a:t> </a:t>
            </a:r>
            <a:r>
              <a:rPr sz="1200" b="0" i="0" dirty="0" err="1">
                <a:solidFill>
                  <a:srgbClr val="617D71"/>
                </a:solidFill>
                <a:latin typeface="Inter"/>
              </a:rPr>
              <a:t>chơi</a:t>
            </a:r>
            <a:r>
              <a:rPr sz="1200" b="0" i="0" dirty="0">
                <a:solidFill>
                  <a:srgbClr val="617D71"/>
                </a:solidFill>
                <a:latin typeface="Inter"/>
              </a:rPr>
              <a:t> </a:t>
            </a:r>
            <a:r>
              <a:rPr sz="1200" b="0" i="0" dirty="0" err="1">
                <a:solidFill>
                  <a:srgbClr val="617D71"/>
                </a:solidFill>
                <a:latin typeface="Inter"/>
              </a:rPr>
              <a:t>từ</a:t>
            </a:r>
            <a:r>
              <a:rPr sz="1200" b="0" i="0" dirty="0">
                <a:solidFill>
                  <a:srgbClr val="617D71"/>
                </a:solidFill>
                <a:latin typeface="Inter"/>
              </a:rPr>
              <a:t> </a:t>
            </a:r>
            <a:r>
              <a:rPr sz="1200" b="0" i="0" dirty="0" err="1">
                <a:solidFill>
                  <a:srgbClr val="617D71"/>
                </a:solidFill>
                <a:latin typeface="Inter"/>
              </a:rPr>
              <a:t>trước</a:t>
            </a:r>
            <a:r>
              <a:rPr sz="1200" b="0" i="0" dirty="0">
                <a:solidFill>
                  <a:srgbClr val="617D71"/>
                </a:solidFill>
                <a:latin typeface="Inter"/>
              </a:rPr>
              <a:t> </a:t>
            </a:r>
            <a:r>
              <a:rPr sz="1200" b="0" i="0" dirty="0" err="1">
                <a:solidFill>
                  <a:srgbClr val="617D71"/>
                </a:solidFill>
                <a:latin typeface="Inter"/>
              </a:rPr>
              <a:t>tạo</a:t>
            </a:r>
            <a:r>
              <a:rPr sz="1200" b="0" i="0" dirty="0">
                <a:solidFill>
                  <a:srgbClr val="617D71"/>
                </a:solidFill>
                <a:latin typeface="Inter"/>
              </a:rPr>
              <a:t> cam </a:t>
            </a:r>
            <a:r>
              <a:rPr sz="1200" b="0" i="0" dirty="0" err="1">
                <a:solidFill>
                  <a:srgbClr val="617D71"/>
                </a:solidFill>
                <a:latin typeface="Inter"/>
              </a:rPr>
              <a:t>kết</a:t>
            </a:r>
            <a:r>
              <a:rPr sz="1200" b="0" i="0" dirty="0">
                <a:solidFill>
                  <a:srgbClr val="617D71"/>
                </a:solidFill>
                <a:latin typeface="Inter"/>
              </a:rPr>
              <a:t>.</a:t>
            </a:r>
          </a:p>
        </p:txBody>
      </p:sp>
      <p:sp>
        <p:nvSpPr>
          <p:cNvPr id="19" name="Rounded Rectangle 18"/>
          <p:cNvSpPr/>
          <p:nvPr/>
        </p:nvSpPr>
        <p:spPr>
          <a:xfrm>
            <a:off x="7763256" y="1783080"/>
            <a:ext cx="3703320" cy="3648456"/>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0" y="1975104"/>
            <a:ext cx="3319272" cy="530352"/>
          </a:xfrm>
          <a:prstGeom prst="rect">
            <a:avLst/>
          </a:prstGeom>
          <a:noFill/>
        </p:spPr>
        <p:txBody>
          <a:bodyPr wrap="square" lIns="0" tIns="0" rIns="0" bIns="0" anchor="t">
            <a:spAutoFit/>
          </a:bodyPr>
          <a:lstStyle/>
          <a:p>
            <a:pPr algn="l">
              <a:lnSpc>
                <a:spcPts val="1989"/>
              </a:lnSpc>
              <a:spcAft>
                <a:spcPts val="300"/>
              </a:spcAft>
            </a:pPr>
            <a:r>
              <a:rPr sz="1700" b="1" i="0" dirty="0">
                <a:solidFill>
                  <a:srgbClr val="153E35"/>
                </a:solidFill>
                <a:latin typeface="Inter"/>
              </a:rPr>
              <a:t>AI ĐỀ XUẤT HƯỚNG UX</a:t>
            </a:r>
          </a:p>
        </p:txBody>
      </p:sp>
      <p:sp>
        <p:nvSpPr>
          <p:cNvPr id="21" name="TextBox 20"/>
          <p:cNvSpPr txBox="1"/>
          <p:nvPr/>
        </p:nvSpPr>
        <p:spPr>
          <a:xfrm>
            <a:off x="7964424" y="2606040"/>
            <a:ext cx="3300984" cy="2734056"/>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Giữ sự tự chủ, tiến bộ nhìn được, kết nối nhóm và hoạt động tùy chọn.</a:t>
            </a:r>
          </a:p>
        </p:txBody>
      </p:sp>
      <p:sp>
        <p:nvSpPr>
          <p:cNvPr id="22" name="Rounded Rectangle 21"/>
          <p:cNvSpPr/>
          <p:nvPr/>
        </p:nvSpPr>
        <p:spPr>
          <a:xfrm>
            <a:off x="676656" y="5093208"/>
            <a:ext cx="10808208" cy="658368"/>
          </a:xfrm>
          <a:prstGeom prst="roundRect">
            <a:avLst>
              <a:gd name="adj" fmla="val 9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Đối chiếu A · B · C: insight hình thành từ việc so sánh</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Mỗi kết luận nối với hành vi mô phỏng và sau đó mới biến thành giả thuyết giao diện.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27</a:t>
            </a:r>
          </a:p>
        </p:txBody>
      </p:sp>
      <p:sp>
        <p:nvSpPr>
          <p:cNvPr id="10" name="Rounded Rectangle 9"/>
          <p:cNvSpPr/>
          <p:nvPr/>
        </p:nvSpPr>
        <p:spPr>
          <a:xfrm>
            <a:off x="676656" y="1828800"/>
            <a:ext cx="2176272" cy="475488"/>
          </a:xfrm>
          <a:prstGeom prst="roundRect">
            <a:avLst>
              <a:gd name="adj" fmla="val 6000"/>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1956816"/>
            <a:ext cx="2039112" cy="201168"/>
          </a:xfrm>
          <a:prstGeom prst="rect">
            <a:avLst/>
          </a:prstGeom>
          <a:noFill/>
        </p:spPr>
        <p:txBody>
          <a:bodyPr wrap="square" lIns="0" tIns="0" rIns="0" bIns="0" anchor="t">
            <a:spAutoFit/>
          </a:bodyPr>
          <a:lstStyle/>
          <a:p>
            <a:pPr algn="l">
              <a:lnSpc>
                <a:spcPts val="1287"/>
              </a:lnSpc>
              <a:spcAft>
                <a:spcPts val="300"/>
              </a:spcAft>
            </a:pPr>
            <a:r>
              <a:rPr sz="1100" b="1" i="0">
                <a:solidFill>
                  <a:srgbClr val="FFFFFF"/>
                </a:solidFill>
                <a:latin typeface="Inter"/>
              </a:rPr>
              <a:t>CÂU HỎI</a:t>
            </a:r>
          </a:p>
        </p:txBody>
      </p:sp>
      <p:sp>
        <p:nvSpPr>
          <p:cNvPr id="12" name="Rounded Rectangle 11"/>
          <p:cNvSpPr/>
          <p:nvPr/>
        </p:nvSpPr>
        <p:spPr>
          <a:xfrm>
            <a:off x="2926080" y="1828800"/>
            <a:ext cx="2770632" cy="475488"/>
          </a:xfrm>
          <a:prstGeom prst="roundRect">
            <a:avLst>
              <a:gd name="adj" fmla="val 6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17520" y="1956816"/>
            <a:ext cx="2633472" cy="201168"/>
          </a:xfrm>
          <a:prstGeom prst="rect">
            <a:avLst/>
          </a:prstGeom>
          <a:noFill/>
        </p:spPr>
        <p:txBody>
          <a:bodyPr wrap="square" lIns="0" tIns="0" rIns="0" bIns="0" anchor="t">
            <a:spAutoFit/>
          </a:bodyPr>
          <a:lstStyle/>
          <a:p>
            <a:pPr algn="l">
              <a:lnSpc>
                <a:spcPts val="1287"/>
              </a:lnSpc>
              <a:spcAft>
                <a:spcPts val="300"/>
              </a:spcAft>
            </a:pPr>
            <a:r>
              <a:rPr sz="1100" b="1" i="0">
                <a:solidFill>
                  <a:srgbClr val="153E35"/>
                </a:solidFill>
                <a:latin typeface="Inter"/>
              </a:rPr>
              <a:t>NHÓM A · MỚI</a:t>
            </a:r>
          </a:p>
        </p:txBody>
      </p:sp>
      <p:sp>
        <p:nvSpPr>
          <p:cNvPr id="14" name="Rounded Rectangle 13"/>
          <p:cNvSpPr/>
          <p:nvPr/>
        </p:nvSpPr>
        <p:spPr>
          <a:xfrm>
            <a:off x="5769864" y="1828800"/>
            <a:ext cx="2770632" cy="475488"/>
          </a:xfrm>
          <a:prstGeom prst="roundRect">
            <a:avLst>
              <a:gd name="adj" fmla="val 6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61303" y="1956816"/>
            <a:ext cx="2633472" cy="201168"/>
          </a:xfrm>
          <a:prstGeom prst="rect">
            <a:avLst/>
          </a:prstGeom>
          <a:noFill/>
        </p:spPr>
        <p:txBody>
          <a:bodyPr wrap="square" lIns="0" tIns="0" rIns="0" bIns="0" anchor="t">
            <a:spAutoFit/>
          </a:bodyPr>
          <a:lstStyle/>
          <a:p>
            <a:pPr algn="l">
              <a:lnSpc>
                <a:spcPts val="1287"/>
              </a:lnSpc>
              <a:spcAft>
                <a:spcPts val="300"/>
              </a:spcAft>
            </a:pPr>
            <a:r>
              <a:rPr sz="1100" b="1" i="0">
                <a:solidFill>
                  <a:srgbClr val="153E35"/>
                </a:solidFill>
                <a:latin typeface="Inter"/>
              </a:rPr>
              <a:t>NHÓM B · GIÁN ĐOẠN</a:t>
            </a:r>
          </a:p>
        </p:txBody>
      </p:sp>
      <p:sp>
        <p:nvSpPr>
          <p:cNvPr id="16" name="Rounded Rectangle 15"/>
          <p:cNvSpPr/>
          <p:nvPr/>
        </p:nvSpPr>
        <p:spPr>
          <a:xfrm>
            <a:off x="8613648" y="1828800"/>
            <a:ext cx="2752344" cy="475488"/>
          </a:xfrm>
          <a:prstGeom prst="roundRect">
            <a:avLst>
              <a:gd name="adj" fmla="val 6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05088" y="1956816"/>
            <a:ext cx="2615184" cy="201168"/>
          </a:xfrm>
          <a:prstGeom prst="rect">
            <a:avLst/>
          </a:prstGeom>
          <a:noFill/>
        </p:spPr>
        <p:txBody>
          <a:bodyPr wrap="square" lIns="0" tIns="0" rIns="0" bIns="0" anchor="t">
            <a:spAutoFit/>
          </a:bodyPr>
          <a:lstStyle/>
          <a:p>
            <a:pPr algn="l">
              <a:lnSpc>
                <a:spcPts val="1287"/>
              </a:lnSpc>
              <a:spcAft>
                <a:spcPts val="300"/>
              </a:spcAft>
            </a:pPr>
            <a:r>
              <a:rPr sz="1100" b="1" i="0">
                <a:solidFill>
                  <a:srgbClr val="153E35"/>
                </a:solidFill>
                <a:latin typeface="Inter"/>
              </a:rPr>
              <a:t>NHÓM C · DUY TRÌ</a:t>
            </a:r>
          </a:p>
        </p:txBody>
      </p:sp>
      <p:sp>
        <p:nvSpPr>
          <p:cNvPr id="18" name="Rounded Rectangle 17"/>
          <p:cNvSpPr/>
          <p:nvPr/>
        </p:nvSpPr>
        <p:spPr>
          <a:xfrm>
            <a:off x="676656" y="2441448"/>
            <a:ext cx="217627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2560320"/>
            <a:ext cx="2011680" cy="548640"/>
          </a:xfrm>
          <a:prstGeom prst="rect">
            <a:avLst/>
          </a:prstGeom>
          <a:noFill/>
        </p:spPr>
        <p:txBody>
          <a:bodyPr wrap="square" lIns="0" tIns="0" rIns="0" bIns="0" anchor="t">
            <a:spAutoFit/>
          </a:bodyPr>
          <a:lstStyle/>
          <a:p>
            <a:pPr algn="l">
              <a:lnSpc>
                <a:spcPts val="1333"/>
              </a:lnSpc>
              <a:spcAft>
                <a:spcPts val="300"/>
              </a:spcAft>
            </a:pPr>
            <a:r>
              <a:rPr sz="1140" b="1" i="0">
                <a:solidFill>
                  <a:srgbClr val="078674"/>
                </a:solidFill>
                <a:latin typeface="Inter"/>
              </a:rPr>
              <a:t>Rào cản</a:t>
            </a:r>
          </a:p>
        </p:txBody>
      </p:sp>
      <p:sp>
        <p:nvSpPr>
          <p:cNvPr id="20" name="Rounded Rectangle 19"/>
          <p:cNvSpPr/>
          <p:nvPr/>
        </p:nvSpPr>
        <p:spPr>
          <a:xfrm>
            <a:off x="2926080" y="2441448"/>
            <a:ext cx="277063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17520" y="2560320"/>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Không biết bắt đầu / ngại</a:t>
            </a:r>
          </a:p>
        </p:txBody>
      </p:sp>
      <p:sp>
        <p:nvSpPr>
          <p:cNvPr id="22" name="Rounded Rectangle 21"/>
          <p:cNvSpPr/>
          <p:nvPr/>
        </p:nvSpPr>
        <p:spPr>
          <a:xfrm>
            <a:off x="5769864" y="2441448"/>
            <a:ext cx="277063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61303" y="2560320"/>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Thiếu thời gian / phân tâm</a:t>
            </a:r>
          </a:p>
        </p:txBody>
      </p:sp>
      <p:sp>
        <p:nvSpPr>
          <p:cNvPr id="24" name="Rounded Rectangle 23"/>
          <p:cNvSpPr/>
          <p:nvPr/>
        </p:nvSpPr>
        <p:spPr>
          <a:xfrm>
            <a:off x="8613648" y="2441448"/>
            <a:ext cx="2752344"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05088" y="2560320"/>
            <a:ext cx="2587752"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Không phải lúc nào cũng thuận lợi</a:t>
            </a:r>
          </a:p>
        </p:txBody>
      </p:sp>
      <p:sp>
        <p:nvSpPr>
          <p:cNvPr id="26" name="Rounded Rectangle 25"/>
          <p:cNvSpPr/>
          <p:nvPr/>
        </p:nvSpPr>
        <p:spPr>
          <a:xfrm>
            <a:off x="676656" y="3282696"/>
            <a:ext cx="217627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 y="3401568"/>
            <a:ext cx="2011680" cy="548640"/>
          </a:xfrm>
          <a:prstGeom prst="rect">
            <a:avLst/>
          </a:prstGeom>
          <a:noFill/>
        </p:spPr>
        <p:txBody>
          <a:bodyPr wrap="square" lIns="0" tIns="0" rIns="0" bIns="0" anchor="t">
            <a:spAutoFit/>
          </a:bodyPr>
          <a:lstStyle/>
          <a:p>
            <a:pPr algn="l">
              <a:lnSpc>
                <a:spcPts val="1333"/>
              </a:lnSpc>
              <a:spcAft>
                <a:spcPts val="300"/>
              </a:spcAft>
            </a:pPr>
            <a:r>
              <a:rPr sz="1140" b="1" i="0">
                <a:solidFill>
                  <a:srgbClr val="078674"/>
                </a:solidFill>
                <a:latin typeface="Inter"/>
              </a:rPr>
              <a:t>Cách ứng phó</a:t>
            </a:r>
          </a:p>
        </p:txBody>
      </p:sp>
      <p:sp>
        <p:nvSpPr>
          <p:cNvPr id="28" name="Rounded Rectangle 27"/>
          <p:cNvSpPr/>
          <p:nvPr/>
        </p:nvSpPr>
        <p:spPr>
          <a:xfrm>
            <a:off x="2926080" y="3282696"/>
            <a:ext cx="277063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17520" y="3401568"/>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Hoãn / xem nội dung</a:t>
            </a:r>
          </a:p>
        </p:txBody>
      </p:sp>
      <p:sp>
        <p:nvSpPr>
          <p:cNvPr id="30" name="Rounded Rectangle 29"/>
          <p:cNvSpPr/>
          <p:nvPr/>
        </p:nvSpPr>
        <p:spPr>
          <a:xfrm>
            <a:off x="5769864" y="3282696"/>
            <a:ext cx="277063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861303" y="3401568"/>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Bỏ buổi đã lên kế hoạch</a:t>
            </a:r>
          </a:p>
        </p:txBody>
      </p:sp>
      <p:sp>
        <p:nvSpPr>
          <p:cNvPr id="32" name="Rounded Rectangle 31"/>
          <p:cNvSpPr/>
          <p:nvPr/>
        </p:nvSpPr>
        <p:spPr>
          <a:xfrm>
            <a:off x="8613648" y="3282696"/>
            <a:ext cx="2752344"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05088" y="3401568"/>
            <a:ext cx="2587752"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Tập ngắn / lịch trước</a:t>
            </a:r>
          </a:p>
        </p:txBody>
      </p:sp>
      <p:sp>
        <p:nvSpPr>
          <p:cNvPr id="34" name="Rounded Rectangle 33"/>
          <p:cNvSpPr/>
          <p:nvPr/>
        </p:nvSpPr>
        <p:spPr>
          <a:xfrm>
            <a:off x="676656" y="4123944"/>
            <a:ext cx="217627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68096" y="4242816"/>
            <a:ext cx="2011680" cy="548640"/>
          </a:xfrm>
          <a:prstGeom prst="rect">
            <a:avLst/>
          </a:prstGeom>
          <a:noFill/>
        </p:spPr>
        <p:txBody>
          <a:bodyPr wrap="square" lIns="0" tIns="0" rIns="0" bIns="0" anchor="t">
            <a:spAutoFit/>
          </a:bodyPr>
          <a:lstStyle/>
          <a:p>
            <a:pPr algn="l">
              <a:lnSpc>
                <a:spcPts val="1333"/>
              </a:lnSpc>
              <a:spcAft>
                <a:spcPts val="300"/>
              </a:spcAft>
            </a:pPr>
            <a:r>
              <a:rPr sz="1140" b="1" i="0">
                <a:solidFill>
                  <a:srgbClr val="078674"/>
                </a:solidFill>
                <a:latin typeface="Inter"/>
              </a:rPr>
              <a:t>Vai trò bạn bè</a:t>
            </a:r>
          </a:p>
        </p:txBody>
      </p:sp>
      <p:sp>
        <p:nvSpPr>
          <p:cNvPr id="36" name="Rounded Rectangle 35"/>
          <p:cNvSpPr/>
          <p:nvPr/>
        </p:nvSpPr>
        <p:spPr>
          <a:xfrm>
            <a:off x="2926080" y="4123944"/>
            <a:ext cx="277063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17520" y="4242816"/>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Có thể gây lo lắng</a:t>
            </a:r>
          </a:p>
        </p:txBody>
      </p:sp>
      <p:sp>
        <p:nvSpPr>
          <p:cNvPr id="38" name="Rounded Rectangle 37"/>
          <p:cNvSpPr/>
          <p:nvPr/>
        </p:nvSpPr>
        <p:spPr>
          <a:xfrm>
            <a:off x="5769864" y="4123944"/>
            <a:ext cx="2770632"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861303" y="4242816"/>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Cần động lực vừa đủ</a:t>
            </a:r>
          </a:p>
        </p:txBody>
      </p:sp>
      <p:sp>
        <p:nvSpPr>
          <p:cNvPr id="40" name="Rounded Rectangle 39"/>
          <p:cNvSpPr/>
          <p:nvPr/>
        </p:nvSpPr>
        <p:spPr>
          <a:xfrm>
            <a:off x="8613648" y="4123944"/>
            <a:ext cx="2752344"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05088" y="4242816"/>
            <a:ext cx="2587752"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Tạo cam kết</a:t>
            </a:r>
          </a:p>
        </p:txBody>
      </p:sp>
      <p:sp>
        <p:nvSpPr>
          <p:cNvPr id="42" name="Rounded Rectangle 41"/>
          <p:cNvSpPr/>
          <p:nvPr/>
        </p:nvSpPr>
        <p:spPr>
          <a:xfrm>
            <a:off x="676656" y="4965192"/>
            <a:ext cx="217627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68096" y="5084064"/>
            <a:ext cx="2011680" cy="548640"/>
          </a:xfrm>
          <a:prstGeom prst="rect">
            <a:avLst/>
          </a:prstGeom>
          <a:noFill/>
        </p:spPr>
        <p:txBody>
          <a:bodyPr wrap="square" lIns="0" tIns="0" rIns="0" bIns="0" anchor="t">
            <a:spAutoFit/>
          </a:bodyPr>
          <a:lstStyle/>
          <a:p>
            <a:pPr algn="l">
              <a:lnSpc>
                <a:spcPts val="1333"/>
              </a:lnSpc>
              <a:spcAft>
                <a:spcPts val="300"/>
              </a:spcAft>
            </a:pPr>
            <a:r>
              <a:rPr sz="1140" b="1" i="0">
                <a:solidFill>
                  <a:srgbClr val="078674"/>
                </a:solidFill>
                <a:latin typeface="Inter"/>
              </a:rPr>
              <a:t>Hàm ý</a:t>
            </a:r>
          </a:p>
        </p:txBody>
      </p:sp>
      <p:sp>
        <p:nvSpPr>
          <p:cNvPr id="44" name="Rounded Rectangle 43"/>
          <p:cNvSpPr/>
          <p:nvPr/>
        </p:nvSpPr>
        <p:spPr>
          <a:xfrm>
            <a:off x="2926080" y="4965192"/>
            <a:ext cx="277063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017520" y="5084064"/>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Khởi đầu tự chủ</a:t>
            </a:r>
          </a:p>
        </p:txBody>
      </p:sp>
      <p:sp>
        <p:nvSpPr>
          <p:cNvPr id="46" name="Rounded Rectangle 45"/>
          <p:cNvSpPr/>
          <p:nvPr/>
        </p:nvSpPr>
        <p:spPr>
          <a:xfrm>
            <a:off x="5769864" y="4965192"/>
            <a:ext cx="2770632"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61303" y="5084064"/>
            <a:ext cx="2606040"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Lịch + chế độ tập trung</a:t>
            </a:r>
          </a:p>
        </p:txBody>
      </p:sp>
      <p:sp>
        <p:nvSpPr>
          <p:cNvPr id="48" name="Rounded Rectangle 47"/>
          <p:cNvSpPr/>
          <p:nvPr/>
        </p:nvSpPr>
        <p:spPr>
          <a:xfrm>
            <a:off x="8613648" y="4965192"/>
            <a:ext cx="2752344" cy="713232"/>
          </a:xfrm>
          <a:prstGeom prst="roundRect">
            <a:avLst>
              <a:gd name="adj" fmla="val 4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705088" y="5084064"/>
            <a:ext cx="2587752" cy="548640"/>
          </a:xfrm>
          <a:prstGeom prst="rect">
            <a:avLst/>
          </a:prstGeom>
          <a:noFill/>
        </p:spPr>
        <p:txBody>
          <a:bodyPr wrap="square" lIns="0" tIns="0" rIns="0" bIns="0" anchor="t">
            <a:spAutoFit/>
          </a:bodyPr>
          <a:lstStyle/>
          <a:p>
            <a:pPr algn="l">
              <a:lnSpc>
                <a:spcPts val="1333"/>
              </a:lnSpc>
              <a:spcAft>
                <a:spcPts val="300"/>
              </a:spcAft>
            </a:pPr>
            <a:r>
              <a:rPr sz="1140" b="0" i="0">
                <a:solidFill>
                  <a:srgbClr val="153E35"/>
                </a:solidFill>
                <a:latin typeface="Inter"/>
              </a:rPr>
              <a:t>Tiến bộ + kết nối tùy ý</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Từ quan sát mô phỏng đến giả thuyết giải pháp</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AI gợi ý ý tưởng; người thiết kế giữ quyền loại hoặc chỉnh để đúng mục tiêu ban đầu.</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28</a:t>
            </a:r>
          </a:p>
        </p:txBody>
      </p:sp>
      <p:sp>
        <p:nvSpPr>
          <p:cNvPr id="10" name="Rounded Rectangle 9"/>
          <p:cNvSpPr/>
          <p:nvPr/>
        </p:nvSpPr>
        <p:spPr>
          <a:xfrm>
            <a:off x="694944" y="1801368"/>
            <a:ext cx="10789920" cy="9235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938528"/>
            <a:ext cx="1216152"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TÌNH HUỐNG</a:t>
            </a:r>
          </a:p>
        </p:txBody>
      </p:sp>
      <p:sp>
        <p:nvSpPr>
          <p:cNvPr id="12" name="TextBox 11"/>
          <p:cNvSpPr txBox="1"/>
          <p:nvPr/>
        </p:nvSpPr>
        <p:spPr>
          <a:xfrm>
            <a:off x="877824" y="2231136"/>
            <a:ext cx="2770632" cy="338328"/>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Chưa biết bắt đầu</a:t>
            </a:r>
          </a:p>
        </p:txBody>
      </p:sp>
      <p:sp>
        <p:nvSpPr>
          <p:cNvPr id="13" name="TextBox 12"/>
          <p:cNvSpPr txBox="1"/>
          <p:nvPr/>
        </p:nvSpPr>
        <p:spPr>
          <a:xfrm>
            <a:off x="3794760" y="1938528"/>
            <a:ext cx="1472184"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ĐỀ XUẤT UX</a:t>
            </a:r>
          </a:p>
        </p:txBody>
      </p:sp>
      <p:sp>
        <p:nvSpPr>
          <p:cNvPr id="14" name="TextBox 13"/>
          <p:cNvSpPr txBox="1"/>
          <p:nvPr/>
        </p:nvSpPr>
        <p:spPr>
          <a:xfrm>
            <a:off x="3794760" y="2231136"/>
            <a:ext cx="3246120" cy="384048"/>
          </a:xfrm>
          <a:prstGeom prst="rect">
            <a:avLst/>
          </a:prstGeom>
          <a:noFill/>
        </p:spPr>
        <p:txBody>
          <a:bodyPr wrap="square" lIns="0" tIns="0" rIns="0" bIns="0" anchor="t">
            <a:spAutoFit/>
          </a:bodyPr>
          <a:lstStyle/>
          <a:p>
            <a:pPr algn="l">
              <a:lnSpc>
                <a:spcPts val="1462"/>
              </a:lnSpc>
              <a:spcAft>
                <a:spcPts val="300"/>
              </a:spcAft>
            </a:pPr>
            <a:r>
              <a:rPr sz="1250" b="0" i="0">
                <a:solidFill>
                  <a:srgbClr val="153E35"/>
                </a:solidFill>
                <a:latin typeface="Inter"/>
              </a:rPr>
              <a:t>Tạo hobby từ ý thích riêng</a:t>
            </a:r>
          </a:p>
        </p:txBody>
      </p:sp>
      <p:sp>
        <p:nvSpPr>
          <p:cNvPr id="15" name="TextBox 14"/>
          <p:cNvSpPr txBox="1"/>
          <p:nvPr/>
        </p:nvSpPr>
        <p:spPr>
          <a:xfrm>
            <a:off x="7434072" y="1938528"/>
            <a:ext cx="3584448" cy="192024"/>
          </a:xfrm>
          <a:prstGeom prst="rect">
            <a:avLst/>
          </a:prstGeom>
          <a:noFill/>
        </p:spPr>
        <p:txBody>
          <a:bodyPr wrap="square" lIns="0" tIns="0" rIns="0" bIns="0" anchor="t">
            <a:spAutoFit/>
          </a:bodyPr>
          <a:lstStyle/>
          <a:p>
            <a:pPr algn="l">
              <a:lnSpc>
                <a:spcPts val="1088"/>
              </a:lnSpc>
              <a:spcAft>
                <a:spcPts val="300"/>
              </a:spcAft>
            </a:pPr>
            <a:r>
              <a:rPr sz="930" b="1" i="0">
                <a:solidFill>
                  <a:srgbClr val="078674"/>
                </a:solidFill>
                <a:latin typeface="Inter"/>
              </a:rPr>
              <a:t>QUYẾT ĐỊNH SAU PHẢN BIỆN</a:t>
            </a:r>
          </a:p>
        </p:txBody>
      </p:sp>
      <p:sp>
        <p:nvSpPr>
          <p:cNvPr id="16" name="TextBox 15"/>
          <p:cNvSpPr txBox="1"/>
          <p:nvPr/>
        </p:nvSpPr>
        <p:spPr>
          <a:xfrm>
            <a:off x="7434072" y="2194560"/>
            <a:ext cx="3630168" cy="475488"/>
          </a:xfrm>
          <a:prstGeom prst="rect">
            <a:avLst/>
          </a:prstGeom>
          <a:noFill/>
        </p:spPr>
        <p:txBody>
          <a:bodyPr wrap="square" lIns="0" tIns="0" rIns="0" bIns="0" anchor="t">
            <a:spAutoFit/>
          </a:bodyPr>
          <a:lstStyle/>
          <a:p>
            <a:pPr algn="l">
              <a:lnSpc>
                <a:spcPts val="1357"/>
              </a:lnSpc>
              <a:spcAft>
                <a:spcPts val="300"/>
              </a:spcAft>
            </a:pPr>
            <a:r>
              <a:rPr sz="1160" b="0" i="0">
                <a:solidFill>
                  <a:srgbClr val="153E35"/>
                </a:solidFill>
                <a:latin typeface="Inter"/>
              </a:rPr>
              <a:t>My Hobbies không bắt chọn catalog sẵn.</a:t>
            </a:r>
          </a:p>
        </p:txBody>
      </p:sp>
      <p:sp>
        <p:nvSpPr>
          <p:cNvPr id="17" name="Rounded Rectangle 16"/>
          <p:cNvSpPr/>
          <p:nvPr/>
        </p:nvSpPr>
        <p:spPr>
          <a:xfrm>
            <a:off x="694944" y="2834639"/>
            <a:ext cx="10789920" cy="923544"/>
          </a:xfrm>
          <a:prstGeom prst="roundRect">
            <a:avLst>
              <a:gd name="adj" fmla="val 7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 y="2971799"/>
            <a:ext cx="1216152"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TÌNH HUỐNG</a:t>
            </a:r>
          </a:p>
        </p:txBody>
      </p:sp>
      <p:sp>
        <p:nvSpPr>
          <p:cNvPr id="19" name="TextBox 18"/>
          <p:cNvSpPr txBox="1"/>
          <p:nvPr/>
        </p:nvSpPr>
        <p:spPr>
          <a:xfrm>
            <a:off x="877824" y="3264407"/>
            <a:ext cx="2770632" cy="338328"/>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Hay đổi kế hoạch</a:t>
            </a:r>
          </a:p>
        </p:txBody>
      </p:sp>
      <p:sp>
        <p:nvSpPr>
          <p:cNvPr id="20" name="TextBox 19"/>
          <p:cNvSpPr txBox="1"/>
          <p:nvPr/>
        </p:nvSpPr>
        <p:spPr>
          <a:xfrm>
            <a:off x="3794760" y="2971799"/>
            <a:ext cx="1472184"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ĐỀ XUẤT UX</a:t>
            </a:r>
          </a:p>
        </p:txBody>
      </p:sp>
      <p:sp>
        <p:nvSpPr>
          <p:cNvPr id="21" name="TextBox 20"/>
          <p:cNvSpPr txBox="1"/>
          <p:nvPr/>
        </p:nvSpPr>
        <p:spPr>
          <a:xfrm>
            <a:off x="3794760" y="3264407"/>
            <a:ext cx="3246120" cy="384048"/>
          </a:xfrm>
          <a:prstGeom prst="rect">
            <a:avLst/>
          </a:prstGeom>
          <a:noFill/>
        </p:spPr>
        <p:txBody>
          <a:bodyPr wrap="square" lIns="0" tIns="0" rIns="0" bIns="0" anchor="t">
            <a:spAutoFit/>
          </a:bodyPr>
          <a:lstStyle/>
          <a:p>
            <a:pPr algn="l">
              <a:lnSpc>
                <a:spcPts val="1462"/>
              </a:lnSpc>
              <a:spcAft>
                <a:spcPts val="300"/>
              </a:spcAft>
            </a:pPr>
            <a:r>
              <a:rPr sz="1250" b="0" i="0">
                <a:solidFill>
                  <a:srgbClr val="153E35"/>
                </a:solidFill>
                <a:latin typeface="Inter"/>
              </a:rPr>
              <a:t>Lịch do chính người dùng thêm</a:t>
            </a:r>
          </a:p>
        </p:txBody>
      </p:sp>
      <p:sp>
        <p:nvSpPr>
          <p:cNvPr id="22" name="TextBox 21"/>
          <p:cNvSpPr txBox="1"/>
          <p:nvPr/>
        </p:nvSpPr>
        <p:spPr>
          <a:xfrm>
            <a:off x="7434072" y="2971799"/>
            <a:ext cx="3584448" cy="192024"/>
          </a:xfrm>
          <a:prstGeom prst="rect">
            <a:avLst/>
          </a:prstGeom>
          <a:noFill/>
        </p:spPr>
        <p:txBody>
          <a:bodyPr wrap="square" lIns="0" tIns="0" rIns="0" bIns="0" anchor="t">
            <a:spAutoFit/>
          </a:bodyPr>
          <a:lstStyle/>
          <a:p>
            <a:pPr algn="l">
              <a:lnSpc>
                <a:spcPts val="1088"/>
              </a:lnSpc>
              <a:spcAft>
                <a:spcPts val="300"/>
              </a:spcAft>
            </a:pPr>
            <a:r>
              <a:rPr sz="930" b="1" i="0">
                <a:solidFill>
                  <a:srgbClr val="078674"/>
                </a:solidFill>
                <a:latin typeface="Inter"/>
              </a:rPr>
              <a:t>QUYẾT ĐỊNH SAU PHẢN BIỆN</a:t>
            </a:r>
          </a:p>
        </p:txBody>
      </p:sp>
      <p:sp>
        <p:nvSpPr>
          <p:cNvPr id="23" name="TextBox 22"/>
          <p:cNvSpPr txBox="1"/>
          <p:nvPr/>
        </p:nvSpPr>
        <p:spPr>
          <a:xfrm>
            <a:off x="7434072" y="3227832"/>
            <a:ext cx="3630168" cy="475488"/>
          </a:xfrm>
          <a:prstGeom prst="rect">
            <a:avLst/>
          </a:prstGeom>
          <a:noFill/>
        </p:spPr>
        <p:txBody>
          <a:bodyPr wrap="square" lIns="0" tIns="0" rIns="0" bIns="0" anchor="t">
            <a:spAutoFit/>
          </a:bodyPr>
          <a:lstStyle/>
          <a:p>
            <a:pPr algn="l">
              <a:lnSpc>
                <a:spcPts val="1357"/>
              </a:lnSpc>
              <a:spcAft>
                <a:spcPts val="300"/>
              </a:spcAft>
            </a:pPr>
            <a:r>
              <a:rPr sz="1160" b="0" i="0">
                <a:solidFill>
                  <a:srgbClr val="153E35"/>
                </a:solidFill>
                <a:latin typeface="Inter"/>
              </a:rPr>
              <a:t>Home có + Schedule, sửa ngày / giờ.</a:t>
            </a:r>
          </a:p>
        </p:txBody>
      </p:sp>
      <p:sp>
        <p:nvSpPr>
          <p:cNvPr id="24" name="Rounded Rectangle 23"/>
          <p:cNvSpPr/>
          <p:nvPr/>
        </p:nvSpPr>
        <p:spPr>
          <a:xfrm>
            <a:off x="694944" y="3867911"/>
            <a:ext cx="10789920" cy="923544"/>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7824" y="4005072"/>
            <a:ext cx="1216152"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TÌNH HUỐNG</a:t>
            </a:r>
          </a:p>
        </p:txBody>
      </p:sp>
      <p:sp>
        <p:nvSpPr>
          <p:cNvPr id="26" name="TextBox 25"/>
          <p:cNvSpPr txBox="1"/>
          <p:nvPr/>
        </p:nvSpPr>
        <p:spPr>
          <a:xfrm>
            <a:off x="877824" y="4297679"/>
            <a:ext cx="2770632" cy="338328"/>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Phân tâm số</a:t>
            </a:r>
          </a:p>
        </p:txBody>
      </p:sp>
      <p:sp>
        <p:nvSpPr>
          <p:cNvPr id="27" name="TextBox 26"/>
          <p:cNvSpPr txBox="1"/>
          <p:nvPr/>
        </p:nvSpPr>
        <p:spPr>
          <a:xfrm>
            <a:off x="3794760" y="4005072"/>
            <a:ext cx="1472184"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ĐỀ XUẤT UX</a:t>
            </a:r>
          </a:p>
        </p:txBody>
      </p:sp>
      <p:sp>
        <p:nvSpPr>
          <p:cNvPr id="28" name="TextBox 27"/>
          <p:cNvSpPr txBox="1"/>
          <p:nvPr/>
        </p:nvSpPr>
        <p:spPr>
          <a:xfrm>
            <a:off x="3794760" y="4297679"/>
            <a:ext cx="3246120" cy="384048"/>
          </a:xfrm>
          <a:prstGeom prst="rect">
            <a:avLst/>
          </a:prstGeom>
          <a:noFill/>
        </p:spPr>
        <p:txBody>
          <a:bodyPr wrap="square" lIns="0" tIns="0" rIns="0" bIns="0" anchor="t">
            <a:spAutoFit/>
          </a:bodyPr>
          <a:lstStyle/>
          <a:p>
            <a:pPr algn="l">
              <a:lnSpc>
                <a:spcPts val="1462"/>
              </a:lnSpc>
              <a:spcAft>
                <a:spcPts val="300"/>
              </a:spcAft>
            </a:pPr>
            <a:r>
              <a:rPr sz="1250" b="0" i="0">
                <a:solidFill>
                  <a:srgbClr val="153E35"/>
                </a:solidFill>
                <a:latin typeface="Inter"/>
              </a:rPr>
              <a:t>Đổi “xem” thành “làm”</a:t>
            </a:r>
          </a:p>
        </p:txBody>
      </p:sp>
      <p:sp>
        <p:nvSpPr>
          <p:cNvPr id="29" name="TextBox 28"/>
          <p:cNvSpPr txBox="1"/>
          <p:nvPr/>
        </p:nvSpPr>
        <p:spPr>
          <a:xfrm>
            <a:off x="7434072" y="4005072"/>
            <a:ext cx="3584448" cy="192024"/>
          </a:xfrm>
          <a:prstGeom prst="rect">
            <a:avLst/>
          </a:prstGeom>
          <a:noFill/>
        </p:spPr>
        <p:txBody>
          <a:bodyPr wrap="square" lIns="0" tIns="0" rIns="0" bIns="0" anchor="t">
            <a:spAutoFit/>
          </a:bodyPr>
          <a:lstStyle/>
          <a:p>
            <a:pPr algn="l">
              <a:lnSpc>
                <a:spcPts val="1088"/>
              </a:lnSpc>
              <a:spcAft>
                <a:spcPts val="300"/>
              </a:spcAft>
            </a:pPr>
            <a:r>
              <a:rPr sz="930" b="1" i="0">
                <a:solidFill>
                  <a:srgbClr val="078674"/>
                </a:solidFill>
                <a:latin typeface="Inter"/>
              </a:rPr>
              <a:t>QUYẾT ĐỊNH SAU PHẢN BIỆN</a:t>
            </a:r>
          </a:p>
        </p:txBody>
      </p:sp>
      <p:sp>
        <p:nvSpPr>
          <p:cNvPr id="30" name="TextBox 29"/>
          <p:cNvSpPr txBox="1"/>
          <p:nvPr/>
        </p:nvSpPr>
        <p:spPr>
          <a:xfrm>
            <a:off x="7434072" y="4261103"/>
            <a:ext cx="3630168" cy="475488"/>
          </a:xfrm>
          <a:prstGeom prst="rect">
            <a:avLst/>
          </a:prstGeom>
          <a:noFill/>
        </p:spPr>
        <p:txBody>
          <a:bodyPr wrap="square" lIns="0" tIns="0" rIns="0" bIns="0" anchor="t">
            <a:spAutoFit/>
          </a:bodyPr>
          <a:lstStyle/>
          <a:p>
            <a:pPr algn="l">
              <a:lnSpc>
                <a:spcPts val="1357"/>
              </a:lnSpc>
              <a:spcAft>
                <a:spcPts val="300"/>
              </a:spcAft>
            </a:pPr>
            <a:r>
              <a:rPr sz="1160" b="0" i="0">
                <a:solidFill>
                  <a:srgbClr val="153E35"/>
                </a:solidFill>
                <a:latin typeface="Inter"/>
              </a:rPr>
              <a:t>Hyper Mode có timer + công cụ + notes.</a:t>
            </a:r>
          </a:p>
        </p:txBody>
      </p:sp>
      <p:sp>
        <p:nvSpPr>
          <p:cNvPr id="31" name="Rounded Rectangle 30"/>
          <p:cNvSpPr/>
          <p:nvPr/>
        </p:nvSpPr>
        <p:spPr>
          <a:xfrm>
            <a:off x="694944" y="4901183"/>
            <a:ext cx="10789920" cy="923544"/>
          </a:xfrm>
          <a:prstGeom prst="roundRect">
            <a:avLst>
              <a:gd name="adj" fmla="val 7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77824" y="5038344"/>
            <a:ext cx="1216152"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TÌNH HUỐNG</a:t>
            </a:r>
          </a:p>
        </p:txBody>
      </p:sp>
      <p:sp>
        <p:nvSpPr>
          <p:cNvPr id="33" name="TextBox 32"/>
          <p:cNvSpPr txBox="1"/>
          <p:nvPr/>
        </p:nvSpPr>
        <p:spPr>
          <a:xfrm>
            <a:off x="877824" y="5330951"/>
            <a:ext cx="2770632" cy="338328"/>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Ngại người lạ</a:t>
            </a:r>
          </a:p>
        </p:txBody>
      </p:sp>
      <p:sp>
        <p:nvSpPr>
          <p:cNvPr id="34" name="TextBox 33"/>
          <p:cNvSpPr txBox="1"/>
          <p:nvPr/>
        </p:nvSpPr>
        <p:spPr>
          <a:xfrm>
            <a:off x="3794760" y="5038344"/>
            <a:ext cx="1472184" cy="192024"/>
          </a:xfrm>
          <a:prstGeom prst="rect">
            <a:avLst/>
          </a:prstGeom>
          <a:noFill/>
        </p:spPr>
        <p:txBody>
          <a:bodyPr wrap="square" lIns="0" tIns="0" rIns="0" bIns="0" anchor="t">
            <a:spAutoFit/>
          </a:bodyPr>
          <a:lstStyle/>
          <a:p>
            <a:pPr algn="l">
              <a:lnSpc>
                <a:spcPts val="1111"/>
              </a:lnSpc>
              <a:spcAft>
                <a:spcPts val="300"/>
              </a:spcAft>
            </a:pPr>
            <a:r>
              <a:rPr sz="950" b="1" i="0">
                <a:solidFill>
                  <a:srgbClr val="078674"/>
                </a:solidFill>
                <a:latin typeface="Inter"/>
              </a:rPr>
              <a:t>ĐỀ XUẤT UX</a:t>
            </a:r>
          </a:p>
        </p:txBody>
      </p:sp>
      <p:sp>
        <p:nvSpPr>
          <p:cNvPr id="35" name="TextBox 34"/>
          <p:cNvSpPr txBox="1"/>
          <p:nvPr/>
        </p:nvSpPr>
        <p:spPr>
          <a:xfrm>
            <a:off x="3794760" y="5330951"/>
            <a:ext cx="3246120" cy="384048"/>
          </a:xfrm>
          <a:prstGeom prst="rect">
            <a:avLst/>
          </a:prstGeom>
          <a:noFill/>
        </p:spPr>
        <p:txBody>
          <a:bodyPr wrap="square" lIns="0" tIns="0" rIns="0" bIns="0" anchor="t">
            <a:spAutoFit/>
          </a:bodyPr>
          <a:lstStyle/>
          <a:p>
            <a:pPr algn="l">
              <a:lnSpc>
                <a:spcPts val="1462"/>
              </a:lnSpc>
              <a:spcAft>
                <a:spcPts val="300"/>
              </a:spcAft>
            </a:pPr>
            <a:r>
              <a:rPr sz="1250" b="0" i="0">
                <a:solidFill>
                  <a:srgbClr val="153E35"/>
                </a:solidFill>
                <a:latin typeface="Inter"/>
              </a:rPr>
              <a:t>Kết nối theo mức sẵn sàng</a:t>
            </a:r>
          </a:p>
        </p:txBody>
      </p:sp>
      <p:sp>
        <p:nvSpPr>
          <p:cNvPr id="36" name="TextBox 35"/>
          <p:cNvSpPr txBox="1"/>
          <p:nvPr/>
        </p:nvSpPr>
        <p:spPr>
          <a:xfrm>
            <a:off x="7434072" y="5038344"/>
            <a:ext cx="3584448" cy="192024"/>
          </a:xfrm>
          <a:prstGeom prst="rect">
            <a:avLst/>
          </a:prstGeom>
          <a:noFill/>
        </p:spPr>
        <p:txBody>
          <a:bodyPr wrap="square" lIns="0" tIns="0" rIns="0" bIns="0" anchor="t">
            <a:spAutoFit/>
          </a:bodyPr>
          <a:lstStyle/>
          <a:p>
            <a:pPr algn="l">
              <a:lnSpc>
                <a:spcPts val="1088"/>
              </a:lnSpc>
              <a:spcAft>
                <a:spcPts val="300"/>
              </a:spcAft>
            </a:pPr>
            <a:r>
              <a:rPr sz="930" b="1" i="0">
                <a:solidFill>
                  <a:srgbClr val="078674"/>
                </a:solidFill>
                <a:latin typeface="Inter"/>
              </a:rPr>
              <a:t>QUYẾT ĐỊNH SAU PHẢN BIỆN</a:t>
            </a:r>
          </a:p>
        </p:txBody>
      </p:sp>
      <p:sp>
        <p:nvSpPr>
          <p:cNvPr id="37" name="TextBox 36"/>
          <p:cNvSpPr txBox="1"/>
          <p:nvPr/>
        </p:nvSpPr>
        <p:spPr>
          <a:xfrm>
            <a:off x="7434072" y="5294375"/>
            <a:ext cx="3630168" cy="475488"/>
          </a:xfrm>
          <a:prstGeom prst="rect">
            <a:avLst/>
          </a:prstGeom>
          <a:noFill/>
        </p:spPr>
        <p:txBody>
          <a:bodyPr wrap="square" lIns="0" tIns="0" rIns="0" bIns="0" anchor="t">
            <a:spAutoFit/>
          </a:bodyPr>
          <a:lstStyle/>
          <a:p>
            <a:pPr algn="l">
              <a:lnSpc>
                <a:spcPts val="1357"/>
              </a:lnSpc>
              <a:spcAft>
                <a:spcPts val="300"/>
              </a:spcAft>
            </a:pPr>
            <a:r>
              <a:rPr sz="1160" b="0" i="0">
                <a:solidFill>
                  <a:srgbClr val="153E35"/>
                </a:solidFill>
                <a:latin typeface="Inter"/>
              </a:rPr>
              <a:t>Feed / Group / Chat có thể tham gia tự nguyện.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410369"/>
          </a:xfrm>
          <a:prstGeom prst="rect">
            <a:avLst/>
          </a:prstGeom>
          <a:noFill/>
        </p:spPr>
        <p:txBody>
          <a:bodyPr wrap="square" lIns="0" tIns="0" rIns="0" bIns="0" anchor="t">
            <a:spAutoFit/>
          </a:bodyPr>
          <a:lstStyle/>
          <a:p>
            <a:pPr algn="l">
              <a:lnSpc>
                <a:spcPts val="3158"/>
              </a:lnSpc>
              <a:spcAft>
                <a:spcPts val="300"/>
              </a:spcAft>
            </a:pPr>
            <a:r>
              <a:rPr sz="2700" b="1" i="0" dirty="0">
                <a:solidFill>
                  <a:srgbClr val="153E35"/>
                </a:solidFill>
                <a:latin typeface="Inter"/>
              </a:rPr>
              <a:t>2 persona </a:t>
            </a:r>
            <a:r>
              <a:rPr sz="2700" b="1" i="0" dirty="0" err="1">
                <a:solidFill>
                  <a:srgbClr val="153E35"/>
                </a:solidFill>
                <a:latin typeface="Inter"/>
              </a:rPr>
              <a:t>chính</a:t>
            </a:r>
            <a:endParaRPr sz="2700" b="1" i="0" dirty="0">
              <a:solidFill>
                <a:srgbClr val="153E35"/>
              </a:solidFill>
              <a:latin typeface="Inter"/>
            </a:endParaRP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29</a:t>
            </a:r>
          </a:p>
        </p:txBody>
      </p:sp>
      <p:sp>
        <p:nvSpPr>
          <p:cNvPr id="10" name="Rounded Rectangle 9"/>
          <p:cNvSpPr/>
          <p:nvPr/>
        </p:nvSpPr>
        <p:spPr>
          <a:xfrm>
            <a:off x="676656" y="1865376"/>
            <a:ext cx="5257800" cy="1517904"/>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93392"/>
            <a:ext cx="489204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PHẢN BIỆN PERSONA</a:t>
            </a:r>
          </a:p>
        </p:txBody>
      </p:sp>
      <p:sp>
        <p:nvSpPr>
          <p:cNvPr id="12" name="TextBox 11"/>
          <p:cNvSpPr txBox="1"/>
          <p:nvPr/>
        </p:nvSpPr>
        <p:spPr>
          <a:xfrm>
            <a:off x="850392" y="2313432"/>
            <a:ext cx="4919472" cy="923543"/>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Dùng dữ liệu của chính Minh và Khoa, không tự tạo người ghép hoặc thêm chi tiết không có.</a:t>
            </a:r>
          </a:p>
        </p:txBody>
      </p:sp>
      <p:sp>
        <p:nvSpPr>
          <p:cNvPr id="13" name="Rounded Rectangle 12"/>
          <p:cNvSpPr/>
          <p:nvPr/>
        </p:nvSpPr>
        <p:spPr>
          <a:xfrm>
            <a:off x="6181344" y="1865376"/>
            <a:ext cx="5294376" cy="15179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993392"/>
            <a:ext cx="4928616"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ĐIỀU CHỈNH</a:t>
            </a:r>
          </a:p>
        </p:txBody>
      </p:sp>
      <p:sp>
        <p:nvSpPr>
          <p:cNvPr id="15" name="TextBox 14"/>
          <p:cNvSpPr txBox="1"/>
          <p:nvPr/>
        </p:nvSpPr>
        <p:spPr>
          <a:xfrm>
            <a:off x="6355080" y="2313432"/>
            <a:ext cx="4956048" cy="923543"/>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Chọn P01 Minh (chưa bắt đầu) và P02 Khoa (khó duy trì), giữ bối cảnh từ vai phỏng vấn; trường chưa có thông tin thì ghi “Chưa có dữ liệu”.</a:t>
            </a:r>
          </a:p>
        </p:txBody>
      </p:sp>
      <p:sp>
        <p:nvSpPr>
          <p:cNvPr id="16" name="Rounded Rectangle 15"/>
          <p:cNvSpPr/>
          <p:nvPr/>
        </p:nvSpPr>
        <p:spPr>
          <a:xfrm>
            <a:off x="704088" y="3822191"/>
            <a:ext cx="5239512" cy="14721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4014215"/>
            <a:ext cx="4855464"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P01 — Minh, 20 tuổi</a:t>
            </a:r>
          </a:p>
        </p:txBody>
      </p:sp>
      <p:sp>
        <p:nvSpPr>
          <p:cNvPr id="18" name="TextBox 17"/>
          <p:cNvSpPr txBox="1"/>
          <p:nvPr/>
        </p:nvSpPr>
        <p:spPr>
          <a:xfrm>
            <a:off x="905256" y="4645152"/>
            <a:ext cx="4837176" cy="557784"/>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Primary persona: cần định hướng và tự tin bắt đầu chụp ảnh.</a:t>
            </a:r>
          </a:p>
        </p:txBody>
      </p:sp>
      <p:sp>
        <p:nvSpPr>
          <p:cNvPr id="19" name="Rounded Rectangle 18"/>
          <p:cNvSpPr/>
          <p:nvPr/>
        </p:nvSpPr>
        <p:spPr>
          <a:xfrm>
            <a:off x="6181344" y="3822191"/>
            <a:ext cx="5276088" cy="14721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73368" y="4014215"/>
            <a:ext cx="489204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P02 — Khoa, 21 tuổi</a:t>
            </a:r>
          </a:p>
        </p:txBody>
      </p:sp>
      <p:sp>
        <p:nvSpPr>
          <p:cNvPr id="21" name="TextBox 20"/>
          <p:cNvSpPr txBox="1"/>
          <p:nvPr/>
        </p:nvSpPr>
        <p:spPr>
          <a:xfrm>
            <a:off x="6382512" y="4645152"/>
            <a:ext cx="4873751" cy="557784"/>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Secondary persona: muốn tập guitar đều hơn, tránh mất thời gian vào mạng xã hội.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Persona MINH — hành vi, mục tiêu, khó khăn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Đủ 15 trường từ template persona; trường nào không có dữ liệu được ghi rõ.</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30</a:t>
            </a:r>
          </a:p>
        </p:txBody>
      </p:sp>
      <p:sp>
        <p:nvSpPr>
          <p:cNvPr id="10" name="Rounded Rectangle 9"/>
          <p:cNvSpPr/>
          <p:nvPr/>
        </p:nvSpPr>
        <p:spPr>
          <a:xfrm>
            <a:off x="667512"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01 · Tên &amp; Archetype</a:t>
            </a:r>
          </a:p>
        </p:txBody>
      </p:sp>
      <p:sp>
        <p:nvSpPr>
          <p:cNvPr id="12" name="TextBox 11"/>
          <p:cNvSpPr txBox="1"/>
          <p:nvPr/>
        </p:nvSpPr>
        <p:spPr>
          <a:xfrm>
            <a:off x="786384"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Minh · 20 · “Muốn thử nhưng chưa biết bắt đầu”</a:t>
            </a:r>
          </a:p>
        </p:txBody>
      </p:sp>
      <p:sp>
        <p:nvSpPr>
          <p:cNvPr id="13" name="Rounded Rectangle 12"/>
          <p:cNvSpPr/>
          <p:nvPr/>
        </p:nvSpPr>
        <p:spPr>
          <a:xfrm>
            <a:off x="667512"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02 · Ưu tiên &amp; lý do</a:t>
            </a:r>
          </a:p>
        </p:txBody>
      </p:sp>
      <p:sp>
        <p:nvSpPr>
          <p:cNvPr id="15" name="TextBox 14"/>
          <p:cNvSpPr txBox="1"/>
          <p:nvPr/>
        </p:nvSpPr>
        <p:spPr>
          <a:xfrm>
            <a:off x="786384"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Primary; tập trung vào bài toán khám phá sở thích mới</a:t>
            </a:r>
          </a:p>
        </p:txBody>
      </p:sp>
      <p:sp>
        <p:nvSpPr>
          <p:cNvPr id="16" name="Rounded Rectangle 15"/>
          <p:cNvSpPr/>
          <p:nvPr/>
        </p:nvSpPr>
        <p:spPr>
          <a:xfrm>
            <a:off x="667512"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03 · Bối cảnh sử dụng</a:t>
            </a:r>
          </a:p>
        </p:txBody>
      </p:sp>
      <p:sp>
        <p:nvSpPr>
          <p:cNvPr id="18" name="TextBox 17"/>
          <p:cNvSpPr txBox="1"/>
          <p:nvPr/>
        </p:nvSpPr>
        <p:spPr>
          <a:xfrm>
            <a:off x="786384"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Sinh viên; xem video lúc rảnh; dùng điện thoại; thêm chi tiết: chưa có dữ liệu</a:t>
            </a:r>
          </a:p>
        </p:txBody>
      </p:sp>
      <p:sp>
        <p:nvSpPr>
          <p:cNvPr id="19" name="Rounded Rectangle 18"/>
          <p:cNvSpPr/>
          <p:nvPr/>
        </p:nvSpPr>
        <p:spPr>
          <a:xfrm>
            <a:off x="667512"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04 · Mục tiêu</a:t>
            </a:r>
          </a:p>
        </p:txBody>
      </p:sp>
      <p:sp>
        <p:nvSpPr>
          <p:cNvPr id="21" name="TextBox 20"/>
          <p:cNvSpPr txBox="1"/>
          <p:nvPr/>
        </p:nvSpPr>
        <p:spPr>
          <a:xfrm>
            <a:off x="786384"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Thử nhiếp ảnh; biết bài tập đầu tiên; tự tin tham gia khi sẵn sàng</a:t>
            </a:r>
          </a:p>
        </p:txBody>
      </p:sp>
      <p:sp>
        <p:nvSpPr>
          <p:cNvPr id="22" name="Rounded Rectangle 21"/>
          <p:cNvSpPr/>
          <p:nvPr/>
        </p:nvSpPr>
        <p:spPr>
          <a:xfrm>
            <a:off x="6272783"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5"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05 · JTBD</a:t>
            </a:r>
          </a:p>
        </p:txBody>
      </p:sp>
      <p:sp>
        <p:nvSpPr>
          <p:cNvPr id="24" name="TextBox 23"/>
          <p:cNvSpPr txBox="1"/>
          <p:nvPr/>
        </p:nvSpPr>
        <p:spPr>
          <a:xfrm>
            <a:off x="6391655"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Khi muốn thử chụp ảnh, tôi muốn có cách bắt đầu nhỏ và phù hợp để không tiếp tục trì hoãn.</a:t>
            </a:r>
          </a:p>
        </p:txBody>
      </p:sp>
      <p:sp>
        <p:nvSpPr>
          <p:cNvPr id="25" name="Rounded Rectangle 24"/>
          <p:cNvSpPr/>
          <p:nvPr/>
        </p:nvSpPr>
        <p:spPr>
          <a:xfrm>
            <a:off x="6272783"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91655"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06 · Hành vi &amp; workaround</a:t>
            </a:r>
          </a:p>
        </p:txBody>
      </p:sp>
      <p:sp>
        <p:nvSpPr>
          <p:cNvPr id="27" name="TextBox 26"/>
          <p:cNvSpPr txBox="1"/>
          <p:nvPr/>
        </p:nvSpPr>
        <p:spPr>
          <a:xfrm>
            <a:off x="6391655"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Lưu tutorial; xem ảnh trên mạng; chưa thực hành; ngại nhóm kinh nghiệm cao</a:t>
            </a:r>
          </a:p>
        </p:txBody>
      </p:sp>
      <p:sp>
        <p:nvSpPr>
          <p:cNvPr id="28" name="Rounded Rectangle 27"/>
          <p:cNvSpPr/>
          <p:nvPr/>
        </p:nvSpPr>
        <p:spPr>
          <a:xfrm>
            <a:off x="6272783"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91655"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07 · Pain points</a:t>
            </a:r>
          </a:p>
        </p:txBody>
      </p:sp>
      <p:sp>
        <p:nvSpPr>
          <p:cNvPr id="30" name="TextBox 29"/>
          <p:cNvSpPr txBox="1"/>
          <p:nvPr/>
        </p:nvSpPr>
        <p:spPr>
          <a:xfrm>
            <a:off x="6391655"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Thiếu định hướng / kinh nghiệm / tự tin; xem video kéo dài</a:t>
            </a:r>
          </a:p>
        </p:txBody>
      </p:sp>
      <p:sp>
        <p:nvSpPr>
          <p:cNvPr id="31" name="Rounded Rectangle 30"/>
          <p:cNvSpPr/>
          <p:nvPr/>
        </p:nvSpPr>
        <p:spPr>
          <a:xfrm>
            <a:off x="6272783"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91655"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08 · Động lực</a:t>
            </a:r>
          </a:p>
        </p:txBody>
      </p:sp>
      <p:sp>
        <p:nvSpPr>
          <p:cNvPr id="33" name="TextBox 32"/>
          <p:cNvSpPr txBox="1"/>
          <p:nvPr/>
        </p:nvSpPr>
        <p:spPr>
          <a:xfrm>
            <a:off x="6391655"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Muốn chụp ảnh campus và thấy ảnh của mình tiến bộ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Persona MINH — bối cảnh, tiêu chí và quyết định thử</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Đủ 15 trường từ template persona; trường nào không có dữ liệu được ghi rõ.</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31</a:t>
            </a:r>
          </a:p>
        </p:txBody>
      </p:sp>
      <p:sp>
        <p:nvSpPr>
          <p:cNvPr id="10" name="Rounded Rectangle 9"/>
          <p:cNvSpPr/>
          <p:nvPr/>
        </p:nvSpPr>
        <p:spPr>
          <a:xfrm>
            <a:off x="667512"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09 · Ràng buộc</a:t>
            </a:r>
          </a:p>
        </p:txBody>
      </p:sp>
      <p:sp>
        <p:nvSpPr>
          <p:cNvPr id="12" name="TextBox 11"/>
          <p:cNvSpPr txBox="1"/>
          <p:nvPr/>
        </p:nvSpPr>
        <p:spPr>
          <a:xfrm>
            <a:off x="786384"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Thiếu kiến thức và sự tự tin; thiết bị / accessibility: chưa có dữ liệu</a:t>
            </a:r>
          </a:p>
        </p:txBody>
      </p:sp>
      <p:sp>
        <p:nvSpPr>
          <p:cNvPr id="13" name="Rounded Rectangle 12"/>
          <p:cNvSpPr/>
          <p:nvPr/>
        </p:nvSpPr>
        <p:spPr>
          <a:xfrm>
            <a:off x="667512"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10 · Tình huống trọng yếu</a:t>
            </a:r>
          </a:p>
        </p:txBody>
      </p:sp>
      <p:sp>
        <p:nvSpPr>
          <p:cNvPr id="15" name="TextBox 14"/>
          <p:cNvSpPr txBox="1"/>
          <p:nvPr/>
        </p:nvSpPr>
        <p:spPr>
          <a:xfrm>
            <a:off x="786384"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Tạo Photography; lên buổi tập đầu; lựa chọn khám phá nhóm phù hợp</a:t>
            </a:r>
          </a:p>
        </p:txBody>
      </p:sp>
      <p:sp>
        <p:nvSpPr>
          <p:cNvPr id="16" name="Rounded Rectangle 15"/>
          <p:cNvSpPr/>
          <p:nvPr/>
        </p:nvSpPr>
        <p:spPr>
          <a:xfrm>
            <a:off x="667512"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11 · Tiêu chí thành công</a:t>
            </a:r>
          </a:p>
        </p:txBody>
      </p:sp>
      <p:sp>
        <p:nvSpPr>
          <p:cNvPr id="18" name="TextBox 17"/>
          <p:cNvSpPr txBox="1"/>
          <p:nvPr/>
        </p:nvSpPr>
        <p:spPr>
          <a:xfrm>
            <a:off x="786384"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Có thể tạo hobby và lên phiên tập đầu trong thao tác ngắn; cần kiểm chứng với người thật</a:t>
            </a:r>
          </a:p>
        </p:txBody>
      </p:sp>
      <p:sp>
        <p:nvSpPr>
          <p:cNvPr id="19" name="Rounded Rectangle 18"/>
          <p:cNvSpPr/>
          <p:nvPr/>
        </p:nvSpPr>
        <p:spPr>
          <a:xfrm>
            <a:off x="667512"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12 · Nguồn nghiên cứu</a:t>
            </a:r>
          </a:p>
        </p:txBody>
      </p:sp>
      <p:sp>
        <p:nvSpPr>
          <p:cNvPr id="21" name="TextBox 20"/>
          <p:cNvSpPr txBox="1"/>
          <p:nvPr/>
        </p:nvSpPr>
        <p:spPr>
          <a:xfrm>
            <a:off x="786384"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Role-play interview A01 / Minh · câu hỏi 1–9 và F1–F3</a:t>
            </a:r>
          </a:p>
        </p:txBody>
      </p:sp>
      <p:sp>
        <p:nvSpPr>
          <p:cNvPr id="22" name="Rounded Rectangle 21"/>
          <p:cNvSpPr/>
          <p:nvPr/>
        </p:nvSpPr>
        <p:spPr>
          <a:xfrm>
            <a:off x="6272783"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5"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13 · Trạng thái nguồn</a:t>
            </a:r>
          </a:p>
        </p:txBody>
      </p:sp>
      <p:sp>
        <p:nvSpPr>
          <p:cNvPr id="24" name="TextBox 23"/>
          <p:cNvSpPr txBox="1"/>
          <p:nvPr/>
        </p:nvSpPr>
        <p:spPr>
          <a:xfrm>
            <a:off x="6391655"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Nội dung từ mô phỏng; không phải phát hiện quan sát thực địa</a:t>
            </a:r>
          </a:p>
        </p:txBody>
      </p:sp>
      <p:sp>
        <p:nvSpPr>
          <p:cNvPr id="25" name="Rounded Rectangle 24"/>
          <p:cNvSpPr/>
          <p:nvPr/>
        </p:nvSpPr>
        <p:spPr>
          <a:xfrm>
            <a:off x="6272783"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91655"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14 · Câu hỏi mở</a:t>
            </a:r>
          </a:p>
        </p:txBody>
      </p:sp>
      <p:sp>
        <p:nvSpPr>
          <p:cNvPr id="27" name="TextBox 26"/>
          <p:cNvSpPr txBox="1"/>
          <p:nvPr/>
        </p:nvSpPr>
        <p:spPr>
          <a:xfrm>
            <a:off x="6391655"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Cần hướng dẫn mức nào? Có muốn chia sẻ công khai không?</a:t>
            </a:r>
          </a:p>
        </p:txBody>
      </p:sp>
      <p:sp>
        <p:nvSpPr>
          <p:cNvPr id="28" name="Rounded Rectangle 27"/>
          <p:cNvSpPr/>
          <p:nvPr/>
        </p:nvSpPr>
        <p:spPr>
          <a:xfrm>
            <a:off x="6272783"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91655"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15 · Quyết định UI sẽ thử</a:t>
            </a:r>
          </a:p>
        </p:txBody>
      </p:sp>
      <p:sp>
        <p:nvSpPr>
          <p:cNvPr id="30" name="TextBox 29"/>
          <p:cNvSpPr txBox="1"/>
          <p:nvPr/>
        </p:nvSpPr>
        <p:spPr>
          <a:xfrm>
            <a:off x="6391655"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Create Hobby → Add Schedule → gợi ý nhóm theo hobby tùy chọn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Persona KHOA — hành vi, mục tiêu, khó khăn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Đủ 15 trường từ template persona; trường nào không có dữ liệu được ghi rõ.</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32</a:t>
            </a:r>
          </a:p>
        </p:txBody>
      </p:sp>
      <p:sp>
        <p:nvSpPr>
          <p:cNvPr id="10" name="Rounded Rectangle 9"/>
          <p:cNvSpPr/>
          <p:nvPr/>
        </p:nvSpPr>
        <p:spPr>
          <a:xfrm>
            <a:off x="667512"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01 · Tên &amp; Archetype</a:t>
            </a:r>
          </a:p>
        </p:txBody>
      </p:sp>
      <p:sp>
        <p:nvSpPr>
          <p:cNvPr id="12" name="TextBox 11"/>
          <p:cNvSpPr txBox="1"/>
          <p:nvPr/>
        </p:nvSpPr>
        <p:spPr>
          <a:xfrm>
            <a:off x="786384"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Khoa · 21 · “Đã thích nhưng không tập đều”</a:t>
            </a:r>
          </a:p>
        </p:txBody>
      </p:sp>
      <p:sp>
        <p:nvSpPr>
          <p:cNvPr id="13" name="Rounded Rectangle 12"/>
          <p:cNvSpPr/>
          <p:nvPr/>
        </p:nvSpPr>
        <p:spPr>
          <a:xfrm>
            <a:off x="667512"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02 · Ưu tiên &amp; lý do</a:t>
            </a:r>
          </a:p>
        </p:txBody>
      </p:sp>
      <p:sp>
        <p:nvSpPr>
          <p:cNvPr id="15" name="TextBox 14"/>
          <p:cNvSpPr txBox="1"/>
          <p:nvPr/>
        </p:nvSpPr>
        <p:spPr>
          <a:xfrm>
            <a:off x="786384"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Secondary; đại diện cho bài toán duy trì sở thích</a:t>
            </a:r>
          </a:p>
        </p:txBody>
      </p:sp>
      <p:sp>
        <p:nvSpPr>
          <p:cNvPr id="16" name="Rounded Rectangle 15"/>
          <p:cNvSpPr/>
          <p:nvPr/>
        </p:nvSpPr>
        <p:spPr>
          <a:xfrm>
            <a:off x="667512"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03 · Bối cảnh sử dụng</a:t>
            </a:r>
          </a:p>
        </p:txBody>
      </p:sp>
      <p:sp>
        <p:nvSpPr>
          <p:cNvPr id="18" name="TextBox 17"/>
          <p:cNvSpPr txBox="1"/>
          <p:nvPr/>
        </p:nvSpPr>
        <p:spPr>
          <a:xfrm>
            <a:off x="786384"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Sinh viên; có guitar, dùng TikTok, bị kỳ thi gián đoạn</a:t>
            </a:r>
          </a:p>
        </p:txBody>
      </p:sp>
      <p:sp>
        <p:nvSpPr>
          <p:cNvPr id="19" name="Rounded Rectangle 18"/>
          <p:cNvSpPr/>
          <p:nvPr/>
        </p:nvSpPr>
        <p:spPr>
          <a:xfrm>
            <a:off x="667512"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04 · Mục tiêu</a:t>
            </a:r>
          </a:p>
        </p:txBody>
      </p:sp>
      <p:sp>
        <p:nvSpPr>
          <p:cNvPr id="21" name="TextBox 20"/>
          <p:cNvSpPr txBox="1"/>
          <p:nvPr/>
        </p:nvSpPr>
        <p:spPr>
          <a:xfrm>
            <a:off x="786384"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Luyện guitar thường xuyên; giảm phân tâm; cảm nhận tiến bộ</a:t>
            </a:r>
          </a:p>
        </p:txBody>
      </p:sp>
      <p:sp>
        <p:nvSpPr>
          <p:cNvPr id="22" name="Rounded Rectangle 21"/>
          <p:cNvSpPr/>
          <p:nvPr/>
        </p:nvSpPr>
        <p:spPr>
          <a:xfrm>
            <a:off x="6272783"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5"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05 · JTBD</a:t>
            </a:r>
          </a:p>
        </p:txBody>
      </p:sp>
      <p:sp>
        <p:nvSpPr>
          <p:cNvPr id="24" name="TextBox 23"/>
          <p:cNvSpPr txBox="1"/>
          <p:nvPr/>
        </p:nvSpPr>
        <p:spPr>
          <a:xfrm>
            <a:off x="6391655"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Khi có ít phút rảnh, tôi muốn bắt đầu tập ngay và ghi lại buổi tập để thấy mình vẫn tiến lên.</a:t>
            </a:r>
          </a:p>
        </p:txBody>
      </p:sp>
      <p:sp>
        <p:nvSpPr>
          <p:cNvPr id="25" name="Rounded Rectangle 24"/>
          <p:cNvSpPr/>
          <p:nvPr/>
        </p:nvSpPr>
        <p:spPr>
          <a:xfrm>
            <a:off x="6272783"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91655"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06 · Hành vi &amp; workaround</a:t>
            </a:r>
          </a:p>
        </p:txBody>
      </p:sp>
      <p:sp>
        <p:nvSpPr>
          <p:cNvPr id="27" name="TextBox 26"/>
          <p:cNvSpPr txBox="1"/>
          <p:nvPr/>
        </p:nvSpPr>
        <p:spPr>
          <a:xfrm>
            <a:off x="6391655"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Xem video guitar thay vì chơi; từng bỏ qua nhắc trên điện thoại</a:t>
            </a:r>
          </a:p>
        </p:txBody>
      </p:sp>
      <p:sp>
        <p:nvSpPr>
          <p:cNvPr id="28" name="Rounded Rectangle 27"/>
          <p:cNvSpPr/>
          <p:nvPr/>
        </p:nvSpPr>
        <p:spPr>
          <a:xfrm>
            <a:off x="6272783"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91655"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07 · Pain points</a:t>
            </a:r>
          </a:p>
        </p:txBody>
      </p:sp>
      <p:sp>
        <p:nvSpPr>
          <p:cNvPr id="30" name="TextBox 29"/>
          <p:cNvSpPr txBox="1"/>
          <p:nvPr/>
        </p:nvSpPr>
        <p:spPr>
          <a:xfrm>
            <a:off x="6391655"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TikTok, kỳ thi, cảm giác tiến bộ quá chậm</a:t>
            </a:r>
          </a:p>
        </p:txBody>
      </p:sp>
      <p:sp>
        <p:nvSpPr>
          <p:cNvPr id="31" name="Rounded Rectangle 30"/>
          <p:cNvSpPr/>
          <p:nvPr/>
        </p:nvSpPr>
        <p:spPr>
          <a:xfrm>
            <a:off x="6272783"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91655"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08 · Động lực</a:t>
            </a:r>
          </a:p>
        </p:txBody>
      </p:sp>
      <p:sp>
        <p:nvSpPr>
          <p:cNvPr id="33" name="TextBox 32"/>
          <p:cNvSpPr txBox="1"/>
          <p:nvPr/>
        </p:nvSpPr>
        <p:spPr>
          <a:xfrm>
            <a:off x="6391655"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Muốn chơi được bài mới; bạn cùng phòng động viên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Persona KHOA — bối cảnh, tiêu chí và quyết định thử</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Đủ 15 trường từ template persona; trường nào không có dữ liệu được ghi rõ.</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33</a:t>
            </a:r>
          </a:p>
        </p:txBody>
      </p:sp>
      <p:sp>
        <p:nvSpPr>
          <p:cNvPr id="10" name="Rounded Rectangle 9"/>
          <p:cNvSpPr/>
          <p:nvPr/>
        </p:nvSpPr>
        <p:spPr>
          <a:xfrm>
            <a:off x="667512"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09 · Ràng buộc</a:t>
            </a:r>
          </a:p>
        </p:txBody>
      </p:sp>
      <p:sp>
        <p:nvSpPr>
          <p:cNvPr id="12" name="TextBox 11"/>
          <p:cNvSpPr txBox="1"/>
          <p:nvPr/>
        </p:nvSpPr>
        <p:spPr>
          <a:xfrm>
            <a:off x="786384"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Thời gian học / thi; điều kiện thiết bị / accessibility chưa có dữ liệu</a:t>
            </a:r>
          </a:p>
        </p:txBody>
      </p:sp>
      <p:sp>
        <p:nvSpPr>
          <p:cNvPr id="13" name="Rounded Rectangle 12"/>
          <p:cNvSpPr/>
          <p:nvPr/>
        </p:nvSpPr>
        <p:spPr>
          <a:xfrm>
            <a:off x="667512"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10 · Tình huống trọng yếu</a:t>
            </a:r>
          </a:p>
        </p:txBody>
      </p:sp>
      <p:sp>
        <p:nvSpPr>
          <p:cNvPr id="15" name="TextBox 14"/>
          <p:cNvSpPr txBox="1"/>
          <p:nvPr/>
        </p:nvSpPr>
        <p:spPr>
          <a:xfrm>
            <a:off x="786384"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Tạo Guitar → lên lịch → Hyper Mode → ghi notes sau khi tập</a:t>
            </a:r>
          </a:p>
        </p:txBody>
      </p:sp>
      <p:sp>
        <p:nvSpPr>
          <p:cNvPr id="16" name="Rounded Rectangle 15"/>
          <p:cNvSpPr/>
          <p:nvPr/>
        </p:nvSpPr>
        <p:spPr>
          <a:xfrm>
            <a:off x="667512"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11 · Tiêu chí thành công</a:t>
            </a:r>
          </a:p>
        </p:txBody>
      </p:sp>
      <p:sp>
        <p:nvSpPr>
          <p:cNvPr id="18" name="TextBox 17"/>
          <p:cNvSpPr txBox="1"/>
          <p:nvPr/>
        </p:nvSpPr>
        <p:spPr>
          <a:xfrm>
            <a:off x="786384"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Hoàn thành 1 phiên luyện và xem lại thời lượng; cần kiểm chứng thực địa</a:t>
            </a:r>
          </a:p>
        </p:txBody>
      </p:sp>
      <p:sp>
        <p:nvSpPr>
          <p:cNvPr id="19" name="Rounded Rectangle 18"/>
          <p:cNvSpPr/>
          <p:nvPr/>
        </p:nvSpPr>
        <p:spPr>
          <a:xfrm>
            <a:off x="667512" y="5065776"/>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5175504"/>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12 · Nguồn nghiên cứu</a:t>
            </a:r>
          </a:p>
        </p:txBody>
      </p:sp>
      <p:sp>
        <p:nvSpPr>
          <p:cNvPr id="21" name="TextBox 20"/>
          <p:cNvSpPr txBox="1"/>
          <p:nvPr/>
        </p:nvSpPr>
        <p:spPr>
          <a:xfrm>
            <a:off x="786384" y="5477256"/>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Role-play interview B01 / Khoa · câu hỏi 1–9 và F1–F3</a:t>
            </a:r>
          </a:p>
        </p:txBody>
      </p:sp>
      <p:sp>
        <p:nvSpPr>
          <p:cNvPr id="22" name="Rounded Rectangle 21"/>
          <p:cNvSpPr/>
          <p:nvPr/>
        </p:nvSpPr>
        <p:spPr>
          <a:xfrm>
            <a:off x="6272783" y="1801368"/>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1655" y="1911095"/>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13 · Trạng thái nguồn</a:t>
            </a:r>
          </a:p>
        </p:txBody>
      </p:sp>
      <p:sp>
        <p:nvSpPr>
          <p:cNvPr id="24" name="TextBox 23"/>
          <p:cNvSpPr txBox="1"/>
          <p:nvPr/>
        </p:nvSpPr>
        <p:spPr>
          <a:xfrm>
            <a:off x="6391655" y="2212848"/>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Giả lập; không dùng làm thống kê hay đo lường</a:t>
            </a:r>
          </a:p>
        </p:txBody>
      </p:sp>
      <p:sp>
        <p:nvSpPr>
          <p:cNvPr id="25" name="Rounded Rectangle 24"/>
          <p:cNvSpPr/>
          <p:nvPr/>
        </p:nvSpPr>
        <p:spPr>
          <a:xfrm>
            <a:off x="6272783" y="2889504"/>
            <a:ext cx="5404104" cy="987552"/>
          </a:xfrm>
          <a:prstGeom prst="roundRect">
            <a:avLst>
              <a:gd name="adj" fmla="val 55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91655" y="2999232"/>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14 · Câu hỏi mở</a:t>
            </a:r>
          </a:p>
        </p:txBody>
      </p:sp>
      <p:sp>
        <p:nvSpPr>
          <p:cNvPr id="27" name="TextBox 26"/>
          <p:cNvSpPr txBox="1"/>
          <p:nvPr/>
        </p:nvSpPr>
        <p:spPr>
          <a:xfrm>
            <a:off x="6391655" y="3300984"/>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Thông báo nào hữu ích? Phát nhạc có tăng hay giảm tập trung?</a:t>
            </a:r>
          </a:p>
        </p:txBody>
      </p:sp>
      <p:sp>
        <p:nvSpPr>
          <p:cNvPr id="28" name="Rounded Rectangle 27"/>
          <p:cNvSpPr/>
          <p:nvPr/>
        </p:nvSpPr>
        <p:spPr>
          <a:xfrm>
            <a:off x="6272783" y="3977639"/>
            <a:ext cx="5404104" cy="987552"/>
          </a:xfrm>
          <a:prstGeom prst="roundRect">
            <a:avLst>
              <a:gd name="adj" fmla="val 5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91655" y="4087368"/>
            <a:ext cx="5138928" cy="246888"/>
          </a:xfrm>
          <a:prstGeom prst="rect">
            <a:avLst/>
          </a:prstGeom>
          <a:noFill/>
        </p:spPr>
        <p:txBody>
          <a:bodyPr wrap="square" lIns="0" tIns="0" rIns="0" bIns="0" anchor="t">
            <a:spAutoFit/>
          </a:bodyPr>
          <a:lstStyle/>
          <a:p>
            <a:pPr algn="l">
              <a:lnSpc>
                <a:spcPts val="1310"/>
              </a:lnSpc>
              <a:spcAft>
                <a:spcPts val="300"/>
              </a:spcAft>
            </a:pPr>
            <a:r>
              <a:rPr sz="1120" b="1" i="0">
                <a:solidFill>
                  <a:srgbClr val="078674"/>
                </a:solidFill>
                <a:latin typeface="Inter"/>
              </a:rPr>
              <a:t>15 · Quyết định UI sẽ thử</a:t>
            </a:r>
          </a:p>
        </p:txBody>
      </p:sp>
      <p:sp>
        <p:nvSpPr>
          <p:cNvPr id="30" name="TextBox 29"/>
          <p:cNvSpPr txBox="1"/>
          <p:nvPr/>
        </p:nvSpPr>
        <p:spPr>
          <a:xfrm>
            <a:off x="6391655" y="4389120"/>
            <a:ext cx="5138928" cy="521207"/>
          </a:xfrm>
          <a:prstGeom prst="rect">
            <a:avLst/>
          </a:prstGeom>
          <a:noFill/>
        </p:spPr>
        <p:txBody>
          <a:bodyPr wrap="square" lIns="0" tIns="0" rIns="0" bIns="0" anchor="t">
            <a:spAutoFit/>
          </a:bodyPr>
          <a:lstStyle/>
          <a:p>
            <a:pPr algn="l">
              <a:lnSpc>
                <a:spcPts val="1404"/>
              </a:lnSpc>
              <a:spcAft>
                <a:spcPts val="300"/>
              </a:spcAft>
            </a:pPr>
            <a:r>
              <a:rPr sz="1200" b="0" i="0">
                <a:solidFill>
                  <a:srgbClr val="153E35"/>
                </a:solidFill>
                <a:latin typeface="Inter"/>
              </a:rPr>
              <a:t>Lịch chủ động, timer, note, history và app shortcut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02  UX RESEARCH</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Từ persona tới hai problem statement do bạn chốt</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Đây là đầu vào chuyển từ nghiên cứu sang sơ đồ và màn hình.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34</a:t>
            </a:r>
          </a:p>
        </p:txBody>
      </p:sp>
      <p:sp>
        <p:nvSpPr>
          <p:cNvPr id="10" name="Rounded Rectangle 9"/>
          <p:cNvSpPr/>
          <p:nvPr/>
        </p:nvSpPr>
        <p:spPr>
          <a:xfrm>
            <a:off x="658368" y="1801368"/>
            <a:ext cx="10799064" cy="15727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93392"/>
            <a:ext cx="1041501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P01 / Minh</a:t>
            </a:r>
          </a:p>
        </p:txBody>
      </p:sp>
      <p:sp>
        <p:nvSpPr>
          <p:cNvPr id="12" name="TextBox 11"/>
          <p:cNvSpPr txBox="1"/>
          <p:nvPr/>
        </p:nvSpPr>
        <p:spPr>
          <a:xfrm>
            <a:off x="859536" y="2624328"/>
            <a:ext cx="10396728" cy="658367"/>
          </a:xfrm>
          <a:prstGeom prst="rect">
            <a:avLst/>
          </a:prstGeom>
          <a:noFill/>
        </p:spPr>
        <p:txBody>
          <a:bodyPr wrap="square" lIns="0" tIns="0" rIns="0" bIns="0" anchor="t">
            <a:spAutoFit/>
          </a:bodyPr>
          <a:lstStyle/>
          <a:p>
            <a:pPr algn="l">
              <a:lnSpc>
                <a:spcPts val="1894"/>
              </a:lnSpc>
              <a:spcAft>
                <a:spcPts val="300"/>
              </a:spcAft>
            </a:pPr>
            <a:r>
              <a:rPr sz="1480" b="0" i="0">
                <a:solidFill>
                  <a:srgbClr val="617D71"/>
                </a:solidFill>
                <a:latin typeface="Inter"/>
              </a:rPr>
              <a:t>Sinh viên có mong muốn khám phá sở thích mới nhưng gặp khó khăn khi bắt đầu do thiếu định hướng, kinh nghiệm và sự tự tin khi tham gia cộng đồng.</a:t>
            </a:r>
          </a:p>
        </p:txBody>
      </p:sp>
      <p:sp>
        <p:nvSpPr>
          <p:cNvPr id="13" name="Rounded Rectangle 12"/>
          <p:cNvSpPr/>
          <p:nvPr/>
        </p:nvSpPr>
        <p:spPr>
          <a:xfrm>
            <a:off x="658368" y="3666744"/>
            <a:ext cx="10799064" cy="15727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3858768"/>
            <a:ext cx="1041501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P02 / Khoa</a:t>
            </a:r>
          </a:p>
        </p:txBody>
      </p:sp>
      <p:sp>
        <p:nvSpPr>
          <p:cNvPr id="15" name="TextBox 14"/>
          <p:cNvSpPr txBox="1"/>
          <p:nvPr/>
        </p:nvSpPr>
        <p:spPr>
          <a:xfrm>
            <a:off x="859536" y="4489704"/>
            <a:ext cx="10396728" cy="658368"/>
          </a:xfrm>
          <a:prstGeom prst="rect">
            <a:avLst/>
          </a:prstGeom>
          <a:noFill/>
        </p:spPr>
        <p:txBody>
          <a:bodyPr wrap="square" lIns="0" tIns="0" rIns="0" bIns="0" anchor="t">
            <a:spAutoFit/>
          </a:bodyPr>
          <a:lstStyle/>
          <a:p>
            <a:pPr algn="l">
              <a:lnSpc>
                <a:spcPts val="1894"/>
              </a:lnSpc>
              <a:spcAft>
                <a:spcPts val="300"/>
              </a:spcAft>
            </a:pPr>
            <a:r>
              <a:rPr sz="1480" b="0" i="0">
                <a:solidFill>
                  <a:srgbClr val="617D71"/>
                </a:solidFill>
                <a:latin typeface="Inter"/>
              </a:rPr>
              <a:t>Sinh viên đã có sở thích nhưng khó duy trì việc thực hành thường xuyên do xao nhãng từ mạng xã hội, áp lực học tập và thiếu động lực khi không thấy sự tiến bộ.</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03  UX DESIGN</a:t>
            </a:r>
          </a:p>
        </p:txBody>
      </p:sp>
      <p:sp>
        <p:nvSpPr>
          <p:cNvPr id="5" name="Rectangle 4"/>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7" name="TextBox 6"/>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35</a:t>
            </a:r>
          </a:p>
        </p:txBody>
      </p:sp>
      <p:sp>
        <p:nvSpPr>
          <p:cNvPr id="8" name="Oval 7"/>
          <p:cNvSpPr/>
          <p:nvPr/>
        </p:nvSpPr>
        <p:spPr>
          <a:xfrm>
            <a:off x="8229600" y="-914400"/>
            <a:ext cx="4846320" cy="4846320"/>
          </a:xfrm>
          <a:prstGeom prst="ellipse">
            <a:avLst/>
          </a:prstGeom>
          <a:solidFill>
            <a:srgbClr val="0E4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2743200"/>
            <a:ext cx="3017520" cy="3017520"/>
          </a:xfrm>
          <a:prstGeom prst="ellipse">
            <a:avLst/>
          </a:prstGeom>
          <a:solidFill>
            <a:srgbClr val="14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804672"/>
            <a:ext cx="4572000" cy="365760"/>
          </a:xfrm>
          <a:prstGeom prst="rect">
            <a:avLst/>
          </a:prstGeom>
          <a:noFill/>
        </p:spPr>
        <p:txBody>
          <a:bodyPr wrap="square" lIns="0" tIns="0" rIns="0" bIns="0" anchor="t">
            <a:spAutoFit/>
          </a:bodyPr>
          <a:lstStyle/>
          <a:p>
            <a:pPr algn="l">
              <a:lnSpc>
                <a:spcPts val="1754"/>
              </a:lnSpc>
              <a:spcAft>
                <a:spcPts val="300"/>
              </a:spcAft>
            </a:pPr>
            <a:r>
              <a:rPr sz="1500" b="1" i="0">
                <a:solidFill>
                  <a:srgbClr val="EFAD62"/>
                </a:solidFill>
                <a:latin typeface="Inter"/>
              </a:rPr>
              <a:t>03  /  05</a:t>
            </a:r>
          </a:p>
        </p:txBody>
      </p:sp>
      <p:sp>
        <p:nvSpPr>
          <p:cNvPr id="11" name="TextBox 10"/>
          <p:cNvSpPr txBox="1"/>
          <p:nvPr/>
        </p:nvSpPr>
        <p:spPr>
          <a:xfrm>
            <a:off x="658368" y="1463040"/>
            <a:ext cx="9966960" cy="1737360"/>
          </a:xfrm>
          <a:prstGeom prst="rect">
            <a:avLst/>
          </a:prstGeom>
          <a:noFill/>
        </p:spPr>
        <p:txBody>
          <a:bodyPr wrap="square" lIns="0" tIns="0" rIns="0" bIns="0" anchor="t">
            <a:spAutoFit/>
          </a:bodyPr>
          <a:lstStyle/>
          <a:p>
            <a:pPr algn="l">
              <a:lnSpc>
                <a:spcPts val="4914"/>
              </a:lnSpc>
              <a:spcAft>
                <a:spcPts val="300"/>
              </a:spcAft>
            </a:pPr>
            <a:r>
              <a:rPr sz="4200" b="1" i="0">
                <a:solidFill>
                  <a:srgbClr val="FFFFFF"/>
                </a:solidFill>
                <a:latin typeface="Inter"/>
              </a:rPr>
              <a:t>UX DESIGN</a:t>
            </a:r>
          </a:p>
        </p:txBody>
      </p:sp>
      <p:sp>
        <p:nvSpPr>
          <p:cNvPr id="12" name="TextBox 11"/>
          <p:cNvSpPr txBox="1"/>
          <p:nvPr/>
        </p:nvSpPr>
        <p:spPr>
          <a:xfrm>
            <a:off x="704088" y="3758184"/>
            <a:ext cx="9601200" cy="1051560"/>
          </a:xfrm>
          <a:prstGeom prst="rect">
            <a:avLst/>
          </a:prstGeom>
          <a:noFill/>
        </p:spPr>
        <p:txBody>
          <a:bodyPr wrap="square" lIns="0" tIns="0" rIns="0" bIns="0" anchor="t">
            <a:spAutoFit/>
          </a:bodyPr>
          <a:lstStyle/>
          <a:p>
            <a:pPr algn="l">
              <a:lnSpc>
                <a:spcPts val="2106"/>
              </a:lnSpc>
              <a:spcAft>
                <a:spcPts val="300"/>
              </a:spcAft>
            </a:pPr>
            <a:r>
              <a:rPr sz="1800" b="0" i="0">
                <a:solidFill>
                  <a:srgbClr val="B8D9CB"/>
                </a:solidFill>
                <a:latin typeface="Inter"/>
              </a:rPr>
              <a:t>Chuyển hai vấn đề thành cấu trúc bốn tab, các màn con, và ba flow đi hết hành trình.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1 — Xác định thông tin cần đặt ở đâu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Người thiết kế chọn bốn tab vì bốn nhu cầu lớn không giống nhau.</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36</a:t>
            </a:r>
          </a:p>
        </p:txBody>
      </p:sp>
      <p:sp>
        <p:nvSpPr>
          <p:cNvPr id="10" name="Rounded Rectangle 9"/>
          <p:cNvSpPr/>
          <p:nvPr/>
        </p:nvSpPr>
        <p:spPr>
          <a:xfrm>
            <a:off x="658368" y="1847088"/>
            <a:ext cx="5404104" cy="164592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2039112"/>
            <a:ext cx="5020056"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HOME</a:t>
            </a:r>
          </a:p>
        </p:txBody>
      </p:sp>
      <p:sp>
        <p:nvSpPr>
          <p:cNvPr id="12" name="TextBox 11"/>
          <p:cNvSpPr txBox="1"/>
          <p:nvPr/>
        </p:nvSpPr>
        <p:spPr>
          <a:xfrm>
            <a:off x="859536" y="2670048"/>
            <a:ext cx="5001768" cy="731520"/>
          </a:xfrm>
          <a:prstGeom prst="rect">
            <a:avLst/>
          </a:prstGeom>
          <a:noFill/>
        </p:spPr>
        <p:txBody>
          <a:bodyPr wrap="square" lIns="0" tIns="0" rIns="0" bIns="0" anchor="t">
            <a:spAutoFit/>
          </a:bodyPr>
          <a:lstStyle/>
          <a:p>
            <a:pPr algn="l">
              <a:lnSpc>
                <a:spcPts val="1574"/>
              </a:lnSpc>
              <a:spcAft>
                <a:spcPts val="300"/>
              </a:spcAft>
            </a:pPr>
            <a:r>
              <a:rPr sz="1230" b="0" i="0">
                <a:solidFill>
                  <a:srgbClr val="617D71"/>
                </a:solidFill>
                <a:latin typeface="Inter"/>
              </a:rPr>
              <a:t>Lên lịch · bắt đầu tập · xem lịch sử</a:t>
            </a:r>
          </a:p>
          <a:p>
            <a:pPr algn="l">
              <a:lnSpc>
                <a:spcPts val="1574"/>
              </a:lnSpc>
              <a:spcAft>
                <a:spcPts val="300"/>
              </a:spcAft>
            </a:pPr>
            <a:r>
              <a:rPr sz="1230" b="0" i="0">
                <a:solidFill>
                  <a:srgbClr val="617D71"/>
                </a:solidFill>
                <a:latin typeface="Inter"/>
              </a:rPr>
              <a:t>Giải quyết P02: làm ngay, thấy tiến bộ.</a:t>
            </a:r>
          </a:p>
        </p:txBody>
      </p:sp>
      <p:sp>
        <p:nvSpPr>
          <p:cNvPr id="13" name="Rounded Rectangle 12"/>
          <p:cNvSpPr/>
          <p:nvPr/>
        </p:nvSpPr>
        <p:spPr>
          <a:xfrm>
            <a:off x="6291072" y="1847088"/>
            <a:ext cx="5404104" cy="164592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3096" y="2039112"/>
            <a:ext cx="5020056"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COMMUNITY</a:t>
            </a:r>
          </a:p>
        </p:txBody>
      </p:sp>
      <p:sp>
        <p:nvSpPr>
          <p:cNvPr id="15" name="TextBox 14"/>
          <p:cNvSpPr txBox="1"/>
          <p:nvPr/>
        </p:nvSpPr>
        <p:spPr>
          <a:xfrm>
            <a:off x="6492240" y="2670048"/>
            <a:ext cx="5001768" cy="731520"/>
          </a:xfrm>
          <a:prstGeom prst="rect">
            <a:avLst/>
          </a:prstGeom>
          <a:noFill/>
        </p:spPr>
        <p:txBody>
          <a:bodyPr wrap="square" lIns="0" tIns="0" rIns="0" bIns="0" anchor="t">
            <a:spAutoFit/>
          </a:bodyPr>
          <a:lstStyle/>
          <a:p>
            <a:pPr algn="l">
              <a:lnSpc>
                <a:spcPts val="1574"/>
              </a:lnSpc>
              <a:spcAft>
                <a:spcPts val="300"/>
              </a:spcAft>
            </a:pPr>
            <a:r>
              <a:rPr sz="1230" b="0" i="0">
                <a:solidFill>
                  <a:srgbClr val="617D71"/>
                </a:solidFill>
                <a:latin typeface="Inter"/>
              </a:rPr>
              <a:t>Feed · nhóm · hoạt động · người · chat</a:t>
            </a:r>
          </a:p>
          <a:p>
            <a:pPr algn="l">
              <a:lnSpc>
                <a:spcPts val="1574"/>
              </a:lnSpc>
              <a:spcAft>
                <a:spcPts val="300"/>
              </a:spcAft>
            </a:pPr>
            <a:r>
              <a:rPr sz="1230" b="0" i="0">
                <a:solidFill>
                  <a:srgbClr val="617D71"/>
                </a:solidFill>
                <a:latin typeface="Inter"/>
              </a:rPr>
              <a:t>Giải quyết P01: kết nối khi tự nguyện.</a:t>
            </a:r>
          </a:p>
        </p:txBody>
      </p:sp>
      <p:sp>
        <p:nvSpPr>
          <p:cNvPr id="16" name="Rounded Rectangle 15"/>
          <p:cNvSpPr/>
          <p:nvPr/>
        </p:nvSpPr>
        <p:spPr>
          <a:xfrm>
            <a:off x="658368" y="3712464"/>
            <a:ext cx="5404104" cy="164592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3904488"/>
            <a:ext cx="5020056"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MY HOBBIES</a:t>
            </a:r>
          </a:p>
        </p:txBody>
      </p:sp>
      <p:sp>
        <p:nvSpPr>
          <p:cNvPr id="18" name="TextBox 17"/>
          <p:cNvSpPr txBox="1"/>
          <p:nvPr/>
        </p:nvSpPr>
        <p:spPr>
          <a:xfrm>
            <a:off x="859536" y="4535424"/>
            <a:ext cx="5001768" cy="731520"/>
          </a:xfrm>
          <a:prstGeom prst="rect">
            <a:avLst/>
          </a:prstGeom>
          <a:noFill/>
        </p:spPr>
        <p:txBody>
          <a:bodyPr wrap="square" lIns="0" tIns="0" rIns="0" bIns="0" anchor="t">
            <a:spAutoFit/>
          </a:bodyPr>
          <a:lstStyle/>
          <a:p>
            <a:pPr algn="l">
              <a:lnSpc>
                <a:spcPts val="1574"/>
              </a:lnSpc>
              <a:spcAft>
                <a:spcPts val="300"/>
              </a:spcAft>
            </a:pPr>
            <a:r>
              <a:rPr sz="1230" b="0" i="0">
                <a:solidFill>
                  <a:srgbClr val="617D71"/>
                </a:solidFill>
                <a:latin typeface="Inter"/>
              </a:rPr>
              <a:t>Tạo từ tên riêng · icon · màu · priority</a:t>
            </a:r>
          </a:p>
          <a:p>
            <a:pPr algn="l">
              <a:lnSpc>
                <a:spcPts val="1574"/>
              </a:lnSpc>
              <a:spcAft>
                <a:spcPts val="300"/>
              </a:spcAft>
            </a:pPr>
            <a:r>
              <a:rPr sz="1230" b="0" i="0">
                <a:solidFill>
                  <a:srgbClr val="617D71"/>
                </a:solidFill>
                <a:latin typeface="Inter"/>
              </a:rPr>
              <a:t>Giải quyết P01: sở thích là của người dùng.</a:t>
            </a:r>
          </a:p>
        </p:txBody>
      </p:sp>
      <p:sp>
        <p:nvSpPr>
          <p:cNvPr id="19" name="Rounded Rectangle 18"/>
          <p:cNvSpPr/>
          <p:nvPr/>
        </p:nvSpPr>
        <p:spPr>
          <a:xfrm>
            <a:off x="6291072" y="3712464"/>
            <a:ext cx="5404104" cy="164592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3096" y="3904488"/>
            <a:ext cx="5020056"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SETTINGS</a:t>
            </a:r>
          </a:p>
        </p:txBody>
      </p:sp>
      <p:sp>
        <p:nvSpPr>
          <p:cNvPr id="21" name="TextBox 20"/>
          <p:cNvSpPr txBox="1"/>
          <p:nvPr/>
        </p:nvSpPr>
        <p:spPr>
          <a:xfrm>
            <a:off x="6492240" y="4535424"/>
            <a:ext cx="5001768" cy="731520"/>
          </a:xfrm>
          <a:prstGeom prst="rect">
            <a:avLst/>
          </a:prstGeom>
          <a:noFill/>
        </p:spPr>
        <p:txBody>
          <a:bodyPr wrap="square" lIns="0" tIns="0" rIns="0" bIns="0" anchor="t">
            <a:spAutoFit/>
          </a:bodyPr>
          <a:lstStyle/>
          <a:p>
            <a:pPr algn="l">
              <a:lnSpc>
                <a:spcPts val="1574"/>
              </a:lnSpc>
              <a:spcAft>
                <a:spcPts val="300"/>
              </a:spcAft>
            </a:pPr>
            <a:r>
              <a:rPr sz="1230" b="0" i="0">
                <a:solidFill>
                  <a:srgbClr val="617D71"/>
                </a:solidFill>
                <a:latin typeface="Inter"/>
              </a:rPr>
              <a:t>Tài khoản · công cụ · nhắc nhở · riêng tư</a:t>
            </a:r>
          </a:p>
          <a:p>
            <a:pPr algn="l">
              <a:lnSpc>
                <a:spcPts val="1574"/>
              </a:lnSpc>
              <a:spcAft>
                <a:spcPts val="300"/>
              </a:spcAft>
            </a:pPr>
            <a:r>
              <a:rPr sz="1230" b="0" i="0">
                <a:solidFill>
                  <a:srgbClr val="617D71"/>
                </a:solidFill>
                <a:latin typeface="Inter"/>
              </a:rPr>
              <a:t>Quyền kiểm soát cá nhân, không bắt buộc.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Sitemap — từ màn đăng nhập đến ít nhất 8 màn thực sự</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Điều hướng cấp cao và màn con được thống nhất trước khi hoàn thiện từng giao diện.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37</a:t>
            </a:r>
          </a:p>
        </p:txBody>
      </p:sp>
      <p:sp>
        <p:nvSpPr>
          <p:cNvPr id="10" name="Rounded Rectangle 9"/>
          <p:cNvSpPr/>
          <p:nvPr/>
        </p:nvSpPr>
        <p:spPr>
          <a:xfrm>
            <a:off x="4352544" y="1783080"/>
            <a:ext cx="3493008" cy="557784"/>
          </a:xfrm>
          <a:prstGeom prst="roundRect">
            <a:avLst>
              <a:gd name="adj" fmla="val 7000"/>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71416" y="1947672"/>
            <a:ext cx="3255264" cy="246888"/>
          </a:xfrm>
          <a:prstGeom prst="rect">
            <a:avLst/>
          </a:prstGeom>
          <a:noFill/>
        </p:spPr>
        <p:txBody>
          <a:bodyPr wrap="square" lIns="0" tIns="0" rIns="0" bIns="0" anchor="t">
            <a:spAutoFit/>
          </a:bodyPr>
          <a:lstStyle/>
          <a:p>
            <a:pPr algn="ctr">
              <a:lnSpc>
                <a:spcPts val="1287"/>
              </a:lnSpc>
              <a:spcAft>
                <a:spcPts val="300"/>
              </a:spcAft>
            </a:pPr>
            <a:r>
              <a:rPr sz="1100" b="1" i="0">
                <a:solidFill>
                  <a:srgbClr val="FFFFFF"/>
                </a:solidFill>
                <a:latin typeface="Inter"/>
              </a:rPr>
              <a:t>ĐĂNG NHẬP · ĐĂNG KÝ · KHÔI PHỤC</a:t>
            </a:r>
          </a:p>
        </p:txBody>
      </p:sp>
      <p:sp>
        <p:nvSpPr>
          <p:cNvPr id="12" name="Rectangle 11"/>
          <p:cNvSpPr/>
          <p:nvPr/>
        </p:nvSpPr>
        <p:spPr>
          <a:xfrm>
            <a:off x="6062472" y="2359152"/>
            <a:ext cx="22860" cy="36576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7512" y="2743200"/>
            <a:ext cx="10826496" cy="557784"/>
          </a:xfrm>
          <a:prstGeom prst="roundRect">
            <a:avLst>
              <a:gd name="adj" fmla="val 7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34256" y="2880360"/>
            <a:ext cx="3337560" cy="283464"/>
          </a:xfrm>
          <a:prstGeom prst="rect">
            <a:avLst/>
          </a:prstGeom>
          <a:noFill/>
        </p:spPr>
        <p:txBody>
          <a:bodyPr wrap="square" lIns="0" tIns="0" rIns="0" bIns="0" anchor="t">
            <a:spAutoFit/>
          </a:bodyPr>
          <a:lstStyle/>
          <a:p>
            <a:pPr algn="ctr">
              <a:lnSpc>
                <a:spcPts val="1638"/>
              </a:lnSpc>
              <a:spcAft>
                <a:spcPts val="300"/>
              </a:spcAft>
            </a:pPr>
            <a:r>
              <a:rPr sz="1400" b="1" i="0">
                <a:solidFill>
                  <a:srgbClr val="078674"/>
                </a:solidFill>
                <a:latin typeface="Inter"/>
              </a:rPr>
              <a:t>4 TABS ĐIỀU HƯỚNG CHÍNH</a:t>
            </a:r>
          </a:p>
        </p:txBody>
      </p:sp>
      <p:sp>
        <p:nvSpPr>
          <p:cNvPr id="15" name="Rounded Rectangle 14"/>
          <p:cNvSpPr/>
          <p:nvPr/>
        </p:nvSpPr>
        <p:spPr>
          <a:xfrm>
            <a:off x="676656" y="3584448"/>
            <a:ext cx="2596896"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776472"/>
            <a:ext cx="2212848"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HOME</a:t>
            </a:r>
          </a:p>
        </p:txBody>
      </p:sp>
      <p:sp>
        <p:nvSpPr>
          <p:cNvPr id="17" name="TextBox 16"/>
          <p:cNvSpPr txBox="1"/>
          <p:nvPr/>
        </p:nvSpPr>
        <p:spPr>
          <a:xfrm>
            <a:off x="877824" y="4407408"/>
            <a:ext cx="2194560" cy="841247"/>
          </a:xfrm>
          <a:prstGeom prst="rect">
            <a:avLst/>
          </a:prstGeom>
          <a:noFill/>
        </p:spPr>
        <p:txBody>
          <a:bodyPr wrap="square" lIns="0" tIns="0" rIns="0" bIns="0" anchor="t">
            <a:spAutoFit/>
          </a:bodyPr>
          <a:lstStyle/>
          <a:p>
            <a:pPr algn="l">
              <a:lnSpc>
                <a:spcPts val="1497"/>
              </a:lnSpc>
              <a:spcAft>
                <a:spcPts val="300"/>
              </a:spcAft>
            </a:pPr>
            <a:r>
              <a:rPr sz="1170" b="0" i="0">
                <a:solidFill>
                  <a:srgbClr val="617D71"/>
                </a:solidFill>
                <a:latin typeface="Inter"/>
              </a:rPr>
              <a:t>Calendar · Add Schedule</a:t>
            </a:r>
          </a:p>
          <a:p>
            <a:pPr algn="l">
              <a:lnSpc>
                <a:spcPts val="1497"/>
              </a:lnSpc>
              <a:spcAft>
                <a:spcPts val="300"/>
              </a:spcAft>
            </a:pPr>
            <a:r>
              <a:rPr sz="1170" b="0" i="0">
                <a:solidFill>
                  <a:srgbClr val="617D71"/>
                </a:solidFill>
                <a:latin typeface="Inter"/>
              </a:rPr>
              <a:t>Hyper Mode · History</a:t>
            </a:r>
          </a:p>
        </p:txBody>
      </p:sp>
      <p:sp>
        <p:nvSpPr>
          <p:cNvPr id="18" name="Rounded Rectangle 17"/>
          <p:cNvSpPr/>
          <p:nvPr/>
        </p:nvSpPr>
        <p:spPr>
          <a:xfrm>
            <a:off x="3474720" y="3584448"/>
            <a:ext cx="2596896"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66744" y="3776472"/>
            <a:ext cx="2212848"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COMMUNITY</a:t>
            </a:r>
          </a:p>
        </p:txBody>
      </p:sp>
      <p:sp>
        <p:nvSpPr>
          <p:cNvPr id="20" name="TextBox 19"/>
          <p:cNvSpPr txBox="1"/>
          <p:nvPr/>
        </p:nvSpPr>
        <p:spPr>
          <a:xfrm>
            <a:off x="3675887" y="4407408"/>
            <a:ext cx="2194560" cy="841247"/>
          </a:xfrm>
          <a:prstGeom prst="rect">
            <a:avLst/>
          </a:prstGeom>
          <a:noFill/>
        </p:spPr>
        <p:txBody>
          <a:bodyPr wrap="square" lIns="0" tIns="0" rIns="0" bIns="0" anchor="t">
            <a:spAutoFit/>
          </a:bodyPr>
          <a:lstStyle/>
          <a:p>
            <a:pPr algn="l">
              <a:lnSpc>
                <a:spcPts val="1497"/>
              </a:lnSpc>
              <a:spcAft>
                <a:spcPts val="300"/>
              </a:spcAft>
            </a:pPr>
            <a:r>
              <a:rPr sz="1170" b="0" i="0">
                <a:solidFill>
                  <a:srgbClr val="617D71"/>
                </a:solidFill>
                <a:latin typeface="Inter"/>
              </a:rPr>
              <a:t>Feed · Groups · Events</a:t>
            </a:r>
          </a:p>
          <a:p>
            <a:pPr algn="l">
              <a:lnSpc>
                <a:spcPts val="1497"/>
              </a:lnSpc>
              <a:spcAft>
                <a:spcPts val="300"/>
              </a:spcAft>
            </a:pPr>
            <a:r>
              <a:rPr sz="1170" b="0" i="0">
                <a:solidFill>
                  <a:srgbClr val="617D71"/>
                </a:solidFill>
                <a:latin typeface="Inter"/>
              </a:rPr>
              <a:t>People · Direct / Group Chat</a:t>
            </a:r>
          </a:p>
        </p:txBody>
      </p:sp>
      <p:sp>
        <p:nvSpPr>
          <p:cNvPr id="21" name="Rounded Rectangle 20"/>
          <p:cNvSpPr/>
          <p:nvPr/>
        </p:nvSpPr>
        <p:spPr>
          <a:xfrm>
            <a:off x="6272784" y="3584448"/>
            <a:ext cx="2596896"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776472"/>
            <a:ext cx="2212848"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MY HOBBIES</a:t>
            </a:r>
          </a:p>
        </p:txBody>
      </p:sp>
      <p:sp>
        <p:nvSpPr>
          <p:cNvPr id="23" name="TextBox 22"/>
          <p:cNvSpPr txBox="1"/>
          <p:nvPr/>
        </p:nvSpPr>
        <p:spPr>
          <a:xfrm>
            <a:off x="6473952" y="4407408"/>
            <a:ext cx="2194560" cy="841247"/>
          </a:xfrm>
          <a:prstGeom prst="rect">
            <a:avLst/>
          </a:prstGeom>
          <a:noFill/>
        </p:spPr>
        <p:txBody>
          <a:bodyPr wrap="square" lIns="0" tIns="0" rIns="0" bIns="0" anchor="t">
            <a:spAutoFit/>
          </a:bodyPr>
          <a:lstStyle/>
          <a:p>
            <a:pPr algn="l">
              <a:lnSpc>
                <a:spcPts val="1497"/>
              </a:lnSpc>
              <a:spcAft>
                <a:spcPts val="300"/>
              </a:spcAft>
            </a:pPr>
            <a:r>
              <a:rPr sz="1170" b="0" i="0">
                <a:solidFill>
                  <a:srgbClr val="617D71"/>
                </a:solidFill>
                <a:latin typeface="Inter"/>
              </a:rPr>
              <a:t>Collection · Create / Edit</a:t>
            </a:r>
          </a:p>
          <a:p>
            <a:pPr algn="l">
              <a:lnSpc>
                <a:spcPts val="1497"/>
              </a:lnSpc>
              <a:spcAft>
                <a:spcPts val="300"/>
              </a:spcAft>
            </a:pPr>
            <a:r>
              <a:rPr sz="1170" b="0" i="0">
                <a:solidFill>
                  <a:srgbClr val="617D71"/>
                </a:solidFill>
                <a:latin typeface="Inter"/>
              </a:rPr>
              <a:t>Visual icon · Priority</a:t>
            </a:r>
          </a:p>
        </p:txBody>
      </p:sp>
      <p:sp>
        <p:nvSpPr>
          <p:cNvPr id="24" name="Rounded Rectangle 23"/>
          <p:cNvSpPr/>
          <p:nvPr/>
        </p:nvSpPr>
        <p:spPr>
          <a:xfrm>
            <a:off x="9070848" y="3584448"/>
            <a:ext cx="2596896" cy="17556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62872" y="3776472"/>
            <a:ext cx="2212848"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SETTINGS</a:t>
            </a:r>
          </a:p>
        </p:txBody>
      </p:sp>
      <p:sp>
        <p:nvSpPr>
          <p:cNvPr id="26" name="TextBox 25"/>
          <p:cNvSpPr txBox="1"/>
          <p:nvPr/>
        </p:nvSpPr>
        <p:spPr>
          <a:xfrm>
            <a:off x="9272016" y="4407408"/>
            <a:ext cx="2194560" cy="841247"/>
          </a:xfrm>
          <a:prstGeom prst="rect">
            <a:avLst/>
          </a:prstGeom>
          <a:noFill/>
        </p:spPr>
        <p:txBody>
          <a:bodyPr wrap="square" lIns="0" tIns="0" rIns="0" bIns="0" anchor="t">
            <a:spAutoFit/>
          </a:bodyPr>
          <a:lstStyle/>
          <a:p>
            <a:pPr algn="l">
              <a:lnSpc>
                <a:spcPts val="1497"/>
              </a:lnSpc>
              <a:spcAft>
                <a:spcPts val="300"/>
              </a:spcAft>
            </a:pPr>
            <a:r>
              <a:rPr sz="1170" b="0" i="0">
                <a:solidFill>
                  <a:srgbClr val="617D71"/>
                </a:solidFill>
                <a:latin typeface="Inter"/>
              </a:rPr>
              <a:t>Profile · Apps · Reminders</a:t>
            </a:r>
          </a:p>
          <a:p>
            <a:pPr algn="l">
              <a:lnSpc>
                <a:spcPts val="1497"/>
              </a:lnSpc>
              <a:spcAft>
                <a:spcPts val="300"/>
              </a:spcAft>
            </a:pPr>
            <a:r>
              <a:rPr sz="1170" b="0" i="0">
                <a:solidFill>
                  <a:srgbClr val="617D71"/>
                </a:solidFill>
                <a:latin typeface="Inter"/>
              </a:rPr>
              <a:t>Appearance · Privacy · Sign Out</a:t>
            </a:r>
          </a:p>
        </p:txBody>
      </p:sp>
      <p:sp>
        <p:nvSpPr>
          <p:cNvPr id="27" name="Rounded Rectangle 26"/>
          <p:cNvSpPr/>
          <p:nvPr/>
        </p:nvSpPr>
        <p:spPr>
          <a:xfrm>
            <a:off x="923544" y="5660136"/>
            <a:ext cx="10232136" cy="484632"/>
          </a:xfrm>
          <a:prstGeom prst="roundRect">
            <a:avLst>
              <a:gd name="adj" fmla="val 7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43000" y="5779008"/>
            <a:ext cx="9765792" cy="246888"/>
          </a:xfrm>
          <a:prstGeom prst="rect">
            <a:avLst/>
          </a:prstGeom>
          <a:noFill/>
        </p:spPr>
        <p:txBody>
          <a:bodyPr wrap="square" lIns="0" tIns="0" rIns="0" bIns="0" anchor="t">
            <a:spAutoFit/>
          </a:bodyPr>
          <a:lstStyle/>
          <a:p>
            <a:pPr algn="l">
              <a:lnSpc>
                <a:spcPts val="1474"/>
              </a:lnSpc>
              <a:spcAft>
                <a:spcPts val="300"/>
              </a:spcAft>
            </a:pPr>
            <a:r>
              <a:rPr sz="1260" b="1" i="0">
                <a:solidFill>
                  <a:srgbClr val="078674"/>
                </a:solidFill>
                <a:latin typeface="Inter"/>
              </a:rPr>
              <a:t>Người chưa có hobby được dẫn tới Create, không bị kẹt ở màn Home trống.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2 — Đề xuất Home: phương án C được chọn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lựa chọn dạng Hybrid: tuần ngắn ở trên, hoạt động theo ngày ở dưới, thao tác ngay trên một màn.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38</a:t>
            </a:r>
          </a:p>
        </p:txBody>
      </p:sp>
      <p:sp>
        <p:nvSpPr>
          <p:cNvPr id="10" name="Rounded Rectangle 9"/>
          <p:cNvSpPr/>
          <p:nvPr/>
        </p:nvSpPr>
        <p:spPr>
          <a:xfrm>
            <a:off x="667512" y="1865376"/>
            <a:ext cx="5266944" cy="19659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057400"/>
            <a:ext cx="4882896"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AI ĐỀ XUẤT CÁC CÁCH HIỂN THỊ</a:t>
            </a:r>
          </a:p>
        </p:txBody>
      </p:sp>
      <p:sp>
        <p:nvSpPr>
          <p:cNvPr id="12" name="TextBox 11"/>
          <p:cNvSpPr txBox="1"/>
          <p:nvPr/>
        </p:nvSpPr>
        <p:spPr>
          <a:xfrm>
            <a:off x="868680" y="2688336"/>
            <a:ext cx="4864607" cy="1051560"/>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Lịch lớn / danh sách hoạt động / Hybrid. Mỗi cách có đánh đổi khác nhau giữa khả năng lập kế hoạch và thao tác nhanh.</a:t>
            </a:r>
          </a:p>
        </p:txBody>
      </p:sp>
      <p:sp>
        <p:nvSpPr>
          <p:cNvPr id="13" name="Rounded Rectangle 12"/>
          <p:cNvSpPr/>
          <p:nvPr/>
        </p:nvSpPr>
        <p:spPr>
          <a:xfrm>
            <a:off x="6190488" y="1865376"/>
            <a:ext cx="5285232" cy="1965960"/>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2057400"/>
            <a:ext cx="4901184"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BẠN CHỌN C — HYBRID</a:t>
            </a:r>
          </a:p>
        </p:txBody>
      </p:sp>
      <p:sp>
        <p:nvSpPr>
          <p:cNvPr id="15" name="TextBox 14"/>
          <p:cNvSpPr txBox="1"/>
          <p:nvPr/>
        </p:nvSpPr>
        <p:spPr>
          <a:xfrm>
            <a:off x="6391655" y="2688336"/>
            <a:ext cx="4882896" cy="1051560"/>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Calendar 7 ngày nhỏ gọn; chạm ngày xem đúng hoạt động của ngày đó; giữ mục Recommendations dưới lịch.</a:t>
            </a:r>
          </a:p>
        </p:txBody>
      </p:sp>
      <p:sp>
        <p:nvSpPr>
          <p:cNvPr id="16" name="Rounded Rectangle 15"/>
          <p:cNvSpPr/>
          <p:nvPr/>
        </p:nvSpPr>
        <p:spPr>
          <a:xfrm>
            <a:off x="4233672" y="4069080"/>
            <a:ext cx="3456432" cy="2066543"/>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allery_home.png"/>
          <p:cNvPicPr>
            <a:picLocks noChangeAspect="1"/>
          </p:cNvPicPr>
          <p:nvPr/>
        </p:nvPicPr>
        <p:blipFill>
          <a:blip r:embed="rId3"/>
          <a:stretch>
            <a:fillRect/>
          </a:stretch>
        </p:blipFill>
        <p:spPr>
          <a:xfrm>
            <a:off x="5623265" y="4160520"/>
            <a:ext cx="677245" cy="1536191"/>
          </a:xfrm>
          <a:prstGeom prst="rect">
            <a:avLst/>
          </a:prstGeom>
        </p:spPr>
      </p:pic>
      <p:sp>
        <p:nvSpPr>
          <p:cNvPr id="18" name="TextBox 17"/>
          <p:cNvSpPr txBox="1"/>
          <p:nvPr/>
        </p:nvSpPr>
        <p:spPr>
          <a:xfrm>
            <a:off x="4361688" y="5788152"/>
            <a:ext cx="3200400"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Home sau khi chốt bố cục Hybrid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Bước 3 — Xác định ba hành trình trọng tâm</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Mỗi hành trình được thiết kế cho một hành động đời thực, không phải một tập hợp màn hình.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39</a:t>
            </a:r>
          </a:p>
        </p:txBody>
      </p:sp>
      <p:sp>
        <p:nvSpPr>
          <p:cNvPr id="10" name="Rounded Rectangle 9"/>
          <p:cNvSpPr/>
          <p:nvPr/>
        </p:nvSpPr>
        <p:spPr>
          <a:xfrm>
            <a:off x="685800" y="1883664"/>
            <a:ext cx="10789920" cy="107899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77824" y="2112264"/>
            <a:ext cx="566928" cy="292608"/>
          </a:xfrm>
          <a:prstGeom prst="roundRect">
            <a:avLst>
              <a:gd name="adj" fmla="val 25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171700"/>
            <a:ext cx="457200" cy="182880"/>
          </a:xfrm>
          <a:prstGeom prst="rect">
            <a:avLst/>
          </a:prstGeom>
          <a:noFill/>
        </p:spPr>
        <p:txBody>
          <a:bodyPr wrap="square" lIns="0" tIns="0" rIns="0" bIns="0" anchor="t">
            <a:spAutoFit/>
          </a:bodyPr>
          <a:lstStyle/>
          <a:p>
            <a:pPr algn="ctr">
              <a:lnSpc>
                <a:spcPts val="1170"/>
              </a:lnSpc>
              <a:spcAft>
                <a:spcPts val="300"/>
              </a:spcAft>
            </a:pPr>
            <a:r>
              <a:rPr sz="1000" b="1" i="0">
                <a:solidFill>
                  <a:srgbClr val="078674"/>
                </a:solidFill>
                <a:latin typeface="Inter"/>
              </a:rPr>
              <a:t>01</a:t>
            </a:r>
          </a:p>
        </p:txBody>
      </p:sp>
      <p:sp>
        <p:nvSpPr>
          <p:cNvPr id="13" name="TextBox 12"/>
          <p:cNvSpPr txBox="1"/>
          <p:nvPr/>
        </p:nvSpPr>
        <p:spPr>
          <a:xfrm>
            <a:off x="1600200" y="2029968"/>
            <a:ext cx="3108960" cy="384048"/>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DISCOVER &amp; CREATE</a:t>
            </a:r>
          </a:p>
        </p:txBody>
      </p:sp>
      <p:sp>
        <p:nvSpPr>
          <p:cNvPr id="14" name="TextBox 13"/>
          <p:cNvSpPr txBox="1"/>
          <p:nvPr/>
        </p:nvSpPr>
        <p:spPr>
          <a:xfrm>
            <a:off x="4873752" y="2020824"/>
            <a:ext cx="1700784" cy="301752"/>
          </a:xfrm>
          <a:prstGeom prst="rect">
            <a:avLst/>
          </a:prstGeom>
          <a:noFill/>
        </p:spPr>
        <p:txBody>
          <a:bodyPr wrap="square" lIns="0" tIns="0" rIns="0" bIns="0" anchor="t">
            <a:spAutoFit/>
          </a:bodyPr>
          <a:lstStyle/>
          <a:p>
            <a:pPr algn="l">
              <a:lnSpc>
                <a:spcPts val="1404"/>
              </a:lnSpc>
              <a:spcAft>
                <a:spcPts val="300"/>
              </a:spcAft>
            </a:pPr>
            <a:r>
              <a:rPr sz="1200" b="1" i="0">
                <a:solidFill>
                  <a:srgbClr val="078674"/>
                </a:solidFill>
                <a:latin typeface="Inter"/>
              </a:rPr>
              <a:t>Minh</a:t>
            </a:r>
          </a:p>
        </p:txBody>
      </p:sp>
      <p:sp>
        <p:nvSpPr>
          <p:cNvPr id="15" name="TextBox 14"/>
          <p:cNvSpPr txBox="1"/>
          <p:nvPr/>
        </p:nvSpPr>
        <p:spPr>
          <a:xfrm>
            <a:off x="6483096" y="2002536"/>
            <a:ext cx="4736592" cy="713232"/>
          </a:xfrm>
          <a:prstGeom prst="rect">
            <a:avLst/>
          </a:prstGeom>
          <a:noFill/>
        </p:spPr>
        <p:txBody>
          <a:bodyPr wrap="square" lIns="0" tIns="0" rIns="0" bIns="0" anchor="t">
            <a:spAutoFit/>
          </a:bodyPr>
          <a:lstStyle/>
          <a:p>
            <a:pPr algn="l">
              <a:lnSpc>
                <a:spcPts val="1544"/>
              </a:lnSpc>
              <a:spcAft>
                <a:spcPts val="300"/>
              </a:spcAft>
            </a:pPr>
            <a:r>
              <a:rPr sz="1320" b="0" i="0">
                <a:solidFill>
                  <a:srgbClr val="617D71"/>
                </a:solidFill>
                <a:latin typeface="Inter"/>
              </a:rPr>
              <a:t>Tạo hobby riêng → chọn ưu tiên → lưu</a:t>
            </a:r>
          </a:p>
        </p:txBody>
      </p:sp>
      <p:sp>
        <p:nvSpPr>
          <p:cNvPr id="16" name="Rounded Rectangle 15"/>
          <p:cNvSpPr/>
          <p:nvPr/>
        </p:nvSpPr>
        <p:spPr>
          <a:xfrm>
            <a:off x="685800" y="3163824"/>
            <a:ext cx="10789920" cy="107899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77824" y="3392424"/>
            <a:ext cx="566928" cy="292608"/>
          </a:xfrm>
          <a:prstGeom prst="roundRect">
            <a:avLst>
              <a:gd name="adj" fmla="val 25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3451860"/>
            <a:ext cx="457200" cy="182880"/>
          </a:xfrm>
          <a:prstGeom prst="rect">
            <a:avLst/>
          </a:prstGeom>
          <a:noFill/>
        </p:spPr>
        <p:txBody>
          <a:bodyPr wrap="square" lIns="0" tIns="0" rIns="0" bIns="0" anchor="t">
            <a:spAutoFit/>
          </a:bodyPr>
          <a:lstStyle/>
          <a:p>
            <a:pPr algn="ctr">
              <a:lnSpc>
                <a:spcPts val="1170"/>
              </a:lnSpc>
              <a:spcAft>
                <a:spcPts val="300"/>
              </a:spcAft>
            </a:pPr>
            <a:r>
              <a:rPr sz="1000" b="1" i="0">
                <a:solidFill>
                  <a:srgbClr val="078674"/>
                </a:solidFill>
                <a:latin typeface="Inter"/>
              </a:rPr>
              <a:t>02</a:t>
            </a:r>
          </a:p>
        </p:txBody>
      </p:sp>
      <p:sp>
        <p:nvSpPr>
          <p:cNvPr id="19" name="TextBox 18"/>
          <p:cNvSpPr txBox="1"/>
          <p:nvPr/>
        </p:nvSpPr>
        <p:spPr>
          <a:xfrm>
            <a:off x="1600200" y="3310128"/>
            <a:ext cx="3108960" cy="384048"/>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PLAN &amp; PRACTICE</a:t>
            </a:r>
          </a:p>
        </p:txBody>
      </p:sp>
      <p:sp>
        <p:nvSpPr>
          <p:cNvPr id="20" name="TextBox 19"/>
          <p:cNvSpPr txBox="1"/>
          <p:nvPr/>
        </p:nvSpPr>
        <p:spPr>
          <a:xfrm>
            <a:off x="4873752" y="3300984"/>
            <a:ext cx="1700784" cy="301752"/>
          </a:xfrm>
          <a:prstGeom prst="rect">
            <a:avLst/>
          </a:prstGeom>
          <a:noFill/>
        </p:spPr>
        <p:txBody>
          <a:bodyPr wrap="square" lIns="0" tIns="0" rIns="0" bIns="0" anchor="t">
            <a:spAutoFit/>
          </a:bodyPr>
          <a:lstStyle/>
          <a:p>
            <a:pPr algn="l">
              <a:lnSpc>
                <a:spcPts val="1404"/>
              </a:lnSpc>
              <a:spcAft>
                <a:spcPts val="300"/>
              </a:spcAft>
            </a:pPr>
            <a:r>
              <a:rPr sz="1200" b="1" i="0">
                <a:solidFill>
                  <a:srgbClr val="078674"/>
                </a:solidFill>
                <a:latin typeface="Inter"/>
              </a:rPr>
              <a:t>Khoa</a:t>
            </a:r>
          </a:p>
        </p:txBody>
      </p:sp>
      <p:sp>
        <p:nvSpPr>
          <p:cNvPr id="21" name="TextBox 20"/>
          <p:cNvSpPr txBox="1"/>
          <p:nvPr/>
        </p:nvSpPr>
        <p:spPr>
          <a:xfrm>
            <a:off x="6483096" y="3282696"/>
            <a:ext cx="4736592" cy="713232"/>
          </a:xfrm>
          <a:prstGeom prst="rect">
            <a:avLst/>
          </a:prstGeom>
          <a:noFill/>
        </p:spPr>
        <p:txBody>
          <a:bodyPr wrap="square" lIns="0" tIns="0" rIns="0" bIns="0" anchor="t">
            <a:spAutoFit/>
          </a:bodyPr>
          <a:lstStyle/>
          <a:p>
            <a:pPr algn="l">
              <a:lnSpc>
                <a:spcPts val="1544"/>
              </a:lnSpc>
              <a:spcAft>
                <a:spcPts val="300"/>
              </a:spcAft>
            </a:pPr>
            <a:r>
              <a:rPr sz="1320" b="0" i="0">
                <a:solidFill>
                  <a:srgbClr val="617D71"/>
                </a:solidFill>
                <a:latin typeface="Inter"/>
              </a:rPr>
              <a:t>Lên lịch → luyện → ghi nhận</a:t>
            </a:r>
          </a:p>
        </p:txBody>
      </p:sp>
      <p:sp>
        <p:nvSpPr>
          <p:cNvPr id="22" name="Rounded Rectangle 21"/>
          <p:cNvSpPr/>
          <p:nvPr/>
        </p:nvSpPr>
        <p:spPr>
          <a:xfrm>
            <a:off x="685800" y="4443983"/>
            <a:ext cx="10789920" cy="107899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77824" y="4672583"/>
            <a:ext cx="566928" cy="292608"/>
          </a:xfrm>
          <a:prstGeom prst="roundRect">
            <a:avLst>
              <a:gd name="adj" fmla="val 25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732020"/>
            <a:ext cx="457200" cy="182880"/>
          </a:xfrm>
          <a:prstGeom prst="rect">
            <a:avLst/>
          </a:prstGeom>
          <a:noFill/>
        </p:spPr>
        <p:txBody>
          <a:bodyPr wrap="square" lIns="0" tIns="0" rIns="0" bIns="0" anchor="t">
            <a:spAutoFit/>
          </a:bodyPr>
          <a:lstStyle/>
          <a:p>
            <a:pPr algn="ctr">
              <a:lnSpc>
                <a:spcPts val="1170"/>
              </a:lnSpc>
              <a:spcAft>
                <a:spcPts val="300"/>
              </a:spcAft>
            </a:pPr>
            <a:r>
              <a:rPr sz="1000" b="1" i="0">
                <a:solidFill>
                  <a:srgbClr val="078674"/>
                </a:solidFill>
                <a:latin typeface="Inter"/>
              </a:rPr>
              <a:t>03</a:t>
            </a:r>
          </a:p>
        </p:txBody>
      </p:sp>
      <p:sp>
        <p:nvSpPr>
          <p:cNvPr id="25" name="TextBox 24"/>
          <p:cNvSpPr txBox="1"/>
          <p:nvPr/>
        </p:nvSpPr>
        <p:spPr>
          <a:xfrm>
            <a:off x="1600200" y="4590288"/>
            <a:ext cx="3108960" cy="384048"/>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CONNECT &amp; PARTICIPATE</a:t>
            </a:r>
          </a:p>
        </p:txBody>
      </p:sp>
      <p:sp>
        <p:nvSpPr>
          <p:cNvPr id="26" name="TextBox 25"/>
          <p:cNvSpPr txBox="1"/>
          <p:nvPr/>
        </p:nvSpPr>
        <p:spPr>
          <a:xfrm>
            <a:off x="4873752" y="4581144"/>
            <a:ext cx="1700784" cy="301752"/>
          </a:xfrm>
          <a:prstGeom prst="rect">
            <a:avLst/>
          </a:prstGeom>
          <a:noFill/>
        </p:spPr>
        <p:txBody>
          <a:bodyPr wrap="square" lIns="0" tIns="0" rIns="0" bIns="0" anchor="t">
            <a:spAutoFit/>
          </a:bodyPr>
          <a:lstStyle/>
          <a:p>
            <a:pPr algn="l">
              <a:lnSpc>
                <a:spcPts val="1404"/>
              </a:lnSpc>
              <a:spcAft>
                <a:spcPts val="300"/>
              </a:spcAft>
            </a:pPr>
            <a:r>
              <a:rPr sz="1200" b="1" i="0">
                <a:solidFill>
                  <a:srgbClr val="078674"/>
                </a:solidFill>
                <a:latin typeface="Inter"/>
              </a:rPr>
              <a:t>Minh và Khoa</a:t>
            </a:r>
          </a:p>
        </p:txBody>
      </p:sp>
      <p:sp>
        <p:nvSpPr>
          <p:cNvPr id="27" name="TextBox 26"/>
          <p:cNvSpPr txBox="1"/>
          <p:nvPr/>
        </p:nvSpPr>
        <p:spPr>
          <a:xfrm>
            <a:off x="6483096" y="4562855"/>
            <a:ext cx="4736592" cy="713232"/>
          </a:xfrm>
          <a:prstGeom prst="rect">
            <a:avLst/>
          </a:prstGeom>
          <a:noFill/>
        </p:spPr>
        <p:txBody>
          <a:bodyPr wrap="square" lIns="0" tIns="0" rIns="0" bIns="0" anchor="t">
            <a:spAutoFit/>
          </a:bodyPr>
          <a:lstStyle/>
          <a:p>
            <a:pPr algn="l">
              <a:lnSpc>
                <a:spcPts val="1544"/>
              </a:lnSpc>
              <a:spcAft>
                <a:spcPts val="300"/>
              </a:spcAft>
            </a:pPr>
            <a:r>
              <a:rPr sz="1320" b="0" i="0">
                <a:solidFill>
                  <a:srgbClr val="617D71"/>
                </a:solidFill>
                <a:latin typeface="Inter"/>
              </a:rPr>
              <a:t>Xem nhóm / hoạt động → chat → tham gia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Flow 01 — DISCOVER &amp; CREATE</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Start → các hành động → mục tiêu, có nhánh xử lý tình huống.</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40</a:t>
            </a:r>
          </a:p>
        </p:txBody>
      </p:sp>
      <p:sp>
        <p:nvSpPr>
          <p:cNvPr id="10" name="Rounded Rectangle 9"/>
          <p:cNvSpPr/>
          <p:nvPr/>
        </p:nvSpPr>
        <p:spPr>
          <a:xfrm>
            <a:off x="676656"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Login</a:t>
            </a:r>
          </a:p>
        </p:txBody>
      </p:sp>
      <p:sp>
        <p:nvSpPr>
          <p:cNvPr id="12" name="TextBox 11"/>
          <p:cNvSpPr txBox="1"/>
          <p:nvPr/>
        </p:nvSpPr>
        <p:spPr>
          <a:xfrm>
            <a:off x="2788920"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3" name="Rounded Rectangle 12"/>
          <p:cNvSpPr/>
          <p:nvPr/>
        </p:nvSpPr>
        <p:spPr>
          <a:xfrm>
            <a:off x="2953512"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My Hobbies</a:t>
            </a:r>
          </a:p>
        </p:txBody>
      </p:sp>
      <p:sp>
        <p:nvSpPr>
          <p:cNvPr id="15" name="TextBox 14"/>
          <p:cNvSpPr txBox="1"/>
          <p:nvPr/>
        </p:nvSpPr>
        <p:spPr>
          <a:xfrm>
            <a:off x="5065776"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6" name="Rounded Rectangle 15"/>
          <p:cNvSpPr/>
          <p:nvPr/>
        </p:nvSpPr>
        <p:spPr>
          <a:xfrm>
            <a:off x="5230368"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58384"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Create Hobby</a:t>
            </a:r>
          </a:p>
        </p:txBody>
      </p:sp>
      <p:sp>
        <p:nvSpPr>
          <p:cNvPr id="18" name="TextBox 17"/>
          <p:cNvSpPr txBox="1"/>
          <p:nvPr/>
        </p:nvSpPr>
        <p:spPr>
          <a:xfrm>
            <a:off x="7342632"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9" name="Rounded Rectangle 18"/>
          <p:cNvSpPr/>
          <p:nvPr/>
        </p:nvSpPr>
        <p:spPr>
          <a:xfrm>
            <a:off x="7507224"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Icon + màu + priority</a:t>
            </a:r>
          </a:p>
        </p:txBody>
      </p:sp>
      <p:sp>
        <p:nvSpPr>
          <p:cNvPr id="21" name="TextBox 20"/>
          <p:cNvSpPr txBox="1"/>
          <p:nvPr/>
        </p:nvSpPr>
        <p:spPr>
          <a:xfrm>
            <a:off x="9619488"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22" name="Rounded Rectangle 21"/>
          <p:cNvSpPr/>
          <p:nvPr/>
        </p:nvSpPr>
        <p:spPr>
          <a:xfrm>
            <a:off x="9784080"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12096"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Lưu &amp; hiển thị</a:t>
            </a:r>
          </a:p>
        </p:txBody>
      </p:sp>
      <p:sp>
        <p:nvSpPr>
          <p:cNvPr id="24" name="Rounded Rectangle 23"/>
          <p:cNvSpPr/>
          <p:nvPr/>
        </p:nvSpPr>
        <p:spPr>
          <a:xfrm>
            <a:off x="704088" y="3749039"/>
            <a:ext cx="10762488" cy="1298448"/>
          </a:xfrm>
          <a:prstGeom prst="roundRect">
            <a:avLst>
              <a:gd name="adj" fmla="val 10000"/>
            </a:avLst>
          </a:prstGeom>
          <a:solidFill>
            <a:srgbClr val="FF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41063"/>
            <a:ext cx="10378440"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NHÁNH THAY THẾ / LỖI VÀ KHÔI PHỤC</a:t>
            </a:r>
          </a:p>
        </p:txBody>
      </p:sp>
      <p:sp>
        <p:nvSpPr>
          <p:cNvPr id="26" name="TextBox 25"/>
          <p:cNvSpPr txBox="1"/>
          <p:nvPr/>
        </p:nvSpPr>
        <p:spPr>
          <a:xfrm>
            <a:off x="905256" y="4572000"/>
            <a:ext cx="10360152" cy="384047"/>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Nếu trùng tên, thiếu tên hoặc chưa chọn priority → chỉ lỗi → sửa ngay tại form → thử lại.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Flow 02 — PLAN &amp; PRACTICE</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Start → các hành động → mục tiêu, có nhánh xử lý tình huống.</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41</a:t>
            </a:r>
          </a:p>
        </p:txBody>
      </p:sp>
      <p:sp>
        <p:nvSpPr>
          <p:cNvPr id="10" name="Rounded Rectangle 9"/>
          <p:cNvSpPr/>
          <p:nvPr/>
        </p:nvSpPr>
        <p:spPr>
          <a:xfrm>
            <a:off x="676656"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Home / lịch</a:t>
            </a:r>
          </a:p>
        </p:txBody>
      </p:sp>
      <p:sp>
        <p:nvSpPr>
          <p:cNvPr id="12" name="TextBox 11"/>
          <p:cNvSpPr txBox="1"/>
          <p:nvPr/>
        </p:nvSpPr>
        <p:spPr>
          <a:xfrm>
            <a:off x="2788920"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3" name="Rounded Rectangle 12"/>
          <p:cNvSpPr/>
          <p:nvPr/>
        </p:nvSpPr>
        <p:spPr>
          <a:xfrm>
            <a:off x="2953512"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Add Schedule</a:t>
            </a:r>
          </a:p>
        </p:txBody>
      </p:sp>
      <p:sp>
        <p:nvSpPr>
          <p:cNvPr id="15" name="TextBox 14"/>
          <p:cNvSpPr txBox="1"/>
          <p:nvPr/>
        </p:nvSpPr>
        <p:spPr>
          <a:xfrm>
            <a:off x="5065776"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6" name="Rounded Rectangle 15"/>
          <p:cNvSpPr/>
          <p:nvPr/>
        </p:nvSpPr>
        <p:spPr>
          <a:xfrm>
            <a:off x="5230368"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58384"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Bắt đầu Hyper</a:t>
            </a:r>
          </a:p>
        </p:txBody>
      </p:sp>
      <p:sp>
        <p:nvSpPr>
          <p:cNvPr id="18" name="TextBox 17"/>
          <p:cNvSpPr txBox="1"/>
          <p:nvPr/>
        </p:nvSpPr>
        <p:spPr>
          <a:xfrm>
            <a:off x="7342632"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9" name="Rounded Rectangle 18"/>
          <p:cNvSpPr/>
          <p:nvPr/>
        </p:nvSpPr>
        <p:spPr>
          <a:xfrm>
            <a:off x="7507224"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Timer + tools + note</a:t>
            </a:r>
          </a:p>
        </p:txBody>
      </p:sp>
      <p:sp>
        <p:nvSpPr>
          <p:cNvPr id="21" name="TextBox 20"/>
          <p:cNvSpPr txBox="1"/>
          <p:nvPr/>
        </p:nvSpPr>
        <p:spPr>
          <a:xfrm>
            <a:off x="9619488"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22" name="Rounded Rectangle 21"/>
          <p:cNvSpPr/>
          <p:nvPr/>
        </p:nvSpPr>
        <p:spPr>
          <a:xfrm>
            <a:off x="9784080"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12096"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Finish → History</a:t>
            </a:r>
          </a:p>
        </p:txBody>
      </p:sp>
      <p:sp>
        <p:nvSpPr>
          <p:cNvPr id="24" name="Rounded Rectangle 23"/>
          <p:cNvSpPr/>
          <p:nvPr/>
        </p:nvSpPr>
        <p:spPr>
          <a:xfrm>
            <a:off x="704088" y="3749039"/>
            <a:ext cx="10762488" cy="1298448"/>
          </a:xfrm>
          <a:prstGeom prst="roundRect">
            <a:avLst>
              <a:gd name="adj" fmla="val 10000"/>
            </a:avLst>
          </a:prstGeom>
          <a:solidFill>
            <a:srgbClr val="FF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41063"/>
            <a:ext cx="10378440"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NHÁNH THAY THẾ / LỖI VÀ KHÔI PHỤC</a:t>
            </a:r>
          </a:p>
        </p:txBody>
      </p:sp>
      <p:sp>
        <p:nvSpPr>
          <p:cNvPr id="26" name="TextBox 25"/>
          <p:cNvSpPr txBox="1"/>
          <p:nvPr/>
        </p:nvSpPr>
        <p:spPr>
          <a:xfrm>
            <a:off x="905256" y="4572000"/>
            <a:ext cx="10360152" cy="384047"/>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Chưa có hobby → đi đến Create Hobby. Rời Hyper → tạm dừng / giữ bản nháp.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Flow 03 — CONNECT &amp; PARTICIPATE</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Start → các hành động → mục tiêu, có nhánh xử lý tình huống.</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42</a:t>
            </a:r>
          </a:p>
        </p:txBody>
      </p:sp>
      <p:sp>
        <p:nvSpPr>
          <p:cNvPr id="10" name="Rounded Rectangle 9"/>
          <p:cNvSpPr/>
          <p:nvPr/>
        </p:nvSpPr>
        <p:spPr>
          <a:xfrm>
            <a:off x="676656"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Community</a:t>
            </a:r>
          </a:p>
        </p:txBody>
      </p:sp>
      <p:sp>
        <p:nvSpPr>
          <p:cNvPr id="12" name="TextBox 11"/>
          <p:cNvSpPr txBox="1"/>
          <p:nvPr/>
        </p:nvSpPr>
        <p:spPr>
          <a:xfrm>
            <a:off x="2788920"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3" name="Rounded Rectangle 12"/>
          <p:cNvSpPr/>
          <p:nvPr/>
        </p:nvSpPr>
        <p:spPr>
          <a:xfrm>
            <a:off x="2953512"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Xem Feed / Groups</a:t>
            </a:r>
          </a:p>
        </p:txBody>
      </p:sp>
      <p:sp>
        <p:nvSpPr>
          <p:cNvPr id="15" name="TextBox 14"/>
          <p:cNvSpPr txBox="1"/>
          <p:nvPr/>
        </p:nvSpPr>
        <p:spPr>
          <a:xfrm>
            <a:off x="5065776"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6" name="Rounded Rectangle 15"/>
          <p:cNvSpPr/>
          <p:nvPr/>
        </p:nvSpPr>
        <p:spPr>
          <a:xfrm>
            <a:off x="5230368"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58384"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Nhấn Join hoặc nhắn</a:t>
            </a:r>
          </a:p>
        </p:txBody>
      </p:sp>
      <p:sp>
        <p:nvSpPr>
          <p:cNvPr id="18" name="TextBox 17"/>
          <p:cNvSpPr txBox="1"/>
          <p:nvPr/>
        </p:nvSpPr>
        <p:spPr>
          <a:xfrm>
            <a:off x="7342632"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19" name="Rounded Rectangle 18"/>
          <p:cNvSpPr/>
          <p:nvPr/>
        </p:nvSpPr>
        <p:spPr>
          <a:xfrm>
            <a:off x="7507224" y="1993392"/>
            <a:ext cx="2112264" cy="105156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35240"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RSVP một hoạt động</a:t>
            </a:r>
          </a:p>
        </p:txBody>
      </p:sp>
      <p:sp>
        <p:nvSpPr>
          <p:cNvPr id="21" name="TextBox 20"/>
          <p:cNvSpPr txBox="1"/>
          <p:nvPr/>
        </p:nvSpPr>
        <p:spPr>
          <a:xfrm>
            <a:off x="9619488" y="2350008"/>
            <a:ext cx="237744" cy="310896"/>
          </a:xfrm>
          <a:prstGeom prst="rect">
            <a:avLst/>
          </a:prstGeom>
          <a:noFill/>
        </p:spPr>
        <p:txBody>
          <a:bodyPr wrap="square" lIns="0" tIns="0" rIns="0" bIns="0" anchor="t">
            <a:spAutoFit/>
          </a:bodyPr>
          <a:lstStyle/>
          <a:p>
            <a:pPr algn="l">
              <a:lnSpc>
                <a:spcPts val="2222"/>
              </a:lnSpc>
              <a:spcAft>
                <a:spcPts val="300"/>
              </a:spcAft>
            </a:pPr>
            <a:r>
              <a:rPr sz="1900" b="1" i="0">
                <a:solidFill>
                  <a:srgbClr val="078674"/>
                </a:solidFill>
                <a:latin typeface="Inter"/>
              </a:rPr>
              <a:t>→</a:t>
            </a:r>
          </a:p>
        </p:txBody>
      </p:sp>
      <p:sp>
        <p:nvSpPr>
          <p:cNvPr id="22" name="Rounded Rectangle 21"/>
          <p:cNvSpPr/>
          <p:nvPr/>
        </p:nvSpPr>
        <p:spPr>
          <a:xfrm>
            <a:off x="9784080" y="1993392"/>
            <a:ext cx="2112264" cy="105156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12096" y="2231136"/>
            <a:ext cx="1874519" cy="539496"/>
          </a:xfrm>
          <a:prstGeom prst="rect">
            <a:avLst/>
          </a:prstGeom>
          <a:noFill/>
        </p:spPr>
        <p:txBody>
          <a:bodyPr wrap="square" lIns="0" tIns="0" rIns="0" bIns="0" anchor="t">
            <a:spAutoFit/>
          </a:bodyPr>
          <a:lstStyle/>
          <a:p>
            <a:pPr algn="ctr">
              <a:lnSpc>
                <a:spcPts val="1638"/>
              </a:lnSpc>
              <a:spcAft>
                <a:spcPts val="300"/>
              </a:spcAft>
            </a:pPr>
            <a:r>
              <a:rPr sz="1400" b="1" i="0">
                <a:solidFill>
                  <a:srgbClr val="153E35"/>
                </a:solidFill>
                <a:latin typeface="Inter"/>
              </a:rPr>
              <a:t>Tùy chọn Add to Home</a:t>
            </a:r>
          </a:p>
        </p:txBody>
      </p:sp>
      <p:sp>
        <p:nvSpPr>
          <p:cNvPr id="24" name="Rounded Rectangle 23"/>
          <p:cNvSpPr/>
          <p:nvPr/>
        </p:nvSpPr>
        <p:spPr>
          <a:xfrm>
            <a:off x="704088" y="3749039"/>
            <a:ext cx="10762488" cy="1298448"/>
          </a:xfrm>
          <a:prstGeom prst="roundRect">
            <a:avLst>
              <a:gd name="adj" fmla="val 10000"/>
            </a:avLst>
          </a:prstGeom>
          <a:solidFill>
            <a:srgbClr val="FF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941063"/>
            <a:ext cx="10378440"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NHÁNH THAY THẾ / LỖI VÀ KHÔI PHỤC</a:t>
            </a:r>
          </a:p>
        </p:txBody>
      </p:sp>
      <p:sp>
        <p:nvSpPr>
          <p:cNvPr id="26" name="TextBox 25"/>
          <p:cNvSpPr txBox="1"/>
          <p:nvPr/>
        </p:nvSpPr>
        <p:spPr>
          <a:xfrm>
            <a:off x="905256" y="4572000"/>
            <a:ext cx="10360152" cy="384047"/>
          </a:xfrm>
          <a:prstGeom prst="rect">
            <a:avLst/>
          </a:prstGeom>
          <a:noFill/>
        </p:spPr>
        <p:txBody>
          <a:bodyPr wrap="square" lIns="0" tIns="0" rIns="0" bIns="0" anchor="t">
            <a:spAutoFit/>
          </a:bodyPr>
          <a:lstStyle/>
          <a:p>
            <a:pPr algn="l">
              <a:lnSpc>
                <a:spcPts val="1792"/>
              </a:lnSpc>
              <a:spcAft>
                <a:spcPts val="300"/>
              </a:spcAft>
            </a:pPr>
            <a:r>
              <a:rPr sz="1400" b="0" i="0">
                <a:solidFill>
                  <a:srgbClr val="617D71"/>
                </a:solidFill>
                <a:latin typeface="Inter"/>
              </a:rPr>
              <a:t>Người dùng có thể chỉ xem nội dung. RSVP không tự ghi lịch; Chat không tự tạo kết nối.</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Quy tắc UX: “Active / Interested” chỉ là mức ưu tiên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từ chối ý tưởng biến một nhãn ưu tiên thành công tắc khóa khả năng thực hành.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43</a:t>
            </a:r>
          </a:p>
        </p:txBody>
      </p:sp>
      <p:sp>
        <p:nvSpPr>
          <p:cNvPr id="10" name="Rounded Rectangle 9"/>
          <p:cNvSpPr/>
          <p:nvPr/>
        </p:nvSpPr>
        <p:spPr>
          <a:xfrm>
            <a:off x="676656" y="1874519"/>
            <a:ext cx="5266944" cy="214884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066543"/>
            <a:ext cx="4882896" cy="530352"/>
          </a:xfrm>
          <a:prstGeom prst="rect">
            <a:avLst/>
          </a:prstGeom>
          <a:noFill/>
        </p:spPr>
        <p:txBody>
          <a:bodyPr wrap="square" lIns="0" tIns="0" rIns="0" bIns="0" anchor="t">
            <a:spAutoFit/>
          </a:bodyPr>
          <a:lstStyle/>
          <a:p>
            <a:pPr algn="l">
              <a:lnSpc>
                <a:spcPts val="2457"/>
              </a:lnSpc>
              <a:spcAft>
                <a:spcPts val="300"/>
              </a:spcAft>
            </a:pPr>
            <a:r>
              <a:rPr sz="2100" b="1" i="0">
                <a:solidFill>
                  <a:srgbClr val="153E35"/>
                </a:solidFill>
                <a:latin typeface="Inter"/>
              </a:rPr>
              <a:t>ACTIVE</a:t>
            </a:r>
          </a:p>
        </p:txBody>
      </p:sp>
      <p:sp>
        <p:nvSpPr>
          <p:cNvPr id="12" name="TextBox 11"/>
          <p:cNvSpPr txBox="1"/>
          <p:nvPr/>
        </p:nvSpPr>
        <p:spPr>
          <a:xfrm>
            <a:off x="877824" y="2697479"/>
            <a:ext cx="4864607" cy="1234440"/>
          </a:xfrm>
          <a:prstGeom prst="rect">
            <a:avLst/>
          </a:prstGeom>
          <a:noFill/>
        </p:spPr>
        <p:txBody>
          <a:bodyPr wrap="square" lIns="0" tIns="0" rIns="0" bIns="0" anchor="t">
            <a:spAutoFit/>
          </a:bodyPr>
          <a:lstStyle/>
          <a:p>
            <a:pPr algn="l">
              <a:lnSpc>
                <a:spcPts val="1920"/>
              </a:lnSpc>
              <a:spcAft>
                <a:spcPts val="300"/>
              </a:spcAft>
            </a:pPr>
            <a:r>
              <a:rPr sz="1500" b="0" i="0">
                <a:solidFill>
                  <a:srgbClr val="617D71"/>
                </a:solidFill>
                <a:latin typeface="Inter"/>
              </a:rPr>
              <a:t>Được ưu tiên ở gợi ý nội dung và thứ tự đề xuất. Vẫn dùng lịch theo thời gian, không tự động lập lịch thay người dùng.</a:t>
            </a:r>
          </a:p>
        </p:txBody>
      </p:sp>
      <p:sp>
        <p:nvSpPr>
          <p:cNvPr id="13" name="Rounded Rectangle 12"/>
          <p:cNvSpPr/>
          <p:nvPr/>
        </p:nvSpPr>
        <p:spPr>
          <a:xfrm>
            <a:off x="6199632" y="1874519"/>
            <a:ext cx="5257800" cy="214884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91656" y="2066543"/>
            <a:ext cx="4873752" cy="530352"/>
          </a:xfrm>
          <a:prstGeom prst="rect">
            <a:avLst/>
          </a:prstGeom>
          <a:noFill/>
        </p:spPr>
        <p:txBody>
          <a:bodyPr wrap="square" lIns="0" tIns="0" rIns="0" bIns="0" anchor="t">
            <a:spAutoFit/>
          </a:bodyPr>
          <a:lstStyle/>
          <a:p>
            <a:pPr algn="l">
              <a:lnSpc>
                <a:spcPts val="2457"/>
              </a:lnSpc>
              <a:spcAft>
                <a:spcPts val="300"/>
              </a:spcAft>
            </a:pPr>
            <a:r>
              <a:rPr sz="2100" b="1" i="0">
                <a:solidFill>
                  <a:srgbClr val="153E35"/>
                </a:solidFill>
                <a:latin typeface="Inter"/>
              </a:rPr>
              <a:t>INTERESTED</a:t>
            </a:r>
          </a:p>
        </p:txBody>
      </p:sp>
      <p:sp>
        <p:nvSpPr>
          <p:cNvPr id="15" name="TextBox 14"/>
          <p:cNvSpPr txBox="1"/>
          <p:nvPr/>
        </p:nvSpPr>
        <p:spPr>
          <a:xfrm>
            <a:off x="6400800" y="2697479"/>
            <a:ext cx="4855464" cy="1234440"/>
          </a:xfrm>
          <a:prstGeom prst="rect">
            <a:avLst/>
          </a:prstGeom>
          <a:noFill/>
        </p:spPr>
        <p:txBody>
          <a:bodyPr wrap="square" lIns="0" tIns="0" rIns="0" bIns="0" anchor="t">
            <a:spAutoFit/>
          </a:bodyPr>
          <a:lstStyle/>
          <a:p>
            <a:pPr algn="l">
              <a:lnSpc>
                <a:spcPts val="1920"/>
              </a:lnSpc>
              <a:spcAft>
                <a:spcPts val="300"/>
              </a:spcAft>
            </a:pPr>
            <a:r>
              <a:rPr sz="1500" b="0" i="0">
                <a:solidFill>
                  <a:srgbClr val="617D71"/>
                </a:solidFill>
                <a:latin typeface="Inter"/>
              </a:rPr>
              <a:t>Dù chỉ “đang quan tâm” vẫn được lên lịch, bật Hyper Mode, ghi lịch sử và tìm cộng đồng.</a:t>
            </a:r>
          </a:p>
        </p:txBody>
      </p:sp>
      <p:sp>
        <p:nvSpPr>
          <p:cNvPr id="16" name="Rounded Rectangle 15"/>
          <p:cNvSpPr/>
          <p:nvPr/>
        </p:nvSpPr>
        <p:spPr>
          <a:xfrm>
            <a:off x="704088" y="4526280"/>
            <a:ext cx="10753344" cy="822960"/>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4727448"/>
            <a:ext cx="10259568" cy="420624"/>
          </a:xfrm>
          <a:prstGeom prst="rect">
            <a:avLst/>
          </a:prstGeom>
          <a:noFill/>
        </p:spPr>
        <p:txBody>
          <a:bodyPr wrap="square" lIns="0" tIns="0" rIns="0" bIns="0" anchor="t">
            <a:spAutoFit/>
          </a:bodyPr>
          <a:lstStyle/>
          <a:p>
            <a:pPr algn="ctr">
              <a:lnSpc>
                <a:spcPts val="1989"/>
              </a:lnSpc>
              <a:spcAft>
                <a:spcPts val="300"/>
              </a:spcAft>
            </a:pPr>
            <a:r>
              <a:rPr sz="1700" b="1" i="0">
                <a:solidFill>
                  <a:srgbClr val="078674"/>
                </a:solidFill>
                <a:latin typeface="Inter"/>
              </a:rPr>
              <a:t>Đổi ưu tiên KHÔNG xóa lịch, dừng sở thích, hay thay đổi thời gian đã đặt.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Một cuộc trao đổi đã thay đổi UX: Home không có nút tạo lịch</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Người thiết kế dùng preview để thử hành động, phát hiện một bước bị thiếu.</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44</a:t>
            </a:r>
          </a:p>
        </p:txBody>
      </p:sp>
      <p:sp>
        <p:nvSpPr>
          <p:cNvPr id="10" name="Rounded Rectangle 9"/>
          <p:cNvSpPr/>
          <p:nvPr/>
        </p:nvSpPr>
        <p:spPr>
          <a:xfrm>
            <a:off x="676656" y="1847088"/>
            <a:ext cx="5294376" cy="1408176"/>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75104"/>
            <a:ext cx="4928616"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NÓI TRONG CHAT</a:t>
            </a:r>
          </a:p>
        </p:txBody>
      </p:sp>
      <p:sp>
        <p:nvSpPr>
          <p:cNvPr id="12" name="TextBox 11"/>
          <p:cNvSpPr txBox="1"/>
          <p:nvPr/>
        </p:nvSpPr>
        <p:spPr>
          <a:xfrm>
            <a:off x="850392" y="2295144"/>
            <a:ext cx="4956048" cy="813816"/>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“in this screen i dont see any option fo user to adf hobby action to scehdule”</a:t>
            </a:r>
          </a:p>
        </p:txBody>
      </p:sp>
      <p:sp>
        <p:nvSpPr>
          <p:cNvPr id="13" name="Rounded Rectangle 12"/>
          <p:cNvSpPr/>
          <p:nvPr/>
        </p:nvSpPr>
        <p:spPr>
          <a:xfrm>
            <a:off x="6190488" y="1847088"/>
            <a:ext cx="5257800" cy="140817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975104"/>
            <a:ext cx="489204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SỬA UX</a:t>
            </a:r>
          </a:p>
        </p:txBody>
      </p:sp>
      <p:sp>
        <p:nvSpPr>
          <p:cNvPr id="15" name="TextBox 14"/>
          <p:cNvSpPr txBox="1"/>
          <p:nvPr/>
        </p:nvSpPr>
        <p:spPr>
          <a:xfrm>
            <a:off x="6364224" y="2295144"/>
            <a:ext cx="4919472" cy="813816"/>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Chèn “+ Add Schedule” sát tiêu đề Activities, cho chọn sở thích Active hoặc Interested, nhập ngày / giờ / thời lượng.</a:t>
            </a:r>
          </a:p>
        </p:txBody>
      </p:sp>
      <p:sp>
        <p:nvSpPr>
          <p:cNvPr id="16" name="Rounded Rectangle 15"/>
          <p:cNvSpPr/>
          <p:nvPr/>
        </p:nvSpPr>
        <p:spPr>
          <a:xfrm>
            <a:off x="1051560" y="3502152"/>
            <a:ext cx="3895344" cy="239572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20261013-175047).png"/>
          <p:cNvPicPr>
            <a:picLocks noChangeAspect="1"/>
          </p:cNvPicPr>
          <p:nvPr/>
        </p:nvPicPr>
        <p:blipFill>
          <a:blip r:embed="rId3"/>
          <a:stretch>
            <a:fillRect/>
          </a:stretch>
        </p:blipFill>
        <p:spPr>
          <a:xfrm>
            <a:off x="2555463" y="3593592"/>
            <a:ext cx="887537" cy="1865376"/>
          </a:xfrm>
          <a:prstGeom prst="rect">
            <a:avLst/>
          </a:prstGeom>
        </p:spPr>
      </p:pic>
      <p:sp>
        <p:nvSpPr>
          <p:cNvPr id="18" name="TextBox 17"/>
          <p:cNvSpPr txBox="1"/>
          <p:nvPr/>
        </p:nvSpPr>
        <p:spPr>
          <a:xfrm>
            <a:off x="1179576" y="5550408"/>
            <a:ext cx="363931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Trước · thiếu đường tạo lịch rõ ràng</a:t>
            </a:r>
          </a:p>
        </p:txBody>
      </p:sp>
      <p:sp>
        <p:nvSpPr>
          <p:cNvPr id="19" name="Rounded Rectangle 18"/>
          <p:cNvSpPr/>
          <p:nvPr/>
        </p:nvSpPr>
        <p:spPr>
          <a:xfrm>
            <a:off x="6720840" y="3502152"/>
            <a:ext cx="3858768" cy="239572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llery_home_populated.png"/>
          <p:cNvPicPr>
            <a:picLocks noChangeAspect="1"/>
          </p:cNvPicPr>
          <p:nvPr/>
        </p:nvPicPr>
        <p:blipFill>
          <a:blip r:embed="rId4"/>
          <a:stretch>
            <a:fillRect/>
          </a:stretch>
        </p:blipFill>
        <p:spPr>
          <a:xfrm>
            <a:off x="8239038" y="3593592"/>
            <a:ext cx="822370" cy="1865376"/>
          </a:xfrm>
          <a:prstGeom prst="rect">
            <a:avLst/>
          </a:prstGeom>
        </p:spPr>
      </p:pic>
      <p:sp>
        <p:nvSpPr>
          <p:cNvPr id="21" name="TextBox 20"/>
          <p:cNvSpPr txBox="1"/>
          <p:nvPr/>
        </p:nvSpPr>
        <p:spPr>
          <a:xfrm>
            <a:off x="6848855" y="5550408"/>
            <a:ext cx="3602735"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Sau · có + Schedule trong Home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03  UX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Một cuộc trao đổi khác: app không được ép tìm hobby có sẵn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bác thiết kế catalog, làm đổi cấu trúc Create / Edit / Collection.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45</a:t>
            </a:r>
          </a:p>
        </p:txBody>
      </p:sp>
      <p:sp>
        <p:nvSpPr>
          <p:cNvPr id="10" name="Rounded Rectangle 9"/>
          <p:cNvSpPr/>
          <p:nvPr/>
        </p:nvSpPr>
        <p:spPr>
          <a:xfrm>
            <a:off x="676656" y="1856231"/>
            <a:ext cx="5266944" cy="1527048"/>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84248"/>
            <a:ext cx="4901183"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PHẢN HỒI TRỰC TIẾP</a:t>
            </a:r>
          </a:p>
        </p:txBody>
      </p:sp>
      <p:sp>
        <p:nvSpPr>
          <p:cNvPr id="12" name="TextBox 11"/>
          <p:cNvSpPr txBox="1"/>
          <p:nvPr/>
        </p:nvSpPr>
        <p:spPr>
          <a:xfrm>
            <a:off x="850392" y="2304287"/>
            <a:ext cx="4928616" cy="932688"/>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“firts hobby is use own create , wtf u let user find hobby that sttupid”</a:t>
            </a:r>
          </a:p>
        </p:txBody>
      </p:sp>
      <p:sp>
        <p:nvSpPr>
          <p:cNvPr id="13" name="Rounded Rectangle 12"/>
          <p:cNvSpPr/>
          <p:nvPr/>
        </p:nvSpPr>
        <p:spPr>
          <a:xfrm>
            <a:off x="6208776" y="1856231"/>
            <a:ext cx="5248656" cy="152704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984248"/>
            <a:ext cx="4882896"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THAY ĐỔI</a:t>
            </a:r>
          </a:p>
        </p:txBody>
      </p:sp>
      <p:sp>
        <p:nvSpPr>
          <p:cNvPr id="15" name="TextBox 14"/>
          <p:cNvSpPr txBox="1"/>
          <p:nvPr/>
        </p:nvSpPr>
        <p:spPr>
          <a:xfrm>
            <a:off x="6382512" y="2304287"/>
            <a:ext cx="4910328" cy="932688"/>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Bỏ Explore Catalog; thay bằng Create Hobby để tự đặt tên, mô tả, icon, màu và ưu tiên.</a:t>
            </a:r>
          </a:p>
        </p:txBody>
      </p:sp>
      <p:sp>
        <p:nvSpPr>
          <p:cNvPr id="16" name="Rounded Rectangle 15"/>
          <p:cNvSpPr/>
          <p:nvPr/>
        </p:nvSpPr>
        <p:spPr>
          <a:xfrm>
            <a:off x="694944" y="3904487"/>
            <a:ext cx="5248656" cy="15636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4096511"/>
            <a:ext cx="486460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TRƯỚC · PREDEFINED</a:t>
            </a:r>
          </a:p>
        </p:txBody>
      </p:sp>
      <p:sp>
        <p:nvSpPr>
          <p:cNvPr id="18" name="TextBox 17"/>
          <p:cNvSpPr txBox="1"/>
          <p:nvPr/>
        </p:nvSpPr>
        <p:spPr>
          <a:xfrm>
            <a:off x="896112" y="4727448"/>
            <a:ext cx="4846320" cy="649224"/>
          </a:xfrm>
          <a:prstGeom prst="rect">
            <a:avLst/>
          </a:prstGeom>
          <a:noFill/>
        </p:spPr>
        <p:txBody>
          <a:bodyPr wrap="square" lIns="0" tIns="0" rIns="0" bIns="0" anchor="t">
            <a:spAutoFit/>
          </a:bodyPr>
          <a:lstStyle/>
          <a:p>
            <a:pPr algn="l">
              <a:lnSpc>
                <a:spcPts val="1612"/>
              </a:lnSpc>
              <a:spcAft>
                <a:spcPts val="300"/>
              </a:spcAft>
            </a:pPr>
            <a:r>
              <a:rPr sz="1260" b="0" i="0">
                <a:solidFill>
                  <a:srgbClr val="617D71"/>
                </a:solidFill>
                <a:latin typeface="Inter"/>
              </a:rPr>
              <a:t>Người dùng phải tìm và chọn hobby từ danh mục. Không đúng ý “sở thích do chính mình tạo”.</a:t>
            </a:r>
          </a:p>
        </p:txBody>
      </p:sp>
      <p:sp>
        <p:nvSpPr>
          <p:cNvPr id="19" name="Rounded Rectangle 18"/>
          <p:cNvSpPr/>
          <p:nvPr/>
        </p:nvSpPr>
        <p:spPr>
          <a:xfrm>
            <a:off x="6190488" y="3904487"/>
            <a:ext cx="5257800" cy="1563624"/>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4096511"/>
            <a:ext cx="4873752"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SAU · USER-OWNED</a:t>
            </a:r>
          </a:p>
        </p:txBody>
      </p:sp>
      <p:sp>
        <p:nvSpPr>
          <p:cNvPr id="21" name="TextBox 20"/>
          <p:cNvSpPr txBox="1"/>
          <p:nvPr/>
        </p:nvSpPr>
        <p:spPr>
          <a:xfrm>
            <a:off x="6391655" y="4727448"/>
            <a:ext cx="4855464" cy="649224"/>
          </a:xfrm>
          <a:prstGeom prst="rect">
            <a:avLst/>
          </a:prstGeom>
          <a:noFill/>
        </p:spPr>
        <p:txBody>
          <a:bodyPr wrap="square" lIns="0" tIns="0" rIns="0" bIns="0" anchor="t">
            <a:spAutoFit/>
          </a:bodyPr>
          <a:lstStyle/>
          <a:p>
            <a:pPr algn="l">
              <a:lnSpc>
                <a:spcPts val="1612"/>
              </a:lnSpc>
              <a:spcAft>
                <a:spcPts val="300"/>
              </a:spcAft>
            </a:pPr>
            <a:r>
              <a:rPr sz="1260" b="0" i="0">
                <a:solidFill>
                  <a:srgbClr val="617D71"/>
                </a:solidFill>
                <a:latin typeface="Inter"/>
              </a:rPr>
              <a:t>Mọi người có thể tạo Photography, Chess hoặc bất cứ tên nào từ form riêng.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04  UI DESIGN</a:t>
            </a:r>
          </a:p>
        </p:txBody>
      </p:sp>
      <p:sp>
        <p:nvSpPr>
          <p:cNvPr id="5" name="Rectangle 4"/>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7" name="TextBox 6"/>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46</a:t>
            </a:r>
          </a:p>
        </p:txBody>
      </p:sp>
      <p:sp>
        <p:nvSpPr>
          <p:cNvPr id="8" name="Oval 7"/>
          <p:cNvSpPr/>
          <p:nvPr/>
        </p:nvSpPr>
        <p:spPr>
          <a:xfrm>
            <a:off x="8229600" y="-914400"/>
            <a:ext cx="4846320" cy="4846320"/>
          </a:xfrm>
          <a:prstGeom prst="ellipse">
            <a:avLst/>
          </a:prstGeom>
          <a:solidFill>
            <a:srgbClr val="0E4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2743200"/>
            <a:ext cx="3017520" cy="3017520"/>
          </a:xfrm>
          <a:prstGeom prst="ellipse">
            <a:avLst/>
          </a:prstGeom>
          <a:solidFill>
            <a:srgbClr val="14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804672"/>
            <a:ext cx="4572000" cy="365760"/>
          </a:xfrm>
          <a:prstGeom prst="rect">
            <a:avLst/>
          </a:prstGeom>
          <a:noFill/>
        </p:spPr>
        <p:txBody>
          <a:bodyPr wrap="square" lIns="0" tIns="0" rIns="0" bIns="0" anchor="t">
            <a:spAutoFit/>
          </a:bodyPr>
          <a:lstStyle/>
          <a:p>
            <a:pPr algn="l">
              <a:lnSpc>
                <a:spcPts val="1754"/>
              </a:lnSpc>
              <a:spcAft>
                <a:spcPts val="300"/>
              </a:spcAft>
            </a:pPr>
            <a:r>
              <a:rPr sz="1500" b="1" i="0">
                <a:solidFill>
                  <a:srgbClr val="EFAD62"/>
                </a:solidFill>
                <a:latin typeface="Inter"/>
              </a:rPr>
              <a:t>04  /  05</a:t>
            </a:r>
          </a:p>
        </p:txBody>
      </p:sp>
      <p:sp>
        <p:nvSpPr>
          <p:cNvPr id="11" name="TextBox 10"/>
          <p:cNvSpPr txBox="1"/>
          <p:nvPr/>
        </p:nvSpPr>
        <p:spPr>
          <a:xfrm>
            <a:off x="658368" y="1463040"/>
            <a:ext cx="9966960" cy="1737360"/>
          </a:xfrm>
          <a:prstGeom prst="rect">
            <a:avLst/>
          </a:prstGeom>
          <a:noFill/>
        </p:spPr>
        <p:txBody>
          <a:bodyPr wrap="square" lIns="0" tIns="0" rIns="0" bIns="0" anchor="t">
            <a:spAutoFit/>
          </a:bodyPr>
          <a:lstStyle/>
          <a:p>
            <a:pPr algn="l">
              <a:lnSpc>
                <a:spcPts val="4914"/>
              </a:lnSpc>
              <a:spcAft>
                <a:spcPts val="300"/>
              </a:spcAft>
            </a:pPr>
            <a:r>
              <a:rPr sz="4200" b="1" i="0">
                <a:solidFill>
                  <a:srgbClr val="FFFFFF"/>
                </a:solidFill>
                <a:latin typeface="Inter"/>
              </a:rPr>
              <a:t>UI DESIGN</a:t>
            </a:r>
          </a:p>
        </p:txBody>
      </p:sp>
      <p:sp>
        <p:nvSpPr>
          <p:cNvPr id="12" name="TextBox 11"/>
          <p:cNvSpPr txBox="1"/>
          <p:nvPr/>
        </p:nvSpPr>
        <p:spPr>
          <a:xfrm>
            <a:off x="704088" y="3758184"/>
            <a:ext cx="9601200" cy="1051560"/>
          </a:xfrm>
          <a:prstGeom prst="rect">
            <a:avLst/>
          </a:prstGeom>
          <a:noFill/>
        </p:spPr>
        <p:txBody>
          <a:bodyPr wrap="square" lIns="0" tIns="0" rIns="0" bIns="0" anchor="t">
            <a:spAutoFit/>
          </a:bodyPr>
          <a:lstStyle/>
          <a:p>
            <a:pPr algn="l">
              <a:lnSpc>
                <a:spcPts val="2106"/>
              </a:lnSpc>
              <a:spcAft>
                <a:spcPts val="300"/>
              </a:spcAft>
            </a:pPr>
            <a:r>
              <a:rPr sz="1800" b="0" i="0">
                <a:solidFill>
                  <a:srgbClr val="B8D9CB"/>
                </a:solidFill>
                <a:latin typeface="Inter"/>
              </a:rPr>
              <a:t>Từ cấu trúc sang giao diện: bố cục, màu sắc, lựa chọn icon, từng chức năng và vòng sửa trước/sau.</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Định hướng UI đầu tiên: Light Theme làm nền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yêu cầu khi còn đang thiết kế và kiểm tra thì chỉ làm default trước.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47</a:t>
            </a:r>
          </a:p>
        </p:txBody>
      </p:sp>
      <p:sp>
        <p:nvSpPr>
          <p:cNvPr id="10" name="Rounded Rectangle 9"/>
          <p:cNvSpPr/>
          <p:nvPr/>
        </p:nvSpPr>
        <p:spPr>
          <a:xfrm>
            <a:off x="676656" y="1856231"/>
            <a:ext cx="5212080" cy="1700784"/>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84248"/>
            <a:ext cx="484632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CHỐT QUY TẮC</a:t>
            </a:r>
          </a:p>
        </p:txBody>
      </p:sp>
      <p:sp>
        <p:nvSpPr>
          <p:cNvPr id="12" name="TextBox 11"/>
          <p:cNvSpPr txBox="1"/>
          <p:nvPr/>
        </p:nvSpPr>
        <p:spPr>
          <a:xfrm>
            <a:off x="850392" y="2304287"/>
            <a:ext cx="4873752" cy="1106424"/>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“form now just work on defualt coloer firts when i aprocve stuff ... use defualt them only”</a:t>
            </a:r>
          </a:p>
        </p:txBody>
      </p:sp>
      <p:sp>
        <p:nvSpPr>
          <p:cNvPr id="13" name="Rounded Rectangle 12"/>
          <p:cNvSpPr/>
          <p:nvPr/>
        </p:nvSpPr>
        <p:spPr>
          <a:xfrm>
            <a:off x="6108192" y="1856231"/>
            <a:ext cx="5376672" cy="17007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81928" y="1984248"/>
            <a:ext cx="501091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PHẢN HỒI</a:t>
            </a:r>
          </a:p>
        </p:txBody>
      </p:sp>
      <p:sp>
        <p:nvSpPr>
          <p:cNvPr id="15" name="TextBox 14"/>
          <p:cNvSpPr txBox="1"/>
          <p:nvPr/>
        </p:nvSpPr>
        <p:spPr>
          <a:xfrm>
            <a:off x="6281928" y="2304287"/>
            <a:ext cx="5038344" cy="1106424"/>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Khóa Light làm chuẩn UI, không nhân lỗi và các thay đổi liên tục ra sáu theme còn lại khi từng màn chưa duyệt.</a:t>
            </a:r>
          </a:p>
        </p:txBody>
      </p:sp>
      <p:sp>
        <p:nvSpPr>
          <p:cNvPr id="16" name="Rounded Rectangle 15"/>
          <p:cNvSpPr/>
          <p:nvPr/>
        </p:nvSpPr>
        <p:spPr>
          <a:xfrm>
            <a:off x="4416552" y="3840480"/>
            <a:ext cx="3291840" cy="230428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heme_light.png"/>
          <p:cNvPicPr>
            <a:picLocks noChangeAspect="1"/>
          </p:cNvPicPr>
          <p:nvPr/>
        </p:nvPicPr>
        <p:blipFill>
          <a:blip r:embed="rId3"/>
          <a:stretch>
            <a:fillRect/>
          </a:stretch>
        </p:blipFill>
        <p:spPr>
          <a:xfrm>
            <a:off x="5671443" y="3931920"/>
            <a:ext cx="782057" cy="1773936"/>
          </a:xfrm>
          <a:prstGeom prst="rect">
            <a:avLst/>
          </a:prstGeom>
        </p:spPr>
      </p:pic>
      <p:sp>
        <p:nvSpPr>
          <p:cNvPr id="18" name="TextBox 17"/>
          <p:cNvSpPr txBox="1"/>
          <p:nvPr/>
        </p:nvSpPr>
        <p:spPr>
          <a:xfrm>
            <a:off x="4544568" y="5797296"/>
            <a:ext cx="303580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Light: mint, teal, card sáng, icon line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Lựa chọn style cụ thể: màu, chữ, bố cục và trạng thái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Không chỉ chọn palette: mỗi token phục vụ hierarchy và khả năng thao tác.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48</a:t>
            </a:r>
          </a:p>
        </p:txBody>
      </p:sp>
      <p:sp>
        <p:nvSpPr>
          <p:cNvPr id="10" name="Rounded Rectangle 9"/>
          <p:cNvSpPr/>
          <p:nvPr/>
        </p:nvSpPr>
        <p:spPr>
          <a:xfrm>
            <a:off x="694944" y="1911095"/>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32104" y="2048255"/>
            <a:ext cx="1033271" cy="1316736"/>
          </a:xfrm>
          <a:prstGeom prst="roundRect">
            <a:avLst>
              <a:gd name="adj" fmla="val 10000"/>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20824" y="2176272"/>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PRIMARY TEAL</a:t>
            </a:r>
          </a:p>
        </p:txBody>
      </p:sp>
      <p:sp>
        <p:nvSpPr>
          <p:cNvPr id="13" name="TextBox 12"/>
          <p:cNvSpPr txBox="1"/>
          <p:nvPr/>
        </p:nvSpPr>
        <p:spPr>
          <a:xfrm>
            <a:off x="2020824" y="2660903"/>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CTA / lựa chọn / focus</a:t>
            </a:r>
          </a:p>
        </p:txBody>
      </p:sp>
      <p:sp>
        <p:nvSpPr>
          <p:cNvPr id="14" name="Rounded Rectangle 13"/>
          <p:cNvSpPr/>
          <p:nvPr/>
        </p:nvSpPr>
        <p:spPr>
          <a:xfrm>
            <a:off x="4507992" y="1911095"/>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645152" y="2048255"/>
            <a:ext cx="1033271" cy="1316736"/>
          </a:xfrm>
          <a:prstGeom prst="roundRect">
            <a:avLst>
              <a:gd name="adj" fmla="val 10000"/>
            </a:avLst>
          </a:prstGeom>
          <a:solidFill>
            <a:srgbClr val="F7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2" y="2176272"/>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PAPER</a:t>
            </a:r>
          </a:p>
        </p:txBody>
      </p:sp>
      <p:sp>
        <p:nvSpPr>
          <p:cNvPr id="17" name="TextBox 16"/>
          <p:cNvSpPr txBox="1"/>
          <p:nvPr/>
        </p:nvSpPr>
        <p:spPr>
          <a:xfrm>
            <a:off x="5833872" y="2660903"/>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Nền dịu để đọc</a:t>
            </a:r>
          </a:p>
        </p:txBody>
      </p:sp>
      <p:sp>
        <p:nvSpPr>
          <p:cNvPr id="18" name="Rounded Rectangle 17"/>
          <p:cNvSpPr/>
          <p:nvPr/>
        </p:nvSpPr>
        <p:spPr>
          <a:xfrm>
            <a:off x="8321040" y="1911095"/>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458200" y="2048255"/>
            <a:ext cx="1033271" cy="13167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46919" y="2176272"/>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WHITE</a:t>
            </a:r>
          </a:p>
        </p:txBody>
      </p:sp>
      <p:sp>
        <p:nvSpPr>
          <p:cNvPr id="21" name="TextBox 20"/>
          <p:cNvSpPr txBox="1"/>
          <p:nvPr/>
        </p:nvSpPr>
        <p:spPr>
          <a:xfrm>
            <a:off x="9646919" y="2660903"/>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Card và form</a:t>
            </a:r>
          </a:p>
        </p:txBody>
      </p:sp>
      <p:sp>
        <p:nvSpPr>
          <p:cNvPr id="22" name="Rounded Rectangle 21"/>
          <p:cNvSpPr/>
          <p:nvPr/>
        </p:nvSpPr>
        <p:spPr>
          <a:xfrm>
            <a:off x="694944" y="3767327"/>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2104" y="3904487"/>
            <a:ext cx="1033271" cy="1316736"/>
          </a:xfrm>
          <a:prstGeom prst="roundRect">
            <a:avLst>
              <a:gd name="adj" fmla="val 10000"/>
            </a:avLst>
          </a:prstGeom>
          <a:solidFill>
            <a:srgbClr val="193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20824" y="4032503"/>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INK</a:t>
            </a:r>
          </a:p>
        </p:txBody>
      </p:sp>
      <p:sp>
        <p:nvSpPr>
          <p:cNvPr id="25" name="TextBox 24"/>
          <p:cNvSpPr txBox="1"/>
          <p:nvPr/>
        </p:nvSpPr>
        <p:spPr>
          <a:xfrm>
            <a:off x="2020824" y="4517136"/>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Chữ nội dung</a:t>
            </a:r>
          </a:p>
        </p:txBody>
      </p:sp>
      <p:sp>
        <p:nvSpPr>
          <p:cNvPr id="26" name="Rounded Rectangle 25"/>
          <p:cNvSpPr/>
          <p:nvPr/>
        </p:nvSpPr>
        <p:spPr>
          <a:xfrm>
            <a:off x="4507992" y="3767327"/>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645152" y="3904487"/>
            <a:ext cx="1033271" cy="1316736"/>
          </a:xfrm>
          <a:prstGeom prst="roundRect">
            <a:avLst>
              <a:gd name="adj" fmla="val 10000"/>
            </a:avLst>
          </a:prstGeom>
          <a:solidFill>
            <a:srgbClr val="E5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33872" y="4032503"/>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SOFT MINT</a:t>
            </a:r>
          </a:p>
        </p:txBody>
      </p:sp>
      <p:sp>
        <p:nvSpPr>
          <p:cNvPr id="29" name="TextBox 28"/>
          <p:cNvSpPr txBox="1"/>
          <p:nvPr/>
        </p:nvSpPr>
        <p:spPr>
          <a:xfrm>
            <a:off x="5833872" y="4517136"/>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Selected / hint</a:t>
            </a:r>
          </a:p>
        </p:txBody>
      </p:sp>
      <p:sp>
        <p:nvSpPr>
          <p:cNvPr id="30" name="Rounded Rectangle 29"/>
          <p:cNvSpPr/>
          <p:nvPr/>
        </p:nvSpPr>
        <p:spPr>
          <a:xfrm>
            <a:off x="8321040" y="3767327"/>
            <a:ext cx="3566160" cy="1627632"/>
          </a:xfrm>
          <a:prstGeom prst="roundRect">
            <a:avLst>
              <a:gd name="adj" fmla="val 11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458200" y="3904487"/>
            <a:ext cx="1033271" cy="1316736"/>
          </a:xfrm>
          <a:prstGeom prst="roundRect">
            <a:avLst>
              <a:gd name="adj" fmla="val 10000"/>
            </a:avLst>
          </a:prstGeom>
          <a:solidFill>
            <a:srgbClr val="D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46919" y="4032503"/>
            <a:ext cx="2011680" cy="356616"/>
          </a:xfrm>
          <a:prstGeom prst="rect">
            <a:avLst/>
          </a:prstGeom>
          <a:noFill/>
        </p:spPr>
        <p:txBody>
          <a:bodyPr wrap="square" lIns="0" tIns="0" rIns="0" bIns="0" anchor="t">
            <a:spAutoFit/>
          </a:bodyPr>
          <a:lstStyle/>
          <a:p>
            <a:pPr algn="l">
              <a:lnSpc>
                <a:spcPts val="1579"/>
              </a:lnSpc>
              <a:spcAft>
                <a:spcPts val="300"/>
              </a:spcAft>
            </a:pPr>
            <a:r>
              <a:rPr sz="1350" b="1" i="0">
                <a:solidFill>
                  <a:srgbClr val="153E35"/>
                </a:solidFill>
                <a:latin typeface="Inter"/>
              </a:rPr>
              <a:t>DIVIDER</a:t>
            </a:r>
          </a:p>
        </p:txBody>
      </p:sp>
      <p:sp>
        <p:nvSpPr>
          <p:cNvPr id="33" name="TextBox 32"/>
          <p:cNvSpPr txBox="1"/>
          <p:nvPr/>
        </p:nvSpPr>
        <p:spPr>
          <a:xfrm>
            <a:off x="9646919" y="4517136"/>
            <a:ext cx="2029968" cy="694944"/>
          </a:xfrm>
          <a:prstGeom prst="rect">
            <a:avLst/>
          </a:prstGeom>
          <a:noFill/>
        </p:spPr>
        <p:txBody>
          <a:bodyPr wrap="square" lIns="0" tIns="0" rIns="0" bIns="0" anchor="t">
            <a:spAutoFit/>
          </a:bodyPr>
          <a:lstStyle/>
          <a:p>
            <a:pPr algn="l">
              <a:lnSpc>
                <a:spcPts val="1333"/>
              </a:lnSpc>
              <a:spcAft>
                <a:spcPts val="300"/>
              </a:spcAft>
            </a:pPr>
            <a:r>
              <a:rPr sz="1140" b="0" i="0">
                <a:solidFill>
                  <a:srgbClr val="617D71"/>
                </a:solidFill>
                <a:latin typeface="Inter"/>
              </a:rPr>
              <a:t>Phân nhóm nội dung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01 · Home — lịch và hành động quan trọng phải hiện ngay</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Bố cục Hybrid được thử: hero ngắn, tuần, danh sách theo ngày, gợi ý và nút Add Schedule.</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49</a:t>
            </a:r>
          </a:p>
        </p:txBody>
      </p:sp>
      <p:sp>
        <p:nvSpPr>
          <p:cNvPr id="10" name="Rounded Rectangle 9"/>
          <p:cNvSpPr/>
          <p:nvPr/>
        </p:nvSpPr>
        <p:spPr>
          <a:xfrm>
            <a:off x="795528" y="1783080"/>
            <a:ext cx="2971800" cy="450799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home_populated.png"/>
          <p:cNvPicPr>
            <a:picLocks noChangeAspect="1"/>
          </p:cNvPicPr>
          <p:nvPr/>
        </p:nvPicPr>
        <p:blipFill>
          <a:blip r:embed="rId3"/>
          <a:stretch>
            <a:fillRect/>
          </a:stretch>
        </p:blipFill>
        <p:spPr>
          <a:xfrm>
            <a:off x="1404636" y="1874519"/>
            <a:ext cx="1753583" cy="3977639"/>
          </a:xfrm>
          <a:prstGeom prst="rect">
            <a:avLst/>
          </a:prstGeom>
        </p:spPr>
      </p:pic>
      <p:sp>
        <p:nvSpPr>
          <p:cNvPr id="12" name="TextBox 11"/>
          <p:cNvSpPr txBox="1"/>
          <p:nvPr/>
        </p:nvSpPr>
        <p:spPr>
          <a:xfrm>
            <a:off x="923544" y="5943600"/>
            <a:ext cx="271576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Màn hình Home</a:t>
            </a:r>
          </a:p>
        </p:txBody>
      </p:sp>
      <p:sp>
        <p:nvSpPr>
          <p:cNvPr id="13" name="Rounded Rectangle 12"/>
          <p:cNvSpPr/>
          <p:nvPr/>
        </p:nvSpPr>
        <p:spPr>
          <a:xfrm>
            <a:off x="4105656" y="1837943"/>
            <a:ext cx="7278624" cy="122529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0" y="2029967"/>
            <a:ext cx="689457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Chức năng 1 · Calendar 7 ngày</a:t>
            </a:r>
          </a:p>
        </p:txBody>
      </p:sp>
      <p:sp>
        <p:nvSpPr>
          <p:cNvPr id="15" name="TextBox 14"/>
          <p:cNvSpPr txBox="1"/>
          <p:nvPr/>
        </p:nvSpPr>
        <p:spPr>
          <a:xfrm>
            <a:off x="4306824" y="2660903"/>
            <a:ext cx="6876288" cy="310896"/>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Nhấn ngày → danh sách buổi tập đổi theo ngày; dấu chấm biểu thị có lịch.</a:t>
            </a:r>
          </a:p>
        </p:txBody>
      </p:sp>
      <p:sp>
        <p:nvSpPr>
          <p:cNvPr id="16" name="Rounded Rectangle 15"/>
          <p:cNvSpPr/>
          <p:nvPr/>
        </p:nvSpPr>
        <p:spPr>
          <a:xfrm>
            <a:off x="4105656" y="3246120"/>
            <a:ext cx="7278624" cy="1207008"/>
          </a:xfrm>
          <a:prstGeom prst="roundRect">
            <a:avLst>
              <a:gd name="adj" fmla="val 10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7680" y="3438144"/>
            <a:ext cx="689457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Chức năng 2 · + Add Schedule</a:t>
            </a:r>
          </a:p>
        </p:txBody>
      </p:sp>
      <p:sp>
        <p:nvSpPr>
          <p:cNvPr id="18" name="TextBox 17"/>
          <p:cNvSpPr txBox="1"/>
          <p:nvPr/>
        </p:nvSpPr>
        <p:spPr>
          <a:xfrm>
            <a:off x="4306824" y="4069079"/>
            <a:ext cx="6876288" cy="292608"/>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Chọn hobby của chính người dùng, ngày, giờ, thời lượng, tiêu đề.</a:t>
            </a:r>
          </a:p>
        </p:txBody>
      </p:sp>
      <p:sp>
        <p:nvSpPr>
          <p:cNvPr id="19" name="Rounded Rectangle 18"/>
          <p:cNvSpPr/>
          <p:nvPr/>
        </p:nvSpPr>
        <p:spPr>
          <a:xfrm>
            <a:off x="4105656" y="4626864"/>
            <a:ext cx="7278624" cy="120700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97680" y="4818888"/>
            <a:ext cx="6894576"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Chức năng 3 · Chuyển sang Hyper</a:t>
            </a:r>
          </a:p>
        </p:txBody>
      </p:sp>
      <p:sp>
        <p:nvSpPr>
          <p:cNvPr id="21" name="TextBox 20"/>
          <p:cNvSpPr txBox="1"/>
          <p:nvPr/>
        </p:nvSpPr>
        <p:spPr>
          <a:xfrm>
            <a:off x="4306824" y="5449823"/>
            <a:ext cx="6876288" cy="292608"/>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Lịch không chỉ để xem; bấm buổi tập rồi hành động với timer, notes, tools.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02 · Hyper Mode — từ lịch sang một phiên hoạt động thật</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Chính bạn đề xuất tích hợp timer + âm nhạc + tìm kiếm + note; ghi kết quả về Home.</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50</a:t>
            </a:r>
          </a:p>
        </p:txBody>
      </p:sp>
      <p:sp>
        <p:nvSpPr>
          <p:cNvPr id="10" name="Rounded Rectangle 9"/>
          <p:cNvSpPr/>
          <p:nvPr/>
        </p:nvSpPr>
        <p:spPr>
          <a:xfrm>
            <a:off x="649224" y="1801368"/>
            <a:ext cx="5596128" cy="1344168"/>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1929384"/>
            <a:ext cx="5230368"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ĐẶT CHỨC NĂNG MỚI</a:t>
            </a:r>
          </a:p>
        </p:txBody>
      </p:sp>
      <p:sp>
        <p:nvSpPr>
          <p:cNvPr id="12" name="TextBox 11"/>
          <p:cNvSpPr txBox="1"/>
          <p:nvPr/>
        </p:nvSpPr>
        <p:spPr>
          <a:xfrm>
            <a:off x="822959" y="2249424"/>
            <a:ext cx="5257800" cy="749808"/>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“...mode let user act with te hobby ... spotify, google for searc timer ... note to takenote and save them in home too”</a:t>
            </a:r>
          </a:p>
        </p:txBody>
      </p:sp>
      <p:sp>
        <p:nvSpPr>
          <p:cNvPr id="13" name="Rounded Rectangle 12"/>
          <p:cNvSpPr/>
          <p:nvPr/>
        </p:nvSpPr>
        <p:spPr>
          <a:xfrm>
            <a:off x="722376" y="3410712"/>
            <a:ext cx="2862072" cy="269748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allery_hyper.png"/>
          <p:cNvPicPr>
            <a:picLocks noChangeAspect="1"/>
          </p:cNvPicPr>
          <p:nvPr/>
        </p:nvPicPr>
        <p:blipFill>
          <a:blip r:embed="rId3"/>
          <a:stretch>
            <a:fillRect/>
          </a:stretch>
        </p:blipFill>
        <p:spPr>
          <a:xfrm>
            <a:off x="1675711" y="3502152"/>
            <a:ext cx="955400" cy="2167128"/>
          </a:xfrm>
          <a:prstGeom prst="rect">
            <a:avLst/>
          </a:prstGeom>
        </p:spPr>
      </p:pic>
      <p:sp>
        <p:nvSpPr>
          <p:cNvPr id="15" name="TextBox 14"/>
          <p:cNvSpPr txBox="1"/>
          <p:nvPr/>
        </p:nvSpPr>
        <p:spPr>
          <a:xfrm>
            <a:off x="850392" y="5760720"/>
            <a:ext cx="2606039"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Hyper Mode thực tế</a:t>
            </a:r>
          </a:p>
        </p:txBody>
      </p:sp>
      <p:sp>
        <p:nvSpPr>
          <p:cNvPr id="16" name="Rounded Rectangle 15"/>
          <p:cNvSpPr/>
          <p:nvPr/>
        </p:nvSpPr>
        <p:spPr>
          <a:xfrm>
            <a:off x="3941063" y="3401568"/>
            <a:ext cx="3630168"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78224" y="3538728"/>
            <a:ext cx="914400" cy="246888"/>
          </a:xfrm>
          <a:prstGeom prst="rect">
            <a:avLst/>
          </a:prstGeom>
          <a:noFill/>
        </p:spPr>
        <p:txBody>
          <a:bodyPr wrap="square" lIns="0" tIns="0" rIns="0" bIns="0" anchor="t">
            <a:spAutoFit/>
          </a:bodyPr>
          <a:lstStyle/>
          <a:p>
            <a:pPr algn="l">
              <a:lnSpc>
                <a:spcPts val="1287"/>
              </a:lnSpc>
              <a:spcAft>
                <a:spcPts val="300"/>
              </a:spcAft>
            </a:pPr>
            <a:r>
              <a:rPr sz="1100" b="1" i="0">
                <a:solidFill>
                  <a:srgbClr val="078674"/>
                </a:solidFill>
                <a:latin typeface="Inter"/>
              </a:rPr>
              <a:t>TIME</a:t>
            </a:r>
          </a:p>
        </p:txBody>
      </p:sp>
      <p:sp>
        <p:nvSpPr>
          <p:cNvPr id="18" name="TextBox 17"/>
          <p:cNvSpPr txBox="1"/>
          <p:nvPr/>
        </p:nvSpPr>
        <p:spPr>
          <a:xfrm>
            <a:off x="5010912" y="3520440"/>
            <a:ext cx="2441448" cy="548640"/>
          </a:xfrm>
          <a:prstGeom prst="rect">
            <a:avLst/>
          </a:prstGeom>
          <a:noFill/>
        </p:spPr>
        <p:txBody>
          <a:bodyPr wrap="square" lIns="0" tIns="0" rIns="0" bIns="0" anchor="t">
            <a:spAutoFit/>
          </a:bodyPr>
          <a:lstStyle/>
          <a:p>
            <a:pPr algn="l">
              <a:lnSpc>
                <a:spcPts val="1322"/>
              </a:lnSpc>
              <a:spcAft>
                <a:spcPts val="300"/>
              </a:spcAft>
            </a:pPr>
            <a:r>
              <a:rPr sz="1130" b="0" i="0">
                <a:solidFill>
                  <a:srgbClr val="153E35"/>
                </a:solidFill>
                <a:latin typeface="Inter"/>
              </a:rPr>
              <a:t>Timer Start / Pause / Reset</a:t>
            </a:r>
          </a:p>
        </p:txBody>
      </p:sp>
      <p:sp>
        <p:nvSpPr>
          <p:cNvPr id="19" name="Rounded Rectangle 18"/>
          <p:cNvSpPr/>
          <p:nvPr/>
        </p:nvSpPr>
        <p:spPr>
          <a:xfrm>
            <a:off x="7735824" y="3401568"/>
            <a:ext cx="3630168" cy="804672"/>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72984" y="3538728"/>
            <a:ext cx="914400" cy="246888"/>
          </a:xfrm>
          <a:prstGeom prst="rect">
            <a:avLst/>
          </a:prstGeom>
          <a:noFill/>
        </p:spPr>
        <p:txBody>
          <a:bodyPr wrap="square" lIns="0" tIns="0" rIns="0" bIns="0" anchor="t">
            <a:spAutoFit/>
          </a:bodyPr>
          <a:lstStyle/>
          <a:p>
            <a:pPr algn="l">
              <a:lnSpc>
                <a:spcPts val="1287"/>
              </a:lnSpc>
              <a:spcAft>
                <a:spcPts val="300"/>
              </a:spcAft>
            </a:pPr>
            <a:r>
              <a:rPr sz="1100" b="1" i="0">
                <a:solidFill>
                  <a:srgbClr val="078674"/>
                </a:solidFill>
                <a:latin typeface="Inter"/>
              </a:rPr>
              <a:t>MUSIC</a:t>
            </a:r>
          </a:p>
        </p:txBody>
      </p:sp>
      <p:sp>
        <p:nvSpPr>
          <p:cNvPr id="21" name="TextBox 20"/>
          <p:cNvSpPr txBox="1"/>
          <p:nvPr/>
        </p:nvSpPr>
        <p:spPr>
          <a:xfrm>
            <a:off x="8805672" y="3520440"/>
            <a:ext cx="2441448" cy="548640"/>
          </a:xfrm>
          <a:prstGeom prst="rect">
            <a:avLst/>
          </a:prstGeom>
          <a:noFill/>
        </p:spPr>
        <p:txBody>
          <a:bodyPr wrap="square" lIns="0" tIns="0" rIns="0" bIns="0" anchor="t">
            <a:spAutoFit/>
          </a:bodyPr>
          <a:lstStyle/>
          <a:p>
            <a:pPr algn="l">
              <a:lnSpc>
                <a:spcPts val="1322"/>
              </a:lnSpc>
              <a:spcAft>
                <a:spcPts val="300"/>
              </a:spcAft>
            </a:pPr>
            <a:r>
              <a:rPr sz="1130" b="0" i="0">
                <a:solidFill>
                  <a:srgbClr val="153E35"/>
                </a:solidFill>
                <a:latin typeface="Inter"/>
              </a:rPr>
              <a:t>Mở Spotify / YouTube theo shortcut</a:t>
            </a:r>
          </a:p>
        </p:txBody>
      </p:sp>
      <p:sp>
        <p:nvSpPr>
          <p:cNvPr id="22" name="Rounded Rectangle 21"/>
          <p:cNvSpPr/>
          <p:nvPr/>
        </p:nvSpPr>
        <p:spPr>
          <a:xfrm>
            <a:off x="3941063" y="4325112"/>
            <a:ext cx="3630168"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78224" y="4462272"/>
            <a:ext cx="914400" cy="246888"/>
          </a:xfrm>
          <a:prstGeom prst="rect">
            <a:avLst/>
          </a:prstGeom>
          <a:noFill/>
        </p:spPr>
        <p:txBody>
          <a:bodyPr wrap="square" lIns="0" tIns="0" rIns="0" bIns="0" anchor="t">
            <a:spAutoFit/>
          </a:bodyPr>
          <a:lstStyle/>
          <a:p>
            <a:pPr algn="l">
              <a:lnSpc>
                <a:spcPts val="1287"/>
              </a:lnSpc>
              <a:spcAft>
                <a:spcPts val="300"/>
              </a:spcAft>
            </a:pPr>
            <a:r>
              <a:rPr sz="1100" b="1" i="0">
                <a:solidFill>
                  <a:srgbClr val="078674"/>
                </a:solidFill>
                <a:latin typeface="Inter"/>
              </a:rPr>
              <a:t>SEARCH</a:t>
            </a:r>
          </a:p>
        </p:txBody>
      </p:sp>
      <p:sp>
        <p:nvSpPr>
          <p:cNvPr id="24" name="TextBox 23"/>
          <p:cNvSpPr txBox="1"/>
          <p:nvPr/>
        </p:nvSpPr>
        <p:spPr>
          <a:xfrm>
            <a:off x="5010912" y="4443984"/>
            <a:ext cx="2441448" cy="548640"/>
          </a:xfrm>
          <a:prstGeom prst="rect">
            <a:avLst/>
          </a:prstGeom>
          <a:noFill/>
        </p:spPr>
        <p:txBody>
          <a:bodyPr wrap="square" lIns="0" tIns="0" rIns="0" bIns="0" anchor="t">
            <a:spAutoFit/>
          </a:bodyPr>
          <a:lstStyle/>
          <a:p>
            <a:pPr algn="l">
              <a:lnSpc>
                <a:spcPts val="1322"/>
              </a:lnSpc>
              <a:spcAft>
                <a:spcPts val="300"/>
              </a:spcAft>
            </a:pPr>
            <a:r>
              <a:rPr sz="1130" b="0" i="0">
                <a:solidFill>
                  <a:srgbClr val="153E35"/>
                </a:solidFill>
                <a:latin typeface="Inter"/>
              </a:rPr>
              <a:t>Tìm tài liệu hobby liên quan</a:t>
            </a:r>
          </a:p>
        </p:txBody>
      </p:sp>
      <p:sp>
        <p:nvSpPr>
          <p:cNvPr id="25" name="Rounded Rectangle 24"/>
          <p:cNvSpPr/>
          <p:nvPr/>
        </p:nvSpPr>
        <p:spPr>
          <a:xfrm>
            <a:off x="7735824" y="4325112"/>
            <a:ext cx="3630168" cy="804672"/>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72984" y="4462272"/>
            <a:ext cx="914400" cy="246888"/>
          </a:xfrm>
          <a:prstGeom prst="rect">
            <a:avLst/>
          </a:prstGeom>
          <a:noFill/>
        </p:spPr>
        <p:txBody>
          <a:bodyPr wrap="square" lIns="0" tIns="0" rIns="0" bIns="0" anchor="t">
            <a:spAutoFit/>
          </a:bodyPr>
          <a:lstStyle/>
          <a:p>
            <a:pPr algn="l">
              <a:lnSpc>
                <a:spcPts val="1287"/>
              </a:lnSpc>
              <a:spcAft>
                <a:spcPts val="300"/>
              </a:spcAft>
            </a:pPr>
            <a:r>
              <a:rPr sz="1100" b="1" i="0">
                <a:solidFill>
                  <a:srgbClr val="078674"/>
                </a:solidFill>
                <a:latin typeface="Inter"/>
              </a:rPr>
              <a:t>NOTES</a:t>
            </a:r>
          </a:p>
        </p:txBody>
      </p:sp>
      <p:sp>
        <p:nvSpPr>
          <p:cNvPr id="27" name="TextBox 26"/>
          <p:cNvSpPr txBox="1"/>
          <p:nvPr/>
        </p:nvSpPr>
        <p:spPr>
          <a:xfrm>
            <a:off x="8805672" y="4443984"/>
            <a:ext cx="2441448" cy="548640"/>
          </a:xfrm>
          <a:prstGeom prst="rect">
            <a:avLst/>
          </a:prstGeom>
          <a:noFill/>
        </p:spPr>
        <p:txBody>
          <a:bodyPr wrap="square" lIns="0" tIns="0" rIns="0" bIns="0" anchor="t">
            <a:spAutoFit/>
          </a:bodyPr>
          <a:lstStyle/>
          <a:p>
            <a:pPr algn="l">
              <a:lnSpc>
                <a:spcPts val="1322"/>
              </a:lnSpc>
              <a:spcAft>
                <a:spcPts val="300"/>
              </a:spcAft>
            </a:pPr>
            <a:r>
              <a:rPr sz="1130" b="0" i="0">
                <a:solidFill>
                  <a:srgbClr val="153E35"/>
                </a:solidFill>
                <a:latin typeface="Inter"/>
              </a:rPr>
              <a:t>Ghi chú ngay trong phiên</a:t>
            </a:r>
          </a:p>
        </p:txBody>
      </p:sp>
      <p:sp>
        <p:nvSpPr>
          <p:cNvPr id="28" name="Rounded Rectangle 27"/>
          <p:cNvSpPr/>
          <p:nvPr/>
        </p:nvSpPr>
        <p:spPr>
          <a:xfrm>
            <a:off x="3941063" y="5248656"/>
            <a:ext cx="3630168"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78224" y="5385816"/>
            <a:ext cx="914400" cy="246888"/>
          </a:xfrm>
          <a:prstGeom prst="rect">
            <a:avLst/>
          </a:prstGeom>
          <a:noFill/>
        </p:spPr>
        <p:txBody>
          <a:bodyPr wrap="square" lIns="0" tIns="0" rIns="0" bIns="0" anchor="t">
            <a:spAutoFit/>
          </a:bodyPr>
          <a:lstStyle/>
          <a:p>
            <a:pPr algn="l">
              <a:lnSpc>
                <a:spcPts val="1287"/>
              </a:lnSpc>
              <a:spcAft>
                <a:spcPts val="300"/>
              </a:spcAft>
            </a:pPr>
            <a:r>
              <a:rPr sz="1100" b="1" i="0">
                <a:solidFill>
                  <a:srgbClr val="078674"/>
                </a:solidFill>
                <a:latin typeface="Inter"/>
              </a:rPr>
              <a:t>FINISH</a:t>
            </a:r>
          </a:p>
        </p:txBody>
      </p:sp>
      <p:sp>
        <p:nvSpPr>
          <p:cNvPr id="30" name="TextBox 29"/>
          <p:cNvSpPr txBox="1"/>
          <p:nvPr/>
        </p:nvSpPr>
        <p:spPr>
          <a:xfrm>
            <a:off x="5010912" y="5367528"/>
            <a:ext cx="2441448" cy="548640"/>
          </a:xfrm>
          <a:prstGeom prst="rect">
            <a:avLst/>
          </a:prstGeom>
          <a:noFill/>
        </p:spPr>
        <p:txBody>
          <a:bodyPr wrap="square" lIns="0" tIns="0" rIns="0" bIns="0" anchor="t">
            <a:spAutoFit/>
          </a:bodyPr>
          <a:lstStyle/>
          <a:p>
            <a:pPr algn="l">
              <a:lnSpc>
                <a:spcPts val="1322"/>
              </a:lnSpc>
              <a:spcAft>
                <a:spcPts val="300"/>
              </a:spcAft>
            </a:pPr>
            <a:r>
              <a:rPr sz="1130" b="0" i="0">
                <a:solidFill>
                  <a:srgbClr val="153E35"/>
                </a:solidFill>
                <a:latin typeface="Inter"/>
              </a:rPr>
              <a:t>Lưu thời lượng + notes vào Home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03 · My Hobbies — do người dùng tự tạo, không có catalog</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Giữ chức năng tạo tự do, nhiều hobby, priority chỉ để gợi ý; khi sửa không mất lịch.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51</a:t>
            </a:r>
          </a:p>
        </p:txBody>
      </p:sp>
      <p:sp>
        <p:nvSpPr>
          <p:cNvPr id="10" name="Rounded Rectangle 9"/>
          <p:cNvSpPr/>
          <p:nvPr/>
        </p:nvSpPr>
        <p:spPr>
          <a:xfrm>
            <a:off x="740664" y="1828800"/>
            <a:ext cx="3255264" cy="4562856"/>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hobbies.png"/>
          <p:cNvPicPr>
            <a:picLocks noChangeAspect="1"/>
          </p:cNvPicPr>
          <p:nvPr/>
        </p:nvPicPr>
        <p:blipFill>
          <a:blip r:embed="rId3"/>
          <a:stretch>
            <a:fillRect/>
          </a:stretch>
        </p:blipFill>
        <p:spPr>
          <a:xfrm>
            <a:off x="1479410" y="1920240"/>
            <a:ext cx="1777770" cy="4032504"/>
          </a:xfrm>
          <a:prstGeom prst="rect">
            <a:avLst/>
          </a:prstGeom>
        </p:spPr>
      </p:pic>
      <p:sp>
        <p:nvSpPr>
          <p:cNvPr id="12" name="TextBox 11"/>
          <p:cNvSpPr txBox="1"/>
          <p:nvPr/>
        </p:nvSpPr>
        <p:spPr>
          <a:xfrm>
            <a:off x="868680" y="6044184"/>
            <a:ext cx="2999232"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Danh sách sở thích cá nhân</a:t>
            </a:r>
          </a:p>
        </p:txBody>
      </p:sp>
      <p:sp>
        <p:nvSpPr>
          <p:cNvPr id="13" name="Rounded Rectangle 12"/>
          <p:cNvSpPr/>
          <p:nvPr/>
        </p:nvSpPr>
        <p:spPr>
          <a:xfrm>
            <a:off x="4389120" y="1828800"/>
            <a:ext cx="3172968" cy="4562856"/>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allery_detail.png"/>
          <p:cNvPicPr>
            <a:picLocks noChangeAspect="1"/>
          </p:cNvPicPr>
          <p:nvPr/>
        </p:nvPicPr>
        <p:blipFill>
          <a:blip r:embed="rId4"/>
          <a:stretch>
            <a:fillRect/>
          </a:stretch>
        </p:blipFill>
        <p:spPr>
          <a:xfrm>
            <a:off x="5086718" y="1920240"/>
            <a:ext cx="1777770" cy="4032504"/>
          </a:xfrm>
          <a:prstGeom prst="rect">
            <a:avLst/>
          </a:prstGeom>
        </p:spPr>
      </p:pic>
      <p:sp>
        <p:nvSpPr>
          <p:cNvPr id="15" name="TextBox 14"/>
          <p:cNvSpPr txBox="1"/>
          <p:nvPr/>
        </p:nvSpPr>
        <p:spPr>
          <a:xfrm>
            <a:off x="4517136" y="6044184"/>
            <a:ext cx="291693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Chi tiết, ưu tiên, kế hoạch</a:t>
            </a:r>
          </a:p>
        </p:txBody>
      </p:sp>
      <p:sp>
        <p:nvSpPr>
          <p:cNvPr id="16" name="Rounded Rectangle 15"/>
          <p:cNvSpPr/>
          <p:nvPr/>
        </p:nvSpPr>
        <p:spPr>
          <a:xfrm>
            <a:off x="7900416" y="1856231"/>
            <a:ext cx="3511296" cy="4425696"/>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92440" y="2048255"/>
            <a:ext cx="312724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THAO TÁC ĐƯỢC CHỐT</a:t>
            </a:r>
          </a:p>
        </p:txBody>
      </p:sp>
      <p:sp>
        <p:nvSpPr>
          <p:cNvPr id="18" name="TextBox 17"/>
          <p:cNvSpPr txBox="1"/>
          <p:nvPr/>
        </p:nvSpPr>
        <p:spPr>
          <a:xfrm>
            <a:off x="8101584" y="2679191"/>
            <a:ext cx="3108960" cy="3511296"/>
          </a:xfrm>
          <a:prstGeom prst="rect">
            <a:avLst/>
          </a:prstGeom>
          <a:noFill/>
        </p:spPr>
        <p:txBody>
          <a:bodyPr wrap="square" lIns="0" tIns="0" rIns="0" bIns="0" anchor="t">
            <a:spAutoFit/>
          </a:bodyPr>
          <a:lstStyle/>
          <a:p>
            <a:pPr algn="l">
              <a:lnSpc>
                <a:spcPts val="1612"/>
              </a:lnSpc>
              <a:spcAft>
                <a:spcPts val="300"/>
              </a:spcAft>
            </a:pPr>
            <a:r>
              <a:rPr sz="1260" b="0" i="0">
                <a:solidFill>
                  <a:srgbClr val="617D71"/>
                </a:solidFill>
                <a:latin typeface="Inter"/>
              </a:rPr>
              <a:t>• Create: tên + mô tả</a:t>
            </a:r>
          </a:p>
          <a:p>
            <a:pPr algn="l">
              <a:lnSpc>
                <a:spcPts val="1612"/>
              </a:lnSpc>
              <a:spcAft>
                <a:spcPts val="300"/>
              </a:spcAft>
            </a:pPr>
            <a:r>
              <a:rPr sz="1260" b="0" i="0">
                <a:solidFill>
                  <a:srgbClr val="617D71"/>
                </a:solidFill>
                <a:latin typeface="Inter"/>
              </a:rPr>
              <a:t>• Chọn icon / màu</a:t>
            </a:r>
          </a:p>
          <a:p>
            <a:pPr algn="l">
              <a:lnSpc>
                <a:spcPts val="1612"/>
              </a:lnSpc>
              <a:spcAft>
                <a:spcPts val="300"/>
              </a:spcAft>
            </a:pPr>
            <a:r>
              <a:rPr sz="1260" b="0" i="0">
                <a:solidFill>
                  <a:srgbClr val="617D71"/>
                </a:solidFill>
                <a:latin typeface="Inter"/>
              </a:rPr>
              <a:t>• Active / Interested</a:t>
            </a:r>
          </a:p>
          <a:p>
            <a:pPr algn="l">
              <a:lnSpc>
                <a:spcPts val="1612"/>
              </a:lnSpc>
              <a:spcAft>
                <a:spcPts val="300"/>
              </a:spcAft>
            </a:pPr>
            <a:r>
              <a:rPr sz="1260" b="0" i="0">
                <a:solidFill>
                  <a:srgbClr val="617D71"/>
                </a:solidFill>
                <a:latin typeface="Inter"/>
              </a:rPr>
              <a:t>• Sửa thông tin</a:t>
            </a:r>
          </a:p>
          <a:p>
            <a:pPr algn="l">
              <a:lnSpc>
                <a:spcPts val="1612"/>
              </a:lnSpc>
              <a:spcAft>
                <a:spcPts val="300"/>
              </a:spcAft>
            </a:pPr>
            <a:r>
              <a:rPr sz="1260" b="0" i="0">
                <a:solidFill>
                  <a:srgbClr val="617D71"/>
                </a:solidFill>
                <a:latin typeface="Inter"/>
              </a:rPr>
              <a:t>• Tạo buổi tập</a:t>
            </a:r>
          </a:p>
          <a:p>
            <a:pPr algn="l">
              <a:lnSpc>
                <a:spcPts val="1612"/>
              </a:lnSpc>
              <a:spcAft>
                <a:spcPts val="300"/>
              </a:spcAft>
            </a:pPr>
            <a:r>
              <a:rPr sz="1260" b="0" i="0">
                <a:solidFill>
                  <a:srgbClr val="617D71"/>
                </a:solidFill>
                <a:latin typeface="Inter"/>
              </a:rPr>
              <a:t>• Dữ liệu dùng chung Home</a:t>
            </a:r>
          </a:p>
          <a:p>
            <a:pPr algn="l">
              <a:lnSpc>
                <a:spcPts val="1612"/>
              </a:lnSpc>
              <a:spcAft>
                <a:spcPts val="300"/>
              </a:spcAft>
            </a:pPr>
            <a:endParaRPr sz="1260" b="0" i="0">
              <a:solidFill>
                <a:srgbClr val="617D71"/>
              </a:solidFill>
              <a:latin typeface="Inter"/>
            </a:endParaRPr>
          </a:p>
          <a:p>
            <a:pPr algn="l">
              <a:lnSpc>
                <a:spcPts val="1612"/>
              </a:lnSpc>
              <a:spcAft>
                <a:spcPts val="300"/>
              </a:spcAft>
            </a:pPr>
            <a:r>
              <a:rPr sz="1260" b="0" i="0">
                <a:solidFill>
                  <a:srgbClr val="617D71"/>
                </a:solidFill>
                <a:latin typeface="Inter"/>
              </a:rPr>
              <a:t>Không ép phải tham gia community.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04 · Create Hobby — thiết kế bị lùi vì dropdown icon</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nhận ra icon bị đổi thành chữ. Đây là một bước quay lại sửa sau khi tích hợp.</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52</a:t>
            </a:r>
          </a:p>
        </p:txBody>
      </p:sp>
      <p:sp>
        <p:nvSpPr>
          <p:cNvPr id="10" name="Rounded Rectangle 9"/>
          <p:cNvSpPr/>
          <p:nvPr/>
        </p:nvSpPr>
        <p:spPr>
          <a:xfrm>
            <a:off x="640080" y="1801368"/>
            <a:ext cx="5349240" cy="1353312"/>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5" y="1929384"/>
            <a:ext cx="4983479"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NHẬN XÉT</a:t>
            </a:r>
          </a:p>
        </p:txBody>
      </p:sp>
      <p:sp>
        <p:nvSpPr>
          <p:cNvPr id="12" name="TextBox 11"/>
          <p:cNvSpPr txBox="1"/>
          <p:nvPr/>
        </p:nvSpPr>
        <p:spPr>
          <a:xfrm>
            <a:off x="813815" y="2249424"/>
            <a:ext cx="5010912" cy="758952"/>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“why this ccrtahobby turn too ugly man , whe is my icon  to choose not word”</a:t>
            </a:r>
          </a:p>
        </p:txBody>
      </p:sp>
      <p:sp>
        <p:nvSpPr>
          <p:cNvPr id="13" name="Rounded Rectangle 12"/>
          <p:cNvSpPr/>
          <p:nvPr/>
        </p:nvSpPr>
        <p:spPr>
          <a:xfrm>
            <a:off x="6199632" y="1801368"/>
            <a:ext cx="5257800" cy="135331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1929384"/>
            <a:ext cx="4892040"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ĐIỀU CHỈNH</a:t>
            </a:r>
          </a:p>
        </p:txBody>
      </p:sp>
      <p:sp>
        <p:nvSpPr>
          <p:cNvPr id="15" name="TextBox 14"/>
          <p:cNvSpPr txBox="1"/>
          <p:nvPr/>
        </p:nvSpPr>
        <p:spPr>
          <a:xfrm>
            <a:off x="6373368" y="2249424"/>
            <a:ext cx="4919472" cy="758952"/>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Khôi phục visual icon grid; thêm color swatch, live card preview, hai thẻ chọn priority.</a:t>
            </a:r>
          </a:p>
        </p:txBody>
      </p:sp>
      <p:sp>
        <p:nvSpPr>
          <p:cNvPr id="16" name="Rounded Rectangle 15"/>
          <p:cNvSpPr/>
          <p:nvPr/>
        </p:nvSpPr>
        <p:spPr>
          <a:xfrm>
            <a:off x="877824" y="3392424"/>
            <a:ext cx="4178808" cy="271576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20261013-194831).png"/>
          <p:cNvPicPr>
            <a:picLocks noChangeAspect="1"/>
          </p:cNvPicPr>
          <p:nvPr/>
        </p:nvPicPr>
        <p:blipFill>
          <a:blip r:embed="rId3"/>
          <a:stretch>
            <a:fillRect/>
          </a:stretch>
        </p:blipFill>
        <p:spPr>
          <a:xfrm>
            <a:off x="2019855" y="3483864"/>
            <a:ext cx="1894744" cy="2185416"/>
          </a:xfrm>
          <a:prstGeom prst="rect">
            <a:avLst/>
          </a:prstGeom>
        </p:spPr>
      </p:pic>
      <p:sp>
        <p:nvSpPr>
          <p:cNvPr id="18" name="TextBox 17"/>
          <p:cNvSpPr txBox="1"/>
          <p:nvPr/>
        </p:nvSpPr>
        <p:spPr>
          <a:xfrm>
            <a:off x="1005840" y="5760720"/>
            <a:ext cx="392277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TRƯỚC · chỉ dropdown tên icon</a:t>
            </a:r>
          </a:p>
        </p:txBody>
      </p:sp>
      <p:sp>
        <p:nvSpPr>
          <p:cNvPr id="19" name="Rounded Rectangle 18"/>
          <p:cNvSpPr/>
          <p:nvPr/>
        </p:nvSpPr>
        <p:spPr>
          <a:xfrm>
            <a:off x="6858000" y="3392424"/>
            <a:ext cx="4005072" cy="271576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llery_create.png"/>
          <p:cNvPicPr>
            <a:picLocks noChangeAspect="1"/>
          </p:cNvPicPr>
          <p:nvPr/>
        </p:nvPicPr>
        <p:blipFill>
          <a:blip r:embed="rId4"/>
          <a:stretch>
            <a:fillRect/>
          </a:stretch>
        </p:blipFill>
        <p:spPr>
          <a:xfrm>
            <a:off x="8378804" y="3483864"/>
            <a:ext cx="963462" cy="2185416"/>
          </a:xfrm>
          <a:prstGeom prst="rect">
            <a:avLst/>
          </a:prstGeom>
        </p:spPr>
      </p:pic>
      <p:sp>
        <p:nvSpPr>
          <p:cNvPr id="21" name="TextBox 20"/>
          <p:cNvSpPr txBox="1"/>
          <p:nvPr/>
        </p:nvSpPr>
        <p:spPr>
          <a:xfrm>
            <a:off x="6986016" y="5760720"/>
            <a:ext cx="3749039"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SAU · 12 icon trực quan + màu + preview</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Chi tiết Create Hobby V3: một màn hình, nhiều quyết định thiết kế</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Vì sao mỗi thành phần được giữ sau khi bạn kiểm tra trực tiếp.</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53</a:t>
            </a:r>
          </a:p>
        </p:txBody>
      </p:sp>
      <p:sp>
        <p:nvSpPr>
          <p:cNvPr id="10" name="Rounded Rectangle 9"/>
          <p:cNvSpPr/>
          <p:nvPr/>
        </p:nvSpPr>
        <p:spPr>
          <a:xfrm>
            <a:off x="758952" y="1783080"/>
            <a:ext cx="3200400" cy="4581144"/>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create.png"/>
          <p:cNvPicPr>
            <a:picLocks noChangeAspect="1"/>
          </p:cNvPicPr>
          <p:nvPr/>
        </p:nvPicPr>
        <p:blipFill>
          <a:blip r:embed="rId3"/>
          <a:stretch>
            <a:fillRect/>
          </a:stretch>
        </p:blipFill>
        <p:spPr>
          <a:xfrm>
            <a:off x="1466235" y="1874519"/>
            <a:ext cx="1785833" cy="4050791"/>
          </a:xfrm>
          <a:prstGeom prst="rect">
            <a:avLst/>
          </a:prstGeom>
        </p:spPr>
      </p:pic>
      <p:sp>
        <p:nvSpPr>
          <p:cNvPr id="12" name="TextBox 11"/>
          <p:cNvSpPr txBox="1"/>
          <p:nvPr/>
        </p:nvSpPr>
        <p:spPr>
          <a:xfrm>
            <a:off x="886968" y="6016752"/>
            <a:ext cx="294436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Form Create Hobby V3</a:t>
            </a:r>
          </a:p>
        </p:txBody>
      </p:sp>
      <p:sp>
        <p:nvSpPr>
          <p:cNvPr id="13" name="Rounded Rectangle 12"/>
          <p:cNvSpPr/>
          <p:nvPr/>
        </p:nvSpPr>
        <p:spPr>
          <a:xfrm>
            <a:off x="4215384" y="181051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8" y="200253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HOBBY NAME</a:t>
            </a:r>
          </a:p>
        </p:txBody>
      </p:sp>
      <p:sp>
        <p:nvSpPr>
          <p:cNvPr id="15" name="TextBox 14"/>
          <p:cNvSpPr txBox="1"/>
          <p:nvPr/>
        </p:nvSpPr>
        <p:spPr>
          <a:xfrm>
            <a:off x="4416552" y="2633472"/>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Text nhập tự do. Đây là cốt lõi “user-owned”.</a:t>
            </a:r>
          </a:p>
        </p:txBody>
      </p:sp>
      <p:sp>
        <p:nvSpPr>
          <p:cNvPr id="16" name="Rounded Rectangle 15"/>
          <p:cNvSpPr/>
          <p:nvPr/>
        </p:nvSpPr>
        <p:spPr>
          <a:xfrm>
            <a:off x="7918704" y="181051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10728" y="200253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DESCRIPTION</a:t>
            </a:r>
          </a:p>
        </p:txBody>
      </p:sp>
      <p:sp>
        <p:nvSpPr>
          <p:cNvPr id="18" name="TextBox 17"/>
          <p:cNvSpPr txBox="1"/>
          <p:nvPr/>
        </p:nvSpPr>
        <p:spPr>
          <a:xfrm>
            <a:off x="8119872" y="2633472"/>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Tùy chọn; không tăng ma sát lúc tạo.</a:t>
            </a:r>
          </a:p>
        </p:txBody>
      </p:sp>
      <p:sp>
        <p:nvSpPr>
          <p:cNvPr id="19" name="Rounded Rectangle 18"/>
          <p:cNvSpPr/>
          <p:nvPr/>
        </p:nvSpPr>
        <p:spPr>
          <a:xfrm>
            <a:off x="4215384" y="322783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07408" y="341985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VISUAL ICON GRID</a:t>
            </a:r>
          </a:p>
        </p:txBody>
      </p:sp>
      <p:sp>
        <p:nvSpPr>
          <p:cNvPr id="21" name="TextBox 20"/>
          <p:cNvSpPr txBox="1"/>
          <p:nvPr/>
        </p:nvSpPr>
        <p:spPr>
          <a:xfrm>
            <a:off x="4416552" y="4050791"/>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12 biểu tượng, không dropdown chữ.</a:t>
            </a:r>
          </a:p>
        </p:txBody>
      </p:sp>
      <p:sp>
        <p:nvSpPr>
          <p:cNvPr id="22" name="Rounded Rectangle 21"/>
          <p:cNvSpPr/>
          <p:nvPr/>
        </p:nvSpPr>
        <p:spPr>
          <a:xfrm>
            <a:off x="7918704" y="322783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0728" y="341985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COLOR SWATCH</a:t>
            </a:r>
          </a:p>
        </p:txBody>
      </p:sp>
      <p:sp>
        <p:nvSpPr>
          <p:cNvPr id="24" name="TextBox 23"/>
          <p:cNvSpPr txBox="1"/>
          <p:nvPr/>
        </p:nvSpPr>
        <p:spPr>
          <a:xfrm>
            <a:off x="8119872" y="4050791"/>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Thay đổi màu card trực tiếp.</a:t>
            </a:r>
          </a:p>
        </p:txBody>
      </p:sp>
      <p:sp>
        <p:nvSpPr>
          <p:cNvPr id="25" name="Rounded Rectangle 24"/>
          <p:cNvSpPr/>
          <p:nvPr/>
        </p:nvSpPr>
        <p:spPr>
          <a:xfrm>
            <a:off x="4215384" y="464515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07408" y="483717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LIVE PREVIEW</a:t>
            </a:r>
          </a:p>
        </p:txBody>
      </p:sp>
      <p:sp>
        <p:nvSpPr>
          <p:cNvPr id="27" name="TextBox 26"/>
          <p:cNvSpPr txBox="1"/>
          <p:nvPr/>
        </p:nvSpPr>
        <p:spPr>
          <a:xfrm>
            <a:off x="4416552" y="5468112"/>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Nhìn rõ quyết định trước khi Save.</a:t>
            </a:r>
          </a:p>
        </p:txBody>
      </p:sp>
      <p:sp>
        <p:nvSpPr>
          <p:cNvPr id="28" name="Rounded Rectangle 27"/>
          <p:cNvSpPr/>
          <p:nvPr/>
        </p:nvSpPr>
        <p:spPr>
          <a:xfrm>
            <a:off x="7918704" y="4645152"/>
            <a:ext cx="3520440" cy="124358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10728" y="4837176"/>
            <a:ext cx="3136392" cy="530352"/>
          </a:xfrm>
          <a:prstGeom prst="rect">
            <a:avLst/>
          </a:prstGeom>
          <a:noFill/>
        </p:spPr>
        <p:txBody>
          <a:bodyPr wrap="square" lIns="0" tIns="0" rIns="0" bIns="0" anchor="t">
            <a:spAutoFit/>
          </a:bodyPr>
          <a:lstStyle/>
          <a:p>
            <a:pPr algn="l">
              <a:lnSpc>
                <a:spcPts val="1638"/>
              </a:lnSpc>
              <a:spcAft>
                <a:spcPts val="300"/>
              </a:spcAft>
            </a:pPr>
            <a:r>
              <a:rPr sz="1400" b="1" i="0">
                <a:solidFill>
                  <a:srgbClr val="153E35"/>
                </a:solidFill>
                <a:latin typeface="Inter"/>
              </a:rPr>
              <a:t>PRIORITY CARD</a:t>
            </a:r>
          </a:p>
        </p:txBody>
      </p:sp>
      <p:sp>
        <p:nvSpPr>
          <p:cNvPr id="30" name="TextBox 29"/>
          <p:cNvSpPr txBox="1"/>
          <p:nvPr/>
        </p:nvSpPr>
        <p:spPr>
          <a:xfrm>
            <a:off x="8119872" y="5468112"/>
            <a:ext cx="3118104" cy="329184"/>
          </a:xfrm>
          <a:prstGeom prst="rect">
            <a:avLst/>
          </a:prstGeom>
          <a:noFill/>
        </p:spPr>
        <p:txBody>
          <a:bodyPr wrap="square" lIns="0" tIns="0" rIns="0" bIns="0" anchor="t">
            <a:spAutoFit/>
          </a:bodyPr>
          <a:lstStyle/>
          <a:p>
            <a:pPr algn="l">
              <a:lnSpc>
                <a:spcPts val="1433"/>
              </a:lnSpc>
              <a:spcAft>
                <a:spcPts val="300"/>
              </a:spcAft>
            </a:pPr>
            <a:r>
              <a:rPr sz="1120" b="0" i="0">
                <a:solidFill>
                  <a:srgbClr val="617D71"/>
                </a:solidFill>
                <a:latin typeface="Inter"/>
              </a:rPr>
              <a:t>Active / Interested được chọn bằng thẻ, không dropdown.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05 · Community — không phải feed vô hạn vô mục đích</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định hướng Community như mạng xã hội của sở thích: Feed, Group, Activities, People và Chats.</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54</a:t>
            </a:r>
          </a:p>
        </p:txBody>
      </p:sp>
      <p:sp>
        <p:nvSpPr>
          <p:cNvPr id="10" name="Rounded Rectangle 9"/>
          <p:cNvSpPr/>
          <p:nvPr/>
        </p:nvSpPr>
        <p:spPr>
          <a:xfrm>
            <a:off x="731520" y="1764792"/>
            <a:ext cx="3063240" cy="457200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feed.png"/>
          <p:cNvPicPr>
            <a:picLocks noChangeAspect="1"/>
          </p:cNvPicPr>
          <p:nvPr/>
        </p:nvPicPr>
        <p:blipFill>
          <a:blip r:embed="rId3"/>
          <a:stretch>
            <a:fillRect/>
          </a:stretch>
        </p:blipFill>
        <p:spPr>
          <a:xfrm>
            <a:off x="1372239" y="1856231"/>
            <a:ext cx="1781801" cy="4041648"/>
          </a:xfrm>
          <a:prstGeom prst="rect">
            <a:avLst/>
          </a:prstGeom>
        </p:spPr>
      </p:pic>
      <p:sp>
        <p:nvSpPr>
          <p:cNvPr id="12" name="TextBox 11"/>
          <p:cNvSpPr txBox="1"/>
          <p:nvPr/>
        </p:nvSpPr>
        <p:spPr>
          <a:xfrm>
            <a:off x="859536" y="5989320"/>
            <a:ext cx="280720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Feed: post · like · comment</a:t>
            </a:r>
          </a:p>
        </p:txBody>
      </p:sp>
      <p:sp>
        <p:nvSpPr>
          <p:cNvPr id="13" name="Rounded Rectangle 12"/>
          <p:cNvSpPr/>
          <p:nvPr/>
        </p:nvSpPr>
        <p:spPr>
          <a:xfrm>
            <a:off x="4096512" y="1764792"/>
            <a:ext cx="3063240" cy="457200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allery_groups.png"/>
          <p:cNvPicPr>
            <a:picLocks noChangeAspect="1"/>
          </p:cNvPicPr>
          <p:nvPr/>
        </p:nvPicPr>
        <p:blipFill>
          <a:blip r:embed="rId4"/>
          <a:stretch>
            <a:fillRect/>
          </a:stretch>
        </p:blipFill>
        <p:spPr>
          <a:xfrm>
            <a:off x="4737231" y="1856231"/>
            <a:ext cx="1781801" cy="4041648"/>
          </a:xfrm>
          <a:prstGeom prst="rect">
            <a:avLst/>
          </a:prstGeom>
        </p:spPr>
      </p:pic>
      <p:sp>
        <p:nvSpPr>
          <p:cNvPr id="15" name="TextBox 14"/>
          <p:cNvSpPr txBox="1"/>
          <p:nvPr/>
        </p:nvSpPr>
        <p:spPr>
          <a:xfrm>
            <a:off x="4224528" y="5989320"/>
            <a:ext cx="280720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Groups: khám phá · tham gia</a:t>
            </a:r>
          </a:p>
        </p:txBody>
      </p:sp>
      <p:sp>
        <p:nvSpPr>
          <p:cNvPr id="16" name="Rounded Rectangle 15"/>
          <p:cNvSpPr/>
          <p:nvPr/>
        </p:nvSpPr>
        <p:spPr>
          <a:xfrm>
            <a:off x="7452360" y="1764792"/>
            <a:ext cx="3063240" cy="457200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allery_events.png"/>
          <p:cNvPicPr>
            <a:picLocks noChangeAspect="1"/>
          </p:cNvPicPr>
          <p:nvPr/>
        </p:nvPicPr>
        <p:blipFill>
          <a:blip r:embed="rId5"/>
          <a:stretch>
            <a:fillRect/>
          </a:stretch>
        </p:blipFill>
        <p:spPr>
          <a:xfrm>
            <a:off x="8093079" y="1856231"/>
            <a:ext cx="1781801" cy="4041648"/>
          </a:xfrm>
          <a:prstGeom prst="rect">
            <a:avLst/>
          </a:prstGeom>
        </p:spPr>
      </p:pic>
      <p:sp>
        <p:nvSpPr>
          <p:cNvPr id="18" name="TextBox 17"/>
          <p:cNvSpPr txBox="1"/>
          <p:nvPr/>
        </p:nvSpPr>
        <p:spPr>
          <a:xfrm>
            <a:off x="7580376" y="5989320"/>
            <a:ext cx="2807208"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Activities: RSVP rồi tự thêm lịch</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Community — từng chức năng và mối quan hệ với My Hobbies</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Các nội dung được gắn hobby tự tạo, Active được gợi ý nhiều hơn; không khóa việc khám phá khác.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55</a:t>
            </a:r>
          </a:p>
        </p:txBody>
      </p:sp>
      <p:sp>
        <p:nvSpPr>
          <p:cNvPr id="10" name="Rounded Rectangle 9"/>
          <p:cNvSpPr/>
          <p:nvPr/>
        </p:nvSpPr>
        <p:spPr>
          <a:xfrm>
            <a:off x="685800" y="178308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97510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FEED</a:t>
            </a:r>
          </a:p>
        </p:txBody>
      </p:sp>
      <p:sp>
        <p:nvSpPr>
          <p:cNvPr id="12" name="TextBox 11"/>
          <p:cNvSpPr txBox="1"/>
          <p:nvPr/>
        </p:nvSpPr>
        <p:spPr>
          <a:xfrm>
            <a:off x="886968" y="2606040"/>
            <a:ext cx="3136392" cy="886967"/>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Viết bài / bình luận / thả thích. Có chủ đề hobby của bài.</a:t>
            </a:r>
          </a:p>
        </p:txBody>
      </p:sp>
      <p:sp>
        <p:nvSpPr>
          <p:cNvPr id="13" name="Rounded Rectangle 12"/>
          <p:cNvSpPr/>
          <p:nvPr/>
        </p:nvSpPr>
        <p:spPr>
          <a:xfrm>
            <a:off x="4453128" y="178308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45152" y="197510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GROUPS</a:t>
            </a:r>
          </a:p>
        </p:txBody>
      </p:sp>
      <p:sp>
        <p:nvSpPr>
          <p:cNvPr id="15" name="TextBox 14"/>
          <p:cNvSpPr txBox="1"/>
          <p:nvPr/>
        </p:nvSpPr>
        <p:spPr>
          <a:xfrm>
            <a:off x="4654296" y="2606040"/>
            <a:ext cx="3136392" cy="886967"/>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Xem nhóm phù hợp, có thể tạo nhóm và tham gia.</a:t>
            </a:r>
          </a:p>
        </p:txBody>
      </p:sp>
      <p:sp>
        <p:nvSpPr>
          <p:cNvPr id="16" name="Rounded Rectangle 15"/>
          <p:cNvSpPr/>
          <p:nvPr/>
        </p:nvSpPr>
        <p:spPr>
          <a:xfrm>
            <a:off x="8220456" y="178308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197510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ACTIVITIES</a:t>
            </a:r>
          </a:p>
        </p:txBody>
      </p:sp>
      <p:sp>
        <p:nvSpPr>
          <p:cNvPr id="18" name="TextBox 17"/>
          <p:cNvSpPr txBox="1"/>
          <p:nvPr/>
        </p:nvSpPr>
        <p:spPr>
          <a:xfrm>
            <a:off x="8421624" y="2606040"/>
            <a:ext cx="3136392" cy="886967"/>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RSVP riêng; chỉ khi chọn Add to Home mới tạo lịch.</a:t>
            </a:r>
          </a:p>
        </p:txBody>
      </p:sp>
      <p:sp>
        <p:nvSpPr>
          <p:cNvPr id="19" name="Rounded Rectangle 18"/>
          <p:cNvSpPr/>
          <p:nvPr/>
        </p:nvSpPr>
        <p:spPr>
          <a:xfrm>
            <a:off x="685800" y="379476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398678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PEOPLE</a:t>
            </a:r>
          </a:p>
        </p:txBody>
      </p:sp>
      <p:sp>
        <p:nvSpPr>
          <p:cNvPr id="21" name="TextBox 20"/>
          <p:cNvSpPr txBox="1"/>
          <p:nvPr/>
        </p:nvSpPr>
        <p:spPr>
          <a:xfrm>
            <a:off x="886968" y="4617720"/>
            <a:ext cx="3136392" cy="886968"/>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Gợi ý bạn có chung sở thích, nhắn tin khi muốn.</a:t>
            </a:r>
          </a:p>
        </p:txBody>
      </p:sp>
      <p:sp>
        <p:nvSpPr>
          <p:cNvPr id="22" name="Rounded Rectangle 21"/>
          <p:cNvSpPr/>
          <p:nvPr/>
        </p:nvSpPr>
        <p:spPr>
          <a:xfrm>
            <a:off x="4453128" y="379476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5152" y="398678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CHATS</a:t>
            </a:r>
          </a:p>
        </p:txBody>
      </p:sp>
      <p:sp>
        <p:nvSpPr>
          <p:cNvPr id="24" name="TextBox 23"/>
          <p:cNvSpPr txBox="1"/>
          <p:nvPr/>
        </p:nvSpPr>
        <p:spPr>
          <a:xfrm>
            <a:off x="4654296" y="4617720"/>
            <a:ext cx="3136392" cy="886968"/>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Tin nhắn 1–1 và nhóm; không bắt buộc công khai.</a:t>
            </a:r>
          </a:p>
        </p:txBody>
      </p:sp>
      <p:sp>
        <p:nvSpPr>
          <p:cNvPr id="25" name="Rounded Rectangle 24"/>
          <p:cNvSpPr/>
          <p:nvPr/>
        </p:nvSpPr>
        <p:spPr>
          <a:xfrm>
            <a:off x="8220456" y="3794760"/>
            <a:ext cx="3538728"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3986784"/>
            <a:ext cx="3154680" cy="530352"/>
          </a:xfrm>
          <a:prstGeom prst="rect">
            <a:avLst/>
          </a:prstGeom>
          <a:noFill/>
        </p:spPr>
        <p:txBody>
          <a:bodyPr wrap="square" lIns="0" tIns="0" rIns="0" bIns="0" anchor="t">
            <a:spAutoFit/>
          </a:bodyPr>
          <a:lstStyle/>
          <a:p>
            <a:pPr algn="l">
              <a:lnSpc>
                <a:spcPts val="1989"/>
              </a:lnSpc>
              <a:spcAft>
                <a:spcPts val="300"/>
              </a:spcAft>
            </a:pPr>
            <a:r>
              <a:rPr sz="1700" b="1" i="0">
                <a:solidFill>
                  <a:srgbClr val="153E35"/>
                </a:solidFill>
                <a:latin typeface="Inter"/>
              </a:rPr>
              <a:t>PERSONALIZATION</a:t>
            </a:r>
          </a:p>
        </p:txBody>
      </p:sp>
      <p:sp>
        <p:nvSpPr>
          <p:cNvPr id="27" name="TextBox 26"/>
          <p:cNvSpPr txBox="1"/>
          <p:nvPr/>
        </p:nvSpPr>
        <p:spPr>
          <a:xfrm>
            <a:off x="8421624" y="4617720"/>
            <a:ext cx="3136392" cy="886968"/>
          </a:xfrm>
          <a:prstGeom prst="rect">
            <a:avLst/>
          </a:prstGeom>
          <a:noFill/>
        </p:spPr>
        <p:txBody>
          <a:bodyPr wrap="square" lIns="0" tIns="0" rIns="0" bIns="0" anchor="t">
            <a:spAutoFit/>
          </a:bodyPr>
          <a:lstStyle/>
          <a:p>
            <a:pPr algn="l">
              <a:lnSpc>
                <a:spcPts val="1664"/>
              </a:lnSpc>
              <a:spcAft>
                <a:spcPts val="300"/>
              </a:spcAft>
            </a:pPr>
            <a:r>
              <a:rPr sz="1300" b="0" i="0">
                <a:solidFill>
                  <a:srgbClr val="617D71"/>
                </a:solidFill>
                <a:latin typeface="Inter"/>
              </a:rPr>
              <a:t>Active nổi hơn Interested, nhưng không ẩn hobby ngoài danh sách.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Community Chats — thay đổi do bạn yêu cầu sau khi xem Feed</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Tính năng chat không xuất hiện vì AI tự tiện thêm; bạn yêu cầu rõ khi thử Community.</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56</a:t>
            </a:r>
          </a:p>
        </p:txBody>
      </p:sp>
      <p:sp>
        <p:nvSpPr>
          <p:cNvPr id="10" name="Rounded Rectangle 9"/>
          <p:cNvSpPr/>
          <p:nvPr/>
        </p:nvSpPr>
        <p:spPr>
          <a:xfrm>
            <a:off x="676656" y="1837943"/>
            <a:ext cx="5276088" cy="1234440"/>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1965960"/>
            <a:ext cx="4910327"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YÊU CẦU TRONG CHAT</a:t>
            </a:r>
          </a:p>
        </p:txBody>
      </p:sp>
      <p:sp>
        <p:nvSpPr>
          <p:cNvPr id="12" name="TextBox 11"/>
          <p:cNvSpPr txBox="1"/>
          <p:nvPr/>
        </p:nvSpPr>
        <p:spPr>
          <a:xfrm>
            <a:off x="850392" y="2286000"/>
            <a:ext cx="4937759" cy="640080"/>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“make a chat section in  this too”</a:t>
            </a:r>
          </a:p>
        </p:txBody>
      </p:sp>
      <p:sp>
        <p:nvSpPr>
          <p:cNvPr id="13" name="Rounded Rectangle 12"/>
          <p:cNvSpPr/>
          <p:nvPr/>
        </p:nvSpPr>
        <p:spPr>
          <a:xfrm>
            <a:off x="6199632" y="1837943"/>
            <a:ext cx="5276088" cy="1234440"/>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1965960"/>
            <a:ext cx="4910327"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THỰC HIỆN</a:t>
            </a:r>
          </a:p>
        </p:txBody>
      </p:sp>
      <p:sp>
        <p:nvSpPr>
          <p:cNvPr id="15" name="TextBox 14"/>
          <p:cNvSpPr txBox="1"/>
          <p:nvPr/>
        </p:nvSpPr>
        <p:spPr>
          <a:xfrm>
            <a:off x="6373368" y="2286000"/>
            <a:ext cx="4937759" cy="640080"/>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Thêm mục Chats trong Community, có danh sách trò chuyện, nhắn 1–1 và nhắn nhóm.</a:t>
            </a:r>
          </a:p>
        </p:txBody>
      </p:sp>
      <p:sp>
        <p:nvSpPr>
          <p:cNvPr id="16" name="Rounded Rectangle 15"/>
          <p:cNvSpPr/>
          <p:nvPr/>
        </p:nvSpPr>
        <p:spPr>
          <a:xfrm>
            <a:off x="2011680" y="3346704"/>
            <a:ext cx="3072384" cy="281635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allery_chats.png"/>
          <p:cNvPicPr>
            <a:picLocks noChangeAspect="1"/>
          </p:cNvPicPr>
          <p:nvPr/>
        </p:nvPicPr>
        <p:blipFill>
          <a:blip r:embed="rId3"/>
          <a:stretch>
            <a:fillRect/>
          </a:stretch>
        </p:blipFill>
        <p:spPr>
          <a:xfrm>
            <a:off x="3043968" y="3438144"/>
            <a:ext cx="1007806" cy="2286000"/>
          </a:xfrm>
          <a:prstGeom prst="rect">
            <a:avLst/>
          </a:prstGeom>
        </p:spPr>
      </p:pic>
      <p:sp>
        <p:nvSpPr>
          <p:cNvPr id="18" name="TextBox 17"/>
          <p:cNvSpPr txBox="1"/>
          <p:nvPr/>
        </p:nvSpPr>
        <p:spPr>
          <a:xfrm>
            <a:off x="2139696" y="5815584"/>
            <a:ext cx="2816352"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Màn danh sách chat</a:t>
            </a:r>
          </a:p>
        </p:txBody>
      </p:sp>
      <p:sp>
        <p:nvSpPr>
          <p:cNvPr id="19" name="Rounded Rectangle 18"/>
          <p:cNvSpPr/>
          <p:nvPr/>
        </p:nvSpPr>
        <p:spPr>
          <a:xfrm>
            <a:off x="6949440" y="3346704"/>
            <a:ext cx="3054096" cy="281635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llery_chat_detail.png"/>
          <p:cNvPicPr>
            <a:picLocks noChangeAspect="1"/>
          </p:cNvPicPr>
          <p:nvPr/>
        </p:nvPicPr>
        <p:blipFill>
          <a:blip r:embed="rId4"/>
          <a:stretch>
            <a:fillRect/>
          </a:stretch>
        </p:blipFill>
        <p:spPr>
          <a:xfrm>
            <a:off x="7972584" y="3438144"/>
            <a:ext cx="1007806" cy="2286000"/>
          </a:xfrm>
          <a:prstGeom prst="rect">
            <a:avLst/>
          </a:prstGeom>
        </p:spPr>
      </p:pic>
      <p:sp>
        <p:nvSpPr>
          <p:cNvPr id="21" name="TextBox 20"/>
          <p:cNvSpPr txBox="1"/>
          <p:nvPr/>
        </p:nvSpPr>
        <p:spPr>
          <a:xfrm>
            <a:off x="7077455" y="5815584"/>
            <a:ext cx="2798063"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Màn hội thoại</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06 · Settings — sáu khối chức năng riêng</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Sau khi các tab chính gần ổn, bạn duyệt profile, tools, reminders, Hyper preferences, themes, privacy.</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57</a:t>
            </a:r>
          </a:p>
        </p:txBody>
      </p:sp>
      <p:sp>
        <p:nvSpPr>
          <p:cNvPr id="10" name="Rounded Rectangle 9"/>
          <p:cNvSpPr/>
          <p:nvPr/>
        </p:nvSpPr>
        <p:spPr>
          <a:xfrm>
            <a:off x="694944" y="1828800"/>
            <a:ext cx="2898648" cy="450799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settings.png"/>
          <p:cNvPicPr>
            <a:picLocks noChangeAspect="1"/>
          </p:cNvPicPr>
          <p:nvPr/>
        </p:nvPicPr>
        <p:blipFill>
          <a:blip r:embed="rId3"/>
          <a:stretch>
            <a:fillRect/>
          </a:stretch>
        </p:blipFill>
        <p:spPr>
          <a:xfrm>
            <a:off x="1267476" y="1920240"/>
            <a:ext cx="1753583" cy="3977639"/>
          </a:xfrm>
          <a:prstGeom prst="rect">
            <a:avLst/>
          </a:prstGeom>
        </p:spPr>
      </p:pic>
      <p:sp>
        <p:nvSpPr>
          <p:cNvPr id="12" name="TextBox 11"/>
          <p:cNvSpPr txBox="1"/>
          <p:nvPr/>
        </p:nvSpPr>
        <p:spPr>
          <a:xfrm>
            <a:off x="822960" y="5989320"/>
            <a:ext cx="2642615"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Settings tổng quan</a:t>
            </a:r>
          </a:p>
        </p:txBody>
      </p:sp>
      <p:sp>
        <p:nvSpPr>
          <p:cNvPr id="13" name="Rounded Rectangle 12"/>
          <p:cNvSpPr/>
          <p:nvPr/>
        </p:nvSpPr>
        <p:spPr>
          <a:xfrm>
            <a:off x="4005072" y="1828800"/>
            <a:ext cx="2852928" cy="450799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allery_apps.png"/>
          <p:cNvPicPr>
            <a:picLocks noChangeAspect="1"/>
          </p:cNvPicPr>
          <p:nvPr/>
        </p:nvPicPr>
        <p:blipFill>
          <a:blip r:embed="rId4"/>
          <a:stretch>
            <a:fillRect/>
          </a:stretch>
        </p:blipFill>
        <p:spPr>
          <a:xfrm>
            <a:off x="4554744" y="1920240"/>
            <a:ext cx="1753583" cy="3977639"/>
          </a:xfrm>
          <a:prstGeom prst="rect">
            <a:avLst/>
          </a:prstGeom>
        </p:spPr>
      </p:pic>
      <p:sp>
        <p:nvSpPr>
          <p:cNvPr id="15" name="TextBox 14"/>
          <p:cNvSpPr txBox="1"/>
          <p:nvPr/>
        </p:nvSpPr>
        <p:spPr>
          <a:xfrm>
            <a:off x="4133087" y="5989320"/>
            <a:ext cx="259689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Spotify / YouTube / Search</a:t>
            </a:r>
          </a:p>
        </p:txBody>
      </p:sp>
      <p:sp>
        <p:nvSpPr>
          <p:cNvPr id="16" name="Rounded Rectangle 15"/>
          <p:cNvSpPr/>
          <p:nvPr/>
        </p:nvSpPr>
        <p:spPr>
          <a:xfrm>
            <a:off x="7342631" y="1828800"/>
            <a:ext cx="2862072" cy="450799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allery_notifications.png"/>
          <p:cNvPicPr>
            <a:picLocks noChangeAspect="1"/>
          </p:cNvPicPr>
          <p:nvPr/>
        </p:nvPicPr>
        <p:blipFill>
          <a:blip r:embed="rId5"/>
          <a:stretch>
            <a:fillRect/>
          </a:stretch>
        </p:blipFill>
        <p:spPr>
          <a:xfrm>
            <a:off x="7896876" y="1920240"/>
            <a:ext cx="1753583" cy="3977639"/>
          </a:xfrm>
          <a:prstGeom prst="rect">
            <a:avLst/>
          </a:prstGeom>
        </p:spPr>
      </p:pic>
      <p:sp>
        <p:nvSpPr>
          <p:cNvPr id="18" name="TextBox 17"/>
          <p:cNvSpPr txBox="1"/>
          <p:nvPr/>
        </p:nvSpPr>
        <p:spPr>
          <a:xfrm>
            <a:off x="7470648" y="5989320"/>
            <a:ext cx="2606039"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Reminders &amp; Alerts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Settings — cách người dùng tự kiểm soát ứng dụng</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Các tuỳ chọn được trình bày như tương tác cục bộ, không nói quá thành dịch vụ thật.</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58</a:t>
            </a:r>
          </a:p>
        </p:txBody>
      </p:sp>
      <p:sp>
        <p:nvSpPr>
          <p:cNvPr id="10" name="Rounded Rectangle 9"/>
          <p:cNvSpPr/>
          <p:nvPr/>
        </p:nvSpPr>
        <p:spPr>
          <a:xfrm>
            <a:off x="685800" y="179222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98424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PROFILE</a:t>
            </a:r>
          </a:p>
        </p:txBody>
      </p:sp>
      <p:sp>
        <p:nvSpPr>
          <p:cNvPr id="12" name="TextBox 11"/>
          <p:cNvSpPr txBox="1"/>
          <p:nvPr/>
        </p:nvSpPr>
        <p:spPr>
          <a:xfrm>
            <a:off x="886968" y="261518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Tên, bio, màu avatar; save.</a:t>
            </a:r>
          </a:p>
        </p:txBody>
      </p:sp>
      <p:sp>
        <p:nvSpPr>
          <p:cNvPr id="13" name="Rounded Rectangle 12"/>
          <p:cNvSpPr/>
          <p:nvPr/>
        </p:nvSpPr>
        <p:spPr>
          <a:xfrm>
            <a:off x="4471416" y="179222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98424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CONNECTED APPS</a:t>
            </a:r>
          </a:p>
        </p:txBody>
      </p:sp>
      <p:sp>
        <p:nvSpPr>
          <p:cNvPr id="15" name="TextBox 14"/>
          <p:cNvSpPr txBox="1"/>
          <p:nvPr/>
        </p:nvSpPr>
        <p:spPr>
          <a:xfrm>
            <a:off x="4672583" y="261518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Chọn shortcut Spotify / YouTube; Google / Cốc Cốc.</a:t>
            </a:r>
          </a:p>
        </p:txBody>
      </p:sp>
      <p:sp>
        <p:nvSpPr>
          <p:cNvPr id="16" name="Rounded Rectangle 15"/>
          <p:cNvSpPr/>
          <p:nvPr/>
        </p:nvSpPr>
        <p:spPr>
          <a:xfrm>
            <a:off x="8257031" y="179222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49056" y="198424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REMINDERS</a:t>
            </a:r>
          </a:p>
        </p:txBody>
      </p:sp>
      <p:sp>
        <p:nvSpPr>
          <p:cNvPr id="18" name="TextBox 17"/>
          <p:cNvSpPr txBox="1"/>
          <p:nvPr/>
        </p:nvSpPr>
        <p:spPr>
          <a:xfrm>
            <a:off x="8458200" y="261518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Lịch báo trước, thông báo chat / group, preview.</a:t>
            </a:r>
          </a:p>
        </p:txBody>
      </p:sp>
      <p:sp>
        <p:nvSpPr>
          <p:cNvPr id="19" name="Rounded Rectangle 18"/>
          <p:cNvSpPr/>
          <p:nvPr/>
        </p:nvSpPr>
        <p:spPr>
          <a:xfrm>
            <a:off x="685800" y="380390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399592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HYPER PREFERENCES</a:t>
            </a:r>
          </a:p>
        </p:txBody>
      </p:sp>
      <p:sp>
        <p:nvSpPr>
          <p:cNvPr id="21" name="TextBox 20"/>
          <p:cNvSpPr txBox="1"/>
          <p:nvPr/>
        </p:nvSpPr>
        <p:spPr>
          <a:xfrm>
            <a:off x="886968" y="462686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Tự chạy timer, tiếng hiệu, tạm dừng khi rời.</a:t>
            </a:r>
          </a:p>
        </p:txBody>
      </p:sp>
      <p:sp>
        <p:nvSpPr>
          <p:cNvPr id="22" name="Rounded Rectangle 21"/>
          <p:cNvSpPr/>
          <p:nvPr/>
        </p:nvSpPr>
        <p:spPr>
          <a:xfrm>
            <a:off x="4471416" y="380390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399592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APPEARANCE</a:t>
            </a:r>
          </a:p>
        </p:txBody>
      </p:sp>
      <p:sp>
        <p:nvSpPr>
          <p:cNvPr id="24" name="TextBox 23"/>
          <p:cNvSpPr txBox="1"/>
          <p:nvPr/>
        </p:nvSpPr>
        <p:spPr>
          <a:xfrm>
            <a:off x="4672583" y="462686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7 theme, ghi nhớ lựa chọn.</a:t>
            </a:r>
          </a:p>
        </p:txBody>
      </p:sp>
      <p:sp>
        <p:nvSpPr>
          <p:cNvPr id="25" name="Rounded Rectangle 24"/>
          <p:cNvSpPr/>
          <p:nvPr/>
        </p:nvSpPr>
        <p:spPr>
          <a:xfrm>
            <a:off x="8257031" y="3803904"/>
            <a:ext cx="3575304" cy="1801368"/>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49056" y="3995928"/>
            <a:ext cx="3191256" cy="530352"/>
          </a:xfrm>
          <a:prstGeom prst="rect">
            <a:avLst/>
          </a:prstGeom>
          <a:noFill/>
        </p:spPr>
        <p:txBody>
          <a:bodyPr wrap="square" lIns="0" tIns="0" rIns="0" bIns="0" anchor="t">
            <a:spAutoFit/>
          </a:bodyPr>
          <a:lstStyle/>
          <a:p>
            <a:pPr algn="l">
              <a:lnSpc>
                <a:spcPts val="1813"/>
              </a:lnSpc>
              <a:spcAft>
                <a:spcPts val="300"/>
              </a:spcAft>
            </a:pPr>
            <a:r>
              <a:rPr sz="1550" b="1" i="0">
                <a:solidFill>
                  <a:srgbClr val="153E35"/>
                </a:solidFill>
                <a:latin typeface="Inter"/>
              </a:rPr>
              <a:t>PRIVACY</a:t>
            </a:r>
          </a:p>
        </p:txBody>
      </p:sp>
      <p:sp>
        <p:nvSpPr>
          <p:cNvPr id="27" name="TextBox 26"/>
          <p:cNvSpPr txBox="1"/>
          <p:nvPr/>
        </p:nvSpPr>
        <p:spPr>
          <a:xfrm>
            <a:off x="8458200" y="4626864"/>
            <a:ext cx="3172968" cy="886968"/>
          </a:xfrm>
          <a:prstGeom prst="rect">
            <a:avLst/>
          </a:prstGeom>
          <a:noFill/>
        </p:spPr>
        <p:txBody>
          <a:bodyPr wrap="square" lIns="0" tIns="0" rIns="0" bIns="0" anchor="t">
            <a:spAutoFit/>
          </a:bodyPr>
          <a:lstStyle/>
          <a:p>
            <a:pPr algn="l">
              <a:lnSpc>
                <a:spcPts val="1587"/>
              </a:lnSpc>
              <a:spcAft>
                <a:spcPts val="300"/>
              </a:spcAft>
            </a:pPr>
            <a:r>
              <a:rPr sz="1240" b="0" i="0">
                <a:solidFill>
                  <a:srgbClr val="617D71"/>
                </a:solidFill>
                <a:latin typeface="Inter"/>
              </a:rPr>
              <a:t>Ai nhắn được, trạng thái chia sẻ tiến độ.</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Màn 07 · Authentication — đăng nhập là cổng trước 4 tab</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Tối giản luồng Sign In / Create Account / Forgot Password rồi đi thẳng Home.</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59</a:t>
            </a:r>
          </a:p>
        </p:txBody>
      </p:sp>
      <p:sp>
        <p:nvSpPr>
          <p:cNvPr id="10" name="Rounded Rectangle 9"/>
          <p:cNvSpPr/>
          <p:nvPr/>
        </p:nvSpPr>
        <p:spPr>
          <a:xfrm>
            <a:off x="795528" y="1828800"/>
            <a:ext cx="3026664" cy="4471416"/>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allery_login.png"/>
          <p:cNvPicPr>
            <a:picLocks noChangeAspect="1"/>
          </p:cNvPicPr>
          <p:nvPr/>
        </p:nvPicPr>
        <p:blipFill>
          <a:blip r:embed="rId3"/>
          <a:stretch>
            <a:fillRect/>
          </a:stretch>
        </p:blipFill>
        <p:spPr>
          <a:xfrm>
            <a:off x="1440130" y="1920240"/>
            <a:ext cx="1737458" cy="3941063"/>
          </a:xfrm>
          <a:prstGeom prst="rect">
            <a:avLst/>
          </a:prstGeom>
        </p:spPr>
      </p:pic>
      <p:sp>
        <p:nvSpPr>
          <p:cNvPr id="12" name="TextBox 11"/>
          <p:cNvSpPr txBox="1"/>
          <p:nvPr/>
        </p:nvSpPr>
        <p:spPr>
          <a:xfrm>
            <a:off x="923544" y="5952744"/>
            <a:ext cx="2770632"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Sign In</a:t>
            </a:r>
          </a:p>
        </p:txBody>
      </p:sp>
      <p:sp>
        <p:nvSpPr>
          <p:cNvPr id="13" name="Rounded Rectangle 12"/>
          <p:cNvSpPr/>
          <p:nvPr/>
        </p:nvSpPr>
        <p:spPr>
          <a:xfrm>
            <a:off x="4078224" y="1828800"/>
            <a:ext cx="3017520" cy="4471416"/>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allery_register.png"/>
          <p:cNvPicPr>
            <a:picLocks noChangeAspect="1"/>
          </p:cNvPicPr>
          <p:nvPr/>
        </p:nvPicPr>
        <p:blipFill>
          <a:blip r:embed="rId4"/>
          <a:stretch>
            <a:fillRect/>
          </a:stretch>
        </p:blipFill>
        <p:spPr>
          <a:xfrm>
            <a:off x="4718254" y="1920240"/>
            <a:ext cx="1737458" cy="3941063"/>
          </a:xfrm>
          <a:prstGeom prst="rect">
            <a:avLst/>
          </a:prstGeom>
        </p:spPr>
      </p:pic>
      <p:sp>
        <p:nvSpPr>
          <p:cNvPr id="15" name="TextBox 14"/>
          <p:cNvSpPr txBox="1"/>
          <p:nvPr/>
        </p:nvSpPr>
        <p:spPr>
          <a:xfrm>
            <a:off x="4206240" y="5952744"/>
            <a:ext cx="2761487"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Create Account</a:t>
            </a:r>
          </a:p>
        </p:txBody>
      </p:sp>
      <p:sp>
        <p:nvSpPr>
          <p:cNvPr id="16" name="Rounded Rectangle 15"/>
          <p:cNvSpPr/>
          <p:nvPr/>
        </p:nvSpPr>
        <p:spPr>
          <a:xfrm>
            <a:off x="7360920" y="1828800"/>
            <a:ext cx="3026664" cy="4471416"/>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gallery_forgot.png"/>
          <p:cNvPicPr>
            <a:picLocks noChangeAspect="1"/>
          </p:cNvPicPr>
          <p:nvPr/>
        </p:nvPicPr>
        <p:blipFill>
          <a:blip r:embed="rId5"/>
          <a:stretch>
            <a:fillRect/>
          </a:stretch>
        </p:blipFill>
        <p:spPr>
          <a:xfrm>
            <a:off x="8005522" y="1920240"/>
            <a:ext cx="1737458" cy="3941063"/>
          </a:xfrm>
          <a:prstGeom prst="rect">
            <a:avLst/>
          </a:prstGeom>
        </p:spPr>
      </p:pic>
      <p:sp>
        <p:nvSpPr>
          <p:cNvPr id="18" name="TextBox 17"/>
          <p:cNvSpPr txBox="1"/>
          <p:nvPr/>
        </p:nvSpPr>
        <p:spPr>
          <a:xfrm>
            <a:off x="7488936" y="5952744"/>
            <a:ext cx="2770632"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Forgot Password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Sign Out — bạn sửa lỗi vị trí, không cho đặt ở Home</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Một lỗi điều hướng sau khi tích hợp đã được bạn phát hiện bằng cách click vào màn hình.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60</a:t>
            </a:r>
          </a:p>
        </p:txBody>
      </p:sp>
      <p:sp>
        <p:nvSpPr>
          <p:cNvPr id="10" name="Rounded Rectangle 9"/>
          <p:cNvSpPr/>
          <p:nvPr/>
        </p:nvSpPr>
        <p:spPr>
          <a:xfrm>
            <a:off x="658368" y="1828800"/>
            <a:ext cx="5294376" cy="1335024"/>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3" y="1956816"/>
            <a:ext cx="4928616"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NHẬN XÉT TRONG CHAT</a:t>
            </a:r>
          </a:p>
        </p:txBody>
      </p:sp>
      <p:sp>
        <p:nvSpPr>
          <p:cNvPr id="12" name="TextBox 11"/>
          <p:cNvSpPr txBox="1"/>
          <p:nvPr/>
        </p:nvSpPr>
        <p:spPr>
          <a:xfrm>
            <a:off x="832103" y="2276856"/>
            <a:ext cx="4956048" cy="740664"/>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“WHY THE HELL YOU PUT THE SIGH OUT THERE PUT IT IN SETTING”</a:t>
            </a:r>
          </a:p>
        </p:txBody>
      </p:sp>
      <p:sp>
        <p:nvSpPr>
          <p:cNvPr id="13" name="Rounded Rectangle 12"/>
          <p:cNvSpPr/>
          <p:nvPr/>
        </p:nvSpPr>
        <p:spPr>
          <a:xfrm>
            <a:off x="6190488" y="1828800"/>
            <a:ext cx="5285232" cy="13350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956816"/>
            <a:ext cx="491947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CHỈNH FLOW</a:t>
            </a:r>
          </a:p>
        </p:txBody>
      </p:sp>
      <p:sp>
        <p:nvSpPr>
          <p:cNvPr id="15" name="TextBox 14"/>
          <p:cNvSpPr txBox="1"/>
          <p:nvPr/>
        </p:nvSpPr>
        <p:spPr>
          <a:xfrm>
            <a:off x="6364224" y="2276856"/>
            <a:ext cx="4946904" cy="740664"/>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Bỏ Welcome tạm, Login → Home; Sign Out chỉ nằm ở cuối Settings và có dialog xác nhận.</a:t>
            </a:r>
          </a:p>
        </p:txBody>
      </p:sp>
      <p:sp>
        <p:nvSpPr>
          <p:cNvPr id="16" name="Rounded Rectangle 15"/>
          <p:cNvSpPr/>
          <p:nvPr/>
        </p:nvSpPr>
        <p:spPr>
          <a:xfrm>
            <a:off x="1078992" y="3447288"/>
            <a:ext cx="4078224" cy="2660904"/>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20261013-200700).png"/>
          <p:cNvPicPr>
            <a:picLocks noChangeAspect="1"/>
          </p:cNvPicPr>
          <p:nvPr/>
        </p:nvPicPr>
        <p:blipFill>
          <a:blip r:embed="rId3"/>
          <a:stretch>
            <a:fillRect/>
          </a:stretch>
        </p:blipFill>
        <p:spPr>
          <a:xfrm>
            <a:off x="1223899" y="3538728"/>
            <a:ext cx="3788409" cy="2130552"/>
          </a:xfrm>
          <a:prstGeom prst="rect">
            <a:avLst/>
          </a:prstGeom>
        </p:spPr>
      </p:pic>
      <p:sp>
        <p:nvSpPr>
          <p:cNvPr id="18" name="TextBox 17"/>
          <p:cNvSpPr txBox="1"/>
          <p:nvPr/>
        </p:nvSpPr>
        <p:spPr>
          <a:xfrm>
            <a:off x="1207007" y="5760720"/>
            <a:ext cx="382219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TRƯỚC · sign out trên welcome</a:t>
            </a:r>
          </a:p>
        </p:txBody>
      </p:sp>
      <p:sp>
        <p:nvSpPr>
          <p:cNvPr id="19" name="Rounded Rectangle 18"/>
          <p:cNvSpPr/>
          <p:nvPr/>
        </p:nvSpPr>
        <p:spPr>
          <a:xfrm>
            <a:off x="6793992" y="3447288"/>
            <a:ext cx="4123944" cy="2660904"/>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llery_signout.png"/>
          <p:cNvPicPr>
            <a:picLocks noChangeAspect="1"/>
          </p:cNvPicPr>
          <p:nvPr/>
        </p:nvPicPr>
        <p:blipFill>
          <a:blip r:embed="rId4"/>
          <a:stretch>
            <a:fillRect/>
          </a:stretch>
        </p:blipFill>
        <p:spPr>
          <a:xfrm>
            <a:off x="8386326" y="3538728"/>
            <a:ext cx="939275" cy="2130552"/>
          </a:xfrm>
          <a:prstGeom prst="rect">
            <a:avLst/>
          </a:prstGeom>
        </p:spPr>
      </p:pic>
      <p:sp>
        <p:nvSpPr>
          <p:cNvPr id="21" name="TextBox 20"/>
          <p:cNvSpPr txBox="1"/>
          <p:nvPr/>
        </p:nvSpPr>
        <p:spPr>
          <a:xfrm>
            <a:off x="6922007" y="5760720"/>
            <a:ext cx="386791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SAU · dialog đăng xuất tại Settings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7 theme là bảy tính cách thị giác — không chỉ đổi màu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Bạn phản biện các phiên bản chỉ recolor và yêu cầu từng theme có icon, nav, hình và card riêng.</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61</a:t>
            </a:r>
          </a:p>
        </p:txBody>
      </p:sp>
      <p:sp>
        <p:nvSpPr>
          <p:cNvPr id="10" name="Rounded Rectangle 9"/>
          <p:cNvSpPr/>
          <p:nvPr/>
        </p:nvSpPr>
        <p:spPr>
          <a:xfrm>
            <a:off x="658368" y="1764792"/>
            <a:ext cx="2715768" cy="448056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me_light.png"/>
          <p:cNvPicPr>
            <a:picLocks noChangeAspect="1"/>
          </p:cNvPicPr>
          <p:nvPr/>
        </p:nvPicPr>
        <p:blipFill>
          <a:blip r:embed="rId3"/>
          <a:stretch>
            <a:fillRect/>
          </a:stretch>
        </p:blipFill>
        <p:spPr>
          <a:xfrm>
            <a:off x="1145507" y="1856231"/>
            <a:ext cx="1741489" cy="3950208"/>
          </a:xfrm>
          <a:prstGeom prst="rect">
            <a:avLst/>
          </a:prstGeom>
        </p:spPr>
      </p:pic>
      <p:sp>
        <p:nvSpPr>
          <p:cNvPr id="12" name="TextBox 11"/>
          <p:cNvSpPr txBox="1"/>
          <p:nvPr/>
        </p:nvSpPr>
        <p:spPr>
          <a:xfrm>
            <a:off x="786384" y="5897880"/>
            <a:ext cx="245973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LIGHT</a:t>
            </a:r>
          </a:p>
        </p:txBody>
      </p:sp>
      <p:sp>
        <p:nvSpPr>
          <p:cNvPr id="13" name="Rounded Rectangle 12"/>
          <p:cNvSpPr/>
          <p:nvPr/>
        </p:nvSpPr>
        <p:spPr>
          <a:xfrm>
            <a:off x="3520439" y="1764792"/>
            <a:ext cx="2715768" cy="448056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heme_dark.png"/>
          <p:cNvPicPr>
            <a:picLocks noChangeAspect="1"/>
          </p:cNvPicPr>
          <p:nvPr/>
        </p:nvPicPr>
        <p:blipFill>
          <a:blip r:embed="rId4"/>
          <a:stretch>
            <a:fillRect/>
          </a:stretch>
        </p:blipFill>
        <p:spPr>
          <a:xfrm>
            <a:off x="4007579" y="1856231"/>
            <a:ext cx="1741489" cy="3950208"/>
          </a:xfrm>
          <a:prstGeom prst="rect">
            <a:avLst/>
          </a:prstGeom>
        </p:spPr>
      </p:pic>
      <p:sp>
        <p:nvSpPr>
          <p:cNvPr id="15" name="TextBox 14"/>
          <p:cNvSpPr txBox="1"/>
          <p:nvPr/>
        </p:nvSpPr>
        <p:spPr>
          <a:xfrm>
            <a:off x="3648456" y="5897880"/>
            <a:ext cx="245973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DARK</a:t>
            </a:r>
          </a:p>
        </p:txBody>
      </p:sp>
      <p:sp>
        <p:nvSpPr>
          <p:cNvPr id="16" name="Rounded Rectangle 15"/>
          <p:cNvSpPr/>
          <p:nvPr/>
        </p:nvSpPr>
        <p:spPr>
          <a:xfrm>
            <a:off x="6382512" y="1764792"/>
            <a:ext cx="2715768" cy="448056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heme_energetic.png"/>
          <p:cNvPicPr>
            <a:picLocks noChangeAspect="1"/>
          </p:cNvPicPr>
          <p:nvPr/>
        </p:nvPicPr>
        <p:blipFill>
          <a:blip r:embed="rId5"/>
          <a:stretch>
            <a:fillRect/>
          </a:stretch>
        </p:blipFill>
        <p:spPr>
          <a:xfrm>
            <a:off x="6869651" y="1856231"/>
            <a:ext cx="1741489" cy="3950208"/>
          </a:xfrm>
          <a:prstGeom prst="rect">
            <a:avLst/>
          </a:prstGeom>
        </p:spPr>
      </p:pic>
      <p:sp>
        <p:nvSpPr>
          <p:cNvPr id="18" name="TextBox 17"/>
          <p:cNvSpPr txBox="1"/>
          <p:nvPr/>
        </p:nvSpPr>
        <p:spPr>
          <a:xfrm>
            <a:off x="6510527" y="5897880"/>
            <a:ext cx="245973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ENERGETIC</a:t>
            </a:r>
          </a:p>
        </p:txBody>
      </p:sp>
      <p:sp>
        <p:nvSpPr>
          <p:cNvPr id="19" name="Rounded Rectangle 18"/>
          <p:cNvSpPr/>
          <p:nvPr/>
        </p:nvSpPr>
        <p:spPr>
          <a:xfrm>
            <a:off x="9244584" y="1764792"/>
            <a:ext cx="2715768" cy="4480560"/>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theme_cyber.png"/>
          <p:cNvPicPr>
            <a:picLocks noChangeAspect="1"/>
          </p:cNvPicPr>
          <p:nvPr/>
        </p:nvPicPr>
        <p:blipFill>
          <a:blip r:embed="rId6"/>
          <a:stretch>
            <a:fillRect/>
          </a:stretch>
        </p:blipFill>
        <p:spPr>
          <a:xfrm>
            <a:off x="9731723" y="1856231"/>
            <a:ext cx="1741489" cy="3950208"/>
          </a:xfrm>
          <a:prstGeom prst="rect">
            <a:avLst/>
          </a:prstGeom>
        </p:spPr>
      </p:pic>
      <p:sp>
        <p:nvSpPr>
          <p:cNvPr id="21" name="TextBox 20"/>
          <p:cNvSpPr txBox="1"/>
          <p:nvPr/>
        </p:nvSpPr>
        <p:spPr>
          <a:xfrm>
            <a:off x="9372600" y="5897880"/>
            <a:ext cx="2459736"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CYBER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Ba theme còn lại và khác biệt hình thái</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Art như giấy / nét vẽ, Sad nhẹ và trầm, Rainy Day trong mờ và mưa.</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62</a:t>
            </a:r>
          </a:p>
        </p:txBody>
      </p:sp>
      <p:sp>
        <p:nvSpPr>
          <p:cNvPr id="10" name="Rounded Rectangle 9"/>
          <p:cNvSpPr/>
          <p:nvPr/>
        </p:nvSpPr>
        <p:spPr>
          <a:xfrm>
            <a:off x="841248" y="1764792"/>
            <a:ext cx="3438144" cy="449884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me_art.png"/>
          <p:cNvPicPr>
            <a:picLocks noChangeAspect="1"/>
          </p:cNvPicPr>
          <p:nvPr/>
        </p:nvPicPr>
        <p:blipFill>
          <a:blip r:embed="rId3"/>
          <a:stretch>
            <a:fillRect/>
          </a:stretch>
        </p:blipFill>
        <p:spPr>
          <a:xfrm>
            <a:off x="1685544" y="1856231"/>
            <a:ext cx="1749552" cy="3968496"/>
          </a:xfrm>
          <a:prstGeom prst="rect">
            <a:avLst/>
          </a:prstGeom>
        </p:spPr>
      </p:pic>
      <p:sp>
        <p:nvSpPr>
          <p:cNvPr id="12" name="TextBox 11"/>
          <p:cNvSpPr txBox="1"/>
          <p:nvPr/>
        </p:nvSpPr>
        <p:spPr>
          <a:xfrm>
            <a:off x="969264" y="5916168"/>
            <a:ext cx="318211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ART · Hand-drawn · shape phóng khoáng</a:t>
            </a:r>
          </a:p>
        </p:txBody>
      </p:sp>
      <p:sp>
        <p:nvSpPr>
          <p:cNvPr id="13" name="Rounded Rectangle 12"/>
          <p:cNvSpPr/>
          <p:nvPr/>
        </p:nvSpPr>
        <p:spPr>
          <a:xfrm>
            <a:off x="4663440" y="1764792"/>
            <a:ext cx="3438144" cy="449884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heme_sad.png"/>
          <p:cNvPicPr>
            <a:picLocks noChangeAspect="1"/>
          </p:cNvPicPr>
          <p:nvPr/>
        </p:nvPicPr>
        <p:blipFill>
          <a:blip r:embed="rId4"/>
          <a:stretch>
            <a:fillRect/>
          </a:stretch>
        </p:blipFill>
        <p:spPr>
          <a:xfrm>
            <a:off x="5507735" y="1856231"/>
            <a:ext cx="1749552" cy="3968496"/>
          </a:xfrm>
          <a:prstGeom prst="rect">
            <a:avLst/>
          </a:prstGeom>
        </p:spPr>
      </p:pic>
      <p:sp>
        <p:nvSpPr>
          <p:cNvPr id="15" name="TextBox 14"/>
          <p:cNvSpPr txBox="1"/>
          <p:nvPr/>
        </p:nvSpPr>
        <p:spPr>
          <a:xfrm>
            <a:off x="4791455" y="5916168"/>
            <a:ext cx="318211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SAD · Tím xám · nét mảnh</a:t>
            </a:r>
          </a:p>
        </p:txBody>
      </p:sp>
      <p:sp>
        <p:nvSpPr>
          <p:cNvPr id="16" name="Rounded Rectangle 15"/>
          <p:cNvSpPr/>
          <p:nvPr/>
        </p:nvSpPr>
        <p:spPr>
          <a:xfrm>
            <a:off x="8485632" y="1764792"/>
            <a:ext cx="3438144" cy="4498848"/>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heme_rainy_day.png"/>
          <p:cNvPicPr>
            <a:picLocks noChangeAspect="1"/>
          </p:cNvPicPr>
          <p:nvPr/>
        </p:nvPicPr>
        <p:blipFill>
          <a:blip r:embed="rId5"/>
          <a:stretch>
            <a:fillRect/>
          </a:stretch>
        </p:blipFill>
        <p:spPr>
          <a:xfrm>
            <a:off x="9329927" y="1856231"/>
            <a:ext cx="1749552" cy="3968496"/>
          </a:xfrm>
          <a:prstGeom prst="rect">
            <a:avLst/>
          </a:prstGeom>
        </p:spPr>
      </p:pic>
      <p:sp>
        <p:nvSpPr>
          <p:cNvPr id="18" name="TextBox 17"/>
          <p:cNvSpPr txBox="1"/>
          <p:nvPr/>
        </p:nvSpPr>
        <p:spPr>
          <a:xfrm>
            <a:off x="8613648" y="5916168"/>
            <a:ext cx="3182111"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RAINY DAY · Thủy tinh mờ · giọt nước</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Theme không đổi được? Bạn kiểm tra và bắt sửa ngay</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Ở bản thống nhất đầu tiên, các thẻ Appearance chỉ là ảnh xem trước; đây là một lỗi thử nghiệm thực.</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63</a:t>
            </a:r>
          </a:p>
        </p:txBody>
      </p:sp>
      <p:sp>
        <p:nvSpPr>
          <p:cNvPr id="10" name="Rounded Rectangle 9"/>
          <p:cNvSpPr/>
          <p:nvPr/>
        </p:nvSpPr>
        <p:spPr>
          <a:xfrm>
            <a:off x="658368" y="1847088"/>
            <a:ext cx="5285232" cy="1353312"/>
          </a:xfrm>
          <a:prstGeom prst="roundRect">
            <a:avLst>
              <a:gd name="adj" fmla="val 10000"/>
            </a:avLst>
          </a:prstGeom>
          <a:solidFill>
            <a:srgbClr val="D9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3" y="1975104"/>
            <a:ext cx="4919472"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BẠN · PHẢN HỒI</a:t>
            </a:r>
          </a:p>
        </p:txBody>
      </p:sp>
      <p:sp>
        <p:nvSpPr>
          <p:cNvPr id="12" name="TextBox 11"/>
          <p:cNvSpPr txBox="1"/>
          <p:nvPr/>
        </p:nvSpPr>
        <p:spPr>
          <a:xfrm>
            <a:off x="832103" y="2295144"/>
            <a:ext cx="4946904" cy="758952"/>
          </a:xfrm>
          <a:prstGeom prst="rect">
            <a:avLst/>
          </a:prstGeom>
          <a:noFill/>
        </p:spPr>
        <p:txBody>
          <a:bodyPr wrap="square" lIns="0" tIns="0" rIns="0" bIns="0" anchor="t">
            <a:spAutoFit/>
          </a:bodyPr>
          <a:lstStyle/>
          <a:p>
            <a:pPr algn="l">
              <a:lnSpc>
                <a:spcPts val="1808"/>
              </a:lnSpc>
              <a:spcAft>
                <a:spcPts val="300"/>
              </a:spcAft>
            </a:pPr>
            <a:r>
              <a:rPr sz="1520" b="1" i="0">
                <a:solidFill>
                  <a:srgbClr val="153E35"/>
                </a:solidFill>
                <a:latin typeface="Inter"/>
              </a:rPr>
              <a:t>“i cant chagne themre”</a:t>
            </a:r>
          </a:p>
        </p:txBody>
      </p:sp>
      <p:sp>
        <p:nvSpPr>
          <p:cNvPr id="13" name="Rounded Rectangle 12"/>
          <p:cNvSpPr/>
          <p:nvPr/>
        </p:nvSpPr>
        <p:spPr>
          <a:xfrm>
            <a:off x="6208776" y="1847088"/>
            <a:ext cx="5266944" cy="1353312"/>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975104"/>
            <a:ext cx="4901183" cy="237744"/>
          </a:xfrm>
          <a:prstGeom prst="rect">
            <a:avLst/>
          </a:prstGeom>
          <a:noFill/>
        </p:spPr>
        <p:txBody>
          <a:bodyPr wrap="square" lIns="0" tIns="0" rIns="0" bIns="0" anchor="t">
            <a:spAutoFit/>
          </a:bodyPr>
          <a:lstStyle/>
          <a:p>
            <a:pPr algn="l">
              <a:lnSpc>
                <a:spcPts val="1170"/>
              </a:lnSpc>
              <a:spcAft>
                <a:spcPts val="300"/>
              </a:spcAft>
            </a:pPr>
            <a:r>
              <a:rPr sz="1000" b="1" i="0">
                <a:solidFill>
                  <a:srgbClr val="078674"/>
                </a:solidFill>
                <a:latin typeface="Inter"/>
              </a:rPr>
              <a:t>CHATGPT · ĐIỀU CHỈNH</a:t>
            </a:r>
          </a:p>
        </p:txBody>
      </p:sp>
      <p:sp>
        <p:nvSpPr>
          <p:cNvPr id="15" name="TextBox 14"/>
          <p:cNvSpPr txBox="1"/>
          <p:nvPr/>
        </p:nvSpPr>
        <p:spPr>
          <a:xfrm>
            <a:off x="6382512" y="2295144"/>
            <a:ext cx="4928616" cy="758952"/>
          </a:xfrm>
          <a:prstGeom prst="rect">
            <a:avLst/>
          </a:prstGeom>
          <a:noFill/>
        </p:spPr>
        <p:txBody>
          <a:bodyPr wrap="square" lIns="0" tIns="0" rIns="0" bIns="0" anchor="t">
            <a:spAutoFit/>
          </a:bodyPr>
          <a:lstStyle/>
          <a:p>
            <a:pPr algn="l">
              <a:lnSpc>
                <a:spcPts val="1707"/>
              </a:lnSpc>
              <a:spcAft>
                <a:spcPts val="300"/>
              </a:spcAft>
            </a:pPr>
            <a:r>
              <a:rPr sz="1400" b="0" i="0">
                <a:solidFill>
                  <a:srgbClr val="153E35"/>
                </a:solidFill>
                <a:latin typeface="Inter"/>
              </a:rPr>
              <a:t>Làm 7 thẻ chọn theme hoạt động, lưu lựa chọn, giữ nguyên hobby, schedule, chat khi chuyển.</a:t>
            </a:r>
          </a:p>
        </p:txBody>
      </p:sp>
      <p:sp>
        <p:nvSpPr>
          <p:cNvPr id="16" name="Rounded Rectangle 15"/>
          <p:cNvSpPr/>
          <p:nvPr/>
        </p:nvSpPr>
        <p:spPr>
          <a:xfrm>
            <a:off x="1426464" y="3438144"/>
            <a:ext cx="3703320" cy="272491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20261013-204546).png"/>
          <p:cNvPicPr>
            <a:picLocks noChangeAspect="1"/>
          </p:cNvPicPr>
          <p:nvPr/>
        </p:nvPicPr>
        <p:blipFill>
          <a:blip r:embed="rId3"/>
          <a:stretch>
            <a:fillRect/>
          </a:stretch>
        </p:blipFill>
        <p:spPr>
          <a:xfrm>
            <a:off x="2411692" y="3529584"/>
            <a:ext cx="1732862" cy="2194560"/>
          </a:xfrm>
          <a:prstGeom prst="rect">
            <a:avLst/>
          </a:prstGeom>
        </p:spPr>
      </p:pic>
      <p:sp>
        <p:nvSpPr>
          <p:cNvPr id="18" name="TextBox 17"/>
          <p:cNvSpPr txBox="1"/>
          <p:nvPr/>
        </p:nvSpPr>
        <p:spPr>
          <a:xfrm>
            <a:off x="1554480" y="5815584"/>
            <a:ext cx="3447287"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TRƯỚC · thẻ “After approval”</a:t>
            </a:r>
          </a:p>
        </p:txBody>
      </p:sp>
      <p:sp>
        <p:nvSpPr>
          <p:cNvPr id="19" name="Rounded Rectangle 18"/>
          <p:cNvSpPr/>
          <p:nvPr/>
        </p:nvSpPr>
        <p:spPr>
          <a:xfrm>
            <a:off x="6940296" y="3438144"/>
            <a:ext cx="3648456" cy="2724912"/>
          </a:xfrm>
          <a:prstGeom prst="roundRect">
            <a:avLst>
              <a:gd name="adj" fmla="val 12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llery_appearance.png"/>
          <p:cNvPicPr>
            <a:picLocks noChangeAspect="1"/>
          </p:cNvPicPr>
          <p:nvPr/>
        </p:nvPicPr>
        <p:blipFill>
          <a:blip r:embed="rId4"/>
          <a:stretch>
            <a:fillRect/>
          </a:stretch>
        </p:blipFill>
        <p:spPr>
          <a:xfrm>
            <a:off x="8280776" y="3529584"/>
            <a:ext cx="967494" cy="2194560"/>
          </a:xfrm>
          <a:prstGeom prst="rect">
            <a:avLst/>
          </a:prstGeom>
        </p:spPr>
      </p:pic>
      <p:sp>
        <p:nvSpPr>
          <p:cNvPr id="21" name="TextBox 20"/>
          <p:cNvSpPr txBox="1"/>
          <p:nvPr/>
        </p:nvSpPr>
        <p:spPr>
          <a:xfrm>
            <a:off x="7068312" y="5815584"/>
            <a:ext cx="3392424" cy="256032"/>
          </a:xfrm>
          <a:prstGeom prst="rect">
            <a:avLst/>
          </a:prstGeom>
          <a:noFill/>
        </p:spPr>
        <p:txBody>
          <a:bodyPr wrap="square" lIns="0" tIns="0" rIns="0" bIns="0" anchor="t">
            <a:spAutoFit/>
          </a:bodyPr>
          <a:lstStyle/>
          <a:p>
            <a:pPr algn="ctr">
              <a:lnSpc>
                <a:spcPts val="1216"/>
              </a:lnSpc>
              <a:spcAft>
                <a:spcPts val="300"/>
              </a:spcAft>
            </a:pPr>
            <a:r>
              <a:rPr sz="1040" b="1" i="0">
                <a:solidFill>
                  <a:srgbClr val="153E35"/>
                </a:solidFill>
                <a:latin typeface="Inter"/>
              </a:rPr>
              <a:t>SAU · Theme lựa chọn được</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Component &amp; state — UI có quy luật, không mỗi màn một kiểu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Từ các quyết định trực tiếp, hệ component và token được gom lại để nhất quán.</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64</a:t>
            </a:r>
          </a:p>
        </p:txBody>
      </p:sp>
      <p:sp>
        <p:nvSpPr>
          <p:cNvPr id="10" name="Rounded Rectangle 9"/>
          <p:cNvSpPr/>
          <p:nvPr/>
        </p:nvSpPr>
        <p:spPr>
          <a:xfrm>
            <a:off x="685800" y="187451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206654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BUTTON</a:t>
            </a:r>
          </a:p>
        </p:txBody>
      </p:sp>
      <p:sp>
        <p:nvSpPr>
          <p:cNvPr id="12" name="TextBox 11"/>
          <p:cNvSpPr txBox="1"/>
          <p:nvPr/>
        </p:nvSpPr>
        <p:spPr>
          <a:xfrm>
            <a:off x="886968" y="2697479"/>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Primary / Secondary / Disabled / Feedback</a:t>
            </a:r>
          </a:p>
        </p:txBody>
      </p:sp>
      <p:sp>
        <p:nvSpPr>
          <p:cNvPr id="13" name="Rounded Rectangle 12"/>
          <p:cNvSpPr/>
          <p:nvPr/>
        </p:nvSpPr>
        <p:spPr>
          <a:xfrm>
            <a:off x="4471416" y="187451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206654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TEXT FIELD</a:t>
            </a:r>
          </a:p>
        </p:txBody>
      </p:sp>
      <p:sp>
        <p:nvSpPr>
          <p:cNvPr id="15" name="TextBox 14"/>
          <p:cNvSpPr txBox="1"/>
          <p:nvPr/>
        </p:nvSpPr>
        <p:spPr>
          <a:xfrm>
            <a:off x="4672583" y="2697479"/>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Default / Filled / Focus / Validation</a:t>
            </a:r>
          </a:p>
        </p:txBody>
      </p:sp>
      <p:sp>
        <p:nvSpPr>
          <p:cNvPr id="16" name="Rounded Rectangle 15"/>
          <p:cNvSpPr/>
          <p:nvPr/>
        </p:nvSpPr>
        <p:spPr>
          <a:xfrm>
            <a:off x="8257031" y="187451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49056" y="206654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CARD</a:t>
            </a:r>
          </a:p>
        </p:txBody>
      </p:sp>
      <p:sp>
        <p:nvSpPr>
          <p:cNvPr id="18" name="TextBox 17"/>
          <p:cNvSpPr txBox="1"/>
          <p:nvPr/>
        </p:nvSpPr>
        <p:spPr>
          <a:xfrm>
            <a:off x="8458200" y="2697479"/>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Hobby / Schedule / Post / Event</a:t>
            </a:r>
          </a:p>
        </p:txBody>
      </p:sp>
      <p:sp>
        <p:nvSpPr>
          <p:cNvPr id="19" name="Rounded Rectangle 18"/>
          <p:cNvSpPr/>
          <p:nvPr/>
        </p:nvSpPr>
        <p:spPr>
          <a:xfrm>
            <a:off x="685800" y="384047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403250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NAVIGATION</a:t>
            </a:r>
          </a:p>
        </p:txBody>
      </p:sp>
      <p:sp>
        <p:nvSpPr>
          <p:cNvPr id="21" name="TextBox 20"/>
          <p:cNvSpPr txBox="1"/>
          <p:nvPr/>
        </p:nvSpPr>
        <p:spPr>
          <a:xfrm>
            <a:off x="886968" y="4663440"/>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4 tabs + selected + màn con</a:t>
            </a:r>
          </a:p>
        </p:txBody>
      </p:sp>
      <p:sp>
        <p:nvSpPr>
          <p:cNvPr id="22" name="Rounded Rectangle 21"/>
          <p:cNvSpPr/>
          <p:nvPr/>
        </p:nvSpPr>
        <p:spPr>
          <a:xfrm>
            <a:off x="4471416" y="384047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403250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DIALOG</a:t>
            </a:r>
          </a:p>
        </p:txBody>
      </p:sp>
      <p:sp>
        <p:nvSpPr>
          <p:cNvPr id="24" name="TextBox 23"/>
          <p:cNvSpPr txBox="1"/>
          <p:nvPr/>
        </p:nvSpPr>
        <p:spPr>
          <a:xfrm>
            <a:off x="4672583" y="4663440"/>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Create / Schedule / Sign-out confirmation</a:t>
            </a:r>
          </a:p>
        </p:txBody>
      </p:sp>
      <p:sp>
        <p:nvSpPr>
          <p:cNvPr id="25" name="Rounded Rectangle 24"/>
          <p:cNvSpPr/>
          <p:nvPr/>
        </p:nvSpPr>
        <p:spPr>
          <a:xfrm>
            <a:off x="8257031" y="3840479"/>
            <a:ext cx="3557016" cy="174650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49056" y="4032503"/>
            <a:ext cx="3172968" cy="530352"/>
          </a:xfrm>
          <a:prstGeom prst="rect">
            <a:avLst/>
          </a:prstGeom>
          <a:noFill/>
        </p:spPr>
        <p:txBody>
          <a:bodyPr wrap="square" lIns="0" tIns="0" rIns="0" bIns="0" anchor="t">
            <a:spAutoFit/>
          </a:bodyPr>
          <a:lstStyle/>
          <a:p>
            <a:pPr algn="l">
              <a:lnSpc>
                <a:spcPts val="1872"/>
              </a:lnSpc>
              <a:spcAft>
                <a:spcPts val="300"/>
              </a:spcAft>
            </a:pPr>
            <a:r>
              <a:rPr sz="1600" b="1" i="0">
                <a:solidFill>
                  <a:srgbClr val="153E35"/>
                </a:solidFill>
                <a:latin typeface="Inter"/>
              </a:rPr>
              <a:t>EMPTY / ERROR</a:t>
            </a:r>
          </a:p>
        </p:txBody>
      </p:sp>
      <p:sp>
        <p:nvSpPr>
          <p:cNvPr id="27" name="TextBox 26"/>
          <p:cNvSpPr txBox="1"/>
          <p:nvPr/>
        </p:nvSpPr>
        <p:spPr>
          <a:xfrm>
            <a:off x="8458200" y="4663440"/>
            <a:ext cx="3154680" cy="83210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Hobby rỗng / chưa có lịch / sai form</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04  UI DESIGN</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Vai trò thực tế của người và AI qua từng vòng</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Quan trọng nhất: phần thủ công là đặt mục tiêu, ra quyết định và kiểm tra trực tiếp.</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65</a:t>
            </a:r>
          </a:p>
        </p:txBody>
      </p:sp>
      <p:sp>
        <p:nvSpPr>
          <p:cNvPr id="10" name="Rounded Rectangle 9"/>
          <p:cNvSpPr/>
          <p:nvPr/>
        </p:nvSpPr>
        <p:spPr>
          <a:xfrm>
            <a:off x="685800" y="1810512"/>
            <a:ext cx="10808208"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965960"/>
            <a:ext cx="2048256" cy="411480"/>
          </a:xfrm>
          <a:prstGeom prst="rect">
            <a:avLst/>
          </a:prstGeom>
          <a:noFill/>
        </p:spPr>
        <p:txBody>
          <a:bodyPr wrap="square" lIns="0" tIns="0" rIns="0" bIns="0" anchor="t">
            <a:spAutoFit/>
          </a:bodyPr>
          <a:lstStyle/>
          <a:p>
            <a:pPr algn="l">
              <a:lnSpc>
                <a:spcPts val="1602"/>
              </a:lnSpc>
              <a:spcAft>
                <a:spcPts val="300"/>
              </a:spcAft>
            </a:pPr>
            <a:r>
              <a:rPr sz="1370" b="1" i="0">
                <a:solidFill>
                  <a:srgbClr val="078674"/>
                </a:solidFill>
                <a:latin typeface="Inter"/>
              </a:rPr>
              <a:t>UX Research</a:t>
            </a:r>
          </a:p>
        </p:txBody>
      </p:sp>
      <p:sp>
        <p:nvSpPr>
          <p:cNvPr id="12" name="TextBox 11"/>
          <p:cNvSpPr txBox="1"/>
          <p:nvPr/>
        </p:nvSpPr>
        <p:spPr>
          <a:xfrm>
            <a:off x="2807208" y="1920240"/>
            <a:ext cx="4087368" cy="649224"/>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Bạn: chọn phạm vi, 3 nhóm, yêu cầu role-play.</a:t>
            </a:r>
          </a:p>
        </p:txBody>
      </p:sp>
      <p:sp>
        <p:nvSpPr>
          <p:cNvPr id="13" name="TextBox 12"/>
          <p:cNvSpPr txBox="1"/>
          <p:nvPr/>
        </p:nvSpPr>
        <p:spPr>
          <a:xfrm>
            <a:off x="7123176" y="1920240"/>
            <a:ext cx="4133087" cy="676656"/>
          </a:xfrm>
          <a:prstGeom prst="rect">
            <a:avLst/>
          </a:prstGeom>
          <a:noFill/>
        </p:spPr>
        <p:txBody>
          <a:bodyPr wrap="square" lIns="0" tIns="0" rIns="0" bIns="0" anchor="t">
            <a:spAutoFit/>
          </a:bodyPr>
          <a:lstStyle/>
          <a:p>
            <a:pPr algn="l">
              <a:lnSpc>
                <a:spcPts val="1427"/>
              </a:lnSpc>
              <a:spcAft>
                <a:spcPts val="300"/>
              </a:spcAft>
            </a:pPr>
            <a:r>
              <a:rPr sz="1220" b="0" i="0">
                <a:solidFill>
                  <a:srgbClr val="617D71"/>
                </a:solidFill>
                <a:latin typeface="Inter"/>
              </a:rPr>
              <a:t>AI: xây câu hỏi và đóng vai 9 người.</a:t>
            </a:r>
          </a:p>
        </p:txBody>
      </p:sp>
      <p:sp>
        <p:nvSpPr>
          <p:cNvPr id="14" name="Rounded Rectangle 13"/>
          <p:cNvSpPr/>
          <p:nvPr/>
        </p:nvSpPr>
        <p:spPr>
          <a:xfrm>
            <a:off x="685800" y="2862072"/>
            <a:ext cx="10808208" cy="932688"/>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3017520"/>
            <a:ext cx="2048256" cy="411480"/>
          </a:xfrm>
          <a:prstGeom prst="rect">
            <a:avLst/>
          </a:prstGeom>
          <a:noFill/>
        </p:spPr>
        <p:txBody>
          <a:bodyPr wrap="square" lIns="0" tIns="0" rIns="0" bIns="0" anchor="t">
            <a:spAutoFit/>
          </a:bodyPr>
          <a:lstStyle/>
          <a:p>
            <a:pPr algn="l">
              <a:lnSpc>
                <a:spcPts val="1602"/>
              </a:lnSpc>
              <a:spcAft>
                <a:spcPts val="300"/>
              </a:spcAft>
            </a:pPr>
            <a:r>
              <a:rPr sz="1370" b="1" i="0">
                <a:solidFill>
                  <a:srgbClr val="078674"/>
                </a:solidFill>
                <a:latin typeface="Inter"/>
              </a:rPr>
              <a:t>Persona / Problem</a:t>
            </a:r>
          </a:p>
        </p:txBody>
      </p:sp>
      <p:sp>
        <p:nvSpPr>
          <p:cNvPr id="16" name="TextBox 15"/>
          <p:cNvSpPr txBox="1"/>
          <p:nvPr/>
        </p:nvSpPr>
        <p:spPr>
          <a:xfrm>
            <a:off x="2807208" y="2971800"/>
            <a:ext cx="4087368" cy="649224"/>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Bạn: không cho ghép người, chốt Minh/Khoa.</a:t>
            </a:r>
          </a:p>
        </p:txBody>
      </p:sp>
      <p:sp>
        <p:nvSpPr>
          <p:cNvPr id="17" name="TextBox 16"/>
          <p:cNvSpPr txBox="1"/>
          <p:nvPr/>
        </p:nvSpPr>
        <p:spPr>
          <a:xfrm>
            <a:off x="7123176" y="2971800"/>
            <a:ext cx="4133087" cy="676656"/>
          </a:xfrm>
          <a:prstGeom prst="rect">
            <a:avLst/>
          </a:prstGeom>
          <a:noFill/>
        </p:spPr>
        <p:txBody>
          <a:bodyPr wrap="square" lIns="0" tIns="0" rIns="0" bIns="0" anchor="t">
            <a:spAutoFit/>
          </a:bodyPr>
          <a:lstStyle/>
          <a:p>
            <a:pPr algn="l">
              <a:lnSpc>
                <a:spcPts val="1427"/>
              </a:lnSpc>
              <a:spcAft>
                <a:spcPts val="300"/>
              </a:spcAft>
            </a:pPr>
            <a:r>
              <a:rPr sz="1220" b="0" i="0">
                <a:solidFill>
                  <a:srgbClr val="617D71"/>
                </a:solidFill>
                <a:latin typeface="Inter"/>
              </a:rPr>
              <a:t>AI: tổng hợp và cấu trúc 15 trường.</a:t>
            </a:r>
          </a:p>
        </p:txBody>
      </p:sp>
      <p:sp>
        <p:nvSpPr>
          <p:cNvPr id="18" name="Rounded Rectangle 17"/>
          <p:cNvSpPr/>
          <p:nvPr/>
        </p:nvSpPr>
        <p:spPr>
          <a:xfrm>
            <a:off x="685800" y="3913631"/>
            <a:ext cx="10808208" cy="9326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4069079"/>
            <a:ext cx="2048256" cy="411480"/>
          </a:xfrm>
          <a:prstGeom prst="rect">
            <a:avLst/>
          </a:prstGeom>
          <a:noFill/>
        </p:spPr>
        <p:txBody>
          <a:bodyPr wrap="square" lIns="0" tIns="0" rIns="0" bIns="0" anchor="t">
            <a:spAutoFit/>
          </a:bodyPr>
          <a:lstStyle/>
          <a:p>
            <a:pPr algn="l">
              <a:lnSpc>
                <a:spcPts val="1602"/>
              </a:lnSpc>
              <a:spcAft>
                <a:spcPts val="300"/>
              </a:spcAft>
            </a:pPr>
            <a:r>
              <a:rPr sz="1370" b="1" i="0">
                <a:solidFill>
                  <a:srgbClr val="078674"/>
                </a:solidFill>
                <a:latin typeface="Inter"/>
              </a:rPr>
              <a:t>UX Design</a:t>
            </a:r>
          </a:p>
        </p:txBody>
      </p:sp>
      <p:sp>
        <p:nvSpPr>
          <p:cNvPr id="20" name="TextBox 19"/>
          <p:cNvSpPr txBox="1"/>
          <p:nvPr/>
        </p:nvSpPr>
        <p:spPr>
          <a:xfrm>
            <a:off x="2807208" y="4023359"/>
            <a:ext cx="4087368" cy="649224"/>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Bạn: chọn Home C, bác catalog, chốt priority.</a:t>
            </a:r>
          </a:p>
        </p:txBody>
      </p:sp>
      <p:sp>
        <p:nvSpPr>
          <p:cNvPr id="21" name="TextBox 20"/>
          <p:cNvSpPr txBox="1"/>
          <p:nvPr/>
        </p:nvSpPr>
        <p:spPr>
          <a:xfrm>
            <a:off x="7123176" y="4023359"/>
            <a:ext cx="4133087" cy="676656"/>
          </a:xfrm>
          <a:prstGeom prst="rect">
            <a:avLst/>
          </a:prstGeom>
          <a:noFill/>
        </p:spPr>
        <p:txBody>
          <a:bodyPr wrap="square" lIns="0" tIns="0" rIns="0" bIns="0" anchor="t">
            <a:spAutoFit/>
          </a:bodyPr>
          <a:lstStyle/>
          <a:p>
            <a:pPr algn="l">
              <a:lnSpc>
                <a:spcPts val="1427"/>
              </a:lnSpc>
              <a:spcAft>
                <a:spcPts val="300"/>
              </a:spcAft>
            </a:pPr>
            <a:r>
              <a:rPr sz="1220" b="0" i="0">
                <a:solidFill>
                  <a:srgbClr val="617D71"/>
                </a:solidFill>
                <a:latin typeface="Inter"/>
              </a:rPr>
              <a:t>AI: đề xuất sitemap/flows và các biến thể.</a:t>
            </a:r>
          </a:p>
        </p:txBody>
      </p:sp>
      <p:sp>
        <p:nvSpPr>
          <p:cNvPr id="22" name="Rounded Rectangle 21"/>
          <p:cNvSpPr/>
          <p:nvPr/>
        </p:nvSpPr>
        <p:spPr>
          <a:xfrm>
            <a:off x="685800" y="4965192"/>
            <a:ext cx="10808208" cy="932688"/>
          </a:xfrm>
          <a:prstGeom prst="roundRect">
            <a:avLst>
              <a:gd name="adj" fmla="val 8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5120640"/>
            <a:ext cx="2048256" cy="411480"/>
          </a:xfrm>
          <a:prstGeom prst="rect">
            <a:avLst/>
          </a:prstGeom>
          <a:noFill/>
        </p:spPr>
        <p:txBody>
          <a:bodyPr wrap="square" lIns="0" tIns="0" rIns="0" bIns="0" anchor="t">
            <a:spAutoFit/>
          </a:bodyPr>
          <a:lstStyle/>
          <a:p>
            <a:pPr algn="l">
              <a:lnSpc>
                <a:spcPts val="1602"/>
              </a:lnSpc>
              <a:spcAft>
                <a:spcPts val="300"/>
              </a:spcAft>
            </a:pPr>
            <a:r>
              <a:rPr sz="1370" b="1" i="0">
                <a:solidFill>
                  <a:srgbClr val="078674"/>
                </a:solidFill>
                <a:latin typeface="Inter"/>
              </a:rPr>
              <a:t>UI / Prototype</a:t>
            </a:r>
          </a:p>
        </p:txBody>
      </p:sp>
      <p:sp>
        <p:nvSpPr>
          <p:cNvPr id="24" name="TextBox 23"/>
          <p:cNvSpPr txBox="1"/>
          <p:nvPr/>
        </p:nvSpPr>
        <p:spPr>
          <a:xfrm>
            <a:off x="2807208" y="5074920"/>
            <a:ext cx="4087368" cy="649224"/>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Bạn: tìm lỗi nút, icon, sign out, theme; duyệt.</a:t>
            </a:r>
          </a:p>
        </p:txBody>
      </p:sp>
      <p:sp>
        <p:nvSpPr>
          <p:cNvPr id="25" name="TextBox 24"/>
          <p:cNvSpPr txBox="1"/>
          <p:nvPr/>
        </p:nvSpPr>
        <p:spPr>
          <a:xfrm>
            <a:off x="7123176" y="5074920"/>
            <a:ext cx="4133087" cy="676656"/>
          </a:xfrm>
          <a:prstGeom prst="rect">
            <a:avLst/>
          </a:prstGeom>
          <a:noFill/>
        </p:spPr>
        <p:txBody>
          <a:bodyPr wrap="square" lIns="0" tIns="0" rIns="0" bIns="0" anchor="t">
            <a:spAutoFit/>
          </a:bodyPr>
          <a:lstStyle/>
          <a:p>
            <a:pPr algn="l">
              <a:lnSpc>
                <a:spcPts val="1427"/>
              </a:lnSpc>
              <a:spcAft>
                <a:spcPts val="300"/>
              </a:spcAft>
            </a:pPr>
            <a:r>
              <a:rPr sz="1220" b="0" i="0">
                <a:solidFill>
                  <a:srgbClr val="617D71"/>
                </a:solidFill>
                <a:latin typeface="Inter"/>
              </a:rPr>
              <a:t>AI: dựng preview, sửa layout, tích hợp.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05  PROTOTYPE</a:t>
            </a:r>
          </a:p>
        </p:txBody>
      </p:sp>
      <p:sp>
        <p:nvSpPr>
          <p:cNvPr id="5" name="Rectangle 4"/>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7" name="TextBox 6"/>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66</a:t>
            </a:r>
          </a:p>
        </p:txBody>
      </p:sp>
      <p:sp>
        <p:nvSpPr>
          <p:cNvPr id="8" name="Oval 7"/>
          <p:cNvSpPr/>
          <p:nvPr/>
        </p:nvSpPr>
        <p:spPr>
          <a:xfrm>
            <a:off x="8229600" y="-914400"/>
            <a:ext cx="4846320" cy="4846320"/>
          </a:xfrm>
          <a:prstGeom prst="ellipse">
            <a:avLst/>
          </a:prstGeom>
          <a:solidFill>
            <a:srgbClr val="0E4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2743200"/>
            <a:ext cx="3017520" cy="3017520"/>
          </a:xfrm>
          <a:prstGeom prst="ellipse">
            <a:avLst/>
          </a:prstGeom>
          <a:solidFill>
            <a:srgbClr val="1460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804672"/>
            <a:ext cx="4572000" cy="365760"/>
          </a:xfrm>
          <a:prstGeom prst="rect">
            <a:avLst/>
          </a:prstGeom>
          <a:noFill/>
        </p:spPr>
        <p:txBody>
          <a:bodyPr wrap="square" lIns="0" tIns="0" rIns="0" bIns="0" anchor="t">
            <a:spAutoFit/>
          </a:bodyPr>
          <a:lstStyle/>
          <a:p>
            <a:pPr algn="l">
              <a:lnSpc>
                <a:spcPts val="1754"/>
              </a:lnSpc>
              <a:spcAft>
                <a:spcPts val="300"/>
              </a:spcAft>
            </a:pPr>
            <a:r>
              <a:rPr sz="1500" b="1" i="0">
                <a:solidFill>
                  <a:srgbClr val="EFAD62"/>
                </a:solidFill>
                <a:latin typeface="Inter"/>
              </a:rPr>
              <a:t>05  /  05</a:t>
            </a:r>
          </a:p>
        </p:txBody>
      </p:sp>
      <p:sp>
        <p:nvSpPr>
          <p:cNvPr id="11" name="TextBox 10"/>
          <p:cNvSpPr txBox="1"/>
          <p:nvPr/>
        </p:nvSpPr>
        <p:spPr>
          <a:xfrm>
            <a:off x="658368" y="1463040"/>
            <a:ext cx="9966960" cy="1737360"/>
          </a:xfrm>
          <a:prstGeom prst="rect">
            <a:avLst/>
          </a:prstGeom>
          <a:noFill/>
        </p:spPr>
        <p:txBody>
          <a:bodyPr wrap="square" lIns="0" tIns="0" rIns="0" bIns="0" anchor="t">
            <a:spAutoFit/>
          </a:bodyPr>
          <a:lstStyle/>
          <a:p>
            <a:pPr algn="l">
              <a:lnSpc>
                <a:spcPts val="4914"/>
              </a:lnSpc>
              <a:spcAft>
                <a:spcPts val="300"/>
              </a:spcAft>
            </a:pPr>
            <a:r>
              <a:rPr sz="4200" b="1" i="0">
                <a:solidFill>
                  <a:srgbClr val="FFFFFF"/>
                </a:solidFill>
                <a:latin typeface="Inter"/>
              </a:rPr>
              <a:t>PROTOTYPE</a:t>
            </a:r>
          </a:p>
        </p:txBody>
      </p:sp>
      <p:sp>
        <p:nvSpPr>
          <p:cNvPr id="12" name="TextBox 11"/>
          <p:cNvSpPr txBox="1"/>
          <p:nvPr/>
        </p:nvSpPr>
        <p:spPr>
          <a:xfrm>
            <a:off x="704088" y="3758184"/>
            <a:ext cx="9601200" cy="1051560"/>
          </a:xfrm>
          <a:prstGeom prst="rect">
            <a:avLst/>
          </a:prstGeom>
          <a:noFill/>
        </p:spPr>
        <p:txBody>
          <a:bodyPr wrap="square" lIns="0" tIns="0" rIns="0" bIns="0" anchor="t">
            <a:spAutoFit/>
          </a:bodyPr>
          <a:lstStyle/>
          <a:p>
            <a:pPr algn="l">
              <a:lnSpc>
                <a:spcPts val="2106"/>
              </a:lnSpc>
              <a:spcAft>
                <a:spcPts val="300"/>
              </a:spcAft>
            </a:pPr>
            <a:r>
              <a:rPr sz="1800" b="0" i="0">
                <a:solidFill>
                  <a:srgbClr val="B8D9CB"/>
                </a:solidFill>
                <a:latin typeface="Inter"/>
              </a:rPr>
              <a:t>Một app thống nhất được thử theo ba flow, cùng dữ liệu, với giới hạn của bản mô phỏng rõ ràng.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05  PROTOTYPE</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Từ các màn rời sang prototype dùng chung dữ liệu</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Đây mới là bước cuối của quá trình; toàn bộ quyết định UX / UI đã được chốt trước khi hợp nhất.</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67</a:t>
            </a:r>
          </a:p>
        </p:txBody>
      </p:sp>
      <p:sp>
        <p:nvSpPr>
          <p:cNvPr id="10" name="Rounded Rectangle 9"/>
          <p:cNvSpPr/>
          <p:nvPr/>
        </p:nvSpPr>
        <p:spPr>
          <a:xfrm>
            <a:off x="685800" y="1783080"/>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975104"/>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HOBBIES</a:t>
            </a:r>
          </a:p>
        </p:txBody>
      </p:sp>
      <p:sp>
        <p:nvSpPr>
          <p:cNvPr id="12" name="TextBox 11"/>
          <p:cNvSpPr txBox="1"/>
          <p:nvPr/>
        </p:nvSpPr>
        <p:spPr>
          <a:xfrm>
            <a:off x="886968" y="2606040"/>
            <a:ext cx="3172968" cy="87782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Hobby do user tạo; icon, màu, priority.</a:t>
            </a:r>
          </a:p>
        </p:txBody>
      </p:sp>
      <p:sp>
        <p:nvSpPr>
          <p:cNvPr id="13" name="Rounded Rectangle 12"/>
          <p:cNvSpPr/>
          <p:nvPr/>
        </p:nvSpPr>
        <p:spPr>
          <a:xfrm>
            <a:off x="4471416" y="1783080"/>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975104"/>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SCHEDULE</a:t>
            </a:r>
          </a:p>
        </p:txBody>
      </p:sp>
      <p:sp>
        <p:nvSpPr>
          <p:cNvPr id="15" name="TextBox 14"/>
          <p:cNvSpPr txBox="1"/>
          <p:nvPr/>
        </p:nvSpPr>
        <p:spPr>
          <a:xfrm>
            <a:off x="4672583" y="2606040"/>
            <a:ext cx="3172968" cy="87782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Hoạt động theo ngày / thời điểm / hobby.</a:t>
            </a:r>
          </a:p>
        </p:txBody>
      </p:sp>
      <p:sp>
        <p:nvSpPr>
          <p:cNvPr id="16" name="Rounded Rectangle 15"/>
          <p:cNvSpPr/>
          <p:nvPr/>
        </p:nvSpPr>
        <p:spPr>
          <a:xfrm>
            <a:off x="8257031" y="1783080"/>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49056" y="1975104"/>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HYPER HISTORY</a:t>
            </a:r>
          </a:p>
        </p:txBody>
      </p:sp>
      <p:sp>
        <p:nvSpPr>
          <p:cNvPr id="18" name="TextBox 17"/>
          <p:cNvSpPr txBox="1"/>
          <p:nvPr/>
        </p:nvSpPr>
        <p:spPr>
          <a:xfrm>
            <a:off x="8458200" y="2606040"/>
            <a:ext cx="3172968" cy="877823"/>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Thời gian và note sau khi Finish.</a:t>
            </a:r>
          </a:p>
        </p:txBody>
      </p:sp>
      <p:sp>
        <p:nvSpPr>
          <p:cNvPr id="19" name="Rounded Rectangle 18"/>
          <p:cNvSpPr/>
          <p:nvPr/>
        </p:nvSpPr>
        <p:spPr>
          <a:xfrm>
            <a:off x="685800" y="3767328"/>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7824" y="3959352"/>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COMMUNITY</a:t>
            </a:r>
          </a:p>
        </p:txBody>
      </p:sp>
      <p:sp>
        <p:nvSpPr>
          <p:cNvPr id="21" name="TextBox 20"/>
          <p:cNvSpPr txBox="1"/>
          <p:nvPr/>
        </p:nvSpPr>
        <p:spPr>
          <a:xfrm>
            <a:off x="886968" y="4590288"/>
            <a:ext cx="3172968" cy="877824"/>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Post / Group / Chat / Activity.</a:t>
            </a:r>
          </a:p>
        </p:txBody>
      </p:sp>
      <p:sp>
        <p:nvSpPr>
          <p:cNvPr id="22" name="Rounded Rectangle 21"/>
          <p:cNvSpPr/>
          <p:nvPr/>
        </p:nvSpPr>
        <p:spPr>
          <a:xfrm>
            <a:off x="4471416" y="3767328"/>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3959352"/>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SETTINGS</a:t>
            </a:r>
          </a:p>
        </p:txBody>
      </p:sp>
      <p:sp>
        <p:nvSpPr>
          <p:cNvPr id="24" name="TextBox 23"/>
          <p:cNvSpPr txBox="1"/>
          <p:nvPr/>
        </p:nvSpPr>
        <p:spPr>
          <a:xfrm>
            <a:off x="4672583" y="4590288"/>
            <a:ext cx="3172968" cy="877824"/>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Theme + tùy chọn cá nhân.</a:t>
            </a:r>
          </a:p>
        </p:txBody>
      </p:sp>
      <p:sp>
        <p:nvSpPr>
          <p:cNvPr id="25" name="Rounded Rectangle 24"/>
          <p:cNvSpPr/>
          <p:nvPr/>
        </p:nvSpPr>
        <p:spPr>
          <a:xfrm>
            <a:off x="8257031" y="3767328"/>
            <a:ext cx="3575304" cy="1792224"/>
          </a:xfrm>
          <a:prstGeom prst="roundRect">
            <a:avLst>
              <a:gd name="adj" fmla="val 10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49056" y="3959352"/>
            <a:ext cx="3191256" cy="530352"/>
          </a:xfrm>
          <a:prstGeom prst="rect">
            <a:avLst/>
          </a:prstGeom>
          <a:noFill/>
        </p:spPr>
        <p:txBody>
          <a:bodyPr wrap="square" lIns="0" tIns="0" rIns="0" bIns="0" anchor="t">
            <a:spAutoFit/>
          </a:bodyPr>
          <a:lstStyle/>
          <a:p>
            <a:pPr algn="l">
              <a:lnSpc>
                <a:spcPts val="1918"/>
              </a:lnSpc>
              <a:spcAft>
                <a:spcPts val="300"/>
              </a:spcAft>
            </a:pPr>
            <a:r>
              <a:rPr sz="1639" b="1" i="0">
                <a:solidFill>
                  <a:srgbClr val="153E35"/>
                </a:solidFill>
                <a:latin typeface="Inter"/>
              </a:rPr>
              <a:t>AUTH</a:t>
            </a:r>
          </a:p>
        </p:txBody>
      </p:sp>
      <p:sp>
        <p:nvSpPr>
          <p:cNvPr id="27" name="TextBox 26"/>
          <p:cNvSpPr txBox="1"/>
          <p:nvPr/>
        </p:nvSpPr>
        <p:spPr>
          <a:xfrm>
            <a:off x="8458200" y="4590288"/>
            <a:ext cx="3172968" cy="877824"/>
          </a:xfrm>
          <a:prstGeom prst="rect">
            <a:avLst/>
          </a:prstGeom>
          <a:noFill/>
        </p:spPr>
        <p:txBody>
          <a:bodyPr wrap="square" lIns="0" tIns="0" rIns="0" bIns="0" anchor="t">
            <a:spAutoFit/>
          </a:bodyPr>
          <a:lstStyle/>
          <a:p>
            <a:pPr algn="l">
              <a:lnSpc>
                <a:spcPts val="1600"/>
              </a:lnSpc>
              <a:spcAft>
                <a:spcPts val="300"/>
              </a:spcAft>
            </a:pPr>
            <a:r>
              <a:rPr sz="1250" b="0" i="0">
                <a:solidFill>
                  <a:srgbClr val="617D71"/>
                </a:solidFill>
                <a:latin typeface="Inter"/>
              </a:rPr>
              <a:t>Đăng nhập demo, Sign Out đúng chỗ.</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05  PROTOTYPE</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Kịch bản chạy thử 3 flow và những điều phải nhìn thấy</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Kiểm tra hành vi liên kết dữ liệu, không chỉ nhấn từng nút trên một màn hình.</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68</a:t>
            </a:r>
          </a:p>
        </p:txBody>
      </p:sp>
      <p:sp>
        <p:nvSpPr>
          <p:cNvPr id="10" name="Rounded Rectangle 9"/>
          <p:cNvSpPr/>
          <p:nvPr/>
        </p:nvSpPr>
        <p:spPr>
          <a:xfrm>
            <a:off x="694944" y="1792224"/>
            <a:ext cx="10771632" cy="112471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965960"/>
            <a:ext cx="2194560" cy="338328"/>
          </a:xfrm>
          <a:prstGeom prst="rect">
            <a:avLst/>
          </a:prstGeom>
          <a:noFill/>
        </p:spPr>
        <p:txBody>
          <a:bodyPr wrap="square" lIns="0" tIns="0" rIns="0" bIns="0" anchor="t">
            <a:spAutoFit/>
          </a:bodyPr>
          <a:lstStyle/>
          <a:p>
            <a:pPr algn="l">
              <a:lnSpc>
                <a:spcPts val="1754"/>
              </a:lnSpc>
              <a:spcAft>
                <a:spcPts val="300"/>
              </a:spcAft>
            </a:pPr>
            <a:r>
              <a:rPr sz="1500" b="1" i="0">
                <a:solidFill>
                  <a:srgbClr val="078674"/>
                </a:solidFill>
                <a:latin typeface="Inter"/>
              </a:rPr>
              <a:t>01 · DISCOVER</a:t>
            </a:r>
          </a:p>
        </p:txBody>
      </p:sp>
      <p:sp>
        <p:nvSpPr>
          <p:cNvPr id="12" name="TextBox 11"/>
          <p:cNvSpPr txBox="1"/>
          <p:nvPr/>
        </p:nvSpPr>
        <p:spPr>
          <a:xfrm>
            <a:off x="3044952" y="1920240"/>
            <a:ext cx="4206240" cy="768096"/>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Login → tự tạo Photography, chọn icon / màu / priority.</a:t>
            </a:r>
          </a:p>
        </p:txBody>
      </p:sp>
      <p:sp>
        <p:nvSpPr>
          <p:cNvPr id="13" name="TextBox 12"/>
          <p:cNvSpPr txBox="1"/>
          <p:nvPr/>
        </p:nvSpPr>
        <p:spPr>
          <a:xfrm>
            <a:off x="7424927" y="1920240"/>
            <a:ext cx="3794760" cy="822960"/>
          </a:xfrm>
          <a:prstGeom prst="rect">
            <a:avLst/>
          </a:prstGeom>
          <a:noFill/>
        </p:spPr>
        <p:txBody>
          <a:bodyPr wrap="square" lIns="0" tIns="0" rIns="0" bIns="0" anchor="t">
            <a:spAutoFit/>
          </a:bodyPr>
          <a:lstStyle/>
          <a:p>
            <a:pPr algn="l">
              <a:lnSpc>
                <a:spcPts val="1380"/>
              </a:lnSpc>
              <a:spcAft>
                <a:spcPts val="300"/>
              </a:spcAft>
            </a:pPr>
            <a:r>
              <a:rPr sz="1180" b="0" i="0">
                <a:solidFill>
                  <a:srgbClr val="617D71"/>
                </a:solidFill>
                <a:latin typeface="Inter"/>
              </a:rPr>
              <a:t>Hobby xuất hiện trong collection; Home có thể chọn để lập lịch.</a:t>
            </a:r>
          </a:p>
        </p:txBody>
      </p:sp>
      <p:sp>
        <p:nvSpPr>
          <p:cNvPr id="14" name="Rounded Rectangle 13"/>
          <p:cNvSpPr/>
          <p:nvPr/>
        </p:nvSpPr>
        <p:spPr>
          <a:xfrm>
            <a:off x="694944" y="3081528"/>
            <a:ext cx="10771632" cy="112471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3255264"/>
            <a:ext cx="2194560" cy="338328"/>
          </a:xfrm>
          <a:prstGeom prst="rect">
            <a:avLst/>
          </a:prstGeom>
          <a:noFill/>
        </p:spPr>
        <p:txBody>
          <a:bodyPr wrap="square" lIns="0" tIns="0" rIns="0" bIns="0" anchor="t">
            <a:spAutoFit/>
          </a:bodyPr>
          <a:lstStyle/>
          <a:p>
            <a:pPr algn="l">
              <a:lnSpc>
                <a:spcPts val="1754"/>
              </a:lnSpc>
              <a:spcAft>
                <a:spcPts val="300"/>
              </a:spcAft>
            </a:pPr>
            <a:r>
              <a:rPr sz="1500" b="1" i="0">
                <a:solidFill>
                  <a:srgbClr val="078674"/>
                </a:solidFill>
                <a:latin typeface="Inter"/>
              </a:rPr>
              <a:t>02 · PRACTICE</a:t>
            </a:r>
          </a:p>
        </p:txBody>
      </p:sp>
      <p:sp>
        <p:nvSpPr>
          <p:cNvPr id="16" name="TextBox 15"/>
          <p:cNvSpPr txBox="1"/>
          <p:nvPr/>
        </p:nvSpPr>
        <p:spPr>
          <a:xfrm>
            <a:off x="3044952" y="3209544"/>
            <a:ext cx="4206240" cy="768096"/>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Add Schedule → Hyper timer + notes → Finish.</a:t>
            </a:r>
          </a:p>
        </p:txBody>
      </p:sp>
      <p:sp>
        <p:nvSpPr>
          <p:cNvPr id="17" name="TextBox 16"/>
          <p:cNvSpPr txBox="1"/>
          <p:nvPr/>
        </p:nvSpPr>
        <p:spPr>
          <a:xfrm>
            <a:off x="7424927" y="3209544"/>
            <a:ext cx="3794760" cy="822960"/>
          </a:xfrm>
          <a:prstGeom prst="rect">
            <a:avLst/>
          </a:prstGeom>
          <a:noFill/>
        </p:spPr>
        <p:txBody>
          <a:bodyPr wrap="square" lIns="0" tIns="0" rIns="0" bIns="0" anchor="t">
            <a:spAutoFit/>
          </a:bodyPr>
          <a:lstStyle/>
          <a:p>
            <a:pPr algn="l">
              <a:lnSpc>
                <a:spcPts val="1380"/>
              </a:lnSpc>
              <a:spcAft>
                <a:spcPts val="300"/>
              </a:spcAft>
            </a:pPr>
            <a:r>
              <a:rPr sz="1180" b="0" i="0">
                <a:solidFill>
                  <a:srgbClr val="617D71"/>
                </a:solidFill>
                <a:latin typeface="Inter"/>
              </a:rPr>
              <a:t>Home lưu duration + notes trong activity history.</a:t>
            </a:r>
          </a:p>
        </p:txBody>
      </p:sp>
      <p:sp>
        <p:nvSpPr>
          <p:cNvPr id="18" name="Rounded Rectangle 17"/>
          <p:cNvSpPr/>
          <p:nvPr/>
        </p:nvSpPr>
        <p:spPr>
          <a:xfrm>
            <a:off x="694944" y="4370831"/>
            <a:ext cx="10771632" cy="1124712"/>
          </a:xfrm>
          <a:prstGeom prst="roundRect">
            <a:avLst>
              <a:gd name="adj" fmla="val 9000"/>
            </a:avLst>
          </a:prstGeom>
          <a:solidFill>
            <a:srgbClr val="FFFFFF"/>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4544568"/>
            <a:ext cx="2194560" cy="338328"/>
          </a:xfrm>
          <a:prstGeom prst="rect">
            <a:avLst/>
          </a:prstGeom>
          <a:noFill/>
        </p:spPr>
        <p:txBody>
          <a:bodyPr wrap="square" lIns="0" tIns="0" rIns="0" bIns="0" anchor="t">
            <a:spAutoFit/>
          </a:bodyPr>
          <a:lstStyle/>
          <a:p>
            <a:pPr algn="l">
              <a:lnSpc>
                <a:spcPts val="1754"/>
              </a:lnSpc>
              <a:spcAft>
                <a:spcPts val="300"/>
              </a:spcAft>
            </a:pPr>
            <a:r>
              <a:rPr sz="1500" b="1" i="0">
                <a:solidFill>
                  <a:srgbClr val="078674"/>
                </a:solidFill>
                <a:latin typeface="Inter"/>
              </a:rPr>
              <a:t>03 · CONNECT</a:t>
            </a:r>
          </a:p>
        </p:txBody>
      </p:sp>
      <p:sp>
        <p:nvSpPr>
          <p:cNvPr id="20" name="TextBox 19"/>
          <p:cNvSpPr txBox="1"/>
          <p:nvPr/>
        </p:nvSpPr>
        <p:spPr>
          <a:xfrm>
            <a:off x="3044952" y="4498847"/>
            <a:ext cx="4206240" cy="768096"/>
          </a:xfrm>
          <a:prstGeom prst="rect">
            <a:avLst/>
          </a:prstGeom>
          <a:noFill/>
        </p:spPr>
        <p:txBody>
          <a:bodyPr wrap="square" lIns="0" tIns="0" rIns="0" bIns="0" anchor="t">
            <a:spAutoFit/>
          </a:bodyPr>
          <a:lstStyle/>
          <a:p>
            <a:pPr algn="l">
              <a:lnSpc>
                <a:spcPts val="1427"/>
              </a:lnSpc>
              <a:spcAft>
                <a:spcPts val="300"/>
              </a:spcAft>
            </a:pPr>
            <a:r>
              <a:rPr sz="1220" b="0" i="0">
                <a:solidFill>
                  <a:srgbClr val="153E35"/>
                </a:solidFill>
                <a:latin typeface="Inter"/>
              </a:rPr>
              <a:t>Join group → gửi Chat → RSVP → Add to Home.</a:t>
            </a:r>
          </a:p>
        </p:txBody>
      </p:sp>
      <p:sp>
        <p:nvSpPr>
          <p:cNvPr id="21" name="TextBox 20"/>
          <p:cNvSpPr txBox="1"/>
          <p:nvPr/>
        </p:nvSpPr>
        <p:spPr>
          <a:xfrm>
            <a:off x="7424927" y="4498847"/>
            <a:ext cx="3794760" cy="822960"/>
          </a:xfrm>
          <a:prstGeom prst="rect">
            <a:avLst/>
          </a:prstGeom>
          <a:noFill/>
        </p:spPr>
        <p:txBody>
          <a:bodyPr wrap="square" lIns="0" tIns="0" rIns="0" bIns="0" anchor="t">
            <a:spAutoFit/>
          </a:bodyPr>
          <a:lstStyle/>
          <a:p>
            <a:pPr algn="l">
              <a:lnSpc>
                <a:spcPts val="1380"/>
              </a:lnSpc>
              <a:spcAft>
                <a:spcPts val="300"/>
              </a:spcAft>
            </a:pPr>
            <a:r>
              <a:rPr sz="1180" b="0" i="0">
                <a:solidFill>
                  <a:srgbClr val="617D71"/>
                </a:solidFill>
                <a:latin typeface="Inter"/>
              </a:rPr>
              <a:t>Không tự lập lịch chỉ vì RSVP; tin nhắn ở đúng hội thoại.</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0786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078674"/>
                </a:solidFill>
                <a:latin typeface="Inter"/>
              </a:rPr>
              <a:t>05  PROTOTYPE</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153E35"/>
                </a:solidFill>
                <a:latin typeface="Inter"/>
              </a:rPr>
              <a:t>Kết thúc một vòng phản biện là PHÊ DUYỆT từ người dùng</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Những câu trả lời “yep” đến sau khi thử chức năng cụ thể, không phải sau khi chỉ xem màu.</a:t>
            </a:r>
          </a:p>
        </p:txBody>
      </p:sp>
      <p:sp>
        <p:nvSpPr>
          <p:cNvPr id="7" name="Rectangle 6"/>
          <p:cNvSpPr/>
          <p:nvPr/>
        </p:nvSpPr>
        <p:spPr>
          <a:xfrm>
            <a:off x="502920" y="6519672"/>
            <a:ext cx="11155680" cy="10972"/>
          </a:xfrm>
          <a:prstGeom prst="rect">
            <a:avLst/>
          </a:prstGeom>
          <a:solidFill>
            <a:srgbClr val="D6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8E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617D71"/>
                </a:solidFill>
                <a:latin typeface="Inter"/>
              </a:rPr>
              <a:t>69</a:t>
            </a:r>
          </a:p>
        </p:txBody>
      </p:sp>
      <p:sp>
        <p:nvSpPr>
          <p:cNvPr id="10" name="Rounded Rectangle 9"/>
          <p:cNvSpPr/>
          <p:nvPr/>
        </p:nvSpPr>
        <p:spPr>
          <a:xfrm>
            <a:off x="694944" y="1819656"/>
            <a:ext cx="10762488"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1993392"/>
            <a:ext cx="2057400" cy="301752"/>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HOME V4</a:t>
            </a:r>
          </a:p>
        </p:txBody>
      </p:sp>
      <p:sp>
        <p:nvSpPr>
          <p:cNvPr id="12" name="TextBox 11"/>
          <p:cNvSpPr txBox="1"/>
          <p:nvPr/>
        </p:nvSpPr>
        <p:spPr>
          <a:xfrm>
            <a:off x="2971800" y="1938528"/>
            <a:ext cx="3227832" cy="420624"/>
          </a:xfrm>
          <a:prstGeom prst="rect">
            <a:avLst/>
          </a:prstGeom>
          <a:noFill/>
        </p:spPr>
        <p:txBody>
          <a:bodyPr wrap="square" lIns="0" tIns="0" rIns="0" bIns="0" anchor="t">
            <a:spAutoFit/>
          </a:bodyPr>
          <a:lstStyle/>
          <a:p>
            <a:pPr algn="l">
              <a:lnSpc>
                <a:spcPts val="1521"/>
              </a:lnSpc>
              <a:spcAft>
                <a:spcPts val="300"/>
              </a:spcAft>
            </a:pPr>
            <a:r>
              <a:rPr sz="1300" b="0" i="1">
                <a:solidFill>
                  <a:srgbClr val="153E35"/>
                </a:solidFill>
                <a:latin typeface="Inter"/>
              </a:rPr>
              <a:t>“yep that chek out”</a:t>
            </a:r>
          </a:p>
        </p:txBody>
      </p:sp>
      <p:sp>
        <p:nvSpPr>
          <p:cNvPr id="13" name="TextBox 12"/>
          <p:cNvSpPr txBox="1"/>
          <p:nvPr/>
        </p:nvSpPr>
        <p:spPr>
          <a:xfrm>
            <a:off x="6281928" y="1947672"/>
            <a:ext cx="4956048" cy="42976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Schedule hoạt động với cả Active / Interested.</a:t>
            </a:r>
          </a:p>
        </p:txBody>
      </p:sp>
      <p:sp>
        <p:nvSpPr>
          <p:cNvPr id="14" name="Rounded Rectangle 13"/>
          <p:cNvSpPr/>
          <p:nvPr/>
        </p:nvSpPr>
        <p:spPr>
          <a:xfrm>
            <a:off x="694944" y="2670048"/>
            <a:ext cx="10762488" cy="713232"/>
          </a:xfrm>
          <a:prstGeom prst="roundRect">
            <a:avLst>
              <a:gd name="adj" fmla="val 6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843784"/>
            <a:ext cx="2057400" cy="301752"/>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MY HOBBIES V2</a:t>
            </a:r>
          </a:p>
        </p:txBody>
      </p:sp>
      <p:sp>
        <p:nvSpPr>
          <p:cNvPr id="16" name="TextBox 15"/>
          <p:cNvSpPr txBox="1"/>
          <p:nvPr/>
        </p:nvSpPr>
        <p:spPr>
          <a:xfrm>
            <a:off x="2971800" y="2788920"/>
            <a:ext cx="3227832" cy="420624"/>
          </a:xfrm>
          <a:prstGeom prst="rect">
            <a:avLst/>
          </a:prstGeom>
          <a:noFill/>
        </p:spPr>
        <p:txBody>
          <a:bodyPr wrap="square" lIns="0" tIns="0" rIns="0" bIns="0" anchor="t">
            <a:spAutoFit/>
          </a:bodyPr>
          <a:lstStyle/>
          <a:p>
            <a:pPr algn="l">
              <a:lnSpc>
                <a:spcPts val="1521"/>
              </a:lnSpc>
              <a:spcAft>
                <a:spcPts val="300"/>
              </a:spcAft>
            </a:pPr>
            <a:r>
              <a:rPr sz="1300" b="0" i="1">
                <a:solidFill>
                  <a:srgbClr val="153E35"/>
                </a:solidFill>
                <a:latin typeface="Inter"/>
              </a:rPr>
              <a:t>“yep this is good”</a:t>
            </a:r>
          </a:p>
        </p:txBody>
      </p:sp>
      <p:sp>
        <p:nvSpPr>
          <p:cNvPr id="17" name="TextBox 16"/>
          <p:cNvSpPr txBox="1"/>
          <p:nvPr/>
        </p:nvSpPr>
        <p:spPr>
          <a:xfrm>
            <a:off x="6281928" y="2798064"/>
            <a:ext cx="4956048" cy="42976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Custom hobby thay catalog.</a:t>
            </a:r>
          </a:p>
        </p:txBody>
      </p:sp>
      <p:sp>
        <p:nvSpPr>
          <p:cNvPr id="18" name="Rounded Rectangle 17"/>
          <p:cNvSpPr/>
          <p:nvPr/>
        </p:nvSpPr>
        <p:spPr>
          <a:xfrm>
            <a:off x="694944" y="3520440"/>
            <a:ext cx="10762488"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694176"/>
            <a:ext cx="2057400" cy="301752"/>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CREATE V3</a:t>
            </a:r>
          </a:p>
        </p:txBody>
      </p:sp>
      <p:sp>
        <p:nvSpPr>
          <p:cNvPr id="20" name="TextBox 19"/>
          <p:cNvSpPr txBox="1"/>
          <p:nvPr/>
        </p:nvSpPr>
        <p:spPr>
          <a:xfrm>
            <a:off x="2971800" y="3639312"/>
            <a:ext cx="3227832" cy="420624"/>
          </a:xfrm>
          <a:prstGeom prst="rect">
            <a:avLst/>
          </a:prstGeom>
          <a:noFill/>
        </p:spPr>
        <p:txBody>
          <a:bodyPr wrap="square" lIns="0" tIns="0" rIns="0" bIns="0" anchor="t">
            <a:spAutoFit/>
          </a:bodyPr>
          <a:lstStyle/>
          <a:p>
            <a:pPr algn="l">
              <a:lnSpc>
                <a:spcPts val="1521"/>
              </a:lnSpc>
              <a:spcAft>
                <a:spcPts val="300"/>
              </a:spcAft>
            </a:pPr>
            <a:r>
              <a:rPr sz="1300" b="0" i="1">
                <a:solidFill>
                  <a:srgbClr val="153E35"/>
                </a:solidFill>
                <a:latin typeface="Inter"/>
              </a:rPr>
              <a:t>“yep i like thiss”</a:t>
            </a:r>
          </a:p>
        </p:txBody>
      </p:sp>
      <p:sp>
        <p:nvSpPr>
          <p:cNvPr id="21" name="TextBox 20"/>
          <p:cNvSpPr txBox="1"/>
          <p:nvPr/>
        </p:nvSpPr>
        <p:spPr>
          <a:xfrm>
            <a:off x="6281928" y="3648456"/>
            <a:ext cx="4956048" cy="42976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Icon grid + live preview được chấp nhận.</a:t>
            </a:r>
          </a:p>
        </p:txBody>
      </p:sp>
      <p:sp>
        <p:nvSpPr>
          <p:cNvPr id="22" name="Rounded Rectangle 21"/>
          <p:cNvSpPr/>
          <p:nvPr/>
        </p:nvSpPr>
        <p:spPr>
          <a:xfrm>
            <a:off x="694944" y="4370832"/>
            <a:ext cx="10762488" cy="713232"/>
          </a:xfrm>
          <a:prstGeom prst="roundRect">
            <a:avLst>
              <a:gd name="adj" fmla="val 6000"/>
            </a:avLst>
          </a:prstGeom>
          <a:solidFill>
            <a:srgbClr val="EE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544568"/>
            <a:ext cx="2057400" cy="301752"/>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SETTINGS V1</a:t>
            </a:r>
          </a:p>
        </p:txBody>
      </p:sp>
      <p:sp>
        <p:nvSpPr>
          <p:cNvPr id="24" name="TextBox 23"/>
          <p:cNvSpPr txBox="1"/>
          <p:nvPr/>
        </p:nvSpPr>
        <p:spPr>
          <a:xfrm>
            <a:off x="2971800" y="4489704"/>
            <a:ext cx="3227832" cy="420624"/>
          </a:xfrm>
          <a:prstGeom prst="rect">
            <a:avLst/>
          </a:prstGeom>
          <a:noFill/>
        </p:spPr>
        <p:txBody>
          <a:bodyPr wrap="square" lIns="0" tIns="0" rIns="0" bIns="0" anchor="t">
            <a:spAutoFit/>
          </a:bodyPr>
          <a:lstStyle/>
          <a:p>
            <a:pPr algn="l">
              <a:lnSpc>
                <a:spcPts val="1521"/>
              </a:lnSpc>
              <a:spcAft>
                <a:spcPts val="300"/>
              </a:spcAft>
            </a:pPr>
            <a:r>
              <a:rPr sz="1300" b="0" i="1">
                <a:solidFill>
                  <a:srgbClr val="153E35"/>
                </a:solidFill>
                <a:latin typeface="Inter"/>
              </a:rPr>
              <a:t>“yep that look good also”</a:t>
            </a:r>
          </a:p>
        </p:txBody>
      </p:sp>
      <p:sp>
        <p:nvSpPr>
          <p:cNvPr id="25" name="TextBox 24"/>
          <p:cNvSpPr txBox="1"/>
          <p:nvPr/>
        </p:nvSpPr>
        <p:spPr>
          <a:xfrm>
            <a:off x="6281928" y="4498848"/>
            <a:ext cx="4956048" cy="42976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Account / apps / reminder / privacy.</a:t>
            </a:r>
          </a:p>
        </p:txBody>
      </p:sp>
      <p:sp>
        <p:nvSpPr>
          <p:cNvPr id="26" name="Rounded Rectangle 25"/>
          <p:cNvSpPr/>
          <p:nvPr/>
        </p:nvSpPr>
        <p:spPr>
          <a:xfrm>
            <a:off x="694944" y="5221224"/>
            <a:ext cx="10762488"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5394960"/>
            <a:ext cx="2057400" cy="301752"/>
          </a:xfrm>
          <a:prstGeom prst="rect">
            <a:avLst/>
          </a:prstGeom>
          <a:noFill/>
        </p:spPr>
        <p:txBody>
          <a:bodyPr wrap="square" lIns="0" tIns="0" rIns="0" bIns="0" anchor="t">
            <a:spAutoFit/>
          </a:bodyPr>
          <a:lstStyle/>
          <a:p>
            <a:pPr algn="l">
              <a:lnSpc>
                <a:spcPts val="1521"/>
              </a:lnSpc>
              <a:spcAft>
                <a:spcPts val="300"/>
              </a:spcAft>
            </a:pPr>
            <a:r>
              <a:rPr sz="1300" b="1" i="0">
                <a:solidFill>
                  <a:srgbClr val="078674"/>
                </a:solidFill>
                <a:latin typeface="Inter"/>
              </a:rPr>
              <a:t>BỘ 3 HTML</a:t>
            </a:r>
          </a:p>
        </p:txBody>
      </p:sp>
      <p:sp>
        <p:nvSpPr>
          <p:cNvPr id="28" name="TextBox 27"/>
          <p:cNvSpPr txBox="1"/>
          <p:nvPr/>
        </p:nvSpPr>
        <p:spPr>
          <a:xfrm>
            <a:off x="2971800" y="5340096"/>
            <a:ext cx="3227832" cy="420624"/>
          </a:xfrm>
          <a:prstGeom prst="rect">
            <a:avLst/>
          </a:prstGeom>
          <a:noFill/>
        </p:spPr>
        <p:txBody>
          <a:bodyPr wrap="square" lIns="0" tIns="0" rIns="0" bIns="0" anchor="t">
            <a:spAutoFit/>
          </a:bodyPr>
          <a:lstStyle/>
          <a:p>
            <a:pPr algn="l">
              <a:lnSpc>
                <a:spcPts val="1521"/>
              </a:lnSpc>
              <a:spcAft>
                <a:spcPts val="300"/>
              </a:spcAft>
            </a:pPr>
            <a:r>
              <a:rPr sz="1300" b="0" i="1">
                <a:solidFill>
                  <a:srgbClr val="153E35"/>
                </a:solidFill>
                <a:latin typeface="Inter"/>
              </a:rPr>
              <a:t>“yep thta check out”</a:t>
            </a:r>
          </a:p>
        </p:txBody>
      </p:sp>
      <p:sp>
        <p:nvSpPr>
          <p:cNvPr id="29" name="TextBox 28"/>
          <p:cNvSpPr txBox="1"/>
          <p:nvPr/>
        </p:nvSpPr>
        <p:spPr>
          <a:xfrm>
            <a:off x="6281928" y="5349240"/>
            <a:ext cx="4956048" cy="429768"/>
          </a:xfrm>
          <a:prstGeom prst="rect">
            <a:avLst/>
          </a:prstGeom>
          <a:noFill/>
        </p:spPr>
        <p:txBody>
          <a:bodyPr wrap="square" lIns="0" tIns="0" rIns="0" bIns="0" anchor="t">
            <a:spAutoFit/>
          </a:bodyPr>
          <a:lstStyle/>
          <a:p>
            <a:pPr algn="l">
              <a:lnSpc>
                <a:spcPts val="1345"/>
              </a:lnSpc>
              <a:spcAft>
                <a:spcPts val="300"/>
              </a:spcAft>
            </a:pPr>
            <a:r>
              <a:rPr sz="1150" b="0" i="0">
                <a:solidFill>
                  <a:srgbClr val="617D71"/>
                </a:solidFill>
                <a:latin typeface="Inter"/>
              </a:rPr>
              <a:t>Prototype, Specification, Design Archive.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2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EFA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7744"/>
            <a:ext cx="8686800" cy="246888"/>
          </a:xfrm>
          <a:prstGeom prst="rect">
            <a:avLst/>
          </a:prstGeom>
          <a:noFill/>
        </p:spPr>
        <p:txBody>
          <a:bodyPr wrap="square" lIns="0" tIns="0" rIns="0" bIns="0" anchor="t">
            <a:spAutoFit/>
          </a:bodyPr>
          <a:lstStyle/>
          <a:p>
            <a:pPr algn="l">
              <a:lnSpc>
                <a:spcPts val="1228"/>
              </a:lnSpc>
              <a:spcAft>
                <a:spcPts val="300"/>
              </a:spcAft>
            </a:pPr>
            <a:r>
              <a:rPr sz="1050" b="1" i="0">
                <a:solidFill>
                  <a:srgbClr val="EFAD62"/>
                </a:solidFill>
                <a:latin typeface="Inter"/>
              </a:rPr>
              <a:t>05  PROTOTYPE</a:t>
            </a:r>
          </a:p>
        </p:txBody>
      </p:sp>
      <p:sp>
        <p:nvSpPr>
          <p:cNvPr id="5" name="TextBox 4"/>
          <p:cNvSpPr txBox="1"/>
          <p:nvPr/>
        </p:nvSpPr>
        <p:spPr>
          <a:xfrm>
            <a:off x="502920" y="630936"/>
            <a:ext cx="11155680" cy="566928"/>
          </a:xfrm>
          <a:prstGeom prst="rect">
            <a:avLst/>
          </a:prstGeom>
          <a:noFill/>
        </p:spPr>
        <p:txBody>
          <a:bodyPr wrap="square" lIns="0" tIns="0" rIns="0" bIns="0" anchor="t">
            <a:spAutoFit/>
          </a:bodyPr>
          <a:lstStyle/>
          <a:p>
            <a:pPr algn="l">
              <a:lnSpc>
                <a:spcPts val="3158"/>
              </a:lnSpc>
              <a:spcAft>
                <a:spcPts val="300"/>
              </a:spcAft>
            </a:pPr>
            <a:r>
              <a:rPr sz="2700" b="1" i="0">
                <a:solidFill>
                  <a:srgbClr val="FFFFFF"/>
                </a:solidFill>
                <a:latin typeface="Inter"/>
              </a:rPr>
              <a:t>Kết luận: cái quan trọng là chuỗi quyết định</a:t>
            </a:r>
          </a:p>
        </p:txBody>
      </p:sp>
      <p:sp>
        <p:nvSpPr>
          <p:cNvPr id="6" name="TextBox 5"/>
          <p:cNvSpPr txBox="1"/>
          <p:nvPr/>
        </p:nvSpPr>
        <p:spPr>
          <a:xfrm>
            <a:off x="521207" y="1252728"/>
            <a:ext cx="10972800" cy="475488"/>
          </a:xfrm>
          <a:prstGeom prst="rect">
            <a:avLst/>
          </a:prstGeom>
          <a:noFill/>
        </p:spPr>
        <p:txBody>
          <a:bodyPr wrap="square" lIns="0" tIns="0" rIns="0" bIns="0" anchor="t">
            <a:spAutoFit/>
          </a:bodyPr>
          <a:lstStyle/>
          <a:p>
            <a:pPr algn="l">
              <a:lnSpc>
                <a:spcPts val="1345"/>
              </a:lnSpc>
              <a:spcAft>
                <a:spcPts val="300"/>
              </a:spcAft>
            </a:pPr>
            <a:r>
              <a:rPr sz="1150" b="0" i="0">
                <a:solidFill>
                  <a:srgbClr val="B1D7C7"/>
                </a:solidFill>
                <a:latin typeface="Inter"/>
              </a:rPr>
              <a:t>Ứng dụng thay đổi vì người thiết kế đặt câu hỏi, đưa ý kiến, thử và buộc AI sửa.</a:t>
            </a:r>
          </a:p>
        </p:txBody>
      </p:sp>
      <p:sp>
        <p:nvSpPr>
          <p:cNvPr id="7" name="Rectangle 6"/>
          <p:cNvSpPr/>
          <p:nvPr/>
        </p:nvSpPr>
        <p:spPr>
          <a:xfrm>
            <a:off x="502920" y="6519672"/>
            <a:ext cx="11155680" cy="10972"/>
          </a:xfrm>
          <a:prstGeom prst="rect">
            <a:avLst/>
          </a:prstGeom>
          <a:solidFill>
            <a:srgbClr val="37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7" y="6583680"/>
            <a:ext cx="5486400" cy="137160"/>
          </a:xfrm>
          <a:prstGeom prst="rect">
            <a:avLst/>
          </a:prstGeom>
          <a:noFill/>
        </p:spPr>
        <p:txBody>
          <a:bodyPr wrap="square" lIns="0" tIns="0" rIns="0" bIns="0" anchor="t">
            <a:spAutoFit/>
          </a:bodyPr>
          <a:lstStyle/>
          <a:p>
            <a:pPr algn="l">
              <a:lnSpc>
                <a:spcPts val="936"/>
              </a:lnSpc>
              <a:spcAft>
                <a:spcPts val="300"/>
              </a:spcAft>
            </a:pPr>
            <a:r>
              <a:rPr sz="800" b="0" i="0">
                <a:solidFill>
                  <a:srgbClr val="7BA99B"/>
                </a:solidFill>
                <a:latin typeface="Inter"/>
              </a:rPr>
              <a:t>HOBBY TRACKER  /  PROCESS CASE STUDY</a:t>
            </a:r>
          </a:p>
        </p:txBody>
      </p:sp>
      <p:sp>
        <p:nvSpPr>
          <p:cNvPr id="9" name="TextBox 8"/>
          <p:cNvSpPr txBox="1"/>
          <p:nvPr/>
        </p:nvSpPr>
        <p:spPr>
          <a:xfrm>
            <a:off x="11292840" y="6547104"/>
            <a:ext cx="365760" cy="173736"/>
          </a:xfrm>
          <a:prstGeom prst="rect">
            <a:avLst/>
          </a:prstGeom>
          <a:noFill/>
        </p:spPr>
        <p:txBody>
          <a:bodyPr wrap="square" lIns="0" tIns="0" rIns="0" bIns="0" anchor="t">
            <a:spAutoFit/>
          </a:bodyPr>
          <a:lstStyle/>
          <a:p>
            <a:pPr algn="r">
              <a:lnSpc>
                <a:spcPts val="1053"/>
              </a:lnSpc>
              <a:spcAft>
                <a:spcPts val="300"/>
              </a:spcAft>
            </a:pPr>
            <a:r>
              <a:rPr sz="900" b="0" i="0">
                <a:solidFill>
                  <a:srgbClr val="9ABDAE"/>
                </a:solidFill>
                <a:latin typeface="Inter"/>
              </a:rPr>
              <a:t>71</a:t>
            </a:r>
          </a:p>
        </p:txBody>
      </p:sp>
      <p:sp>
        <p:nvSpPr>
          <p:cNvPr id="10" name="Rounded Rectangle 9"/>
          <p:cNvSpPr/>
          <p:nvPr/>
        </p:nvSpPr>
        <p:spPr>
          <a:xfrm>
            <a:off x="786384" y="1837943"/>
            <a:ext cx="10543032" cy="758952"/>
          </a:xfrm>
          <a:prstGeom prst="roundRect">
            <a:avLst>
              <a:gd name="adj" fmla="val 9000"/>
            </a:avLst>
          </a:prstGeom>
          <a:solidFill>
            <a:srgbClr val="174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6696" y="2066543"/>
            <a:ext cx="429768" cy="256032"/>
          </a:xfrm>
          <a:prstGeom prst="rect">
            <a:avLst/>
          </a:prstGeom>
          <a:noFill/>
        </p:spPr>
        <p:txBody>
          <a:bodyPr wrap="square" lIns="0" tIns="0" rIns="0" bIns="0" anchor="t">
            <a:spAutoFit/>
          </a:bodyPr>
          <a:lstStyle/>
          <a:p>
            <a:pPr algn="l">
              <a:lnSpc>
                <a:spcPts val="1521"/>
              </a:lnSpc>
              <a:spcAft>
                <a:spcPts val="300"/>
              </a:spcAft>
            </a:pPr>
            <a:r>
              <a:rPr sz="1300" b="1" i="0">
                <a:solidFill>
                  <a:srgbClr val="EFAD62"/>
                </a:solidFill>
                <a:latin typeface="Inter"/>
              </a:rPr>
              <a:t>01</a:t>
            </a:r>
          </a:p>
        </p:txBody>
      </p:sp>
      <p:sp>
        <p:nvSpPr>
          <p:cNvPr id="12" name="TextBox 11"/>
          <p:cNvSpPr txBox="1"/>
          <p:nvPr/>
        </p:nvSpPr>
        <p:spPr>
          <a:xfrm>
            <a:off x="1664208" y="2002536"/>
            <a:ext cx="9317736" cy="502920"/>
          </a:xfrm>
          <a:prstGeom prst="rect">
            <a:avLst/>
          </a:prstGeom>
          <a:noFill/>
        </p:spPr>
        <p:txBody>
          <a:bodyPr wrap="square" lIns="0" tIns="0" rIns="0" bIns="0" anchor="t">
            <a:spAutoFit/>
          </a:bodyPr>
          <a:lstStyle/>
          <a:p>
            <a:pPr algn="l">
              <a:lnSpc>
                <a:spcPts val="1989"/>
              </a:lnSpc>
              <a:spcAft>
                <a:spcPts val="300"/>
              </a:spcAft>
            </a:pPr>
            <a:r>
              <a:rPr sz="1700" b="0" i="0">
                <a:solidFill>
                  <a:srgbClr val="FFFFFF"/>
                </a:solidFill>
                <a:latin typeface="Inter"/>
              </a:rPr>
              <a:t>Không bắt đầu bằng giao diện — bắt đầu bằng vấn đề của sinh viên.</a:t>
            </a:r>
          </a:p>
        </p:txBody>
      </p:sp>
      <p:sp>
        <p:nvSpPr>
          <p:cNvPr id="13" name="Rounded Rectangle 12"/>
          <p:cNvSpPr/>
          <p:nvPr/>
        </p:nvSpPr>
        <p:spPr>
          <a:xfrm>
            <a:off x="786384" y="2752344"/>
            <a:ext cx="10543032" cy="758952"/>
          </a:xfrm>
          <a:prstGeom prst="roundRect">
            <a:avLst>
              <a:gd name="adj" fmla="val 9000"/>
            </a:avLst>
          </a:prstGeom>
          <a:solidFill>
            <a:srgbClr val="174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6696" y="2980944"/>
            <a:ext cx="429768" cy="256032"/>
          </a:xfrm>
          <a:prstGeom prst="rect">
            <a:avLst/>
          </a:prstGeom>
          <a:noFill/>
        </p:spPr>
        <p:txBody>
          <a:bodyPr wrap="square" lIns="0" tIns="0" rIns="0" bIns="0" anchor="t">
            <a:spAutoFit/>
          </a:bodyPr>
          <a:lstStyle/>
          <a:p>
            <a:pPr algn="l">
              <a:lnSpc>
                <a:spcPts val="1521"/>
              </a:lnSpc>
              <a:spcAft>
                <a:spcPts val="300"/>
              </a:spcAft>
            </a:pPr>
            <a:r>
              <a:rPr sz="1300" b="1" i="0">
                <a:solidFill>
                  <a:srgbClr val="EFAD62"/>
                </a:solidFill>
                <a:latin typeface="Inter"/>
              </a:rPr>
              <a:t>02</a:t>
            </a:r>
          </a:p>
        </p:txBody>
      </p:sp>
      <p:sp>
        <p:nvSpPr>
          <p:cNvPr id="15" name="TextBox 14"/>
          <p:cNvSpPr txBox="1"/>
          <p:nvPr/>
        </p:nvSpPr>
        <p:spPr>
          <a:xfrm>
            <a:off x="1664208" y="2916936"/>
            <a:ext cx="9317736" cy="502920"/>
          </a:xfrm>
          <a:prstGeom prst="rect">
            <a:avLst/>
          </a:prstGeom>
          <a:noFill/>
        </p:spPr>
        <p:txBody>
          <a:bodyPr wrap="square" lIns="0" tIns="0" rIns="0" bIns="0" anchor="t">
            <a:spAutoFit/>
          </a:bodyPr>
          <a:lstStyle/>
          <a:p>
            <a:pPr algn="l">
              <a:lnSpc>
                <a:spcPts val="1989"/>
              </a:lnSpc>
              <a:spcAft>
                <a:spcPts val="300"/>
              </a:spcAft>
            </a:pPr>
            <a:r>
              <a:rPr sz="1700" b="0" i="0">
                <a:solidFill>
                  <a:srgbClr val="FFFFFF"/>
                </a:solidFill>
                <a:latin typeface="Inter"/>
              </a:rPr>
              <a:t>Không xem câu trả lời mô phỏng là chân lý — so sánh, chỉ ra giả thuyết.</a:t>
            </a:r>
          </a:p>
        </p:txBody>
      </p:sp>
      <p:sp>
        <p:nvSpPr>
          <p:cNvPr id="16" name="Rounded Rectangle 15"/>
          <p:cNvSpPr/>
          <p:nvPr/>
        </p:nvSpPr>
        <p:spPr>
          <a:xfrm>
            <a:off x="786384" y="3666744"/>
            <a:ext cx="10543032" cy="758952"/>
          </a:xfrm>
          <a:prstGeom prst="roundRect">
            <a:avLst>
              <a:gd name="adj" fmla="val 9000"/>
            </a:avLst>
          </a:prstGeom>
          <a:solidFill>
            <a:srgbClr val="174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6696" y="3895344"/>
            <a:ext cx="429768" cy="256032"/>
          </a:xfrm>
          <a:prstGeom prst="rect">
            <a:avLst/>
          </a:prstGeom>
          <a:noFill/>
        </p:spPr>
        <p:txBody>
          <a:bodyPr wrap="square" lIns="0" tIns="0" rIns="0" bIns="0" anchor="t">
            <a:spAutoFit/>
          </a:bodyPr>
          <a:lstStyle/>
          <a:p>
            <a:pPr algn="l">
              <a:lnSpc>
                <a:spcPts val="1521"/>
              </a:lnSpc>
              <a:spcAft>
                <a:spcPts val="300"/>
              </a:spcAft>
            </a:pPr>
            <a:r>
              <a:rPr sz="1300" b="1" i="0">
                <a:solidFill>
                  <a:srgbClr val="EFAD62"/>
                </a:solidFill>
                <a:latin typeface="Inter"/>
              </a:rPr>
              <a:t>03</a:t>
            </a:r>
          </a:p>
        </p:txBody>
      </p:sp>
      <p:sp>
        <p:nvSpPr>
          <p:cNvPr id="18" name="TextBox 17"/>
          <p:cNvSpPr txBox="1"/>
          <p:nvPr/>
        </p:nvSpPr>
        <p:spPr>
          <a:xfrm>
            <a:off x="1664208" y="3831335"/>
            <a:ext cx="9317736" cy="502920"/>
          </a:xfrm>
          <a:prstGeom prst="rect">
            <a:avLst/>
          </a:prstGeom>
          <a:noFill/>
        </p:spPr>
        <p:txBody>
          <a:bodyPr wrap="square" lIns="0" tIns="0" rIns="0" bIns="0" anchor="t">
            <a:spAutoFit/>
          </a:bodyPr>
          <a:lstStyle/>
          <a:p>
            <a:pPr algn="l">
              <a:lnSpc>
                <a:spcPts val="1989"/>
              </a:lnSpc>
              <a:spcAft>
                <a:spcPts val="300"/>
              </a:spcAft>
            </a:pPr>
            <a:r>
              <a:rPr sz="1700" b="0" i="0">
                <a:solidFill>
                  <a:srgbClr val="FFFFFF"/>
                </a:solidFill>
                <a:latin typeface="Inter"/>
              </a:rPr>
              <a:t>Không nhận mọi UI do AI đề xuất — bác catalog, sửa nút và icon.</a:t>
            </a:r>
          </a:p>
        </p:txBody>
      </p:sp>
      <p:sp>
        <p:nvSpPr>
          <p:cNvPr id="19" name="Rounded Rectangle 18"/>
          <p:cNvSpPr/>
          <p:nvPr/>
        </p:nvSpPr>
        <p:spPr>
          <a:xfrm>
            <a:off x="786384" y="4581144"/>
            <a:ext cx="10543032" cy="758952"/>
          </a:xfrm>
          <a:prstGeom prst="roundRect">
            <a:avLst>
              <a:gd name="adj" fmla="val 9000"/>
            </a:avLst>
          </a:prstGeom>
          <a:solidFill>
            <a:srgbClr val="174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6" y="4809744"/>
            <a:ext cx="429768" cy="256032"/>
          </a:xfrm>
          <a:prstGeom prst="rect">
            <a:avLst/>
          </a:prstGeom>
          <a:noFill/>
        </p:spPr>
        <p:txBody>
          <a:bodyPr wrap="square" lIns="0" tIns="0" rIns="0" bIns="0" anchor="t">
            <a:spAutoFit/>
          </a:bodyPr>
          <a:lstStyle/>
          <a:p>
            <a:pPr algn="l">
              <a:lnSpc>
                <a:spcPts val="1521"/>
              </a:lnSpc>
              <a:spcAft>
                <a:spcPts val="300"/>
              </a:spcAft>
            </a:pPr>
            <a:r>
              <a:rPr sz="1300" b="1" i="0">
                <a:solidFill>
                  <a:srgbClr val="EFAD62"/>
                </a:solidFill>
                <a:latin typeface="Inter"/>
              </a:rPr>
              <a:t>04</a:t>
            </a:r>
          </a:p>
        </p:txBody>
      </p:sp>
      <p:sp>
        <p:nvSpPr>
          <p:cNvPr id="21" name="TextBox 20"/>
          <p:cNvSpPr txBox="1"/>
          <p:nvPr/>
        </p:nvSpPr>
        <p:spPr>
          <a:xfrm>
            <a:off x="1664208" y="4745736"/>
            <a:ext cx="9317736" cy="502920"/>
          </a:xfrm>
          <a:prstGeom prst="rect">
            <a:avLst/>
          </a:prstGeom>
          <a:noFill/>
        </p:spPr>
        <p:txBody>
          <a:bodyPr wrap="square" lIns="0" tIns="0" rIns="0" bIns="0" anchor="t">
            <a:spAutoFit/>
          </a:bodyPr>
          <a:lstStyle/>
          <a:p>
            <a:pPr algn="l">
              <a:lnSpc>
                <a:spcPts val="1989"/>
              </a:lnSpc>
              <a:spcAft>
                <a:spcPts val="300"/>
              </a:spcAft>
            </a:pPr>
            <a:r>
              <a:rPr sz="1700" b="0" i="0">
                <a:solidFill>
                  <a:srgbClr val="FFFFFF"/>
                </a:solidFill>
                <a:latin typeface="Inter"/>
              </a:rPr>
              <a:t>Không dừng ở ảnh tĩnh — hợp nhất flow, test timer, chat, sign out và theme.</a:t>
            </a:r>
          </a:p>
        </p:txBody>
      </p:sp>
      <p:sp>
        <p:nvSpPr>
          <p:cNvPr id="22" name="TextBox 21"/>
          <p:cNvSpPr txBox="1"/>
          <p:nvPr/>
        </p:nvSpPr>
        <p:spPr>
          <a:xfrm>
            <a:off x="832104" y="5897880"/>
            <a:ext cx="10570464" cy="320040"/>
          </a:xfrm>
          <a:prstGeom prst="rect">
            <a:avLst/>
          </a:prstGeom>
          <a:noFill/>
        </p:spPr>
        <p:txBody>
          <a:bodyPr wrap="square" lIns="0" tIns="0" rIns="0" bIns="0" anchor="t">
            <a:spAutoFit/>
          </a:bodyPr>
          <a:lstStyle/>
          <a:p>
            <a:pPr algn="ctr">
              <a:lnSpc>
                <a:spcPts val="2340"/>
              </a:lnSpc>
              <a:spcAft>
                <a:spcPts val="300"/>
              </a:spcAft>
            </a:pPr>
            <a:r>
              <a:rPr sz="2000" b="1" i="0">
                <a:solidFill>
                  <a:srgbClr val="EFAD62"/>
                </a:solidFill>
                <a:latin typeface="Inter"/>
              </a:rPr>
              <a:t>HOBBY TRACKER  /  DESIGN FOR DOING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8948</Words>
  <Application>Microsoft Office PowerPoint</Application>
  <PresentationFormat>Widescreen</PresentationFormat>
  <Paragraphs>1124</Paragraphs>
  <Slides>70</Slides>
  <Notes>70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Hobby Tracker — Quá trình UX/UI cùng ChatGPT</dc:title>
  <dc:subject>Chronological student-led UX research and interaction design process</dc:subject>
  <dc:creator>Hobby Tracker</dc:creator>
  <cp:keywords>UX Research, persona, user flows, interface design, iteration</cp:keywords>
  <dc:description>generated using python-pptx</dc:description>
  <cp:lastModifiedBy>Thắng non</cp:lastModifiedBy>
  <cp:revision>2</cp:revision>
  <dcterms:created xsi:type="dcterms:W3CDTF">2013-01-27T09:14:16Z</dcterms:created>
  <dcterms:modified xsi:type="dcterms:W3CDTF">2026-10-13T22:13:27Z</dcterms:modified>
  <cp:category/>
</cp:coreProperties>
</file>