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625b40be6c2468b" /><Relationship Type="http://schemas.openxmlformats.org/officeDocument/2006/relationships/extended-properties" Target="/docProps/app.xml" Id="R7edfd138693a4494" /><Relationship Type="http://schemas.openxmlformats.org/officeDocument/2006/relationships/officeDocument" Target="/ppt/presentation.xml" Id="R804c31f077ab4b89" /></Relationships>
</file>

<file path=ppt/presentation.xml><?xml version="1.0" encoding="utf-8"?>
<p:presentation xmlns:p="http://schemas.openxmlformats.org/presentationml/2006/main">
  <p:sldMasterIdLst>
    <p:sldMasterId xmlns:r="http://schemas.openxmlformats.org/officeDocument/2006/relationships" id="2147483648" r:id="R940658573fab48db"/>
  </p:sldMasterIdLst>
  <p:notesMasterIdLst>
    <p:notesMasterId xmlns:r="http://schemas.openxmlformats.org/officeDocument/2006/relationships" r:id="R920ebe150eec4de0"/>
  </p:notesMasterIdLst>
  <p:sldIdLst>
    <p:sldId xmlns:r="http://schemas.openxmlformats.org/officeDocument/2006/relationships" id="256" r:id="R41af0654a63c43f0"/>
    <p:sldId xmlns:r="http://schemas.openxmlformats.org/officeDocument/2006/relationships" id="257" r:id="R2548267b036d42dc"/>
    <p:sldId xmlns:r="http://schemas.openxmlformats.org/officeDocument/2006/relationships" id="258" r:id="R53e9fc0f450b426d"/>
    <p:sldId xmlns:r="http://schemas.openxmlformats.org/officeDocument/2006/relationships" id="259" r:id="R774f93e2e37e4b75"/>
    <p:sldId xmlns:r="http://schemas.openxmlformats.org/officeDocument/2006/relationships" id="260" r:id="R1a1c0b180e574c7a"/>
    <p:sldId xmlns:r="http://schemas.openxmlformats.org/officeDocument/2006/relationships" id="261" r:id="R5acaa693a9c34647"/>
    <p:sldId xmlns:r="http://schemas.openxmlformats.org/officeDocument/2006/relationships" id="262" r:id="R3bbe290182454f6d"/>
    <p:sldId xmlns:r="http://schemas.openxmlformats.org/officeDocument/2006/relationships" id="263" r:id="R74d0120df3ad4c4c"/>
    <p:sldId xmlns:r="http://schemas.openxmlformats.org/officeDocument/2006/relationships" id="264" r:id="R40f2d98895074d48"/>
    <p:sldId xmlns:r="http://schemas.openxmlformats.org/officeDocument/2006/relationships" id="265" r:id="Rdb10290acf81467a"/>
    <p:sldId xmlns:r="http://schemas.openxmlformats.org/officeDocument/2006/relationships" id="266" r:id="R6364599b312949eb"/>
    <p:sldId xmlns:r="http://schemas.openxmlformats.org/officeDocument/2006/relationships" id="267" r:id="R9a74b4ac571f4182"/>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36dff5f867d4a67" /><Relationship Type="http://schemas.openxmlformats.org/officeDocument/2006/relationships/slideMaster" Target="/ppt/slideMasters/slideMaster1.xml" Id="R940658573fab48db" /><Relationship Type="http://schemas.openxmlformats.org/officeDocument/2006/relationships/notesMaster" Target="/ppt/notesMasters/notesMaster1.xml" Id="R920ebe150eec4de0" /><Relationship Type="http://schemas.openxmlformats.org/officeDocument/2006/relationships/presProps" Target="/ppt/presProps.xml" Id="Rb12b06d129ef4555" /><Relationship Type="http://schemas.openxmlformats.org/officeDocument/2006/relationships/tableStyles" Target="/ppt/tableStyles.xml" Id="Re52eb8dc45ef4a87" /><Relationship Type="http://schemas.openxmlformats.org/officeDocument/2006/relationships/slide" Target="/ppt/slides/slide1.xml" Id="R41af0654a63c43f0" /><Relationship Type="http://schemas.openxmlformats.org/officeDocument/2006/relationships/slide" Target="/ppt/slides/slide2.xml" Id="R2548267b036d42dc" /><Relationship Type="http://schemas.openxmlformats.org/officeDocument/2006/relationships/slide" Target="/ppt/slides/slide3.xml" Id="R53e9fc0f450b426d" /><Relationship Type="http://schemas.openxmlformats.org/officeDocument/2006/relationships/slide" Target="/ppt/slides/slide4.xml" Id="R774f93e2e37e4b75" /><Relationship Type="http://schemas.openxmlformats.org/officeDocument/2006/relationships/slide" Target="/ppt/slides/slide5.xml" Id="R1a1c0b180e574c7a" /><Relationship Type="http://schemas.openxmlformats.org/officeDocument/2006/relationships/slide" Target="/ppt/slides/slide6.xml" Id="R5acaa693a9c34647" /><Relationship Type="http://schemas.openxmlformats.org/officeDocument/2006/relationships/slide" Target="/ppt/slides/slide7.xml" Id="R3bbe290182454f6d" /><Relationship Type="http://schemas.openxmlformats.org/officeDocument/2006/relationships/slide" Target="/ppt/slides/slide8.xml" Id="R74d0120df3ad4c4c" /><Relationship Type="http://schemas.openxmlformats.org/officeDocument/2006/relationships/slide" Target="/ppt/slides/slide9.xml" Id="R40f2d98895074d48" /><Relationship Type="http://schemas.openxmlformats.org/officeDocument/2006/relationships/slide" Target="/ppt/slides/slide10.xml" Id="Rdb10290acf81467a" /><Relationship Type="http://schemas.openxmlformats.org/officeDocument/2006/relationships/slide" Target="/ppt/slides/slide11.xml" Id="R6364599b312949eb" /><Relationship Type="http://schemas.openxmlformats.org/officeDocument/2006/relationships/slide" Target="/ppt/slides/slide12.xml" Id="R9a74b4ac571f418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3fd7a1706e4b5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f5a80ecaa9b4c40" /><Relationship Type="http://schemas.openxmlformats.org/officeDocument/2006/relationships/notesMaster" Target="/ppt/notesMasters/notesMaster1.xml" Id="R5d014e1cd514459b" /></Relationships>
</file>

<file path=ppt/notesSlides/_rels/notesSlide2.xml.rels>&#65279;<?xml version="1.0" encoding="utf-8"?><Relationships xmlns="http://schemas.openxmlformats.org/package/2006/relationships"><Relationship Type="http://schemas.openxmlformats.org/officeDocument/2006/relationships/slide" Target="/ppt/slides/slide2.xml" Id="Rd2739139c3ce4e88" /><Relationship Type="http://schemas.openxmlformats.org/officeDocument/2006/relationships/notesMaster" Target="/ppt/notesMasters/notesMaster1.xml" Id="R3ec7db87cdb94f9f" /></Relationships>
</file>

<file path=ppt/notesSlides/_rels/notesSlide3.xml.rels>&#65279;<?xml version="1.0" encoding="utf-8"?><Relationships xmlns="http://schemas.openxmlformats.org/package/2006/relationships"><Relationship Type="http://schemas.openxmlformats.org/officeDocument/2006/relationships/slide" Target="/ppt/slides/slide3.xml" Id="R8d088bcbb3184359" /><Relationship Type="http://schemas.openxmlformats.org/officeDocument/2006/relationships/notesMaster" Target="/ppt/notesMasters/notesMaster1.xml" Id="R30805ca6610f47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d5d0d7edb06146bd" /><Relationship Type="http://schemas.openxmlformats.org/officeDocument/2006/relationships/notesMaster" Target="/ppt/notesMasters/notesMaster1.xml" Id="R5adc322301b34dd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bcaedcdc6ea46af" /><Relationship Type="http://schemas.openxmlformats.org/officeDocument/2006/relationships/notesMaster" Target="/ppt/notesMasters/notesMaster1.xml" Id="R476a88355cf645b4" /></Relationships>
</file>

<file path=ppt/notesSlides/_rels/notesSlide6.xml.rels>&#65279;<?xml version="1.0" encoding="utf-8"?><Relationships xmlns="http://schemas.openxmlformats.org/package/2006/relationships"><Relationship Type="http://schemas.openxmlformats.org/officeDocument/2006/relationships/slide" Target="/ppt/slides/slide6.xml" Id="Rf11e46583764467d" /><Relationship Type="http://schemas.openxmlformats.org/officeDocument/2006/relationships/notesMaster" Target="/ppt/notesMasters/notesMaster1.xml" Id="R7442f0bf18534976" /></Relationships>
</file>

<file path=ppt/notesSlides/_rels/notesSlide7.xml.rels>&#65279;<?xml version="1.0" encoding="utf-8"?><Relationships xmlns="http://schemas.openxmlformats.org/package/2006/relationships"><Relationship Type="http://schemas.openxmlformats.org/officeDocument/2006/relationships/slide" Target="/ppt/slides/slide7.xml" Id="R88e2a31fd23842a7" /><Relationship Type="http://schemas.openxmlformats.org/officeDocument/2006/relationships/notesMaster" Target="/ppt/notesMasters/notesMaster1.xml" Id="R121ed2b6a1a24f60" /></Relationships>
</file>

<file path=ppt/notesSlides/_rels/notesSlide8.xml.rels>&#65279;<?xml version="1.0" encoding="utf-8"?><Relationships xmlns="http://schemas.openxmlformats.org/package/2006/relationships"><Relationship Type="http://schemas.openxmlformats.org/officeDocument/2006/relationships/slide" Target="/ppt/slides/slide8.xml" Id="Rc0a53471d9eb4998" /><Relationship Type="http://schemas.openxmlformats.org/officeDocument/2006/relationships/notesMaster" Target="/ppt/notesMasters/notesMaster1.xml" Id="R2c5db82eb9ca4304" /></Relationships>
</file>

<file path=ppt/notesSlides/_rels/notesSlide9.xml.rels>&#65279;<?xml version="1.0" encoding="utf-8"?><Relationships xmlns="http://schemas.openxmlformats.org/package/2006/relationships"><Relationship Type="http://schemas.openxmlformats.org/officeDocument/2006/relationships/slide" Target="/ppt/slides/slide9.xml" Id="R3ced18e9f51641e6" /><Relationship Type="http://schemas.openxmlformats.org/officeDocument/2006/relationships/notesMaster" Target="/ppt/notesMasters/notesMaster1.xml" Id="Rcfc6d806bd894f4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70dae7858af45dc" /><Relationship Type="http://schemas.openxmlformats.org/officeDocument/2006/relationships/notesMaster" Target="/ppt/notesMasters/notesMaster1.xml" Id="R2b8da1d6287541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346ba4067c34c7f" /><Relationship Type="http://schemas.openxmlformats.org/officeDocument/2006/relationships/notesMaster" Target="/ppt/notesMasters/notesMaster1.xml" Id="R2c37771327c84dc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58a4aaf533c4df2" /><Relationship Type="http://schemas.openxmlformats.org/officeDocument/2006/relationships/notesMaster" Target="/ppt/notesMasters/notesMaster1.xml" Id="R0bb9421e49024b1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1 · 40 giây</a:t>
            </a:r>
          </a:p>
          <a:p xmlns:a="http://schemas.openxmlformats.org/drawingml/2006/main">
            <a:r>
              <a:t/>
            </a:r>
          </a:p>
          <a:p xmlns:a="http://schemas.openxmlformats.org/drawingml/2006/main">
            <a:r>
              <a:t>Chào thầy cô và các bạn. Nhóm chúng em trình bày Fetch Timer, một ứng dụng giúp người dùng dành thời gian cho sở thích. Bài trình bày hôm nay tập trung vào cách nhóm phát triển thiết kế: xác định nhu cầu, dùng AI để hỗ trợ phân tích, dùng Stitch để tạo giao diện, rồi đưa thiết kế vào Figma để chỉnh sửa và chuẩn bị prototype. Qua ba luồng chính, chúng em sẽ giải thích lý do chọn màn hình và cách kiểm tra trải nghiệm. Phần cuối là demo để người xem hình dung các thao tác của sản phẩm.</a:t>
            </a:r>
          </a:p>
          <a:p xmlns:a="http://schemas.openxmlformats.org/drawingml/2006/main">
            <a:r>
              <a:t/>
            </a:r>
          </a:p>
          <a:p xmlns:a="http://schemas.openxmlformats.org/drawingml/2006/main">
            <a:r>
              <a:t>Nguồn nội dung: PDF Lab 2, DOCX hướng dẫn thuyết trình, persona(1).md, tài nguyên Stitch do người dùng cung cấp, Figma g4p29ANokap1mBOCWq9AJC và Serene_Prototype.html. Các ZIP là nguồn tham khảo thiết kế, không phải các vòng cải tiến AI. Ví dụ prompt trên slide 5 là nội dung minh họa mới. Phát hiện/hướng sửa không phải xác nhận đã sửa Figma; xem hướng dẫn minh chứng và checklist để biết mức kiểm chứng.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1 · 60 giây</a:t>
            </a:r>
          </a:p>
          <a:p xmlns:a="http://schemas.openxmlformats.org/drawingml/2006/main">
            <a:r>
              <a:t/>
            </a:r>
          </a:p>
          <a:p xmlns:a="http://schemas.openxmlformats.org/drawingml/2006/main">
            <a:r>
              <a:t>Ví dụ người dùng của chúng em là một sinh viên muốn luyện guitar nhưng lịch học thường thay đổi. Từ nhu cầu đó, nhóm giữ ba nhiệm vụ chính. Thứ nhất, người dùng vào Home để tạo hobby, đặt lịch và xem hoạt động theo ngày. Thứ hai, người dùng chọn hobby để bắt đầu một phiên Focus có đồng hồ đếm giờ. Thứ ba, người dùng chia sẻ sở thích, tìm cộng đồng phù hợp và tham gia thử thách. Ví dụ này giúp nhóm kiểm tra thiết kế bằng câu hỏi cụ thể: người dùng có biết bắt đầu từ đâu, bước tiếp theo là gì và thao tác vừa làm đã thành công chưa? Persona trong tài liệu là giả định thiết kế, chưa phải kết quả phỏng vấn thực tế.</a:t>
            </a:r>
          </a:p>
          <a:p xmlns:a="http://schemas.openxmlformats.org/drawingml/2006/main">
            <a:r>
              <a:t/>
            </a:r>
          </a:p>
          <a:p xmlns:a="http://schemas.openxmlformats.org/drawingml/2006/main">
            <a:r>
              <a:t>Nguồn nội dung: PDF Lab 2, DOCX hướng dẫn thuyết trình, persona(1).md, tài nguyên Stitch do người dùng cung cấp, Figma g4p29ANokap1mBOCWq9AJC và Serene_Prototype.html. Các ZIP là nguồn tham khảo thiết kế, không phải các vòng cải tiến AI. Ví dụ prompt trên slide 5 là nội dung minh họa mới. Phát hiện/hướng sửa không phải xác nhận đã sửa Figma; xem hướng dẫn minh chứng và checklist để biết mức kiểm chứng.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1 · 50 giây</a:t>
            </a:r>
          </a:p>
          <a:p xmlns:a="http://schemas.openxmlformats.org/drawingml/2006/main">
            <a:r>
              <a:t/>
            </a:r>
          </a:p>
          <a:p xmlns:a="http://schemas.openxmlformats.org/drawingml/2006/main">
            <a:r>
              <a:t>Nhóm phân biệt vai trò của từng công cụ. ChatGPT hoặc Codex hỗ trợ diễn đạt yêu cầu, xem lại luồng và gợi ý những chỗ cần kiểm tra. Google Stitch hỗ trợ tạo các phương án giao diện từ mô tả. Figma là nơi tập hợp và chỉnh thiết kế, sau đó nối các màn thành một mô hình có thể bấm thử. Trong chuỗi này, nhóm vẫn phải quyết định sản phẩm cần gì, phương án nào phù hợp và lỗi nào cần sửa. Vì vậy, khi trình bày, chúng em giải thích cả yêu cầu đầu vào lẫn cách đánh giá đầu ra. AI giúp có phương án để xem xét; chất lượng cuối cùng phụ thuộc vào việc nhóm kiểm tra thiết kế.</a:t>
            </a:r>
          </a:p>
          <a:p xmlns:a="http://schemas.openxmlformats.org/drawingml/2006/main">
            <a:r>
              <a:t/>
            </a:r>
          </a:p>
          <a:p xmlns:a="http://schemas.openxmlformats.org/drawingml/2006/main">
            <a:r>
              <a:t>Nguồn nội dung: PDF Lab 2, DOCX hướng dẫn thuyết trình, persona(1).md, tài nguyên Stitch do người dùng cung cấp, Figma g4p29ANokap1mBOCWq9AJC và Serene_Prototype.html. Các ZIP là nguồn tham khảo thiết kế, không phải các vòng cải tiến AI. Ví dụ prompt trên slide 5 là nội dung minh họa mới. Phát hiện/hướng sửa không phải xác nhận đã sửa Figma; xem hướng dẫn minh chứng và checklist để biết mức kiểm chứng.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2 · 50 giây</a:t>
            </a:r>
          </a:p>
          <a:p xmlns:a="http://schemas.openxmlformats.org/drawingml/2006/main">
            <a:r>
              <a:t/>
            </a:r>
          </a:p>
          <a:p xmlns:a="http://schemas.openxmlformats.org/drawingml/2006/main">
            <a:r>
              <a:t>Trước khi yêu cầu AI tạo giao diện, nhóm cần chuyển ý tưởng thành các nhiệm vụ cụ thể. Với luồng tạo hobby, người dùng phải nhập gì và sau khi lưu sẽ thấy gì? Với Focus, đồng hồ có những trạng thái nào? Với cộng đồng, trạng thái tham gia cần hiển thị ra sao? Nhóm dùng persona và sơ đồ luồng để trả lời các câu hỏi này. Chúng em cũng tính đến trường hợp chưa có hobby, nhập thiếu thông tin hoặc muốn quay lại. Đây là đầu vào cho Stitch và là tiêu chí kiểm tra về sau. Nếu yêu cầu chỉ dừng ở câu tạo một app đẹp, giao diện có thể hấp dẫn nhưng chưa hỗ trợ đầy đủ nhiệm vụ của người dùng.</a:t>
            </a:r>
          </a:p>
          <a:p xmlns:a="http://schemas.openxmlformats.org/drawingml/2006/main">
            <a:r>
              <a:t/>
            </a:r>
          </a:p>
          <a:p xmlns:a="http://schemas.openxmlformats.org/drawingml/2006/main">
            <a:r>
              <a:t>Nguồn nội dung: PDF Lab 2, DOCX hướng dẫn thuyết trình, persona(1).md, tài nguyên Stitch do người dùng cung cấp, Figma g4p29ANokap1mBOCWq9AJC và Serene_Prototype.html. Các ZIP là nguồn tham khảo thiết kế, không phải các vòng cải tiến AI. Ví dụ prompt trên slide 5 là nội dung minh họa mới. Phát hiện/hướng sửa không phải xác nhận đã sửa Figma; xem hướng dẫn minh chứng và checklist để biết mức kiểm chứng.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2 · 55 giây</a:t>
            </a:r>
          </a:p>
          <a:p xmlns:a="http://schemas.openxmlformats.org/drawingml/2006/main">
            <a:r>
              <a:t/>
            </a:r>
          </a:p>
          <a:p xmlns:a="http://schemas.openxmlformats.org/drawingml/2006/main">
            <a:r>
              <a:t>Ở bước làm việc với Stitch, nhóm cần viết yêu cầu có cấu trúc. Một yêu cầu nên nói rõ mục tiêu màn hình, thông tin cần xuất hiện, thao tác chính và tình huống lỗi. Trên slide là ví dụ minh họa: thiết kế màn tạo hobby cho sinh viên, có tên, mục tiêu và lịch; làm rõ nút Lưu và báo khi chưa nhập tên. Nhóm có thể bổ sung phong cách nhẹ nhàng, chữ dễ đọc và cách điều hướng. Điểm quan trọng là AI phải hiểu hành động người dùng cần hoàn thành. Ví dụ này được soạn để giải thích phương pháp, không được nhận là prompt gốc của dự án. Prompt thật và đầu ra tương ứng cần được lưu trong nhật ký minh chứng.</a:t>
            </a:r>
          </a:p>
          <a:p xmlns:a="http://schemas.openxmlformats.org/drawingml/2006/main">
            <a:r>
              <a:t/>
            </a:r>
          </a:p>
          <a:p xmlns:a="http://schemas.openxmlformats.org/drawingml/2006/main">
            <a:r>
              <a:t>Nguồn nội dung: PDF Lab 2, DOCX hướng dẫn thuyết trình, persona(1).md, tài nguyên Stitch do người dùng cung cấp, Figma g4p29ANokap1mBOCWq9AJC và Serene_Prototype.html. Các ZIP là nguồn tham khảo thiết kế, không phải các vòng cải tiến AI. Ví dụ prompt trên slide 5 là nội dung minh họa mới. Phát hiện/hướng sửa không phải xác nhận đã sửa Figma; xem hướng dẫn minh chứng và checklist để biết mức kiểm chứng.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2 · 45 giây</a:t>
            </a:r>
          </a:p>
          <a:p xmlns:a="http://schemas.openxmlformats.org/drawingml/2006/main">
            <a:r>
              <a:t/>
            </a:r>
          </a:p>
          <a:p xmlns:a="http://schemas.openxmlformats.org/drawingml/2006/main">
            <a:r>
              <a:t>Khi đã có yêu cầu rõ, nhóm tổ chức giao diện theo ba luồng thay vì xem từng màn riêng lẻ. Nhóm màn thứ nhất hỗ trợ tạo hobby và xem lịch ngày. Nhóm thứ hai hỗ trợ thiết lập phiên, đếm giờ và tổng kết. Nhóm thứ ba hỗ trợ chia sẻ, tìm nhóm và tham gia thử thách. Các bản xuất Stitch được cung cấp là nguồn tham khảo cho các màn này. Khi đánh giá, nhóm cần kiểm tra tên gọi, màu sắc và cách điều hướng có thống nhất giữa các màn không. Đồng thời, cần xem người dùng có thể đi từ điểm bắt đầu đến kết quả và có đường quay lại khi thao tác nhầm hay không.</a:t>
            </a:r>
          </a:p>
          <a:p xmlns:a="http://schemas.openxmlformats.org/drawingml/2006/main">
            <a:r>
              <a:t/>
            </a:r>
          </a:p>
          <a:p xmlns:a="http://schemas.openxmlformats.org/drawingml/2006/main">
            <a:r>
              <a:t>Nguồn nội dung: PDF Lab 2, DOCX hướng dẫn thuyết trình, persona(1).md, tài nguyên Stitch do người dùng cung cấp, Figma g4p29ANokap1mBOCWq9AJC và Serene_Prototype.html. Các ZIP là nguồn tham khảo thiết kế, không phải các vòng cải tiến AI. Ví dụ prompt trên slide 5 là nội dung minh họa mới. Phát hiện/hướng sửa không phải xác nhận đã sửa Figma; xem hướng dẫn minh chứng và checklist để biết mức kiểm chứng.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3 · 55 giây</a:t>
            </a:r>
          </a:p>
          <a:p xmlns:a="http://schemas.openxmlformats.org/drawingml/2006/main">
            <a:r>
              <a:t/>
            </a:r>
          </a:p>
          <a:p xmlns:a="http://schemas.openxmlformats.org/drawingml/2006/main">
            <a:r>
              <a:t>Sau khi AI tạo UI, nhóm cần đọc kết quả như một người dùng đang làm nhiệm vụ. Chúng em ưu tiên các vấn đề ảnh hưởng trực tiếp đến thao tác: chữ có dễ đọc không, ngày được chọn có rõ không, và kết quả của Focus có phản ánh thời gian thực tế không? Trong tài liệu đã có các phát hiện như chữ nhỏ ở bản nguồn, ảnh chưa đầy đủ và chữ chồng trong một số màn Figma. Nhóm ghi lại vấn đề, lý do cần sửa và cách xử lý dự kiến. Chúng em không coi một gợi ý sửa là bằng chứng đã sửa xong. Sau mỗi thay đổi, cần xem lại cùng màn hình và chạy lại tình huống để xác nhận hiệu quả.</a:t>
            </a:r>
          </a:p>
          <a:p xmlns:a="http://schemas.openxmlformats.org/drawingml/2006/main">
            <a:r>
              <a:t/>
            </a:r>
          </a:p>
          <a:p xmlns:a="http://schemas.openxmlformats.org/drawingml/2006/main">
            <a:r>
              <a:t>Nguồn nội dung: PDF Lab 2, DOCX hướng dẫn thuyết trình, persona(1).md, tài nguyên Stitch do người dùng cung cấp, Figma g4p29ANokap1mBOCWq9AJC và Serene_Prototype.html. Các ZIP là nguồn tham khảo thiết kế, không phải các vòng cải tiến AI. Ví dụ prompt trên slide 5 là nội dung minh họa mới. Phát hiện/hướng sửa không phải xác nhận đã sửa Figma; xem hướng dẫn minh chứng và checklist để biết mức kiểm chứng.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3 · 50 giây</a:t>
            </a:r>
          </a:p>
          <a:p xmlns:a="http://schemas.openxmlformats.org/drawingml/2006/main">
            <a:r>
              <a:t/>
            </a:r>
          </a:p>
          <a:p xmlns:a="http://schemas.openxmlformats.org/drawingml/2006/main">
            <a:r>
              <a:t>Figma giúp nhóm đặt các màn hình cạnh nhau để dễ kiểm tra tính thống nhất. File hiện tại đã có các khu vực như Lịch trình, Tập trung và Cộng đồng. Từ đó, công việc hoàn thiện là rà soát nội dung, căn chỉnh bố cục và kiểm tra lại ảnh, chữ. Nhóm cũng cần phân biệt một ảnh giao diện được đặt vào Figma với một thiết kế có lớp và thành phần chỉnh sửa được. Khi nối tương tác, mỗi màn phải có vai trò rõ trong luồng. Việc có đủ hình màn hình mới là một phần công việc; nhóm còn phải bảo đảm chúng tạo thành một hành trình dễ hiểu và có thể bấm thử.</a:t>
            </a:r>
          </a:p>
          <a:p xmlns:a="http://schemas.openxmlformats.org/drawingml/2006/main">
            <a:r>
              <a:t/>
            </a:r>
          </a:p>
          <a:p xmlns:a="http://schemas.openxmlformats.org/drawingml/2006/main">
            <a:r>
              <a:t>Nguồn nội dung: PDF Lab 2, DOCX hướng dẫn thuyết trình, persona(1).md, tài nguyên Stitch do người dùng cung cấp, Figma g4p29ANokap1mBOCWq9AJC và Serene_Prototype.html. Các ZIP là nguồn tham khảo thiết kế, không phải các vòng cải tiến AI. Ví dụ prompt trên slide 5 là nội dung minh họa mới. Phát hiện/hướng sửa không phải xác nhận đã sửa Figma; xem hướng dẫn minh chứng và checklist để biết mức kiểm chứng.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3 · 45 giây</a:t>
            </a:r>
          </a:p>
          <a:p xmlns:a="http://schemas.openxmlformats.org/drawingml/2006/main">
            <a:r>
              <a:t/>
            </a:r>
          </a:p>
          <a:p xmlns:a="http://schemas.openxmlformats.org/drawingml/2006/main">
            <a:r>
              <a:t>Sau khi có bố cục phù hợp, nhóm cần làm cho các màn dùng chung một ngôn ngữ giao diện. Một nút Lưu không nên đổi màu hoặc đổi hình dạng tùy màn nếu vai trò không đổi. Ô nhập cần thể hiện được khi đang nhập hoặc có lỗi. Mục điều hướng đang chọn phải đủ rõ để người dùng biết mình ở đâu. Trong Figma, component là một thành phần có thể dùng lại, còn token là một giá trị chung như màu hoặc cỡ chữ. Tài liệu thiết kế mô tả các quy tắc này để nhóm đối chiếu và áp dụng. Việc chuẩn hóa trong Figma cần được kiểm tra trực tiếp, không chỉ dựa vào hình chụp.</a:t>
            </a:r>
          </a:p>
          <a:p xmlns:a="http://schemas.openxmlformats.org/drawingml/2006/main">
            <a:r>
              <a:t/>
            </a:r>
          </a:p>
          <a:p xmlns:a="http://schemas.openxmlformats.org/drawingml/2006/main">
            <a:r>
              <a:t>Nguồn nội dung: PDF Lab 2, DOCX hướng dẫn thuyết trình, persona(1).md, tài nguyên Stitch do người dùng cung cấp, Figma g4p29ANokap1mBOCWq9AJC và Serene_Prototype.html. Các ZIP là nguồn tham khảo thiết kế, không phải các vòng cải tiến AI. Ví dụ prompt trên slide 5 là nội dung minh họa mới. Phát hiện/hướng sửa không phải xác nhận đã sửa Figma; xem hướng dẫn minh chứng và checklist để biết mức kiểm chứng.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4 · 50 giây</a:t>
            </a:r>
          </a:p>
          <a:p xmlns:a="http://schemas.openxmlformats.org/drawingml/2006/main">
            <a:r>
              <a:t/>
            </a:r>
          </a:p>
          <a:p xmlns:a="http://schemas.openxmlformats.org/drawingml/2006/main">
            <a:r>
              <a:t>UI mô tả màn hình trông như thế nào. Prototype cho thấy người dùng bấm vào đâu và đi đến đâu. Nhóm nối nút chính, đường quay lại và những phản hồi cần thiết. Ví dụ, sau khi tạo hobby, người dùng cần thấy hobby vừa tạo; sau khi tham gia nhóm, trạng thái tham gia cần thay đổi. Nhóm cũng kiểm tra trường hợp nhập thiếu hoặc tạm dừng Focus. Bản HTML có thể dùng để minh họa thêm nhưng có dữ liệu mô phỏng và giới hạn riêng. Khi thuyết trình, chúng em chỉ thao tác những phần đã thử trước buổi trình bày, đồng thời phân biệt điều đã chạy được với hành vi đang được mô tả trong đặc tả.</a:t>
            </a:r>
          </a:p>
          <a:p xmlns:a="http://schemas.openxmlformats.org/drawingml/2006/main">
            <a:r>
              <a:t/>
            </a:r>
          </a:p>
          <a:p xmlns:a="http://schemas.openxmlformats.org/drawingml/2006/main">
            <a:r>
              <a:t>Nguồn nội dung: PDF Lab 2, DOCX hướng dẫn thuyết trình, persona(1).md, tài nguyên Stitch do người dùng cung cấp, Figma g4p29ANokap1mBOCWq9AJC và Serene_Prototype.html. Các ZIP là nguồn tham khảo thiết kế, không phải các vòng cải tiến AI. Ví dụ prompt trên slide 5 là nội dung minh họa mới. Phát hiện/hướng sửa không phải xác nhận đã sửa Figma; xem hướng dẫn minh chứng và checklist để biết mức kiểm chứng.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4 · 55 giây</a:t>
            </a:r>
          </a:p>
          <a:p xmlns:a="http://schemas.openxmlformats.org/drawingml/2006/main">
            <a:r>
              <a:t/>
            </a:r>
          </a:p>
          <a:p xmlns:a="http://schemas.openxmlformats.org/drawingml/2006/main">
            <a:r>
              <a:t>Phần demo dùng cùng ví dụ Guitar để người xem không phải học một tình huống mới ở mỗi luồng. Đầu tiên, chúng em tạo hobby, chọn lịch và mở đúng ngày đã đặt. Tiếp theo, chúng em chọn Guitar để chạy Focus, minh họa tạm dừng rồi xem tổng kết. Cuối cùng, chúng em đi vào cộng đồng để chia sẻ, tìm nhóm và xem bước tham gia thử thách. Mỗi thao tác cần có lời giải thích ngắn: hiện tại đang ở đâu, bấm gì và mong đợi điều gì xuất hiện. Trước buổi trình bày, nhóm phải thử các đường bấm. Nếu một tương tác chưa chạy được, nhóm sẽ nói rõ đó là hành vi thiết kế dự kiến và dùng đặc tả để giải thích.</a:t>
            </a:r>
          </a:p>
          <a:p xmlns:a="http://schemas.openxmlformats.org/drawingml/2006/main">
            <a:r>
              <a:t/>
            </a:r>
          </a:p>
          <a:p xmlns:a="http://schemas.openxmlformats.org/drawingml/2006/main">
            <a:r>
              <a:t>Nguồn nội dung: PDF Lab 2, DOCX hướng dẫn thuyết trình, persona(1).md, tài nguyên Stitch do người dùng cung cấp, Figma g4p29ANokap1mBOCWq9AJC và Serene_Prototype.html. Các ZIP là nguồn tham khảo thiết kế, không phải các vòng cải tiến AI. Ví dụ prompt trên slide 5 là nội dung minh họa mới. Phát hiện/hướng sửa không phải xác nhận đã sửa Figma; xem hướng dẫn minh chứng và checklist để biết mức kiểm chứng.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4 · 45 giây</a:t>
            </a:r>
          </a:p>
          <a:p xmlns:a="http://schemas.openxmlformats.org/drawingml/2006/main">
            <a:r>
              <a:t/>
            </a:r>
          </a:p>
          <a:p xmlns:a="http://schemas.openxmlformats.org/drawingml/2006/main">
            <a:r>
              <a:t>Thư mục minh chứng giúp người xem hiểu lý do phía sau thiết kế. Persona và sơ đồ luồng giải thích nhu cầu. Nhật ký AI và tài liệu phản biện giải thích yêu cầu, vấn đề và quyết định. Đặc tả màn hình cùng tài liệu bàn giao giúp người phát triển hiểu hành vi cần làm. Nhóm chỉ mở file liên quan đến câu hỏi, không đọc cả thư mục trên sân khấu. Bài học của quá trình này là cần viết yêu cầu rõ, kiểm tra đầu ra và giữ lại bằng chứng của các quyết định. Hiện bộ nguồn chưa có đủ prompt lịch sử và các cặp trước sau để xác nhận toàn bộ vòng cải tiến; phần này được ghi rõ trong hướng dẫn. Chúng em xin chuyển sang demo ba luồng.</a:t>
            </a:r>
          </a:p>
          <a:p xmlns:a="http://schemas.openxmlformats.org/drawingml/2006/main">
            <a:r>
              <a:t/>
            </a:r>
          </a:p>
          <a:p xmlns:a="http://schemas.openxmlformats.org/drawingml/2006/main">
            <a:r>
              <a:t>Nguồn nội dung: PDF Lab 2, DOCX hướng dẫn thuyết trình, persona(1).md, tài nguyên Stitch do người dùng cung cấp, Figma g4p29ANokap1mBOCWq9AJC và Serene_Prototype.html. Các ZIP là nguồn tham khảo thiết kế, không phải các vòng cải tiến AI. Ví dụ prompt trên slide 5 là nội dung minh họa mới. Phát hiện/hướng sửa không phải xác nhận đã sửa Figma; xem hướng dẫn minh chứng và checklist để biết mức kiểm chứng.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443f82f7f884ab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f18376644e7477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d3d207e92754ec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660bb84e670478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f95aad20b9c4b9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1ecca46360545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C7FC6FD-6393-4628-B1C7-BEBF3DED0BF1}"/>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852C1D1-8C26-44B4-B641-C79D529B3DE2}"/>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8C6B5A5-4232-4BFA-996F-8B6961089DE3}"/>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470C496-EBEB-47F1-BCC6-AD64DCE2B06E}"/>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DE38071-073D-41A0-BDBD-80224D0FD7DE}"/>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769C663-A26E-4A4F-900A-D19C9905A6FE}"/>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5E4B5D4-5716-4174-B722-E72C3520226C}"/>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487C19C-585E-4396-A117-A27CDF606D62}"/>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942636-BB5A-416A-8FD7-8217B524776B}"/>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C6B35E8-3C37-4DF3-AEE9-B35CB29910C3}"/>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771d837650a4956" /><Relationship Type="http://schemas.openxmlformats.org/officeDocument/2006/relationships/slideLayout" Target="/ppt/slideLayouts/slideLayout1.xml" Id="Rb84ee66c213b4da6" /><Relationship Type="http://schemas.openxmlformats.org/officeDocument/2006/relationships/slideLayout" Target="/ppt/slideLayouts/slideLayout2.xml" Id="R507f1518c44d41ad" /><Relationship Type="http://schemas.openxmlformats.org/officeDocument/2006/relationships/slideLayout" Target="/ppt/slideLayouts/slideLayout3.xml" Id="Ra5eba0c9b3f943d8" /><Relationship Type="http://schemas.openxmlformats.org/officeDocument/2006/relationships/slideLayout" Target="/ppt/slideLayouts/slideLayout4.xml" Id="R0a5982f350f54399" /><Relationship Type="http://schemas.openxmlformats.org/officeDocument/2006/relationships/slideLayout" Target="/ppt/slideLayouts/slideLayout5.xml" Id="R805ab520beae4b8e" /><Relationship Type="http://schemas.openxmlformats.org/officeDocument/2006/relationships/slideLayout" Target="/ppt/slideLayouts/slideLayout6.xml" Id="R31d7276c0b9f437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84ee66c213b4da6"/>
    <p:sldLayoutId xmlns:r="http://schemas.openxmlformats.org/officeDocument/2006/relationships" id="2147483650" r:id="R507f1518c44d41ad"/>
    <p:sldLayoutId xmlns:r="http://schemas.openxmlformats.org/officeDocument/2006/relationships" id="2147483651" r:id="Ra5eba0c9b3f943d8"/>
    <p:sldLayoutId xmlns:r="http://schemas.openxmlformats.org/officeDocument/2006/relationships" id="2147483652" r:id="R0a5982f350f54399"/>
    <p:sldLayoutId xmlns:r="http://schemas.openxmlformats.org/officeDocument/2006/relationships" id="2147483653" r:id="R805ab520beae4b8e"/>
    <p:sldLayoutId xmlns:r="http://schemas.openxmlformats.org/officeDocument/2006/relationships" id="2147483654" r:id="R31d7276c0b9f437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02df30994e04515" /><Relationship Type="http://schemas.openxmlformats.org/officeDocument/2006/relationships/notesSlide" Target="/ppt/notesSlides/notesSlide1.xml" Id="R738b0d9e5bfb427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1b18dedc2f94c1e" /><Relationship Type="http://schemas.openxmlformats.org/officeDocument/2006/relationships/notesSlide" Target="/ppt/notesSlides/notesSlide2.xml" Id="Ree31ba8bc62b473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efa1114d2844cd1" /><Relationship Type="http://schemas.openxmlformats.org/officeDocument/2006/relationships/notesSlide" Target="/ppt/notesSlides/notesSlide3.xml" Id="Reb394cc4046a4ae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4c410cfcdef402d" /><Relationship Type="http://schemas.openxmlformats.org/officeDocument/2006/relationships/notesSlide" Target="/ppt/notesSlides/notesSlide4.xml" Id="Rf122a9e2811d4ec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a669599b65f4984" /><Relationship Type="http://schemas.openxmlformats.org/officeDocument/2006/relationships/notesSlide" Target="/ppt/notesSlides/notesSlide5.xml" Id="R3f6bbcc3307e424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1a7cb8a04ec4d3c" /><Relationship Type="http://schemas.openxmlformats.org/officeDocument/2006/relationships/notesSlide" Target="/ppt/notesSlides/notesSlide6.xml" Id="R1e9be41e74004cb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c3b1646ad854287" /><Relationship Type="http://schemas.openxmlformats.org/officeDocument/2006/relationships/notesSlide" Target="/ppt/notesSlides/notesSlide7.xml" Id="R137f73430979490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3e32a834b654062" /><Relationship Type="http://schemas.openxmlformats.org/officeDocument/2006/relationships/notesSlide" Target="/ppt/notesSlides/notesSlide8.xml" Id="R49be0c4dd41b4bf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e7daf1478c941db" /><Relationship Type="http://schemas.openxmlformats.org/officeDocument/2006/relationships/notesSlide" Target="/ppt/notesSlides/notesSlide9.xml" Id="Rf9081cff84434f9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1477810209a42e6" /><Relationship Type="http://schemas.openxmlformats.org/officeDocument/2006/relationships/notesSlide" Target="/ppt/notesSlides/notesSlide10.xml" Id="R88fb05298e7e402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4b7552cd0af4682" /><Relationship Type="http://schemas.openxmlformats.org/officeDocument/2006/relationships/notesSlide" Target="/ppt/notesSlides/notesSlide11.xml" Id="R24cc5dbec4dd4a0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e5172402e8e4ce9" /><Relationship Type="http://schemas.openxmlformats.org/officeDocument/2006/relationships/notesSlide" Target="/ppt/notesSlides/notesSlide12.xml" Id="Rf63660f29789430a" /></Relationships>
</file>

<file path=ppt/slides/slide1.xml><?xml version="1.0" encoding="utf-8"?>
<p:sld xmlns:p="http://schemas.openxmlformats.org/presentationml/2006/main">
  <p:cSld>
    <p:bg>
      <p:bgPr>
        <a:solidFill xmlns:a="http://schemas.openxmlformats.org/drawingml/2006/main">
          <a:srgbClr val="062C1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6310DF8-C7B2-400D-9293-22BFDD80C269}"/>
              </a:ext>
            </a:extLst>
          </p:cNvPr>
          <p:cNvSpPr>
            <a:spLocks xmlns:a="http://schemas.openxmlformats.org/drawingml/2006/main" noGrp="1"/>
          </p:cNvSpPr>
          <p:nvPr/>
        </p:nvSpPr>
        <p:spPr>
          <a:xfrm xmlns:a="http://schemas.openxmlformats.org/drawingml/2006/main">
            <a:off x="857250" y="876300"/>
            <a:ext cx="1333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A5E9BD"/>
                </a:solidFill>
                <a:latin typeface="DejaVu Sans"/>
                <a:ea typeface="DejaVu Sans"/>
                <a:cs typeface="DejaVu Sans"/>
              </a:defRPr>
            </a:defPPr>
          </a:lstStyle>
          <a:p xmlns:a="http://schemas.openxmlformats.org/drawingml/2006/main">
            <a:pPr>
              <a:defRPr sz="1950" b="1">
                <a:solidFill>
                  <a:srgbClr val="A5E9BD"/>
                </a:solidFill>
                <a:latin typeface="DejaVu Sans"/>
                <a:ea typeface="DejaVu Sans"/>
                <a:cs typeface="DejaVu Sans"/>
              </a:defRPr>
            </a:pPr>
            <a:r>
              <a:rPr sz="1950" b="1">
                <a:solidFill>
                  <a:srgbClr val="A5E9BD"/>
                </a:solidFill>
                <a:latin typeface="DejaVu Sans"/>
                <a:ea typeface="DejaVu Sans"/>
                <a:cs typeface="DejaVu Sans"/>
              </a:rPr>
              <a:t>THIẾT KẾ SẢN PHẨM VỚI AI</a:t>
            </a:r>
          </a:p>
        </p:txBody>
      </p:sp>
      <p:sp>
        <p:nvSpPr>
          <p:cNvPr id="2" name="">
            <a:extLst xmlns:a="http://schemas.openxmlformats.org/drawingml/2006/main">
              <a:ext uri="{FF2B5EF4-FFF2-40B4-BE49-F238E27FC236}">
                <a16:creationId xmlns:a16="http://schemas.microsoft.com/office/drawing/2014/main" id="{9C1E84E3-7872-4D3D-AF21-0A320FD060C5}"/>
              </a:ext>
            </a:extLst>
          </p:cNvPr>
          <p:cNvSpPr>
            <a:spLocks xmlns:a="http://schemas.openxmlformats.org/drawingml/2006/main" noGrp="1"/>
          </p:cNvSpPr>
          <p:nvPr/>
        </p:nvSpPr>
        <p:spPr>
          <a:xfrm xmlns:a="http://schemas.openxmlformats.org/drawingml/2006/main">
            <a:off x="809625" y="2171700"/>
            <a:ext cx="138112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800" b="1">
                <a:solidFill>
                  <a:srgbClr val="FFFFFF"/>
                </a:solidFill>
                <a:latin typeface="DejaVu Sans"/>
                <a:ea typeface="DejaVu Sans"/>
                <a:cs typeface="DejaVu Sans"/>
              </a:defRPr>
            </a:defPPr>
          </a:lstStyle>
          <a:p xmlns:a="http://schemas.openxmlformats.org/drawingml/2006/main">
            <a:pPr>
              <a:defRPr sz="7800" b="1">
                <a:solidFill>
                  <a:srgbClr val="FFFFFF"/>
                </a:solidFill>
                <a:latin typeface="DejaVu Sans"/>
                <a:ea typeface="DejaVu Sans"/>
                <a:cs typeface="DejaVu Sans"/>
              </a:defRPr>
            </a:pPr>
            <a:r>
              <a:rPr sz="7800" b="1">
                <a:solidFill>
                  <a:srgbClr val="FFFFFF"/>
                </a:solidFill>
                <a:latin typeface="DejaVu Sans"/>
                <a:ea typeface="DejaVu Sans"/>
                <a:cs typeface="DejaVu Sans"/>
              </a:rPr>
              <a:t>Fetch Timer</a:t>
            </a:r>
          </a:p>
        </p:txBody>
      </p:sp>
      <p:sp>
        <p:nvSpPr>
          <p:cNvPr id="3" name="">
            <a:extLst xmlns:a="http://schemas.openxmlformats.org/drawingml/2006/main">
              <a:ext uri="{FF2B5EF4-FFF2-40B4-BE49-F238E27FC236}">
                <a16:creationId xmlns:a16="http://schemas.microsoft.com/office/drawing/2014/main" id="{0702AA76-7510-4D2B-8F12-E645568F41ED}"/>
              </a:ext>
            </a:extLst>
          </p:cNvPr>
          <p:cNvSpPr>
            <a:spLocks xmlns:a="http://schemas.openxmlformats.org/drawingml/2006/main" noGrp="1"/>
          </p:cNvSpPr>
          <p:nvPr/>
        </p:nvSpPr>
        <p:spPr>
          <a:xfrm xmlns:a="http://schemas.openxmlformats.org/drawingml/2006/main">
            <a:off x="857250" y="3714750"/>
            <a:ext cx="13430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750" b="0">
                <a:solidFill>
                  <a:srgbClr val="FFFFFF"/>
                </a:solidFill>
                <a:latin typeface="DejaVu Sans"/>
                <a:ea typeface="DejaVu Sans"/>
                <a:cs typeface="DejaVu Sans"/>
              </a:defRPr>
            </a:defPPr>
          </a:lstStyle>
          <a:p xmlns:a="http://schemas.openxmlformats.org/drawingml/2006/main">
            <a:pPr>
              <a:defRPr sz="3750" b="0">
                <a:solidFill>
                  <a:srgbClr val="FFFFFF"/>
                </a:solidFill>
                <a:latin typeface="DejaVu Sans"/>
                <a:ea typeface="DejaVu Sans"/>
                <a:cs typeface="DejaVu Sans"/>
              </a:defRPr>
            </a:pPr>
            <a:r>
              <a:rPr sz="3750" b="0">
                <a:solidFill>
                  <a:srgbClr val="FFFFFF"/>
                </a:solidFill>
                <a:latin typeface="DejaVu Sans"/>
                <a:ea typeface="DejaVu Sans"/>
                <a:cs typeface="DejaVu Sans"/>
              </a:rPr>
              <a:t>Từ ý tưởng đến UI và prototype</a:t>
            </a:r>
          </a:p>
        </p:txBody>
      </p:sp>
      <p:sp>
        <p:nvSpPr>
          <p:cNvPr id="4" name="">
            <a:extLst xmlns:a="http://schemas.openxmlformats.org/drawingml/2006/main">
              <a:ext uri="{FF2B5EF4-FFF2-40B4-BE49-F238E27FC236}">
                <a16:creationId xmlns:a16="http://schemas.microsoft.com/office/drawing/2014/main" id="{D1289DA5-CF8A-4C21-AC79-464B407748DD}"/>
              </a:ext>
            </a:extLst>
          </p:cNvPr>
          <p:cNvSpPr>
            <a:spLocks xmlns:a="http://schemas.openxmlformats.org/drawingml/2006/main" noGrp="1"/>
          </p:cNvSpPr>
          <p:nvPr/>
        </p:nvSpPr>
        <p:spPr>
          <a:xfrm xmlns:a="http://schemas.openxmlformats.org/drawingml/2006/main">
            <a:off x="857250" y="5143500"/>
            <a:ext cx="13430250" cy="28575"/>
          </a:xfrm>
          <a:prstGeom xmlns:a="http://schemas.openxmlformats.org/drawingml/2006/main" prst="rect">
            <a:avLst/>
          </a:prstGeom>
          <a:solidFill xmlns:a="http://schemas.openxmlformats.org/drawingml/2006/main">
            <a:srgbClr val="42715B"/>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C08066A-308E-4161-B970-47D5BDE1FF26}"/>
              </a:ext>
            </a:extLst>
          </p:cNvPr>
          <p:cNvSpPr>
            <a:spLocks xmlns:a="http://schemas.openxmlformats.org/drawingml/2006/main" noGrp="1"/>
          </p:cNvSpPr>
          <p:nvPr/>
        </p:nvSpPr>
        <p:spPr>
          <a:xfrm xmlns:a="http://schemas.openxmlformats.org/drawingml/2006/main">
            <a:off x="857250" y="5619750"/>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A5E9BD"/>
                </a:solidFill>
                <a:latin typeface="DejaVu Sans"/>
                <a:ea typeface="DejaVu Sans"/>
                <a:cs typeface="DejaVu Sans"/>
              </a:defRPr>
            </a:defPPr>
          </a:lstStyle>
          <a:p xmlns:a="http://schemas.openxmlformats.org/drawingml/2006/main">
            <a:pPr>
              <a:defRPr sz="2100" b="1">
                <a:solidFill>
                  <a:srgbClr val="A5E9BD"/>
                </a:solidFill>
                <a:latin typeface="DejaVu Sans"/>
                <a:ea typeface="DejaVu Sans"/>
                <a:cs typeface="DejaVu Sans"/>
              </a:defRPr>
            </a:pPr>
            <a:r>
              <a:rPr sz="2100" b="1">
                <a:solidFill>
                  <a:srgbClr val="A5E9BD"/>
                </a:solidFill>
                <a:latin typeface="DejaVu Sans"/>
                <a:ea typeface="DejaVu Sans"/>
                <a:cs typeface="DejaVu Sans"/>
              </a:rPr>
              <a:t>01</a:t>
            </a:r>
          </a:p>
        </p:txBody>
      </p:sp>
      <p:sp>
        <p:nvSpPr>
          <p:cNvPr id="6" name="">
            <a:extLst xmlns:a="http://schemas.openxmlformats.org/drawingml/2006/main">
              <a:ext uri="{FF2B5EF4-FFF2-40B4-BE49-F238E27FC236}">
                <a16:creationId xmlns:a16="http://schemas.microsoft.com/office/drawing/2014/main" id="{6D4D4AB7-CABE-47BA-AEE0-9B7ECE0AF354}"/>
              </a:ext>
            </a:extLst>
          </p:cNvPr>
          <p:cNvSpPr>
            <a:spLocks xmlns:a="http://schemas.openxmlformats.org/drawingml/2006/main" noGrp="1"/>
          </p:cNvSpPr>
          <p:nvPr/>
        </p:nvSpPr>
        <p:spPr>
          <a:xfrm xmlns:a="http://schemas.openxmlformats.org/drawingml/2006/main">
            <a:off x="857250" y="6229350"/>
            <a:ext cx="4000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FFFFF"/>
                </a:solidFill>
                <a:latin typeface="DejaVu Sans"/>
                <a:ea typeface="DejaVu Sans"/>
                <a:cs typeface="DejaVu Sans"/>
              </a:defRPr>
            </a:defPPr>
          </a:lstStyle>
          <a:p xmlns:a="http://schemas.openxmlformats.org/drawingml/2006/main">
            <a:pPr>
              <a:defRPr sz="2550" b="0">
                <a:solidFill>
                  <a:srgbClr val="FFFFFF"/>
                </a:solidFill>
                <a:latin typeface="DejaVu Sans"/>
                <a:ea typeface="DejaVu Sans"/>
                <a:cs typeface="DejaVu Sans"/>
              </a:defRPr>
            </a:pPr>
            <a:r>
              <a:rPr sz="2550" b="0">
                <a:solidFill>
                  <a:srgbClr val="FFFFFF"/>
                </a:solidFill>
                <a:latin typeface="DejaVu Sans"/>
                <a:ea typeface="DejaVu Sans"/>
                <a:cs typeface="DejaVu Sans"/>
              </a:rPr>
              <a:t>AI hỗ trợ phát triển ý tưởng</a:t>
            </a:r>
          </a:p>
        </p:txBody>
      </p:sp>
      <p:sp>
        <p:nvSpPr>
          <p:cNvPr id="7" name="">
            <a:extLst xmlns:a="http://schemas.openxmlformats.org/drawingml/2006/main">
              <a:ext uri="{FF2B5EF4-FFF2-40B4-BE49-F238E27FC236}">
                <a16:creationId xmlns:a16="http://schemas.microsoft.com/office/drawing/2014/main" id="{ED59E3B4-DE3D-4172-BA9D-2B76A23387A6}"/>
              </a:ext>
            </a:extLst>
          </p:cNvPr>
          <p:cNvSpPr>
            <a:spLocks xmlns:a="http://schemas.openxmlformats.org/drawingml/2006/main" noGrp="1"/>
          </p:cNvSpPr>
          <p:nvPr/>
        </p:nvSpPr>
        <p:spPr>
          <a:xfrm xmlns:a="http://schemas.openxmlformats.org/drawingml/2006/main">
            <a:off x="5429250" y="5619750"/>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A5E9BD"/>
                </a:solidFill>
                <a:latin typeface="DejaVu Sans"/>
                <a:ea typeface="DejaVu Sans"/>
                <a:cs typeface="DejaVu Sans"/>
              </a:defRPr>
            </a:defPPr>
          </a:lstStyle>
          <a:p xmlns:a="http://schemas.openxmlformats.org/drawingml/2006/main">
            <a:pPr>
              <a:defRPr sz="2100" b="1">
                <a:solidFill>
                  <a:srgbClr val="A5E9BD"/>
                </a:solidFill>
                <a:latin typeface="DejaVu Sans"/>
                <a:ea typeface="DejaVu Sans"/>
                <a:cs typeface="DejaVu Sans"/>
              </a:defRPr>
            </a:pPr>
            <a:r>
              <a:rPr sz="2100" b="1">
                <a:solidFill>
                  <a:srgbClr val="A5E9BD"/>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9BC20B53-D080-4294-9275-1091EC6CDE87}"/>
              </a:ext>
            </a:extLst>
          </p:cNvPr>
          <p:cNvSpPr>
            <a:spLocks xmlns:a="http://schemas.openxmlformats.org/drawingml/2006/main" noGrp="1"/>
          </p:cNvSpPr>
          <p:nvPr/>
        </p:nvSpPr>
        <p:spPr>
          <a:xfrm xmlns:a="http://schemas.openxmlformats.org/drawingml/2006/main">
            <a:off x="5429250" y="6229350"/>
            <a:ext cx="4000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FFFFF"/>
                </a:solidFill>
                <a:latin typeface="DejaVu Sans"/>
                <a:ea typeface="DejaVu Sans"/>
                <a:cs typeface="DejaVu Sans"/>
              </a:defRPr>
            </a:defPPr>
          </a:lstStyle>
          <a:p xmlns:a="http://schemas.openxmlformats.org/drawingml/2006/main">
            <a:pPr>
              <a:defRPr sz="2550" b="0">
                <a:solidFill>
                  <a:srgbClr val="FFFFFF"/>
                </a:solidFill>
                <a:latin typeface="DejaVu Sans"/>
                <a:ea typeface="DejaVu Sans"/>
                <a:cs typeface="DejaVu Sans"/>
              </a:defRPr>
            </a:pPr>
            <a:r>
              <a:rPr sz="2550" b="0">
                <a:solidFill>
                  <a:srgbClr val="FFFFFF"/>
                </a:solidFill>
                <a:latin typeface="DejaVu Sans"/>
                <a:ea typeface="DejaVu Sans"/>
                <a:cs typeface="DejaVu Sans"/>
              </a:rPr>
              <a:t>Stitch tạo bản UI ban đầu</a:t>
            </a:r>
          </a:p>
        </p:txBody>
      </p:sp>
      <p:sp>
        <p:nvSpPr>
          <p:cNvPr id="9" name="">
            <a:extLst xmlns:a="http://schemas.openxmlformats.org/drawingml/2006/main">
              <a:ext uri="{FF2B5EF4-FFF2-40B4-BE49-F238E27FC236}">
                <a16:creationId xmlns:a16="http://schemas.microsoft.com/office/drawing/2014/main" id="{7C0421C9-2B74-4688-9065-CEB4C2535EF9}"/>
              </a:ext>
            </a:extLst>
          </p:cNvPr>
          <p:cNvSpPr>
            <a:spLocks xmlns:a="http://schemas.openxmlformats.org/drawingml/2006/main" noGrp="1"/>
          </p:cNvSpPr>
          <p:nvPr/>
        </p:nvSpPr>
        <p:spPr>
          <a:xfrm xmlns:a="http://schemas.openxmlformats.org/drawingml/2006/main">
            <a:off x="10001250" y="5619750"/>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A5E9BD"/>
                </a:solidFill>
                <a:latin typeface="DejaVu Sans"/>
                <a:ea typeface="DejaVu Sans"/>
                <a:cs typeface="DejaVu Sans"/>
              </a:defRPr>
            </a:defPPr>
          </a:lstStyle>
          <a:p xmlns:a="http://schemas.openxmlformats.org/drawingml/2006/main">
            <a:pPr>
              <a:defRPr sz="2100" b="1">
                <a:solidFill>
                  <a:srgbClr val="A5E9BD"/>
                </a:solidFill>
                <a:latin typeface="DejaVu Sans"/>
                <a:ea typeface="DejaVu Sans"/>
                <a:cs typeface="DejaVu Sans"/>
              </a:defRPr>
            </a:pPr>
            <a:r>
              <a:rPr sz="2100" b="1">
                <a:solidFill>
                  <a:srgbClr val="A5E9BD"/>
                </a:solidFill>
                <a:latin typeface="DejaVu Sans"/>
                <a:ea typeface="DejaVu Sans"/>
                <a:cs typeface="DejaVu Sans"/>
              </a:rPr>
              <a:t>03</a:t>
            </a:r>
          </a:p>
        </p:txBody>
      </p:sp>
      <p:sp>
        <p:nvSpPr>
          <p:cNvPr id="10" name="">
            <a:extLst xmlns:a="http://schemas.openxmlformats.org/drawingml/2006/main">
              <a:ext uri="{FF2B5EF4-FFF2-40B4-BE49-F238E27FC236}">
                <a16:creationId xmlns:a16="http://schemas.microsoft.com/office/drawing/2014/main" id="{E2364322-C20D-4FD9-B660-A8DBE6613C7F}"/>
              </a:ext>
            </a:extLst>
          </p:cNvPr>
          <p:cNvSpPr>
            <a:spLocks xmlns:a="http://schemas.openxmlformats.org/drawingml/2006/main" noGrp="1"/>
          </p:cNvSpPr>
          <p:nvPr/>
        </p:nvSpPr>
        <p:spPr>
          <a:xfrm xmlns:a="http://schemas.openxmlformats.org/drawingml/2006/main">
            <a:off x="10001250" y="6229350"/>
            <a:ext cx="4000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FFFFF"/>
                </a:solidFill>
                <a:latin typeface="DejaVu Sans"/>
                <a:ea typeface="DejaVu Sans"/>
                <a:cs typeface="DejaVu Sans"/>
              </a:defRPr>
            </a:defPPr>
          </a:lstStyle>
          <a:p xmlns:a="http://schemas.openxmlformats.org/drawingml/2006/main">
            <a:pPr>
              <a:defRPr sz="2550" b="0">
                <a:solidFill>
                  <a:srgbClr val="FFFFFF"/>
                </a:solidFill>
                <a:latin typeface="DejaVu Sans"/>
                <a:ea typeface="DejaVu Sans"/>
                <a:cs typeface="DejaVu Sans"/>
              </a:defRPr>
            </a:pPr>
            <a:r>
              <a:rPr sz="2550" b="0">
                <a:solidFill>
                  <a:srgbClr val="FFFFFF"/>
                </a:solidFill>
                <a:latin typeface="DejaVu Sans"/>
                <a:ea typeface="DejaVu Sans"/>
                <a:cs typeface="DejaVu Sans"/>
              </a:rPr>
              <a:t>Figma chỉnh thiết kế và nối tương tác</a:t>
            </a:r>
          </a:p>
        </p:txBody>
      </p:sp>
      <p:sp>
        <p:nvSpPr>
          <p:cNvPr id="11" name="">
            <a:extLst xmlns:a="http://schemas.openxmlformats.org/drawingml/2006/main">
              <a:ext uri="{FF2B5EF4-FFF2-40B4-BE49-F238E27FC236}">
                <a16:creationId xmlns:a16="http://schemas.microsoft.com/office/drawing/2014/main" id="{64AC5794-95B8-4F11-8D12-27660A6D0F5E}"/>
              </a:ext>
            </a:extLst>
          </p:cNvPr>
          <p:cNvSpPr>
            <a:spLocks xmlns:a="http://schemas.openxmlformats.org/drawingml/2006/main" noGrp="1"/>
          </p:cNvSpPr>
          <p:nvPr/>
        </p:nvSpPr>
        <p:spPr>
          <a:xfrm xmlns:a="http://schemas.openxmlformats.org/drawingml/2006/main">
            <a:off x="857250" y="7781925"/>
            <a:ext cx="1333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5E9BD"/>
                </a:solidFill>
                <a:latin typeface="DejaVu Sans"/>
                <a:ea typeface="DejaVu Sans"/>
                <a:cs typeface="DejaVu Sans"/>
              </a:defRPr>
            </a:defPPr>
          </a:lstStyle>
          <a:p xmlns:a="http://schemas.openxmlformats.org/drawingml/2006/main">
            <a:pPr>
              <a:defRPr sz="1500" b="0">
                <a:solidFill>
                  <a:srgbClr val="A5E9BD"/>
                </a:solidFill>
                <a:latin typeface="DejaVu Sans"/>
                <a:ea typeface="DejaVu Sans"/>
                <a:cs typeface="DejaVu Sans"/>
              </a:defRPr>
            </a:pPr>
            <a:r>
              <a:rPr sz="1500" b="0">
                <a:solidFill>
                  <a:srgbClr val="A5E9BD"/>
                </a:solidFill>
                <a:latin typeface="DejaVu Sans"/>
                <a:ea typeface="DejaVu Sans"/>
                <a:cs typeface="DejaVu Sans"/>
              </a:rPr>
              <a:t>PRM323 · LAB 2 · NHÓM 4 NGƯỜI</a:t>
            </a:r>
          </a:p>
        </p:txBody>
      </p:sp>
    </p:spTree>
    <p:extLst>
      <p:ext uri="{BB962C8B-B14F-4D97-AF65-F5344CB8AC3E}">
        <p14:creationId xmlns:p14="http://schemas.microsoft.com/office/powerpoint/2010/main" val="2030751334"/>
      </p:ext>
    </p:extLst>
  </p:cSld>
</p:sld>
</file>

<file path=ppt/slides/slide2.xml><?xml version="1.0" encoding="utf-8"?>
<p:sld xmlns:p="http://schemas.openxmlformats.org/presentationml/2006/main">
  <p:cSld>
    <p:bg>
      <p:bgPr>
        <a:solidFill xmlns:a="http://schemas.openxmlformats.org/drawingml/2006/main">
          <a:srgbClr val="F9FA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989E074-6251-4A07-A775-3C9D35B3827D}"/>
              </a:ext>
            </a:extLst>
          </p:cNvPr>
          <p:cNvSpPr>
            <a:spLocks xmlns:a="http://schemas.openxmlformats.org/drawingml/2006/main" noGrp="1"/>
          </p:cNvSpPr>
          <p:nvPr/>
        </p:nvSpPr>
        <p:spPr>
          <a:xfrm xmlns:a="http://schemas.openxmlformats.org/drawingml/2006/main">
            <a:off x="762000" y="333375"/>
            <a:ext cx="1285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3E4A40"/>
                </a:solidFill>
                <a:latin typeface="DejaVu Sans"/>
                <a:ea typeface="DejaVu Sans"/>
                <a:cs typeface="DejaVu Sans"/>
              </a:defRPr>
            </a:defPPr>
          </a:lstStyle>
          <a:p xmlns:a="http://schemas.openxmlformats.org/drawingml/2006/main">
            <a:pPr>
              <a:defRPr sz="1350" b="0">
                <a:solidFill>
                  <a:srgbClr val="3E4A40"/>
                </a:solidFill>
                <a:latin typeface="DejaVu Sans"/>
                <a:ea typeface="DejaVu Sans"/>
                <a:cs typeface="DejaVu Sans"/>
              </a:defRPr>
            </a:pPr>
            <a:r>
              <a:rPr sz="1350" b="0">
                <a:solidFill>
                  <a:srgbClr val="3E4A40"/>
                </a:solidFill>
                <a:latin typeface="DejaVu Sans"/>
                <a:ea typeface="DejaVu Sans"/>
                <a:cs typeface="DejaVu Sans"/>
              </a:rPr>
              <a:t>FETCH TIMER  /  QUÁ TRÌNH THIẾT KẾ</a:t>
            </a:r>
          </a:p>
        </p:txBody>
      </p:sp>
      <p:sp>
        <p:nvSpPr>
          <p:cNvPr id="2" name="">
            <a:extLst xmlns:a="http://schemas.openxmlformats.org/drawingml/2006/main">
              <a:ext uri="{FF2B5EF4-FFF2-40B4-BE49-F238E27FC236}">
                <a16:creationId xmlns:a16="http://schemas.microsoft.com/office/drawing/2014/main" id="{A6DA5AF3-13FF-4831-AC09-56E435BC4C39}"/>
              </a:ext>
            </a:extLst>
          </p:cNvPr>
          <p:cNvSpPr>
            <a:spLocks xmlns:a="http://schemas.openxmlformats.org/drawingml/2006/main" noGrp="1"/>
          </p:cNvSpPr>
          <p:nvPr/>
        </p:nvSpPr>
        <p:spPr>
          <a:xfrm xmlns:a="http://schemas.openxmlformats.org/drawingml/2006/main">
            <a:off x="762000" y="95250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06A39"/>
                </a:solidFill>
                <a:latin typeface="DejaVu Sans"/>
                <a:ea typeface="DejaVu Sans"/>
                <a:cs typeface="DejaVu Sans"/>
              </a:defRPr>
            </a:defPPr>
          </a:lstStyle>
          <a:p xmlns:a="http://schemas.openxmlformats.org/drawingml/2006/main">
            <a:pPr>
              <a:defRPr sz="3600" b="1">
                <a:solidFill>
                  <a:srgbClr val="006A39"/>
                </a:solidFill>
                <a:latin typeface="DejaVu Sans"/>
                <a:ea typeface="DejaVu Sans"/>
                <a:cs typeface="DejaVu Sans"/>
              </a:defRPr>
            </a:pPr>
            <a:r>
              <a:rPr sz="3600" b="1">
                <a:solidFill>
                  <a:srgbClr val="006A39"/>
                </a:solidFill>
                <a:latin typeface="DejaVu Sans"/>
                <a:ea typeface="DejaVu Sans"/>
                <a:cs typeface="DejaVu Sans"/>
              </a:rPr>
              <a:t>Người dùng cần làm được 3 việc</a:t>
            </a:r>
          </a:p>
        </p:txBody>
      </p:sp>
      <p:sp>
        <p:nvSpPr>
          <p:cNvPr id="3" name="">
            <a:extLst xmlns:a="http://schemas.openxmlformats.org/drawingml/2006/main">
              <a:ext uri="{FF2B5EF4-FFF2-40B4-BE49-F238E27FC236}">
                <a16:creationId xmlns:a16="http://schemas.microsoft.com/office/drawing/2014/main" id="{F438CB78-211A-46FB-8852-4B4668DE70FD}"/>
              </a:ext>
            </a:extLst>
          </p:cNvPr>
          <p:cNvSpPr>
            <a:spLocks xmlns:a="http://schemas.openxmlformats.org/drawingml/2006/main" noGrp="1"/>
          </p:cNvSpPr>
          <p:nvPr/>
        </p:nvSpPr>
        <p:spPr>
          <a:xfrm xmlns:a="http://schemas.openxmlformats.org/drawingml/2006/main">
            <a:off x="762000" y="2028825"/>
            <a:ext cx="1371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3E4A40"/>
                </a:solidFill>
                <a:latin typeface="DejaVu Sans"/>
                <a:ea typeface="DejaVu Sans"/>
                <a:cs typeface="DejaVu Sans"/>
              </a:defRPr>
            </a:defPPr>
          </a:lstStyle>
          <a:p xmlns:a="http://schemas.openxmlformats.org/drawingml/2006/main">
            <a:pPr>
              <a:defRPr sz="2175" b="0">
                <a:solidFill>
                  <a:srgbClr val="3E4A40"/>
                </a:solidFill>
                <a:latin typeface="DejaVu Sans"/>
                <a:ea typeface="DejaVu Sans"/>
                <a:cs typeface="DejaVu Sans"/>
              </a:defRPr>
            </a:pPr>
            <a:r>
              <a:rPr sz="2175" b="0">
                <a:solidFill>
                  <a:srgbClr val="3E4A40"/>
                </a:solidFill>
                <a:latin typeface="DejaVu Sans"/>
                <a:ea typeface="DejaVu Sans"/>
                <a:cs typeface="DejaVu Sans"/>
              </a:rPr>
              <a:t>Ví dụ xuyên suốt: một sinh viên muốn luyện guitar đều đặn.</a:t>
            </a:r>
          </a:p>
        </p:txBody>
      </p:sp>
      <p:sp>
        <p:nvSpPr>
          <p:cNvPr id="4" name="">
            <a:extLst xmlns:a="http://schemas.openxmlformats.org/drawingml/2006/main">
              <a:ext uri="{FF2B5EF4-FFF2-40B4-BE49-F238E27FC236}">
                <a16:creationId xmlns:a16="http://schemas.microsoft.com/office/drawing/2014/main" id="{A20476D5-4306-4078-8121-6F4F4BF4381E}"/>
              </a:ext>
            </a:extLst>
          </p:cNvPr>
          <p:cNvSpPr>
            <a:spLocks xmlns:a="http://schemas.openxmlformats.org/drawingml/2006/main" noGrp="1"/>
          </p:cNvSpPr>
          <p:nvPr/>
        </p:nvSpPr>
        <p:spPr>
          <a:xfrm xmlns:a="http://schemas.openxmlformats.org/drawingml/2006/main">
            <a:off x="762000" y="3238500"/>
            <a:ext cx="4333875" cy="3562350"/>
          </a:xfrm>
          <a:prstGeom xmlns:a="http://schemas.openxmlformats.org/drawingml/2006/main" prst="rect">
            <a:avLst/>
          </a:prstGeom>
          <a:solidFill xmlns:a="http://schemas.openxmlformats.org/drawingml/2006/main">
            <a:srgbClr val="EAF1E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EEA7CFD-9D4C-468B-9705-66D2BEF26FB3}"/>
              </a:ext>
            </a:extLst>
          </p:cNvPr>
          <p:cNvSpPr>
            <a:spLocks xmlns:a="http://schemas.openxmlformats.org/drawingml/2006/main" noGrp="1"/>
          </p:cNvSpPr>
          <p:nvPr/>
        </p:nvSpPr>
        <p:spPr>
          <a:xfrm xmlns:a="http://schemas.openxmlformats.org/drawingml/2006/main">
            <a:off x="1028700" y="3476625"/>
            <a:ext cx="361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A39"/>
                </a:solidFill>
                <a:latin typeface="DejaVu Sans"/>
                <a:ea typeface="DejaVu Sans"/>
                <a:cs typeface="DejaVu Sans"/>
              </a:defRPr>
            </a:defPPr>
          </a:lstStyle>
          <a:p xmlns:a="http://schemas.openxmlformats.org/drawingml/2006/main">
            <a:pPr>
              <a:defRPr sz="2100" b="1">
                <a:solidFill>
                  <a:srgbClr val="006A39"/>
                </a:solidFill>
                <a:latin typeface="DejaVu Sans"/>
                <a:ea typeface="DejaVu Sans"/>
                <a:cs typeface="DejaVu Sans"/>
              </a:defRPr>
            </a:pPr>
            <a:r>
              <a:rPr sz="2100" b="1">
                <a:solidFill>
                  <a:srgbClr val="006A39"/>
                </a:solidFill>
                <a:latin typeface="DejaVu Sans"/>
                <a:ea typeface="DejaVu Sans"/>
                <a:cs typeface="DejaVu Sans"/>
              </a:rPr>
              <a:t>01</a:t>
            </a:r>
          </a:p>
        </p:txBody>
      </p:sp>
      <p:sp>
        <p:nvSpPr>
          <p:cNvPr id="6" name="">
            <a:extLst xmlns:a="http://schemas.openxmlformats.org/drawingml/2006/main">
              <a:ext uri="{FF2B5EF4-FFF2-40B4-BE49-F238E27FC236}">
                <a16:creationId xmlns:a16="http://schemas.microsoft.com/office/drawing/2014/main" id="{F6F4222B-A133-4D8F-96F3-57DCC1372466}"/>
              </a:ext>
            </a:extLst>
          </p:cNvPr>
          <p:cNvSpPr>
            <a:spLocks xmlns:a="http://schemas.openxmlformats.org/drawingml/2006/main" noGrp="1"/>
          </p:cNvSpPr>
          <p:nvPr/>
        </p:nvSpPr>
        <p:spPr>
          <a:xfrm xmlns:a="http://schemas.openxmlformats.org/drawingml/2006/main">
            <a:off x="1028700" y="4114800"/>
            <a:ext cx="3714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91C1B"/>
                </a:solidFill>
                <a:latin typeface="DejaVu Sans"/>
                <a:ea typeface="DejaVu Sans"/>
                <a:cs typeface="DejaVu Sans"/>
              </a:defRPr>
            </a:defPPr>
          </a:lstStyle>
          <a:p xmlns:a="http://schemas.openxmlformats.org/drawingml/2006/main">
            <a:pPr>
              <a:defRPr sz="2625" b="1">
                <a:solidFill>
                  <a:srgbClr val="191C1B"/>
                </a:solidFill>
                <a:latin typeface="DejaVu Sans"/>
                <a:ea typeface="DejaVu Sans"/>
                <a:cs typeface="DejaVu Sans"/>
              </a:defRPr>
            </a:pPr>
            <a:r>
              <a:rPr sz="2625" b="1">
                <a:solidFill>
                  <a:srgbClr val="191C1B"/>
                </a:solidFill>
                <a:latin typeface="DejaVu Sans"/>
                <a:ea typeface="DejaVu Sans"/>
                <a:cs typeface="DejaVu Sans"/>
              </a:rPr>
              <a:t>Hobby &amp; lịch</a:t>
            </a:r>
          </a:p>
        </p:txBody>
      </p:sp>
      <p:sp>
        <p:nvSpPr>
          <p:cNvPr id="7" name="">
            <a:extLst xmlns:a="http://schemas.openxmlformats.org/drawingml/2006/main">
              <a:ext uri="{FF2B5EF4-FFF2-40B4-BE49-F238E27FC236}">
                <a16:creationId xmlns:a16="http://schemas.microsoft.com/office/drawing/2014/main" id="{3E721340-FD3C-47D2-8007-490167D8D9CD}"/>
              </a:ext>
            </a:extLst>
          </p:cNvPr>
          <p:cNvSpPr>
            <a:spLocks xmlns:a="http://schemas.openxmlformats.org/drawingml/2006/main" noGrp="1"/>
          </p:cNvSpPr>
          <p:nvPr/>
        </p:nvSpPr>
        <p:spPr>
          <a:xfrm xmlns:a="http://schemas.openxmlformats.org/drawingml/2006/main">
            <a:off x="1028700" y="4962525"/>
            <a:ext cx="37147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91C1B"/>
                </a:solidFill>
                <a:latin typeface="DejaVu Sans"/>
                <a:ea typeface="DejaVu Sans"/>
                <a:cs typeface="DejaVu Sans"/>
              </a:defRPr>
            </a:defPPr>
          </a:lstStyle>
          <a:p xmlns:a="http://schemas.openxmlformats.org/drawingml/2006/main">
            <a:pPr>
              <a:defRPr sz="2325" b="0">
                <a:solidFill>
                  <a:srgbClr val="191C1B"/>
                </a:solidFill>
                <a:latin typeface="DejaVu Sans"/>
                <a:ea typeface="DejaVu Sans"/>
                <a:cs typeface="DejaVu Sans"/>
              </a:defRPr>
            </a:pPr>
            <a:r>
              <a:rPr sz="2325" b="0">
                <a:solidFill>
                  <a:srgbClr val="191C1B"/>
                </a:solidFill>
                <a:latin typeface="DejaVu Sans"/>
                <a:ea typeface="DejaVu Sans"/>
                <a:cs typeface="DejaVu Sans"/>
              </a:rPr>
              <a:t>Tạo sở thích → đặt lịch → theo dõi từng ngày</a:t>
            </a:r>
          </a:p>
        </p:txBody>
      </p:sp>
      <p:sp>
        <p:nvSpPr>
          <p:cNvPr id="8" name="">
            <a:extLst xmlns:a="http://schemas.openxmlformats.org/drawingml/2006/main">
              <a:ext uri="{FF2B5EF4-FFF2-40B4-BE49-F238E27FC236}">
                <a16:creationId xmlns:a16="http://schemas.microsoft.com/office/drawing/2014/main" id="{5F97E954-2D8C-4CC1-84F4-D40A5E9FBBFF}"/>
              </a:ext>
            </a:extLst>
          </p:cNvPr>
          <p:cNvSpPr>
            <a:spLocks xmlns:a="http://schemas.openxmlformats.org/drawingml/2006/main" noGrp="1"/>
          </p:cNvSpPr>
          <p:nvPr/>
        </p:nvSpPr>
        <p:spPr>
          <a:xfrm xmlns:a="http://schemas.openxmlformats.org/drawingml/2006/main">
            <a:off x="5448300" y="3238500"/>
            <a:ext cx="4333875" cy="3562350"/>
          </a:xfrm>
          <a:prstGeom xmlns:a="http://schemas.openxmlformats.org/drawingml/2006/main" prst="rect">
            <a:avLst/>
          </a:prstGeom>
          <a:solidFill xmlns:a="http://schemas.openxmlformats.org/drawingml/2006/main">
            <a:srgbClr val="EAF1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C25D036-49BF-4E7A-97C3-D6CD9EEF2AAC}"/>
              </a:ext>
            </a:extLst>
          </p:cNvPr>
          <p:cNvSpPr>
            <a:spLocks xmlns:a="http://schemas.openxmlformats.org/drawingml/2006/main" noGrp="1"/>
          </p:cNvSpPr>
          <p:nvPr/>
        </p:nvSpPr>
        <p:spPr>
          <a:xfrm xmlns:a="http://schemas.openxmlformats.org/drawingml/2006/main">
            <a:off x="5715000" y="3476625"/>
            <a:ext cx="361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A39"/>
                </a:solidFill>
                <a:latin typeface="DejaVu Sans"/>
                <a:ea typeface="DejaVu Sans"/>
                <a:cs typeface="DejaVu Sans"/>
              </a:defRPr>
            </a:defPPr>
          </a:lstStyle>
          <a:p xmlns:a="http://schemas.openxmlformats.org/drawingml/2006/main">
            <a:pPr>
              <a:defRPr sz="2100" b="1">
                <a:solidFill>
                  <a:srgbClr val="006A39"/>
                </a:solidFill>
                <a:latin typeface="DejaVu Sans"/>
                <a:ea typeface="DejaVu Sans"/>
                <a:cs typeface="DejaVu Sans"/>
              </a:defRPr>
            </a:pPr>
            <a:r>
              <a:rPr sz="2100" b="1">
                <a:solidFill>
                  <a:srgbClr val="006A39"/>
                </a:solidFill>
                <a:latin typeface="DejaVu Sans"/>
                <a:ea typeface="DejaVu Sans"/>
                <a:cs typeface="DejaVu Sans"/>
              </a:rPr>
              <a:t>02</a:t>
            </a:r>
          </a:p>
        </p:txBody>
      </p:sp>
      <p:sp>
        <p:nvSpPr>
          <p:cNvPr id="10" name="">
            <a:extLst xmlns:a="http://schemas.openxmlformats.org/drawingml/2006/main">
              <a:ext uri="{FF2B5EF4-FFF2-40B4-BE49-F238E27FC236}">
                <a16:creationId xmlns:a16="http://schemas.microsoft.com/office/drawing/2014/main" id="{1E4398BC-BC6F-4BA4-B3E5-A73248D01808}"/>
              </a:ext>
            </a:extLst>
          </p:cNvPr>
          <p:cNvSpPr>
            <a:spLocks xmlns:a="http://schemas.openxmlformats.org/drawingml/2006/main" noGrp="1"/>
          </p:cNvSpPr>
          <p:nvPr/>
        </p:nvSpPr>
        <p:spPr>
          <a:xfrm xmlns:a="http://schemas.openxmlformats.org/drawingml/2006/main">
            <a:off x="5715000" y="4114800"/>
            <a:ext cx="3714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91C1B"/>
                </a:solidFill>
                <a:latin typeface="DejaVu Sans"/>
                <a:ea typeface="DejaVu Sans"/>
                <a:cs typeface="DejaVu Sans"/>
              </a:defRPr>
            </a:defPPr>
          </a:lstStyle>
          <a:p xmlns:a="http://schemas.openxmlformats.org/drawingml/2006/main">
            <a:pPr>
              <a:defRPr sz="2625" b="1">
                <a:solidFill>
                  <a:srgbClr val="191C1B"/>
                </a:solidFill>
                <a:latin typeface="DejaVu Sans"/>
                <a:ea typeface="DejaVu Sans"/>
                <a:cs typeface="DejaVu Sans"/>
              </a:defRPr>
            </a:pPr>
            <a:r>
              <a:rPr sz="2625" b="1">
                <a:solidFill>
                  <a:srgbClr val="191C1B"/>
                </a:solidFill>
                <a:latin typeface="DejaVu Sans"/>
                <a:ea typeface="DejaVu Sans"/>
                <a:cs typeface="DejaVu Sans"/>
              </a:rPr>
              <a:t>Focus</a:t>
            </a:r>
          </a:p>
        </p:txBody>
      </p:sp>
      <p:sp>
        <p:nvSpPr>
          <p:cNvPr id="11" name="">
            <a:extLst xmlns:a="http://schemas.openxmlformats.org/drawingml/2006/main">
              <a:ext uri="{FF2B5EF4-FFF2-40B4-BE49-F238E27FC236}">
                <a16:creationId xmlns:a16="http://schemas.microsoft.com/office/drawing/2014/main" id="{4D16E807-2362-4DF5-8DD2-528F664397E1}"/>
              </a:ext>
            </a:extLst>
          </p:cNvPr>
          <p:cNvSpPr>
            <a:spLocks xmlns:a="http://schemas.openxmlformats.org/drawingml/2006/main" noGrp="1"/>
          </p:cNvSpPr>
          <p:nvPr/>
        </p:nvSpPr>
        <p:spPr>
          <a:xfrm xmlns:a="http://schemas.openxmlformats.org/drawingml/2006/main">
            <a:off x="5715000" y="4962525"/>
            <a:ext cx="37147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91C1B"/>
                </a:solidFill>
                <a:latin typeface="DejaVu Sans"/>
                <a:ea typeface="DejaVu Sans"/>
                <a:cs typeface="DejaVu Sans"/>
              </a:defRPr>
            </a:defPPr>
          </a:lstStyle>
          <a:p xmlns:a="http://schemas.openxmlformats.org/drawingml/2006/main">
            <a:pPr>
              <a:defRPr sz="2325" b="0">
                <a:solidFill>
                  <a:srgbClr val="191C1B"/>
                </a:solidFill>
                <a:latin typeface="DejaVu Sans"/>
                <a:ea typeface="DejaVu Sans"/>
                <a:cs typeface="DejaVu Sans"/>
              </a:defRPr>
            </a:pPr>
            <a:r>
              <a:rPr sz="2325" b="0">
                <a:solidFill>
                  <a:srgbClr val="191C1B"/>
                </a:solidFill>
                <a:latin typeface="DejaVu Sans"/>
                <a:ea typeface="DejaVu Sans"/>
                <a:cs typeface="DejaVu Sans"/>
              </a:rPr>
              <a:t>Chọn sở thích → bắt đầu đếm giờ → xem tổng kết</a:t>
            </a:r>
          </a:p>
        </p:txBody>
      </p:sp>
      <p:sp>
        <p:nvSpPr>
          <p:cNvPr id="12" name="">
            <a:extLst xmlns:a="http://schemas.openxmlformats.org/drawingml/2006/main">
              <a:ext uri="{FF2B5EF4-FFF2-40B4-BE49-F238E27FC236}">
                <a16:creationId xmlns:a16="http://schemas.microsoft.com/office/drawing/2014/main" id="{A2A81A2E-7D1C-4155-A412-15822BACFC81}"/>
              </a:ext>
            </a:extLst>
          </p:cNvPr>
          <p:cNvSpPr>
            <a:spLocks xmlns:a="http://schemas.openxmlformats.org/drawingml/2006/main" noGrp="1"/>
          </p:cNvSpPr>
          <p:nvPr/>
        </p:nvSpPr>
        <p:spPr>
          <a:xfrm xmlns:a="http://schemas.openxmlformats.org/drawingml/2006/main">
            <a:off x="10134600" y="3238500"/>
            <a:ext cx="4333875" cy="3562350"/>
          </a:xfrm>
          <a:prstGeom xmlns:a="http://schemas.openxmlformats.org/drawingml/2006/main" prst="rect">
            <a:avLst/>
          </a:prstGeom>
          <a:solidFill xmlns:a="http://schemas.openxmlformats.org/drawingml/2006/main">
            <a:srgbClr val="EAF1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D575115-CDE9-4324-821E-E4A11ED3A5FB}"/>
              </a:ext>
            </a:extLst>
          </p:cNvPr>
          <p:cNvSpPr>
            <a:spLocks xmlns:a="http://schemas.openxmlformats.org/drawingml/2006/main" noGrp="1"/>
          </p:cNvSpPr>
          <p:nvPr/>
        </p:nvSpPr>
        <p:spPr>
          <a:xfrm xmlns:a="http://schemas.openxmlformats.org/drawingml/2006/main">
            <a:off x="10401300" y="3476625"/>
            <a:ext cx="361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A39"/>
                </a:solidFill>
                <a:latin typeface="DejaVu Sans"/>
                <a:ea typeface="DejaVu Sans"/>
                <a:cs typeface="DejaVu Sans"/>
              </a:defRPr>
            </a:defPPr>
          </a:lstStyle>
          <a:p xmlns:a="http://schemas.openxmlformats.org/drawingml/2006/main">
            <a:pPr>
              <a:defRPr sz="2100" b="1">
                <a:solidFill>
                  <a:srgbClr val="006A39"/>
                </a:solidFill>
                <a:latin typeface="DejaVu Sans"/>
                <a:ea typeface="DejaVu Sans"/>
                <a:cs typeface="DejaVu Sans"/>
              </a:defRPr>
            </a:pPr>
            <a:r>
              <a:rPr sz="2100" b="1">
                <a:solidFill>
                  <a:srgbClr val="006A39"/>
                </a:solidFill>
                <a:latin typeface="DejaVu Sans"/>
                <a:ea typeface="DejaVu Sans"/>
                <a:cs typeface="DejaVu Sans"/>
              </a:rPr>
              <a:t>03</a:t>
            </a:r>
          </a:p>
        </p:txBody>
      </p:sp>
      <p:sp>
        <p:nvSpPr>
          <p:cNvPr id="14" name="">
            <a:extLst xmlns:a="http://schemas.openxmlformats.org/drawingml/2006/main">
              <a:ext uri="{FF2B5EF4-FFF2-40B4-BE49-F238E27FC236}">
                <a16:creationId xmlns:a16="http://schemas.microsoft.com/office/drawing/2014/main" id="{D32F41CE-834C-4BCF-8734-4ECD8760E725}"/>
              </a:ext>
            </a:extLst>
          </p:cNvPr>
          <p:cNvSpPr>
            <a:spLocks xmlns:a="http://schemas.openxmlformats.org/drawingml/2006/main" noGrp="1"/>
          </p:cNvSpPr>
          <p:nvPr/>
        </p:nvSpPr>
        <p:spPr>
          <a:xfrm xmlns:a="http://schemas.openxmlformats.org/drawingml/2006/main">
            <a:off x="10401300" y="4114800"/>
            <a:ext cx="3714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91C1B"/>
                </a:solidFill>
                <a:latin typeface="DejaVu Sans"/>
                <a:ea typeface="DejaVu Sans"/>
                <a:cs typeface="DejaVu Sans"/>
              </a:defRPr>
            </a:defPPr>
          </a:lstStyle>
          <a:p xmlns:a="http://schemas.openxmlformats.org/drawingml/2006/main">
            <a:pPr>
              <a:defRPr sz="2625" b="1">
                <a:solidFill>
                  <a:srgbClr val="191C1B"/>
                </a:solidFill>
                <a:latin typeface="DejaVu Sans"/>
                <a:ea typeface="DejaVu Sans"/>
                <a:cs typeface="DejaVu Sans"/>
              </a:defRPr>
            </a:pPr>
            <a:r>
              <a:rPr sz="2625" b="1">
                <a:solidFill>
                  <a:srgbClr val="191C1B"/>
                </a:solidFill>
                <a:latin typeface="DejaVu Sans"/>
                <a:ea typeface="DejaVu Sans"/>
                <a:cs typeface="DejaVu Sans"/>
              </a:rPr>
              <a:t>Cộng đồng</a:t>
            </a:r>
          </a:p>
        </p:txBody>
      </p:sp>
      <p:sp>
        <p:nvSpPr>
          <p:cNvPr id="15" name="">
            <a:extLst xmlns:a="http://schemas.openxmlformats.org/drawingml/2006/main">
              <a:ext uri="{FF2B5EF4-FFF2-40B4-BE49-F238E27FC236}">
                <a16:creationId xmlns:a16="http://schemas.microsoft.com/office/drawing/2014/main" id="{9806919D-EA88-4585-B6FB-BEFB6FC4D019}"/>
              </a:ext>
            </a:extLst>
          </p:cNvPr>
          <p:cNvSpPr>
            <a:spLocks xmlns:a="http://schemas.openxmlformats.org/drawingml/2006/main" noGrp="1"/>
          </p:cNvSpPr>
          <p:nvPr/>
        </p:nvSpPr>
        <p:spPr>
          <a:xfrm xmlns:a="http://schemas.openxmlformats.org/drawingml/2006/main">
            <a:off x="10401300" y="4962525"/>
            <a:ext cx="37147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91C1B"/>
                </a:solidFill>
                <a:latin typeface="DejaVu Sans"/>
                <a:ea typeface="DejaVu Sans"/>
                <a:cs typeface="DejaVu Sans"/>
              </a:defRPr>
            </a:defPPr>
          </a:lstStyle>
          <a:p xmlns:a="http://schemas.openxmlformats.org/drawingml/2006/main">
            <a:pPr>
              <a:defRPr sz="2325" b="0">
                <a:solidFill>
                  <a:srgbClr val="191C1B"/>
                </a:solidFill>
                <a:latin typeface="DejaVu Sans"/>
                <a:ea typeface="DejaVu Sans"/>
                <a:cs typeface="DejaVu Sans"/>
              </a:defRPr>
            </a:pPr>
            <a:r>
              <a:rPr sz="2325" b="0">
                <a:solidFill>
                  <a:srgbClr val="191C1B"/>
                </a:solidFill>
                <a:latin typeface="DejaVu Sans"/>
                <a:ea typeface="DejaVu Sans"/>
                <a:cs typeface="DejaVu Sans"/>
              </a:rPr>
              <a:t>Chia sẻ → tìm và tham gia nhóm → tham gia thử thách</a:t>
            </a:r>
          </a:p>
        </p:txBody>
      </p:sp>
      <p:sp>
        <p:nvSpPr>
          <p:cNvPr id="16" name="">
            <a:extLst xmlns:a="http://schemas.openxmlformats.org/drawingml/2006/main">
              <a:ext uri="{FF2B5EF4-FFF2-40B4-BE49-F238E27FC236}">
                <a16:creationId xmlns:a16="http://schemas.microsoft.com/office/drawing/2014/main" id="{885406EE-4E54-4C99-9EF8-B38C1ED36940}"/>
              </a:ext>
            </a:extLst>
          </p:cNvPr>
          <p:cNvSpPr>
            <a:spLocks xmlns:a="http://schemas.openxmlformats.org/drawingml/2006/main" noGrp="1"/>
          </p:cNvSpPr>
          <p:nvPr/>
        </p:nvSpPr>
        <p:spPr>
          <a:xfrm xmlns:a="http://schemas.openxmlformats.org/drawingml/2006/main">
            <a:off x="13525500" y="323850"/>
            <a:ext cx="100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006A39"/>
                </a:solidFill>
                <a:latin typeface="DejaVu Sans"/>
                <a:ea typeface="DejaVu Sans"/>
                <a:cs typeface="DejaVu Sans"/>
              </a:defRPr>
            </a:defPPr>
          </a:lstStyle>
          <a:p xmlns:a="http://schemas.openxmlformats.org/drawingml/2006/main">
            <a:pPr>
              <a:defRPr sz="1350" b="0">
                <a:solidFill>
                  <a:srgbClr val="006A39"/>
                </a:solidFill>
                <a:latin typeface="DejaVu Sans"/>
                <a:ea typeface="DejaVu Sans"/>
                <a:cs typeface="DejaVu Sans"/>
              </a:defRPr>
            </a:pPr>
            <a:r>
              <a:rPr sz="1350" b="0">
                <a:solidFill>
                  <a:srgbClr val="006A39"/>
                </a:solidFill>
                <a:latin typeface="DejaVu Sans"/>
                <a:ea typeface="DejaVu Sans"/>
                <a:cs typeface="DejaVu Sans"/>
              </a:rPr>
              <a:t>02 / 12</a:t>
            </a:r>
          </a:p>
        </p:txBody>
      </p:sp>
    </p:spTree>
    <p:extLst>
      <p:ext uri="{BB962C8B-B14F-4D97-AF65-F5344CB8AC3E}">
        <p14:creationId xmlns:p14="http://schemas.microsoft.com/office/powerpoint/2010/main" val="1916234251"/>
      </p:ext>
    </p:extLst>
  </p:cSld>
</p:sld>
</file>

<file path=ppt/slides/slide3.xml><?xml version="1.0" encoding="utf-8"?>
<p:sld xmlns:p="http://schemas.openxmlformats.org/presentationml/2006/main">
  <p:cSld>
    <p:bg>
      <p:bgPr>
        <a:solidFill xmlns:a="http://schemas.openxmlformats.org/drawingml/2006/main">
          <a:srgbClr val="F9FA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AD340E0-B322-4F51-B7F9-877F4D9E891F}"/>
              </a:ext>
            </a:extLst>
          </p:cNvPr>
          <p:cNvSpPr>
            <a:spLocks xmlns:a="http://schemas.openxmlformats.org/drawingml/2006/main" noGrp="1"/>
          </p:cNvSpPr>
          <p:nvPr/>
        </p:nvSpPr>
        <p:spPr>
          <a:xfrm xmlns:a="http://schemas.openxmlformats.org/drawingml/2006/main">
            <a:off x="762000" y="333375"/>
            <a:ext cx="1285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3E4A40"/>
                </a:solidFill>
                <a:latin typeface="DejaVu Sans"/>
                <a:ea typeface="DejaVu Sans"/>
                <a:cs typeface="DejaVu Sans"/>
              </a:defRPr>
            </a:defPPr>
          </a:lstStyle>
          <a:p xmlns:a="http://schemas.openxmlformats.org/drawingml/2006/main">
            <a:pPr>
              <a:defRPr sz="1350" b="0">
                <a:solidFill>
                  <a:srgbClr val="3E4A40"/>
                </a:solidFill>
                <a:latin typeface="DejaVu Sans"/>
                <a:ea typeface="DejaVu Sans"/>
                <a:cs typeface="DejaVu Sans"/>
              </a:defRPr>
            </a:pPr>
            <a:r>
              <a:rPr sz="1350" b="0">
                <a:solidFill>
                  <a:srgbClr val="3E4A40"/>
                </a:solidFill>
                <a:latin typeface="DejaVu Sans"/>
                <a:ea typeface="DejaVu Sans"/>
                <a:cs typeface="DejaVu Sans"/>
              </a:rPr>
              <a:t>FETCH TIMER  /  QUÁ TRÌNH THIẾT KẾ</a:t>
            </a:r>
          </a:p>
        </p:txBody>
      </p:sp>
      <p:sp>
        <p:nvSpPr>
          <p:cNvPr id="2" name="">
            <a:extLst xmlns:a="http://schemas.openxmlformats.org/drawingml/2006/main">
              <a:ext uri="{FF2B5EF4-FFF2-40B4-BE49-F238E27FC236}">
                <a16:creationId xmlns:a16="http://schemas.microsoft.com/office/drawing/2014/main" id="{46035BE6-A949-44A1-8B9C-96DE2FA58B3C}"/>
              </a:ext>
            </a:extLst>
          </p:cNvPr>
          <p:cNvSpPr>
            <a:spLocks xmlns:a="http://schemas.openxmlformats.org/drawingml/2006/main" noGrp="1"/>
          </p:cNvSpPr>
          <p:nvPr/>
        </p:nvSpPr>
        <p:spPr>
          <a:xfrm xmlns:a="http://schemas.openxmlformats.org/drawingml/2006/main">
            <a:off x="762000" y="95250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06A39"/>
                </a:solidFill>
                <a:latin typeface="DejaVu Sans"/>
                <a:ea typeface="DejaVu Sans"/>
                <a:cs typeface="DejaVu Sans"/>
              </a:defRPr>
            </a:defPPr>
          </a:lstStyle>
          <a:p xmlns:a="http://schemas.openxmlformats.org/drawingml/2006/main">
            <a:pPr>
              <a:defRPr sz="3600" b="1">
                <a:solidFill>
                  <a:srgbClr val="006A39"/>
                </a:solidFill>
                <a:latin typeface="DejaVu Sans"/>
                <a:ea typeface="DejaVu Sans"/>
                <a:cs typeface="DejaVu Sans"/>
              </a:defRPr>
            </a:pPr>
            <a:r>
              <a:rPr sz="3600" b="1">
                <a:solidFill>
                  <a:srgbClr val="006A39"/>
                </a:solidFill>
                <a:latin typeface="DejaVu Sans"/>
                <a:ea typeface="DejaVu Sans"/>
                <a:cs typeface="DejaVu Sans"/>
              </a:rPr>
              <a:t>Nhóm làm việc với AI như thế nào?</a:t>
            </a:r>
          </a:p>
        </p:txBody>
      </p:sp>
      <p:sp>
        <p:nvSpPr>
          <p:cNvPr id="3" name="">
            <a:extLst xmlns:a="http://schemas.openxmlformats.org/drawingml/2006/main">
              <a:ext uri="{FF2B5EF4-FFF2-40B4-BE49-F238E27FC236}">
                <a16:creationId xmlns:a16="http://schemas.microsoft.com/office/drawing/2014/main" id="{B68E63AA-FD79-47E0-B79F-E39204767BC4}"/>
              </a:ext>
            </a:extLst>
          </p:cNvPr>
          <p:cNvSpPr>
            <a:spLocks xmlns:a="http://schemas.openxmlformats.org/drawingml/2006/main" noGrp="1"/>
          </p:cNvSpPr>
          <p:nvPr/>
        </p:nvSpPr>
        <p:spPr>
          <a:xfrm xmlns:a="http://schemas.openxmlformats.org/drawingml/2006/main">
            <a:off x="762000" y="2028825"/>
            <a:ext cx="1371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3E4A40"/>
                </a:solidFill>
                <a:latin typeface="DejaVu Sans"/>
                <a:ea typeface="DejaVu Sans"/>
                <a:cs typeface="DejaVu Sans"/>
              </a:defRPr>
            </a:defPPr>
          </a:lstStyle>
          <a:p xmlns:a="http://schemas.openxmlformats.org/drawingml/2006/main">
            <a:pPr>
              <a:defRPr sz="2175" b="0">
                <a:solidFill>
                  <a:srgbClr val="3E4A40"/>
                </a:solidFill>
                <a:latin typeface="DejaVu Sans"/>
                <a:ea typeface="DejaVu Sans"/>
                <a:cs typeface="DejaVu Sans"/>
              </a:defRPr>
            </a:pPr>
            <a:r>
              <a:rPr sz="2175" b="0">
                <a:solidFill>
                  <a:srgbClr val="3E4A40"/>
                </a:solidFill>
                <a:latin typeface="DejaVu Sans"/>
                <a:ea typeface="DejaVu Sans"/>
                <a:cs typeface="DejaVu Sans"/>
              </a:rPr>
              <a:t>Mỗi công cụ hỗ trợ một phần của quá trình thiết kế.</a:t>
            </a:r>
          </a:p>
        </p:txBody>
      </p:sp>
      <p:graphicFrame>
        <p:nvGraphicFramePr>
          <p:cNvPr id="4" name="">
            <a:extLst xmlns:a="http://schemas.openxmlformats.org/drawingml/2006/main">
              <a:ext uri="{FF2B5EF4-FFF2-40B4-BE49-F238E27FC236}">
                <a16:creationId xmlns:a16="http://schemas.microsoft.com/office/drawing/2014/main" id="{0BA54AFF-F6B9-47AB-B618-024A4D3695B2}"/>
              </a:ext>
            </a:extLst>
          </p:cNvPr>
          <p:cNvGraphicFramePr/>
          <p:nvPr/>
        </p:nvGraphicFramePr>
        <p:xfrm>
          <a:off xmlns:a="http://schemas.openxmlformats.org/drawingml/2006/main" x="762000" y="3152775"/>
          <a:ext xmlns:a="http://schemas.openxmlformats.org/drawingml/2006/main" cx="13716000" cy="3733800"/>
        </p:xfrm>
        <a:graphic xmlns:a="http://schemas.openxmlformats.org/drawingml/2006/main">
          <a:graphicData uri="http://schemas.openxmlformats.org/drawingml/2006/table">
            <a:tbl>
              <a:tblPr/>
              <a:tblGrid>
                <a:gridCol w="2762250"/>
                <a:gridCol w="5000625"/>
                <a:gridCol w="5953125"/>
              </a:tblGrid>
              <a:tr h="933450">
                <a:tc>
                  <a:txBody>
                    <a:bodyPr/>
                    <a:lstStyle/>
                    <a:p>
                      <a:r>
                        <a:rPr sz="2100" b="1">
                          <a:solidFill>
                            <a:srgbClr val="FFFFFF"/>
                          </a:solidFill>
                          <a:latin typeface="DejaVu Sans"/>
                          <a:ea typeface="DejaVu Sans"/>
                          <a:cs typeface="DejaVu Sans"/>
                        </a:rPr>
                        <a:t>Công cụ</a:t>
                      </a:r>
                    </a:p>
                  </a:txBody>
                  <a:tcPr marL="91440" marR="91440" marT="45720" marB="45720">
                    <a:solidFill>
                      <a:srgbClr val="006A39"/>
                    </a:solidFill>
                  </a:tcPr>
                </a:tc>
                <a:tc>
                  <a:txBody>
                    <a:bodyPr/>
                    <a:lstStyle/>
                    <a:p>
                      <a:r>
                        <a:rPr sz="2100" b="1">
                          <a:solidFill>
                            <a:srgbClr val="FFFFFF"/>
                          </a:solidFill>
                          <a:latin typeface="DejaVu Sans"/>
                          <a:ea typeface="DejaVu Sans"/>
                          <a:cs typeface="DejaVu Sans"/>
                        </a:rPr>
                        <a:t>Vai trò</a:t>
                      </a:r>
                    </a:p>
                  </a:txBody>
                  <a:tcPr marL="91440" marR="91440" marT="45720" marB="45720">
                    <a:solidFill>
                      <a:srgbClr val="006A39"/>
                    </a:solidFill>
                  </a:tcPr>
                </a:tc>
                <a:tc>
                  <a:txBody>
                    <a:bodyPr/>
                    <a:lstStyle/>
                    <a:p>
                      <a:r>
                        <a:rPr sz="2100" b="1">
                          <a:solidFill>
                            <a:srgbClr val="FFFFFF"/>
                          </a:solidFill>
                          <a:latin typeface="DejaVu Sans"/>
                          <a:ea typeface="DejaVu Sans"/>
                          <a:cs typeface="DejaVu Sans"/>
                        </a:rPr>
                        <a:t>Nhóm chịu trách nhiệm</a:t>
                      </a:r>
                    </a:p>
                  </a:txBody>
                  <a:tcPr marL="91440" marR="91440" marT="45720" marB="45720">
                    <a:solidFill>
                      <a:srgbClr val="006A39"/>
                    </a:solidFill>
                  </a:tcPr>
                </a:tc>
              </a:tr>
              <a:tr h="933450">
                <a:tc>
                  <a:txBody>
                    <a:bodyPr/>
                    <a:lstStyle/>
                    <a:p>
                      <a:r>
                        <a:rPr sz="2175" b="0">
                          <a:solidFill>
                            <a:srgbClr val="191C1B"/>
                          </a:solidFill>
                          <a:latin typeface="DejaVu Sans"/>
                          <a:ea typeface="DejaVu Sans"/>
                          <a:cs typeface="DejaVu Sans"/>
                        </a:rPr>
                        <a:t>ChatGPT / Codex</a:t>
                      </a:r>
                    </a:p>
                  </a:txBody>
                  <a:tcPr marL="91440" marR="91440" marT="45720" marB="45720">
                    <a:solidFill>
                      <a:srgbClr val="FFFFFF"/>
                    </a:solidFill>
                  </a:tcPr>
                </a:tc>
                <a:tc>
                  <a:txBody>
                    <a:bodyPr/>
                    <a:lstStyle/>
                    <a:p>
                      <a:r>
                        <a:rPr sz="2175" b="0">
                          <a:solidFill>
                            <a:srgbClr val="191C1B"/>
                          </a:solidFill>
                          <a:latin typeface="DejaVu Sans"/>
                          <a:ea typeface="DejaVu Sans"/>
                          <a:cs typeface="DejaVu Sans"/>
                        </a:rPr>
                        <a:t>Phân tích luồng, gợi ý, phản biện</a:t>
                      </a:r>
                    </a:p>
                  </a:txBody>
                  <a:tcPr marL="91440" marR="91440" marT="45720" marB="45720">
                    <a:solidFill>
                      <a:srgbClr val="FFFFFF"/>
                    </a:solidFill>
                  </a:tcPr>
                </a:tc>
                <a:tc>
                  <a:txBody>
                    <a:bodyPr/>
                    <a:lstStyle/>
                    <a:p>
                      <a:r>
                        <a:rPr sz="2175" b="0">
                          <a:solidFill>
                            <a:srgbClr val="191C1B"/>
                          </a:solidFill>
                          <a:latin typeface="DejaVu Sans"/>
                          <a:ea typeface="DejaVu Sans"/>
                          <a:cs typeface="DejaVu Sans"/>
                        </a:rPr>
                        <a:t>Chọn yêu cầu và kiểm tra lập luận</a:t>
                      </a:r>
                    </a:p>
                  </a:txBody>
                  <a:tcPr marL="91440" marR="91440" marT="45720" marB="45720">
                    <a:solidFill>
                      <a:srgbClr val="FFFFFF"/>
                    </a:solidFill>
                  </a:tcPr>
                </a:tc>
              </a:tr>
              <a:tr h="933450">
                <a:tc>
                  <a:txBody>
                    <a:bodyPr/>
                    <a:lstStyle/>
                    <a:p>
                      <a:r>
                        <a:rPr sz="2175" b="0">
                          <a:solidFill>
                            <a:srgbClr val="191C1B"/>
                          </a:solidFill>
                          <a:latin typeface="DejaVu Sans"/>
                          <a:ea typeface="DejaVu Sans"/>
                          <a:cs typeface="DejaVu Sans"/>
                        </a:rPr>
                        <a:t>Google Stitch</a:t>
                      </a:r>
                    </a:p>
                  </a:txBody>
                  <a:tcPr marL="91440" marR="91440" marT="45720" marB="45720">
                    <a:solidFill>
                      <a:srgbClr val="EAF1EC"/>
                    </a:solidFill>
                  </a:tcPr>
                </a:tc>
                <a:tc>
                  <a:txBody>
                    <a:bodyPr/>
                    <a:lstStyle/>
                    <a:p>
                      <a:r>
                        <a:rPr sz="2175" b="0">
                          <a:solidFill>
                            <a:srgbClr val="191C1B"/>
                          </a:solidFill>
                          <a:latin typeface="DejaVu Sans"/>
                          <a:ea typeface="DejaVu Sans"/>
                          <a:cs typeface="DejaVu Sans"/>
                        </a:rPr>
                        <a:t>Tạo phương án giao diện</a:t>
                      </a:r>
                    </a:p>
                  </a:txBody>
                  <a:tcPr marL="91440" marR="91440" marT="45720" marB="45720">
                    <a:solidFill>
                      <a:srgbClr val="EAF1EC"/>
                    </a:solidFill>
                  </a:tcPr>
                </a:tc>
                <a:tc>
                  <a:txBody>
                    <a:bodyPr/>
                    <a:lstStyle/>
                    <a:p>
                      <a:r>
                        <a:rPr sz="2175" b="0">
                          <a:solidFill>
                            <a:srgbClr val="191C1B"/>
                          </a:solidFill>
                          <a:latin typeface="DejaVu Sans"/>
                          <a:ea typeface="DejaVu Sans"/>
                          <a:cs typeface="DejaVu Sans"/>
                        </a:rPr>
                        <a:t>Chọn bố cục và yêu cầu sửa</a:t>
                      </a:r>
                    </a:p>
                  </a:txBody>
                  <a:tcPr marL="91440" marR="91440" marT="45720" marB="45720">
                    <a:solidFill>
                      <a:srgbClr val="EAF1EC"/>
                    </a:solidFill>
                  </a:tcPr>
                </a:tc>
              </a:tr>
              <a:tr h="933450">
                <a:tc>
                  <a:txBody>
                    <a:bodyPr/>
                    <a:lstStyle/>
                    <a:p>
                      <a:r>
                        <a:rPr sz="2175" b="0">
                          <a:solidFill>
                            <a:srgbClr val="191C1B"/>
                          </a:solidFill>
                          <a:latin typeface="DejaVu Sans"/>
                          <a:ea typeface="DejaVu Sans"/>
                          <a:cs typeface="DejaVu Sans"/>
                        </a:rPr>
                        <a:t>Figma</a:t>
                      </a:r>
                    </a:p>
                  </a:txBody>
                  <a:tcPr marL="91440" marR="91440" marT="45720" marB="45720">
                    <a:solidFill>
                      <a:srgbClr val="FFFFFF"/>
                    </a:solidFill>
                  </a:tcPr>
                </a:tc>
                <a:tc>
                  <a:txBody>
                    <a:bodyPr/>
                    <a:lstStyle/>
                    <a:p>
                      <a:r>
                        <a:rPr sz="2175" b="0">
                          <a:solidFill>
                            <a:srgbClr val="191C1B"/>
                          </a:solidFill>
                          <a:latin typeface="DejaVu Sans"/>
                          <a:ea typeface="DejaVu Sans"/>
                          <a:cs typeface="DejaVu Sans"/>
                        </a:rPr>
                        <a:t>Chỉnh UI và xây prototype</a:t>
                      </a:r>
                    </a:p>
                  </a:txBody>
                  <a:tcPr marL="91440" marR="91440" marT="45720" marB="45720">
                    <a:solidFill>
                      <a:srgbClr val="FFFFFF"/>
                    </a:solidFill>
                  </a:tcPr>
                </a:tc>
                <a:tc>
                  <a:txBody>
                    <a:bodyPr/>
                    <a:lstStyle/>
                    <a:p>
                      <a:r>
                        <a:rPr sz="2175" b="0">
                          <a:solidFill>
                            <a:srgbClr val="191C1B"/>
                          </a:solidFill>
                          <a:latin typeface="DejaVu Sans"/>
                          <a:ea typeface="DejaVu Sans"/>
                          <a:cs typeface="DejaVu Sans"/>
                        </a:rPr>
                        <a:t>Kiểm tra màn hình và tương tác</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9050D5B-5AEA-4CD3-B22D-30E1CE407556}"/>
              </a:ext>
            </a:extLst>
          </p:cNvPr>
          <p:cNvSpPr>
            <a:spLocks xmlns:a="http://schemas.openxmlformats.org/drawingml/2006/main" noGrp="1"/>
          </p:cNvSpPr>
          <p:nvPr/>
        </p:nvSpPr>
        <p:spPr>
          <a:xfrm xmlns:a="http://schemas.openxmlformats.org/drawingml/2006/main">
            <a:off x="13525500" y="323850"/>
            <a:ext cx="100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006A39"/>
                </a:solidFill>
                <a:latin typeface="DejaVu Sans"/>
                <a:ea typeface="DejaVu Sans"/>
                <a:cs typeface="DejaVu Sans"/>
              </a:defRPr>
            </a:defPPr>
          </a:lstStyle>
          <a:p xmlns:a="http://schemas.openxmlformats.org/drawingml/2006/main">
            <a:pPr>
              <a:defRPr sz="1350" b="0">
                <a:solidFill>
                  <a:srgbClr val="006A39"/>
                </a:solidFill>
                <a:latin typeface="DejaVu Sans"/>
                <a:ea typeface="DejaVu Sans"/>
                <a:cs typeface="DejaVu Sans"/>
              </a:defRPr>
            </a:pPr>
            <a:r>
              <a:rPr sz="1350" b="0">
                <a:solidFill>
                  <a:srgbClr val="006A39"/>
                </a:solidFill>
                <a:latin typeface="DejaVu Sans"/>
                <a:ea typeface="DejaVu Sans"/>
                <a:cs typeface="DejaVu Sans"/>
              </a:rPr>
              <a:t>03 / 12</a:t>
            </a:r>
          </a:p>
        </p:txBody>
      </p:sp>
    </p:spTree>
    <p:extLst>
      <p:ext uri="{BB962C8B-B14F-4D97-AF65-F5344CB8AC3E}">
        <p14:creationId xmlns:p14="http://schemas.microsoft.com/office/powerpoint/2010/main" val="412820519"/>
      </p:ext>
    </p:extLst>
  </p:cSld>
</p:sld>
</file>

<file path=ppt/slides/slide4.xml><?xml version="1.0" encoding="utf-8"?>
<p:sld xmlns:p="http://schemas.openxmlformats.org/presentationml/2006/main">
  <p:cSld>
    <p:bg>
      <p:bgPr>
        <a:solidFill xmlns:a="http://schemas.openxmlformats.org/drawingml/2006/main">
          <a:srgbClr val="F9FA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0C8DC90-7A2C-4D73-8EA6-BC0090B23DCB}"/>
              </a:ext>
            </a:extLst>
          </p:cNvPr>
          <p:cNvSpPr>
            <a:spLocks xmlns:a="http://schemas.openxmlformats.org/drawingml/2006/main" noGrp="1"/>
          </p:cNvSpPr>
          <p:nvPr/>
        </p:nvSpPr>
        <p:spPr>
          <a:xfrm xmlns:a="http://schemas.openxmlformats.org/drawingml/2006/main">
            <a:off x="762000" y="333375"/>
            <a:ext cx="1285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3E4A40"/>
                </a:solidFill>
                <a:latin typeface="DejaVu Sans"/>
                <a:ea typeface="DejaVu Sans"/>
                <a:cs typeface="DejaVu Sans"/>
              </a:defRPr>
            </a:defPPr>
          </a:lstStyle>
          <a:p xmlns:a="http://schemas.openxmlformats.org/drawingml/2006/main">
            <a:pPr>
              <a:defRPr sz="1350" b="0">
                <a:solidFill>
                  <a:srgbClr val="3E4A40"/>
                </a:solidFill>
                <a:latin typeface="DejaVu Sans"/>
                <a:ea typeface="DejaVu Sans"/>
                <a:cs typeface="DejaVu Sans"/>
              </a:defRPr>
            </a:pPr>
            <a:r>
              <a:rPr sz="1350" b="0">
                <a:solidFill>
                  <a:srgbClr val="3E4A40"/>
                </a:solidFill>
                <a:latin typeface="DejaVu Sans"/>
                <a:ea typeface="DejaVu Sans"/>
                <a:cs typeface="DejaVu Sans"/>
              </a:rPr>
              <a:t>FETCH TIMER  /  QUÁ TRÌNH THIẾT KẾ</a:t>
            </a:r>
          </a:p>
        </p:txBody>
      </p:sp>
      <p:sp>
        <p:nvSpPr>
          <p:cNvPr id="2" name="">
            <a:extLst xmlns:a="http://schemas.openxmlformats.org/drawingml/2006/main">
              <a:ext uri="{FF2B5EF4-FFF2-40B4-BE49-F238E27FC236}">
                <a16:creationId xmlns:a16="http://schemas.microsoft.com/office/drawing/2014/main" id="{E280A4E5-E791-4D6F-B354-A4E5FD153DB1}"/>
              </a:ext>
            </a:extLst>
          </p:cNvPr>
          <p:cNvSpPr>
            <a:spLocks xmlns:a="http://schemas.openxmlformats.org/drawingml/2006/main" noGrp="1"/>
          </p:cNvSpPr>
          <p:nvPr/>
        </p:nvSpPr>
        <p:spPr>
          <a:xfrm xmlns:a="http://schemas.openxmlformats.org/drawingml/2006/main">
            <a:off x="762000" y="95250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06A39"/>
                </a:solidFill>
                <a:latin typeface="DejaVu Sans"/>
                <a:ea typeface="DejaVu Sans"/>
                <a:cs typeface="DejaVu Sans"/>
              </a:defRPr>
            </a:defPPr>
          </a:lstStyle>
          <a:p xmlns:a="http://schemas.openxmlformats.org/drawingml/2006/main">
            <a:pPr>
              <a:defRPr sz="3600" b="1">
                <a:solidFill>
                  <a:srgbClr val="006A39"/>
                </a:solidFill>
                <a:latin typeface="DejaVu Sans"/>
                <a:ea typeface="DejaVu Sans"/>
                <a:cs typeface="DejaVu Sans"/>
              </a:defRPr>
            </a:pPr>
            <a:r>
              <a:rPr sz="3600" b="1">
                <a:solidFill>
                  <a:srgbClr val="006A39"/>
                </a:solidFill>
                <a:latin typeface="DejaVu Sans"/>
                <a:ea typeface="DejaVu Sans"/>
                <a:cs typeface="DejaVu Sans"/>
              </a:rPr>
              <a:t>Trước khi tạo UI: làm rõ yêu cầu</a:t>
            </a:r>
          </a:p>
        </p:txBody>
      </p:sp>
      <p:sp>
        <p:nvSpPr>
          <p:cNvPr id="3" name="">
            <a:extLst xmlns:a="http://schemas.openxmlformats.org/drawingml/2006/main">
              <a:ext uri="{FF2B5EF4-FFF2-40B4-BE49-F238E27FC236}">
                <a16:creationId xmlns:a16="http://schemas.microsoft.com/office/drawing/2014/main" id="{F732C996-816C-41BF-9C2F-C7A1D04ACBE8}"/>
              </a:ext>
            </a:extLst>
          </p:cNvPr>
          <p:cNvSpPr>
            <a:spLocks xmlns:a="http://schemas.openxmlformats.org/drawingml/2006/main" noGrp="1"/>
          </p:cNvSpPr>
          <p:nvPr/>
        </p:nvSpPr>
        <p:spPr>
          <a:xfrm xmlns:a="http://schemas.openxmlformats.org/drawingml/2006/main">
            <a:off x="762000" y="2028825"/>
            <a:ext cx="1371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3E4A40"/>
                </a:solidFill>
                <a:latin typeface="DejaVu Sans"/>
                <a:ea typeface="DejaVu Sans"/>
                <a:cs typeface="DejaVu Sans"/>
              </a:defRPr>
            </a:defPPr>
          </a:lstStyle>
          <a:p xmlns:a="http://schemas.openxmlformats.org/drawingml/2006/main">
            <a:pPr>
              <a:defRPr sz="2175" b="0">
                <a:solidFill>
                  <a:srgbClr val="3E4A40"/>
                </a:solidFill>
                <a:latin typeface="DejaVu Sans"/>
                <a:ea typeface="DejaVu Sans"/>
                <a:cs typeface="DejaVu Sans"/>
              </a:defRPr>
            </a:pPr>
            <a:r>
              <a:rPr sz="2175" b="0">
                <a:solidFill>
                  <a:srgbClr val="3E4A40"/>
                </a:solidFill>
                <a:latin typeface="DejaVu Sans"/>
                <a:ea typeface="DejaVu Sans"/>
                <a:cs typeface="DejaVu Sans"/>
              </a:rPr>
              <a:t>Một màn hình cần có mục đích, thao tác chính và kết quả rõ ràng.</a:t>
            </a:r>
          </a:p>
        </p:txBody>
      </p:sp>
      <p:sp>
        <p:nvSpPr>
          <p:cNvPr id="4" name="">
            <a:extLst xmlns:a="http://schemas.openxmlformats.org/drawingml/2006/main">
              <a:ext uri="{FF2B5EF4-FFF2-40B4-BE49-F238E27FC236}">
                <a16:creationId xmlns:a16="http://schemas.microsoft.com/office/drawing/2014/main" id="{28FA582F-9C7C-415E-99A6-205B168EC93E}"/>
              </a:ext>
            </a:extLst>
          </p:cNvPr>
          <p:cNvSpPr>
            <a:spLocks xmlns:a="http://schemas.openxmlformats.org/drawingml/2006/main" noGrp="1"/>
          </p:cNvSpPr>
          <p:nvPr/>
        </p:nvSpPr>
        <p:spPr>
          <a:xfrm xmlns:a="http://schemas.openxmlformats.org/drawingml/2006/main">
            <a:off x="762000" y="3133725"/>
            <a:ext cx="85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006A39"/>
                </a:solidFill>
                <a:latin typeface="DejaVu Sans"/>
                <a:ea typeface="DejaVu Sans"/>
                <a:cs typeface="DejaVu Sans"/>
              </a:defRPr>
            </a:defPPr>
          </a:lstStyle>
          <a:p xmlns:a="http://schemas.openxmlformats.org/drawingml/2006/main">
            <a:pPr>
              <a:defRPr sz="2775" b="1">
                <a:solidFill>
                  <a:srgbClr val="006A39"/>
                </a:solidFill>
                <a:latin typeface="DejaVu Sans"/>
                <a:ea typeface="DejaVu Sans"/>
                <a:cs typeface="DejaVu Sans"/>
              </a:defRPr>
            </a:pPr>
            <a:r>
              <a:rPr sz="2775" b="1">
                <a:solidFill>
                  <a:srgbClr val="006A39"/>
                </a:solidFill>
                <a:latin typeface="DejaVu Sans"/>
                <a:ea typeface="DejaVu Sans"/>
                <a:cs typeface="DejaVu Sans"/>
              </a:rPr>
              <a:t>01</a:t>
            </a:r>
          </a:p>
        </p:txBody>
      </p:sp>
      <p:sp>
        <p:nvSpPr>
          <p:cNvPr id="5" name="">
            <a:extLst xmlns:a="http://schemas.openxmlformats.org/drawingml/2006/main">
              <a:ext uri="{FF2B5EF4-FFF2-40B4-BE49-F238E27FC236}">
                <a16:creationId xmlns:a16="http://schemas.microsoft.com/office/drawing/2014/main" id="{EDF68A6B-6FD6-44B3-BD9A-771B3E9E5DCE}"/>
              </a:ext>
            </a:extLst>
          </p:cNvPr>
          <p:cNvSpPr>
            <a:spLocks xmlns:a="http://schemas.openxmlformats.org/drawingml/2006/main" noGrp="1"/>
          </p:cNvSpPr>
          <p:nvPr/>
        </p:nvSpPr>
        <p:spPr>
          <a:xfrm xmlns:a="http://schemas.openxmlformats.org/drawingml/2006/main">
            <a:off x="1809750" y="3133725"/>
            <a:ext cx="4000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91C1B"/>
                </a:solidFill>
                <a:latin typeface="DejaVu Sans"/>
                <a:ea typeface="DejaVu Sans"/>
                <a:cs typeface="DejaVu Sans"/>
              </a:defRPr>
            </a:defPPr>
          </a:lstStyle>
          <a:p xmlns:a="http://schemas.openxmlformats.org/drawingml/2006/main">
            <a:pPr>
              <a:defRPr sz="2400" b="1">
                <a:solidFill>
                  <a:srgbClr val="191C1B"/>
                </a:solidFill>
                <a:latin typeface="DejaVu Sans"/>
                <a:ea typeface="DejaVu Sans"/>
                <a:cs typeface="DejaVu Sans"/>
              </a:defRPr>
            </a:pPr>
            <a:r>
              <a:rPr sz="2400" b="1">
                <a:solidFill>
                  <a:srgbClr val="191C1B"/>
                </a:solidFill>
                <a:latin typeface="DejaVu Sans"/>
                <a:ea typeface="DejaVu Sans"/>
                <a:cs typeface="DejaVu Sans"/>
              </a:rPr>
              <a:t>Người dùng</a:t>
            </a:r>
          </a:p>
        </p:txBody>
      </p:sp>
      <p:sp>
        <p:nvSpPr>
          <p:cNvPr id="6" name="">
            <a:extLst xmlns:a="http://schemas.openxmlformats.org/drawingml/2006/main">
              <a:ext uri="{FF2B5EF4-FFF2-40B4-BE49-F238E27FC236}">
                <a16:creationId xmlns:a16="http://schemas.microsoft.com/office/drawing/2014/main" id="{02C2237E-1542-47E4-BCEA-9CDF023B9BA2}"/>
              </a:ext>
            </a:extLst>
          </p:cNvPr>
          <p:cNvSpPr>
            <a:spLocks xmlns:a="http://schemas.openxmlformats.org/drawingml/2006/main" noGrp="1"/>
          </p:cNvSpPr>
          <p:nvPr/>
        </p:nvSpPr>
        <p:spPr>
          <a:xfrm xmlns:a="http://schemas.openxmlformats.org/drawingml/2006/main">
            <a:off x="6191250" y="3133725"/>
            <a:ext cx="819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91C1B"/>
                </a:solidFill>
                <a:latin typeface="DejaVu Sans"/>
                <a:ea typeface="DejaVu Sans"/>
                <a:cs typeface="DejaVu Sans"/>
              </a:defRPr>
            </a:defPPr>
          </a:lstStyle>
          <a:p xmlns:a="http://schemas.openxmlformats.org/drawingml/2006/main">
            <a:pPr>
              <a:defRPr sz="2325" b="0">
                <a:solidFill>
                  <a:srgbClr val="191C1B"/>
                </a:solidFill>
                <a:latin typeface="DejaVu Sans"/>
                <a:ea typeface="DejaVu Sans"/>
                <a:cs typeface="DejaVu Sans"/>
              </a:defRPr>
            </a:pPr>
            <a:r>
              <a:rPr sz="2325" b="0">
                <a:solidFill>
                  <a:srgbClr val="191C1B"/>
                </a:solidFill>
                <a:latin typeface="DejaVu Sans"/>
                <a:ea typeface="DejaVu Sans"/>
                <a:cs typeface="DejaVu Sans"/>
              </a:rPr>
              <a:t>Sinh viên muốn duy trì hobby trong lịch sinh hoạt thay đổi.</a:t>
            </a:r>
          </a:p>
        </p:txBody>
      </p:sp>
      <p:sp>
        <p:nvSpPr>
          <p:cNvPr id="7" name="">
            <a:extLst xmlns:a="http://schemas.openxmlformats.org/drawingml/2006/main">
              <a:ext uri="{FF2B5EF4-FFF2-40B4-BE49-F238E27FC236}">
                <a16:creationId xmlns:a16="http://schemas.microsoft.com/office/drawing/2014/main" id="{375494A6-3EF6-490A-86BC-9ABCD5115B77}"/>
              </a:ext>
            </a:extLst>
          </p:cNvPr>
          <p:cNvSpPr>
            <a:spLocks xmlns:a="http://schemas.openxmlformats.org/drawingml/2006/main" noGrp="1"/>
          </p:cNvSpPr>
          <p:nvPr/>
        </p:nvSpPr>
        <p:spPr>
          <a:xfrm xmlns:a="http://schemas.openxmlformats.org/drawingml/2006/main">
            <a:off x="762000" y="4543425"/>
            <a:ext cx="85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006A39"/>
                </a:solidFill>
                <a:latin typeface="DejaVu Sans"/>
                <a:ea typeface="DejaVu Sans"/>
                <a:cs typeface="DejaVu Sans"/>
              </a:defRPr>
            </a:defPPr>
          </a:lstStyle>
          <a:p xmlns:a="http://schemas.openxmlformats.org/drawingml/2006/main">
            <a:pPr>
              <a:defRPr sz="2775" b="1">
                <a:solidFill>
                  <a:srgbClr val="006A39"/>
                </a:solidFill>
                <a:latin typeface="DejaVu Sans"/>
                <a:ea typeface="DejaVu Sans"/>
                <a:cs typeface="DejaVu Sans"/>
              </a:defRPr>
            </a:pPr>
            <a:r>
              <a:rPr sz="2775" b="1">
                <a:solidFill>
                  <a:srgbClr val="006A39"/>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F8B1088C-551D-4584-B0E8-10F985B9FD24}"/>
              </a:ext>
            </a:extLst>
          </p:cNvPr>
          <p:cNvSpPr>
            <a:spLocks xmlns:a="http://schemas.openxmlformats.org/drawingml/2006/main" noGrp="1"/>
          </p:cNvSpPr>
          <p:nvPr/>
        </p:nvSpPr>
        <p:spPr>
          <a:xfrm xmlns:a="http://schemas.openxmlformats.org/drawingml/2006/main">
            <a:off x="1809750" y="4543425"/>
            <a:ext cx="4000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91C1B"/>
                </a:solidFill>
                <a:latin typeface="DejaVu Sans"/>
                <a:ea typeface="DejaVu Sans"/>
                <a:cs typeface="DejaVu Sans"/>
              </a:defRPr>
            </a:defPPr>
          </a:lstStyle>
          <a:p xmlns:a="http://schemas.openxmlformats.org/drawingml/2006/main">
            <a:pPr>
              <a:defRPr sz="2400" b="1">
                <a:solidFill>
                  <a:srgbClr val="191C1B"/>
                </a:solidFill>
                <a:latin typeface="DejaVu Sans"/>
                <a:ea typeface="DejaVu Sans"/>
                <a:cs typeface="DejaVu Sans"/>
              </a:defRPr>
            </a:pPr>
            <a:r>
              <a:rPr sz="2400" b="1">
                <a:solidFill>
                  <a:srgbClr val="191C1B"/>
                </a:solidFill>
                <a:latin typeface="DejaVu Sans"/>
                <a:ea typeface="DejaVu Sans"/>
                <a:cs typeface="DejaVu Sans"/>
              </a:rPr>
              <a:t>Nhiệm vụ</a:t>
            </a:r>
          </a:p>
        </p:txBody>
      </p:sp>
      <p:sp>
        <p:nvSpPr>
          <p:cNvPr id="9" name="">
            <a:extLst xmlns:a="http://schemas.openxmlformats.org/drawingml/2006/main">
              <a:ext uri="{FF2B5EF4-FFF2-40B4-BE49-F238E27FC236}">
                <a16:creationId xmlns:a16="http://schemas.microsoft.com/office/drawing/2014/main" id="{24F00D78-8E73-419A-B24A-2F601F6E9917}"/>
              </a:ext>
            </a:extLst>
          </p:cNvPr>
          <p:cNvSpPr>
            <a:spLocks xmlns:a="http://schemas.openxmlformats.org/drawingml/2006/main" noGrp="1"/>
          </p:cNvSpPr>
          <p:nvPr/>
        </p:nvSpPr>
        <p:spPr>
          <a:xfrm xmlns:a="http://schemas.openxmlformats.org/drawingml/2006/main">
            <a:off x="6191250" y="4543425"/>
            <a:ext cx="819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91C1B"/>
                </a:solidFill>
                <a:latin typeface="DejaVu Sans"/>
                <a:ea typeface="DejaVu Sans"/>
                <a:cs typeface="DejaVu Sans"/>
              </a:defRPr>
            </a:defPPr>
          </a:lstStyle>
          <a:p xmlns:a="http://schemas.openxmlformats.org/drawingml/2006/main">
            <a:pPr>
              <a:defRPr sz="2325" b="0">
                <a:solidFill>
                  <a:srgbClr val="191C1B"/>
                </a:solidFill>
                <a:latin typeface="DejaVu Sans"/>
                <a:ea typeface="DejaVu Sans"/>
                <a:cs typeface="DejaVu Sans"/>
              </a:defRPr>
            </a:pPr>
            <a:r>
              <a:rPr sz="2325" b="0">
                <a:solidFill>
                  <a:srgbClr val="191C1B"/>
                </a:solidFill>
                <a:latin typeface="DejaVu Sans"/>
                <a:ea typeface="DejaVu Sans"/>
                <a:cs typeface="DejaVu Sans"/>
              </a:rPr>
              <a:t>Tạo hobby, tập trung thực hiện, tìm động lực từ cộng đồng.</a:t>
            </a:r>
          </a:p>
        </p:txBody>
      </p:sp>
      <p:sp>
        <p:nvSpPr>
          <p:cNvPr id="10" name="">
            <a:extLst xmlns:a="http://schemas.openxmlformats.org/drawingml/2006/main">
              <a:ext uri="{FF2B5EF4-FFF2-40B4-BE49-F238E27FC236}">
                <a16:creationId xmlns:a16="http://schemas.microsoft.com/office/drawing/2014/main" id="{4DF6C332-FBF0-421B-AF74-567246314C8F}"/>
              </a:ext>
            </a:extLst>
          </p:cNvPr>
          <p:cNvSpPr>
            <a:spLocks xmlns:a="http://schemas.openxmlformats.org/drawingml/2006/main" noGrp="1"/>
          </p:cNvSpPr>
          <p:nvPr/>
        </p:nvSpPr>
        <p:spPr>
          <a:xfrm xmlns:a="http://schemas.openxmlformats.org/drawingml/2006/main">
            <a:off x="762000" y="5953125"/>
            <a:ext cx="85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006A39"/>
                </a:solidFill>
                <a:latin typeface="DejaVu Sans"/>
                <a:ea typeface="DejaVu Sans"/>
                <a:cs typeface="DejaVu Sans"/>
              </a:defRPr>
            </a:defPPr>
          </a:lstStyle>
          <a:p xmlns:a="http://schemas.openxmlformats.org/drawingml/2006/main">
            <a:pPr>
              <a:defRPr sz="2775" b="1">
                <a:solidFill>
                  <a:srgbClr val="006A39"/>
                </a:solidFill>
                <a:latin typeface="DejaVu Sans"/>
                <a:ea typeface="DejaVu Sans"/>
                <a:cs typeface="DejaVu Sans"/>
              </a:defRPr>
            </a:pPr>
            <a:r>
              <a:rPr sz="2775" b="1">
                <a:solidFill>
                  <a:srgbClr val="006A39"/>
                </a:solidFill>
                <a:latin typeface="DejaVu Sans"/>
                <a:ea typeface="DejaVu Sans"/>
                <a:cs typeface="DejaVu Sans"/>
              </a:rPr>
              <a:t>03</a:t>
            </a:r>
          </a:p>
        </p:txBody>
      </p:sp>
      <p:sp>
        <p:nvSpPr>
          <p:cNvPr id="11" name="">
            <a:extLst xmlns:a="http://schemas.openxmlformats.org/drawingml/2006/main">
              <a:ext uri="{FF2B5EF4-FFF2-40B4-BE49-F238E27FC236}">
                <a16:creationId xmlns:a16="http://schemas.microsoft.com/office/drawing/2014/main" id="{6642660F-BCDD-4A74-8A03-2BD60D7404B2}"/>
              </a:ext>
            </a:extLst>
          </p:cNvPr>
          <p:cNvSpPr>
            <a:spLocks xmlns:a="http://schemas.openxmlformats.org/drawingml/2006/main" noGrp="1"/>
          </p:cNvSpPr>
          <p:nvPr/>
        </p:nvSpPr>
        <p:spPr>
          <a:xfrm xmlns:a="http://schemas.openxmlformats.org/drawingml/2006/main">
            <a:off x="1809750" y="5953125"/>
            <a:ext cx="4000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91C1B"/>
                </a:solidFill>
                <a:latin typeface="DejaVu Sans"/>
                <a:ea typeface="DejaVu Sans"/>
                <a:cs typeface="DejaVu Sans"/>
              </a:defRPr>
            </a:defPPr>
          </a:lstStyle>
          <a:p xmlns:a="http://schemas.openxmlformats.org/drawingml/2006/main">
            <a:pPr>
              <a:defRPr sz="2400" b="1">
                <a:solidFill>
                  <a:srgbClr val="191C1B"/>
                </a:solidFill>
                <a:latin typeface="DejaVu Sans"/>
                <a:ea typeface="DejaVu Sans"/>
                <a:cs typeface="DejaVu Sans"/>
              </a:defRPr>
            </a:pPr>
            <a:r>
              <a:rPr sz="2400" b="1">
                <a:solidFill>
                  <a:srgbClr val="191C1B"/>
                </a:solidFill>
                <a:latin typeface="DejaVu Sans"/>
                <a:ea typeface="DejaVu Sans"/>
                <a:cs typeface="DejaVu Sans"/>
              </a:rPr>
              <a:t>Tình huống cần tính</a:t>
            </a:r>
          </a:p>
        </p:txBody>
      </p:sp>
      <p:sp>
        <p:nvSpPr>
          <p:cNvPr id="12" name="">
            <a:extLst xmlns:a="http://schemas.openxmlformats.org/drawingml/2006/main">
              <a:ext uri="{FF2B5EF4-FFF2-40B4-BE49-F238E27FC236}">
                <a16:creationId xmlns:a16="http://schemas.microsoft.com/office/drawing/2014/main" id="{4B115972-BAC6-4931-805F-F03ED4DE3806}"/>
              </a:ext>
            </a:extLst>
          </p:cNvPr>
          <p:cNvSpPr>
            <a:spLocks xmlns:a="http://schemas.openxmlformats.org/drawingml/2006/main" noGrp="1"/>
          </p:cNvSpPr>
          <p:nvPr/>
        </p:nvSpPr>
        <p:spPr>
          <a:xfrm xmlns:a="http://schemas.openxmlformats.org/drawingml/2006/main">
            <a:off x="6191250" y="5953125"/>
            <a:ext cx="819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91C1B"/>
                </a:solidFill>
                <a:latin typeface="DejaVu Sans"/>
                <a:ea typeface="DejaVu Sans"/>
                <a:cs typeface="DejaVu Sans"/>
              </a:defRPr>
            </a:defPPr>
          </a:lstStyle>
          <a:p xmlns:a="http://schemas.openxmlformats.org/drawingml/2006/main">
            <a:pPr>
              <a:defRPr sz="2325" b="0">
                <a:solidFill>
                  <a:srgbClr val="191C1B"/>
                </a:solidFill>
                <a:latin typeface="DejaVu Sans"/>
                <a:ea typeface="DejaVu Sans"/>
                <a:cs typeface="DejaVu Sans"/>
              </a:defRPr>
            </a:pPr>
            <a:r>
              <a:rPr sz="2325" b="0">
                <a:solidFill>
                  <a:srgbClr val="191C1B"/>
                </a:solidFill>
                <a:latin typeface="DejaVu Sans"/>
                <a:ea typeface="DejaVu Sans"/>
                <a:cs typeface="DejaVu Sans"/>
              </a:rPr>
              <a:t>Chưa có dữ liệu, nhập thiếu, đổi lịch, tạm dừng, quay lại.</a:t>
            </a:r>
          </a:p>
        </p:txBody>
      </p:sp>
      <p:sp>
        <p:nvSpPr>
          <p:cNvPr id="13" name="">
            <a:extLst xmlns:a="http://schemas.openxmlformats.org/drawingml/2006/main">
              <a:ext uri="{FF2B5EF4-FFF2-40B4-BE49-F238E27FC236}">
                <a16:creationId xmlns:a16="http://schemas.microsoft.com/office/drawing/2014/main" id="{64BFBD38-7D7E-4F3C-A3CF-FD1AD3089747}"/>
              </a:ext>
            </a:extLst>
          </p:cNvPr>
          <p:cNvSpPr>
            <a:spLocks xmlns:a="http://schemas.openxmlformats.org/drawingml/2006/main" noGrp="1"/>
          </p:cNvSpPr>
          <p:nvPr/>
        </p:nvSpPr>
        <p:spPr>
          <a:xfrm xmlns:a="http://schemas.openxmlformats.org/drawingml/2006/main">
            <a:off x="13525500" y="323850"/>
            <a:ext cx="100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006A39"/>
                </a:solidFill>
                <a:latin typeface="DejaVu Sans"/>
                <a:ea typeface="DejaVu Sans"/>
                <a:cs typeface="DejaVu Sans"/>
              </a:defRPr>
            </a:defPPr>
          </a:lstStyle>
          <a:p xmlns:a="http://schemas.openxmlformats.org/drawingml/2006/main">
            <a:pPr>
              <a:defRPr sz="1350" b="0">
                <a:solidFill>
                  <a:srgbClr val="006A39"/>
                </a:solidFill>
                <a:latin typeface="DejaVu Sans"/>
                <a:ea typeface="DejaVu Sans"/>
                <a:cs typeface="DejaVu Sans"/>
              </a:defRPr>
            </a:pPr>
            <a:r>
              <a:rPr sz="1350" b="0">
                <a:solidFill>
                  <a:srgbClr val="006A39"/>
                </a:solidFill>
                <a:latin typeface="DejaVu Sans"/>
                <a:ea typeface="DejaVu Sans"/>
                <a:cs typeface="DejaVu Sans"/>
              </a:rPr>
              <a:t>04 / 12</a:t>
            </a:r>
          </a:p>
        </p:txBody>
      </p:sp>
    </p:spTree>
    <p:extLst>
      <p:ext uri="{BB962C8B-B14F-4D97-AF65-F5344CB8AC3E}">
        <p14:creationId xmlns:p14="http://schemas.microsoft.com/office/powerpoint/2010/main" val="1421371003"/>
      </p:ext>
    </p:extLst>
  </p:cSld>
</p:sld>
</file>

<file path=ppt/slides/slide5.xml><?xml version="1.0" encoding="utf-8"?>
<p:sld xmlns:p="http://schemas.openxmlformats.org/presentationml/2006/main">
  <p:cSld>
    <p:bg>
      <p:bgPr>
        <a:solidFill xmlns:a="http://schemas.openxmlformats.org/drawingml/2006/main">
          <a:srgbClr val="F9FA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E6049FA-4960-4E00-8E98-E6097D41CC75}"/>
              </a:ext>
            </a:extLst>
          </p:cNvPr>
          <p:cNvSpPr>
            <a:spLocks xmlns:a="http://schemas.openxmlformats.org/drawingml/2006/main" noGrp="1"/>
          </p:cNvSpPr>
          <p:nvPr/>
        </p:nvSpPr>
        <p:spPr>
          <a:xfrm xmlns:a="http://schemas.openxmlformats.org/drawingml/2006/main">
            <a:off x="762000" y="333375"/>
            <a:ext cx="1285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3E4A40"/>
                </a:solidFill>
                <a:latin typeface="DejaVu Sans"/>
                <a:ea typeface="DejaVu Sans"/>
                <a:cs typeface="DejaVu Sans"/>
              </a:defRPr>
            </a:defPPr>
          </a:lstStyle>
          <a:p xmlns:a="http://schemas.openxmlformats.org/drawingml/2006/main">
            <a:pPr>
              <a:defRPr sz="1350" b="0">
                <a:solidFill>
                  <a:srgbClr val="3E4A40"/>
                </a:solidFill>
                <a:latin typeface="DejaVu Sans"/>
                <a:ea typeface="DejaVu Sans"/>
                <a:cs typeface="DejaVu Sans"/>
              </a:defRPr>
            </a:pPr>
            <a:r>
              <a:rPr sz="1350" b="0">
                <a:solidFill>
                  <a:srgbClr val="3E4A40"/>
                </a:solidFill>
                <a:latin typeface="DejaVu Sans"/>
                <a:ea typeface="DejaVu Sans"/>
                <a:cs typeface="DejaVu Sans"/>
              </a:rPr>
              <a:t>FETCH TIMER  /  QUÁ TRÌNH THIẾT KẾ</a:t>
            </a:r>
          </a:p>
        </p:txBody>
      </p:sp>
      <p:sp>
        <p:nvSpPr>
          <p:cNvPr id="2" name="">
            <a:extLst xmlns:a="http://schemas.openxmlformats.org/drawingml/2006/main">
              <a:ext uri="{FF2B5EF4-FFF2-40B4-BE49-F238E27FC236}">
                <a16:creationId xmlns:a16="http://schemas.microsoft.com/office/drawing/2014/main" id="{E4EBCC47-0F91-4B97-8883-213B550E1148}"/>
              </a:ext>
            </a:extLst>
          </p:cNvPr>
          <p:cNvSpPr>
            <a:spLocks xmlns:a="http://schemas.openxmlformats.org/drawingml/2006/main" noGrp="1"/>
          </p:cNvSpPr>
          <p:nvPr/>
        </p:nvSpPr>
        <p:spPr>
          <a:xfrm xmlns:a="http://schemas.openxmlformats.org/drawingml/2006/main">
            <a:off x="762000" y="95250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06A39"/>
                </a:solidFill>
                <a:latin typeface="DejaVu Sans"/>
                <a:ea typeface="DejaVu Sans"/>
                <a:cs typeface="DejaVu Sans"/>
              </a:defRPr>
            </a:defPPr>
          </a:lstStyle>
          <a:p xmlns:a="http://schemas.openxmlformats.org/drawingml/2006/main">
            <a:pPr>
              <a:defRPr sz="3600" b="1">
                <a:solidFill>
                  <a:srgbClr val="006A39"/>
                </a:solidFill>
                <a:latin typeface="DejaVu Sans"/>
                <a:ea typeface="DejaVu Sans"/>
                <a:cs typeface="DejaVu Sans"/>
              </a:defRPr>
            </a:pPr>
            <a:r>
              <a:rPr sz="3600" b="1">
                <a:solidFill>
                  <a:srgbClr val="006A39"/>
                </a:solidFill>
                <a:latin typeface="DejaVu Sans"/>
                <a:ea typeface="DejaVu Sans"/>
                <a:cs typeface="DejaVu Sans"/>
              </a:rPr>
              <a:t>Viết yêu cầu rõ cho Stitch</a:t>
            </a:r>
          </a:p>
        </p:txBody>
      </p:sp>
      <p:sp>
        <p:nvSpPr>
          <p:cNvPr id="3" name="">
            <a:extLst xmlns:a="http://schemas.openxmlformats.org/drawingml/2006/main">
              <a:ext uri="{FF2B5EF4-FFF2-40B4-BE49-F238E27FC236}">
                <a16:creationId xmlns:a16="http://schemas.microsoft.com/office/drawing/2014/main" id="{22799A34-CD3B-43AF-BFB7-7182613DD775}"/>
              </a:ext>
            </a:extLst>
          </p:cNvPr>
          <p:cNvSpPr>
            <a:spLocks xmlns:a="http://schemas.openxmlformats.org/drawingml/2006/main" noGrp="1"/>
          </p:cNvSpPr>
          <p:nvPr/>
        </p:nvSpPr>
        <p:spPr>
          <a:xfrm xmlns:a="http://schemas.openxmlformats.org/drawingml/2006/main">
            <a:off x="762000" y="2028825"/>
            <a:ext cx="1371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3E4A40"/>
                </a:solidFill>
                <a:latin typeface="DejaVu Sans"/>
                <a:ea typeface="DejaVu Sans"/>
                <a:cs typeface="DejaVu Sans"/>
              </a:defRPr>
            </a:defPPr>
          </a:lstStyle>
          <a:p xmlns:a="http://schemas.openxmlformats.org/drawingml/2006/main">
            <a:pPr>
              <a:defRPr sz="2175" b="0">
                <a:solidFill>
                  <a:srgbClr val="3E4A40"/>
                </a:solidFill>
                <a:latin typeface="DejaVu Sans"/>
                <a:ea typeface="DejaVu Sans"/>
                <a:cs typeface="DejaVu Sans"/>
              </a:defRPr>
            </a:pPr>
            <a:r>
              <a:rPr sz="2175" b="0">
                <a:solidFill>
                  <a:srgbClr val="3E4A40"/>
                </a:solidFill>
                <a:latin typeface="DejaVu Sans"/>
                <a:ea typeface="DejaVu Sans"/>
                <a:cs typeface="DejaVu Sans"/>
              </a:rPr>
              <a:t>Cho AI biết màn nào cần tạo và người dùng sẽ làm gì.</a:t>
            </a:r>
          </a:p>
        </p:txBody>
      </p:sp>
      <p:sp>
        <p:nvSpPr>
          <p:cNvPr id="4" name="">
            <a:extLst xmlns:a="http://schemas.openxmlformats.org/drawingml/2006/main">
              <a:ext uri="{FF2B5EF4-FFF2-40B4-BE49-F238E27FC236}">
                <a16:creationId xmlns:a16="http://schemas.microsoft.com/office/drawing/2014/main" id="{D0E03FBB-A662-49F9-89A4-3F1DE34DB2B8}"/>
              </a:ext>
            </a:extLst>
          </p:cNvPr>
          <p:cNvSpPr>
            <a:spLocks xmlns:a="http://schemas.openxmlformats.org/drawingml/2006/main" noGrp="1"/>
          </p:cNvSpPr>
          <p:nvPr/>
        </p:nvSpPr>
        <p:spPr>
          <a:xfrm xmlns:a="http://schemas.openxmlformats.org/drawingml/2006/main">
            <a:off x="762000" y="3105150"/>
            <a:ext cx="6286500" cy="3990975"/>
          </a:xfrm>
          <a:prstGeom xmlns:a="http://schemas.openxmlformats.org/drawingml/2006/main" prst="rect">
            <a:avLst/>
          </a:prstGeom>
          <a:solidFill xmlns:a="http://schemas.openxmlformats.org/drawingml/2006/main">
            <a:srgbClr val="EAF1E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4EBE274-AC64-4F43-B625-7F9FA5C281B8}"/>
              </a:ext>
            </a:extLst>
          </p:cNvPr>
          <p:cNvSpPr>
            <a:spLocks xmlns:a="http://schemas.openxmlformats.org/drawingml/2006/main" noGrp="1"/>
          </p:cNvSpPr>
          <p:nvPr/>
        </p:nvSpPr>
        <p:spPr>
          <a:xfrm xmlns:a="http://schemas.openxmlformats.org/drawingml/2006/main">
            <a:off x="1047750" y="3400425"/>
            <a:ext cx="571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39"/>
                </a:solidFill>
                <a:latin typeface="DejaVu Sans"/>
                <a:ea typeface="DejaVu Sans"/>
                <a:cs typeface="DejaVu Sans"/>
              </a:defRPr>
            </a:defPPr>
          </a:lstStyle>
          <a:p xmlns:a="http://schemas.openxmlformats.org/drawingml/2006/main">
            <a:pPr>
              <a:defRPr sz="1725" b="1">
                <a:solidFill>
                  <a:srgbClr val="006A39"/>
                </a:solidFill>
                <a:latin typeface="DejaVu Sans"/>
                <a:ea typeface="DejaVu Sans"/>
                <a:cs typeface="DejaVu Sans"/>
              </a:defRPr>
            </a:pPr>
            <a:r>
              <a:rPr sz="1725" b="1">
                <a:solidFill>
                  <a:srgbClr val="006A39"/>
                </a:solidFill>
                <a:latin typeface="DejaVu Sans"/>
                <a:ea typeface="DejaVu Sans"/>
                <a:cs typeface="DejaVu Sans"/>
              </a:rPr>
              <a:t>VÍ DỤ YÊU CẦU</a:t>
            </a:r>
          </a:p>
        </p:txBody>
      </p:sp>
      <p:sp>
        <p:nvSpPr>
          <p:cNvPr id="6" name="">
            <a:extLst xmlns:a="http://schemas.openxmlformats.org/drawingml/2006/main">
              <a:ext uri="{FF2B5EF4-FFF2-40B4-BE49-F238E27FC236}">
                <a16:creationId xmlns:a16="http://schemas.microsoft.com/office/drawing/2014/main" id="{B54A0A45-05E1-4F2C-B5AD-22C8F379BCBC}"/>
              </a:ext>
            </a:extLst>
          </p:cNvPr>
          <p:cNvSpPr>
            <a:spLocks xmlns:a="http://schemas.openxmlformats.org/drawingml/2006/main" noGrp="1"/>
          </p:cNvSpPr>
          <p:nvPr/>
        </p:nvSpPr>
        <p:spPr>
          <a:xfrm xmlns:a="http://schemas.openxmlformats.org/drawingml/2006/main">
            <a:off x="1047750" y="4048125"/>
            <a:ext cx="5715000"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91C1B"/>
                </a:solidFill>
                <a:latin typeface="DejaVu Sans"/>
                <a:ea typeface="DejaVu Sans"/>
                <a:cs typeface="DejaVu Sans"/>
              </a:defRPr>
            </a:defPPr>
          </a:lstStyle>
          <a:p xmlns:a="http://schemas.openxmlformats.org/drawingml/2006/main">
            <a:pPr>
              <a:defRPr sz="2550" b="0">
                <a:solidFill>
                  <a:srgbClr val="191C1B"/>
                </a:solidFill>
                <a:latin typeface="DejaVu Sans"/>
                <a:ea typeface="DejaVu Sans"/>
                <a:cs typeface="DejaVu Sans"/>
              </a:defRPr>
            </a:pPr>
            <a:r>
              <a:rPr sz="2550" b="0">
                <a:solidFill>
                  <a:srgbClr val="191C1B"/>
                </a:solidFill>
                <a:latin typeface="DejaVu Sans"/>
                <a:ea typeface="DejaVu Sans"/>
                <a:cs typeface="DejaVu Sans"/>
              </a:rPr>
              <a:t>“Thiết kế màn tạo hobby cho sinh viên. Người dùng nhập tên, chọn mục tiêu và lịch. Làm rõ nút Lưu và thông báo khi chưa nhập tên.”</a:t>
            </a:r>
          </a:p>
        </p:txBody>
      </p:sp>
      <p:sp>
        <p:nvSpPr>
          <p:cNvPr id="7" name="">
            <a:extLst xmlns:a="http://schemas.openxmlformats.org/drawingml/2006/main">
              <a:ext uri="{FF2B5EF4-FFF2-40B4-BE49-F238E27FC236}">
                <a16:creationId xmlns:a16="http://schemas.microsoft.com/office/drawing/2014/main" id="{89ABBE41-83EE-4ADF-BD65-5CAF7D7F689F}"/>
              </a:ext>
            </a:extLst>
          </p:cNvPr>
          <p:cNvSpPr>
            <a:spLocks xmlns:a="http://schemas.openxmlformats.org/drawingml/2006/main" noGrp="1"/>
          </p:cNvSpPr>
          <p:nvPr/>
        </p:nvSpPr>
        <p:spPr>
          <a:xfrm xmlns:a="http://schemas.openxmlformats.org/drawingml/2006/main">
            <a:off x="7620000" y="3324225"/>
            <a:ext cx="685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1C1B"/>
                </a:solidFill>
                <a:latin typeface="DejaVu Sans"/>
                <a:ea typeface="DejaVu Sans"/>
                <a:cs typeface="DejaVu Sans"/>
              </a:defRPr>
            </a:defPPr>
          </a:lstStyle>
          <a:p xmlns:a="http://schemas.openxmlformats.org/drawingml/2006/main">
            <a:pPr>
              <a:defRPr sz="2250" b="0">
                <a:solidFill>
                  <a:srgbClr val="191C1B"/>
                </a:solidFill>
                <a:latin typeface="DejaVu Sans"/>
                <a:ea typeface="DejaVu Sans"/>
                <a:cs typeface="DejaVu Sans"/>
              </a:defRPr>
            </a:pPr>
            <a:r>
              <a:rPr sz="2250" b="0">
                <a:solidFill>
                  <a:srgbClr val="191C1B"/>
                </a:solidFill>
                <a:latin typeface="DejaVu Sans"/>
                <a:ea typeface="DejaVu Sans"/>
                <a:cs typeface="DejaVu Sans"/>
              </a:rPr>
              <a:t>Mục tiêu: tạo hobby và đặt lịch theo ngày.</a:t>
            </a:r>
          </a:p>
        </p:txBody>
      </p:sp>
      <p:sp>
        <p:nvSpPr>
          <p:cNvPr id="8" name="">
            <a:extLst xmlns:a="http://schemas.openxmlformats.org/drawingml/2006/main">
              <a:ext uri="{FF2B5EF4-FFF2-40B4-BE49-F238E27FC236}">
                <a16:creationId xmlns:a16="http://schemas.microsoft.com/office/drawing/2014/main" id="{ECC8375C-EBD6-4F2F-A4CF-5E78803D9275}"/>
              </a:ext>
            </a:extLst>
          </p:cNvPr>
          <p:cNvSpPr>
            <a:spLocks xmlns:a="http://schemas.openxmlformats.org/drawingml/2006/main" noGrp="1"/>
          </p:cNvSpPr>
          <p:nvPr/>
        </p:nvSpPr>
        <p:spPr>
          <a:xfrm xmlns:a="http://schemas.openxmlformats.org/drawingml/2006/main">
            <a:off x="7620000" y="4267200"/>
            <a:ext cx="685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1C1B"/>
                </a:solidFill>
                <a:latin typeface="DejaVu Sans"/>
                <a:ea typeface="DejaVu Sans"/>
                <a:cs typeface="DejaVu Sans"/>
              </a:defRPr>
            </a:defPPr>
          </a:lstStyle>
          <a:p xmlns:a="http://schemas.openxmlformats.org/drawingml/2006/main">
            <a:pPr>
              <a:defRPr sz="2250" b="0">
                <a:solidFill>
                  <a:srgbClr val="191C1B"/>
                </a:solidFill>
                <a:latin typeface="DejaVu Sans"/>
                <a:ea typeface="DejaVu Sans"/>
                <a:cs typeface="DejaVu Sans"/>
              </a:defRPr>
            </a:pPr>
            <a:r>
              <a:rPr sz="2250" b="0">
                <a:solidFill>
                  <a:srgbClr val="191C1B"/>
                </a:solidFill>
                <a:latin typeface="DejaVu Sans"/>
                <a:ea typeface="DejaVu Sans"/>
                <a:cs typeface="DejaVu Sans"/>
              </a:rPr>
              <a:t>Thông tin: tên hobby, mục tiêu, ngày và giờ.</a:t>
            </a:r>
          </a:p>
        </p:txBody>
      </p:sp>
      <p:sp>
        <p:nvSpPr>
          <p:cNvPr id="9" name="">
            <a:extLst xmlns:a="http://schemas.openxmlformats.org/drawingml/2006/main">
              <a:ext uri="{FF2B5EF4-FFF2-40B4-BE49-F238E27FC236}">
                <a16:creationId xmlns:a16="http://schemas.microsoft.com/office/drawing/2014/main" id="{116A90A5-4A5E-42FF-83FD-44FEDBD38B25}"/>
              </a:ext>
            </a:extLst>
          </p:cNvPr>
          <p:cNvSpPr>
            <a:spLocks xmlns:a="http://schemas.openxmlformats.org/drawingml/2006/main" noGrp="1"/>
          </p:cNvSpPr>
          <p:nvPr/>
        </p:nvSpPr>
        <p:spPr>
          <a:xfrm xmlns:a="http://schemas.openxmlformats.org/drawingml/2006/main">
            <a:off x="7620000" y="5210175"/>
            <a:ext cx="685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1C1B"/>
                </a:solidFill>
                <a:latin typeface="DejaVu Sans"/>
                <a:ea typeface="DejaVu Sans"/>
                <a:cs typeface="DejaVu Sans"/>
              </a:defRPr>
            </a:defPPr>
          </a:lstStyle>
          <a:p xmlns:a="http://schemas.openxmlformats.org/drawingml/2006/main">
            <a:pPr>
              <a:defRPr sz="2250" b="0">
                <a:solidFill>
                  <a:srgbClr val="191C1B"/>
                </a:solidFill>
                <a:latin typeface="DejaVu Sans"/>
                <a:ea typeface="DejaVu Sans"/>
                <a:cs typeface="DejaVu Sans"/>
              </a:defRPr>
            </a:pPr>
            <a:r>
              <a:rPr sz="2250" b="0">
                <a:solidFill>
                  <a:srgbClr val="191C1B"/>
                </a:solidFill>
                <a:latin typeface="DejaVu Sans"/>
                <a:ea typeface="DejaVu Sans"/>
                <a:cs typeface="DejaVu Sans"/>
              </a:rPr>
              <a:t>Tương tác: Lưu, Quay lại, báo lỗi khi nhập thiếu.</a:t>
            </a:r>
          </a:p>
        </p:txBody>
      </p:sp>
      <p:sp>
        <p:nvSpPr>
          <p:cNvPr id="10" name="">
            <a:extLst xmlns:a="http://schemas.openxmlformats.org/drawingml/2006/main">
              <a:ext uri="{FF2B5EF4-FFF2-40B4-BE49-F238E27FC236}">
                <a16:creationId xmlns:a16="http://schemas.microsoft.com/office/drawing/2014/main" id="{7EBF892D-4CB7-4472-B0AC-07D281C8556C}"/>
              </a:ext>
            </a:extLst>
          </p:cNvPr>
          <p:cNvSpPr>
            <a:spLocks xmlns:a="http://schemas.openxmlformats.org/drawingml/2006/main" noGrp="1"/>
          </p:cNvSpPr>
          <p:nvPr/>
        </p:nvSpPr>
        <p:spPr>
          <a:xfrm xmlns:a="http://schemas.openxmlformats.org/drawingml/2006/main">
            <a:off x="7620000" y="6153150"/>
            <a:ext cx="685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1C1B"/>
                </a:solidFill>
                <a:latin typeface="DejaVu Sans"/>
                <a:ea typeface="DejaVu Sans"/>
                <a:cs typeface="DejaVu Sans"/>
              </a:defRPr>
            </a:defPPr>
          </a:lstStyle>
          <a:p xmlns:a="http://schemas.openxmlformats.org/drawingml/2006/main">
            <a:pPr>
              <a:defRPr sz="2250" b="0">
                <a:solidFill>
                  <a:srgbClr val="191C1B"/>
                </a:solidFill>
                <a:latin typeface="DejaVu Sans"/>
                <a:ea typeface="DejaVu Sans"/>
                <a:cs typeface="DejaVu Sans"/>
              </a:defRPr>
            </a:pPr>
            <a:r>
              <a:rPr sz="2250" b="0">
                <a:solidFill>
                  <a:srgbClr val="191C1B"/>
                </a:solidFill>
                <a:latin typeface="DejaVu Sans"/>
                <a:ea typeface="DejaVu Sans"/>
                <a:cs typeface="DejaVu Sans"/>
              </a:rPr>
              <a:t>Phong cách: nhẹ nhàng; nút chính nổi bật; chữ dễ đọc.</a:t>
            </a:r>
          </a:p>
        </p:txBody>
      </p:sp>
      <p:sp>
        <p:nvSpPr>
          <p:cNvPr id="11" name="">
            <a:extLst xmlns:a="http://schemas.openxmlformats.org/drawingml/2006/main">
              <a:ext uri="{FF2B5EF4-FFF2-40B4-BE49-F238E27FC236}">
                <a16:creationId xmlns:a16="http://schemas.microsoft.com/office/drawing/2014/main" id="{3149C055-B10B-47A7-85A5-60710C1B28B7}"/>
              </a:ext>
            </a:extLst>
          </p:cNvPr>
          <p:cNvSpPr>
            <a:spLocks xmlns:a="http://schemas.openxmlformats.org/drawingml/2006/main" noGrp="1"/>
          </p:cNvSpPr>
          <p:nvPr/>
        </p:nvSpPr>
        <p:spPr>
          <a:xfrm xmlns:a="http://schemas.openxmlformats.org/drawingml/2006/main">
            <a:off x="762000" y="7658100"/>
            <a:ext cx="1343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3E4A40"/>
                </a:solidFill>
                <a:latin typeface="DejaVu Sans"/>
                <a:ea typeface="DejaVu Sans"/>
                <a:cs typeface="DejaVu Sans"/>
              </a:defRPr>
            </a:defPPr>
          </a:lstStyle>
          <a:p xmlns:a="http://schemas.openxmlformats.org/drawingml/2006/main">
            <a:pPr>
              <a:defRPr sz="1575" b="0">
                <a:solidFill>
                  <a:srgbClr val="3E4A40"/>
                </a:solidFill>
                <a:latin typeface="DejaVu Sans"/>
                <a:ea typeface="DejaVu Sans"/>
                <a:cs typeface="DejaVu Sans"/>
              </a:defRPr>
            </a:pPr>
            <a:r>
              <a:rPr sz="1575" b="0">
                <a:solidFill>
                  <a:srgbClr val="3E4A40"/>
                </a:solidFill>
                <a:latin typeface="DejaVu Sans"/>
                <a:ea typeface="DejaVu Sans"/>
                <a:cs typeface="DejaVu Sans"/>
              </a:rPr>
              <a:t>Ví dụ minh họa cách viết yêu cầu; không phải prompt lịch sử đã được xác nhận.</a:t>
            </a:r>
          </a:p>
        </p:txBody>
      </p:sp>
      <p:sp>
        <p:nvSpPr>
          <p:cNvPr id="12" name="">
            <a:extLst xmlns:a="http://schemas.openxmlformats.org/drawingml/2006/main">
              <a:ext uri="{FF2B5EF4-FFF2-40B4-BE49-F238E27FC236}">
                <a16:creationId xmlns:a16="http://schemas.microsoft.com/office/drawing/2014/main" id="{86630FFC-974F-46DF-86BA-13D54E8E8174}"/>
              </a:ext>
            </a:extLst>
          </p:cNvPr>
          <p:cNvSpPr>
            <a:spLocks xmlns:a="http://schemas.openxmlformats.org/drawingml/2006/main" noGrp="1"/>
          </p:cNvSpPr>
          <p:nvPr/>
        </p:nvSpPr>
        <p:spPr>
          <a:xfrm xmlns:a="http://schemas.openxmlformats.org/drawingml/2006/main">
            <a:off x="13525500" y="323850"/>
            <a:ext cx="100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006A39"/>
                </a:solidFill>
                <a:latin typeface="DejaVu Sans"/>
                <a:ea typeface="DejaVu Sans"/>
                <a:cs typeface="DejaVu Sans"/>
              </a:defRPr>
            </a:defPPr>
          </a:lstStyle>
          <a:p xmlns:a="http://schemas.openxmlformats.org/drawingml/2006/main">
            <a:pPr>
              <a:defRPr sz="1350" b="0">
                <a:solidFill>
                  <a:srgbClr val="006A39"/>
                </a:solidFill>
                <a:latin typeface="DejaVu Sans"/>
                <a:ea typeface="DejaVu Sans"/>
                <a:cs typeface="DejaVu Sans"/>
              </a:defRPr>
            </a:pPr>
            <a:r>
              <a:rPr sz="1350" b="0">
                <a:solidFill>
                  <a:srgbClr val="006A39"/>
                </a:solidFill>
                <a:latin typeface="DejaVu Sans"/>
                <a:ea typeface="DejaVu Sans"/>
                <a:cs typeface="DejaVu Sans"/>
              </a:rPr>
              <a:t>05 / 12</a:t>
            </a:r>
          </a:p>
        </p:txBody>
      </p:sp>
    </p:spTree>
    <p:extLst>
      <p:ext uri="{BB962C8B-B14F-4D97-AF65-F5344CB8AC3E}">
        <p14:creationId xmlns:p14="http://schemas.microsoft.com/office/powerpoint/2010/main" val="532744103"/>
      </p:ext>
    </p:extLst>
  </p:cSld>
</p:sld>
</file>

<file path=ppt/slides/slide6.xml><?xml version="1.0" encoding="utf-8"?>
<p:sld xmlns:p="http://schemas.openxmlformats.org/presentationml/2006/main">
  <p:cSld>
    <p:bg>
      <p:bgPr>
        <a:solidFill xmlns:a="http://schemas.openxmlformats.org/drawingml/2006/main">
          <a:srgbClr val="F9FA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E00F671-712F-4F37-9E17-CD8F99DC9D86}"/>
              </a:ext>
            </a:extLst>
          </p:cNvPr>
          <p:cNvSpPr>
            <a:spLocks xmlns:a="http://schemas.openxmlformats.org/drawingml/2006/main" noGrp="1"/>
          </p:cNvSpPr>
          <p:nvPr/>
        </p:nvSpPr>
        <p:spPr>
          <a:xfrm xmlns:a="http://schemas.openxmlformats.org/drawingml/2006/main">
            <a:off x="762000" y="333375"/>
            <a:ext cx="1285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3E4A40"/>
                </a:solidFill>
                <a:latin typeface="DejaVu Sans"/>
                <a:ea typeface="DejaVu Sans"/>
                <a:cs typeface="DejaVu Sans"/>
              </a:defRPr>
            </a:defPPr>
          </a:lstStyle>
          <a:p xmlns:a="http://schemas.openxmlformats.org/drawingml/2006/main">
            <a:pPr>
              <a:defRPr sz="1350" b="0">
                <a:solidFill>
                  <a:srgbClr val="3E4A40"/>
                </a:solidFill>
                <a:latin typeface="DejaVu Sans"/>
                <a:ea typeface="DejaVu Sans"/>
                <a:cs typeface="DejaVu Sans"/>
              </a:defRPr>
            </a:pPr>
            <a:r>
              <a:rPr sz="1350" b="0">
                <a:solidFill>
                  <a:srgbClr val="3E4A40"/>
                </a:solidFill>
                <a:latin typeface="DejaVu Sans"/>
                <a:ea typeface="DejaVu Sans"/>
                <a:cs typeface="DejaVu Sans"/>
              </a:rPr>
              <a:t>FETCH TIMER  /  QUÁ TRÌNH THIẾT KẾ</a:t>
            </a:r>
          </a:p>
        </p:txBody>
      </p:sp>
      <p:sp>
        <p:nvSpPr>
          <p:cNvPr id="2" name="">
            <a:extLst xmlns:a="http://schemas.openxmlformats.org/drawingml/2006/main">
              <a:ext uri="{FF2B5EF4-FFF2-40B4-BE49-F238E27FC236}">
                <a16:creationId xmlns:a16="http://schemas.microsoft.com/office/drawing/2014/main" id="{01516CA1-D4AB-4CA5-92EB-DFA8C849E6F0}"/>
              </a:ext>
            </a:extLst>
          </p:cNvPr>
          <p:cNvSpPr>
            <a:spLocks xmlns:a="http://schemas.openxmlformats.org/drawingml/2006/main" noGrp="1"/>
          </p:cNvSpPr>
          <p:nvPr/>
        </p:nvSpPr>
        <p:spPr>
          <a:xfrm xmlns:a="http://schemas.openxmlformats.org/drawingml/2006/main">
            <a:off x="762000" y="95250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06A39"/>
                </a:solidFill>
                <a:latin typeface="DejaVu Sans"/>
                <a:ea typeface="DejaVu Sans"/>
                <a:cs typeface="DejaVu Sans"/>
              </a:defRPr>
            </a:defPPr>
          </a:lstStyle>
          <a:p xmlns:a="http://schemas.openxmlformats.org/drawingml/2006/main">
            <a:pPr>
              <a:defRPr sz="3600" b="1">
                <a:solidFill>
                  <a:srgbClr val="006A39"/>
                </a:solidFill>
                <a:latin typeface="DejaVu Sans"/>
                <a:ea typeface="DejaVu Sans"/>
                <a:cs typeface="DejaVu Sans"/>
              </a:defRPr>
            </a:pPr>
            <a:r>
              <a:rPr sz="3600" b="1">
                <a:solidFill>
                  <a:srgbClr val="006A39"/>
                </a:solidFill>
                <a:latin typeface="DejaVu Sans"/>
                <a:ea typeface="DejaVu Sans"/>
                <a:cs typeface="DejaVu Sans"/>
              </a:rPr>
              <a:t>Tạo UI theo từng luồng</a:t>
            </a:r>
          </a:p>
        </p:txBody>
      </p:sp>
      <p:sp>
        <p:nvSpPr>
          <p:cNvPr id="3" name="">
            <a:extLst xmlns:a="http://schemas.openxmlformats.org/drawingml/2006/main">
              <a:ext uri="{FF2B5EF4-FFF2-40B4-BE49-F238E27FC236}">
                <a16:creationId xmlns:a16="http://schemas.microsoft.com/office/drawing/2014/main" id="{2EC6C79C-2A74-4526-9C7B-D7917B97BE99}"/>
              </a:ext>
            </a:extLst>
          </p:cNvPr>
          <p:cNvSpPr>
            <a:spLocks xmlns:a="http://schemas.openxmlformats.org/drawingml/2006/main" noGrp="1"/>
          </p:cNvSpPr>
          <p:nvPr/>
        </p:nvSpPr>
        <p:spPr>
          <a:xfrm xmlns:a="http://schemas.openxmlformats.org/drawingml/2006/main">
            <a:off x="762000" y="2028825"/>
            <a:ext cx="1371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3E4A40"/>
                </a:solidFill>
                <a:latin typeface="DejaVu Sans"/>
                <a:ea typeface="DejaVu Sans"/>
                <a:cs typeface="DejaVu Sans"/>
              </a:defRPr>
            </a:defPPr>
          </a:lstStyle>
          <a:p xmlns:a="http://schemas.openxmlformats.org/drawingml/2006/main">
            <a:pPr>
              <a:defRPr sz="2175" b="0">
                <a:solidFill>
                  <a:srgbClr val="3E4A40"/>
                </a:solidFill>
                <a:latin typeface="DejaVu Sans"/>
                <a:ea typeface="DejaVu Sans"/>
                <a:cs typeface="DejaVu Sans"/>
              </a:defRPr>
            </a:pPr>
            <a:r>
              <a:rPr sz="2175" b="0">
                <a:solidFill>
                  <a:srgbClr val="3E4A40"/>
                </a:solidFill>
                <a:latin typeface="DejaVu Sans"/>
                <a:ea typeface="DejaVu Sans"/>
                <a:cs typeface="DejaVu Sans"/>
              </a:rPr>
              <a:t>Chia yêu cầu thành các nhóm màn để giữ mạch thao tác.</a:t>
            </a:r>
          </a:p>
        </p:txBody>
      </p:sp>
      <p:sp>
        <p:nvSpPr>
          <p:cNvPr id="4" name="">
            <a:extLst xmlns:a="http://schemas.openxmlformats.org/drawingml/2006/main">
              <a:ext uri="{FF2B5EF4-FFF2-40B4-BE49-F238E27FC236}">
                <a16:creationId xmlns:a16="http://schemas.microsoft.com/office/drawing/2014/main" id="{AB5287C7-7E8F-4EA1-9F59-C5AAF02B73A7}"/>
              </a:ext>
            </a:extLst>
          </p:cNvPr>
          <p:cNvSpPr>
            <a:spLocks xmlns:a="http://schemas.openxmlformats.org/drawingml/2006/main" noGrp="1"/>
          </p:cNvSpPr>
          <p:nvPr/>
        </p:nvSpPr>
        <p:spPr>
          <a:xfrm xmlns:a="http://schemas.openxmlformats.org/drawingml/2006/main">
            <a:off x="762000" y="3143250"/>
            <a:ext cx="13716000" cy="1181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821508D-349E-484B-8B33-EAD4FE942AD3}"/>
              </a:ext>
            </a:extLst>
          </p:cNvPr>
          <p:cNvSpPr>
            <a:spLocks xmlns:a="http://schemas.openxmlformats.org/drawingml/2006/main" noGrp="1"/>
          </p:cNvSpPr>
          <p:nvPr/>
        </p:nvSpPr>
        <p:spPr>
          <a:xfrm xmlns:a="http://schemas.openxmlformats.org/drawingml/2006/main">
            <a:off x="1000125" y="3457575"/>
            <a:ext cx="357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6A39"/>
                </a:solidFill>
                <a:latin typeface="DejaVu Sans"/>
                <a:ea typeface="DejaVu Sans"/>
                <a:cs typeface="DejaVu Sans"/>
              </a:defRPr>
            </a:defPPr>
          </a:lstStyle>
          <a:p xmlns:a="http://schemas.openxmlformats.org/drawingml/2006/main">
            <a:pPr>
              <a:defRPr sz="2175" b="1">
                <a:solidFill>
                  <a:srgbClr val="006A39"/>
                </a:solidFill>
                <a:latin typeface="DejaVu Sans"/>
                <a:ea typeface="DejaVu Sans"/>
                <a:cs typeface="DejaVu Sans"/>
              </a:defRPr>
            </a:pPr>
            <a:r>
              <a:rPr sz="2175" b="1">
                <a:solidFill>
                  <a:srgbClr val="006A39"/>
                </a:solidFill>
                <a:latin typeface="DejaVu Sans"/>
                <a:ea typeface="DejaVu Sans"/>
                <a:cs typeface="DejaVu Sans"/>
              </a:rPr>
              <a:t>Hobby &amp; lịch</a:t>
            </a:r>
          </a:p>
        </p:txBody>
      </p:sp>
      <p:sp>
        <p:nvSpPr>
          <p:cNvPr id="6" name="">
            <a:extLst xmlns:a="http://schemas.openxmlformats.org/drawingml/2006/main">
              <a:ext uri="{FF2B5EF4-FFF2-40B4-BE49-F238E27FC236}">
                <a16:creationId xmlns:a16="http://schemas.microsoft.com/office/drawing/2014/main" id="{AB3883EA-241D-49BD-BAED-5EF869F3DC69}"/>
              </a:ext>
            </a:extLst>
          </p:cNvPr>
          <p:cNvSpPr>
            <a:spLocks xmlns:a="http://schemas.openxmlformats.org/drawingml/2006/main" noGrp="1"/>
          </p:cNvSpPr>
          <p:nvPr/>
        </p:nvSpPr>
        <p:spPr>
          <a:xfrm xmlns:a="http://schemas.openxmlformats.org/drawingml/2006/main">
            <a:off x="4791075" y="3457575"/>
            <a:ext cx="9286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1C1B"/>
                </a:solidFill>
                <a:latin typeface="DejaVu Sans"/>
                <a:ea typeface="DejaVu Sans"/>
                <a:cs typeface="DejaVu Sans"/>
              </a:defRPr>
            </a:defPPr>
          </a:lstStyle>
          <a:p xmlns:a="http://schemas.openxmlformats.org/drawingml/2006/main">
            <a:pPr>
              <a:defRPr sz="2250" b="0">
                <a:solidFill>
                  <a:srgbClr val="191C1B"/>
                </a:solidFill>
                <a:latin typeface="DejaVu Sans"/>
                <a:ea typeface="DejaVu Sans"/>
                <a:cs typeface="DejaVu Sans"/>
              </a:defRPr>
            </a:pPr>
            <a:r>
              <a:rPr sz="2250" b="0">
                <a:solidFill>
                  <a:srgbClr val="191C1B"/>
                </a:solidFill>
                <a:latin typeface="DejaVu Sans"/>
                <a:ea typeface="DejaVu Sans"/>
                <a:cs typeface="DejaVu Sans"/>
              </a:rPr>
              <a:t>Home  →  Tạo hobby  →  Đặt lịch  →  Lịch ngày</a:t>
            </a:r>
          </a:p>
        </p:txBody>
      </p:sp>
      <p:sp>
        <p:nvSpPr>
          <p:cNvPr id="7" name="">
            <a:extLst xmlns:a="http://schemas.openxmlformats.org/drawingml/2006/main">
              <a:ext uri="{FF2B5EF4-FFF2-40B4-BE49-F238E27FC236}">
                <a16:creationId xmlns:a16="http://schemas.microsoft.com/office/drawing/2014/main" id="{0B26B4CF-ADBC-4D3A-9A31-F372AE2CC51B}"/>
              </a:ext>
            </a:extLst>
          </p:cNvPr>
          <p:cNvSpPr>
            <a:spLocks xmlns:a="http://schemas.openxmlformats.org/drawingml/2006/main" noGrp="1"/>
          </p:cNvSpPr>
          <p:nvPr/>
        </p:nvSpPr>
        <p:spPr>
          <a:xfrm xmlns:a="http://schemas.openxmlformats.org/drawingml/2006/main">
            <a:off x="762000" y="4543425"/>
            <a:ext cx="13716000" cy="1181100"/>
          </a:xfrm>
          <a:prstGeom xmlns:a="http://schemas.openxmlformats.org/drawingml/2006/main" prst="rect">
            <a:avLst/>
          </a:prstGeom>
          <a:solidFill xmlns:a="http://schemas.openxmlformats.org/drawingml/2006/main">
            <a:srgbClr val="EAF1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042F858-A4C0-446C-AB9B-75C31235BCF1}"/>
              </a:ext>
            </a:extLst>
          </p:cNvPr>
          <p:cNvSpPr>
            <a:spLocks xmlns:a="http://schemas.openxmlformats.org/drawingml/2006/main" noGrp="1"/>
          </p:cNvSpPr>
          <p:nvPr/>
        </p:nvSpPr>
        <p:spPr>
          <a:xfrm xmlns:a="http://schemas.openxmlformats.org/drawingml/2006/main">
            <a:off x="1000125" y="4857750"/>
            <a:ext cx="357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6A39"/>
                </a:solidFill>
                <a:latin typeface="DejaVu Sans"/>
                <a:ea typeface="DejaVu Sans"/>
                <a:cs typeface="DejaVu Sans"/>
              </a:defRPr>
            </a:defPPr>
          </a:lstStyle>
          <a:p xmlns:a="http://schemas.openxmlformats.org/drawingml/2006/main">
            <a:pPr>
              <a:defRPr sz="2175" b="1">
                <a:solidFill>
                  <a:srgbClr val="006A39"/>
                </a:solidFill>
                <a:latin typeface="DejaVu Sans"/>
                <a:ea typeface="DejaVu Sans"/>
                <a:cs typeface="DejaVu Sans"/>
              </a:defRPr>
            </a:pPr>
            <a:r>
              <a:rPr sz="2175" b="1">
                <a:solidFill>
                  <a:srgbClr val="006A39"/>
                </a:solidFill>
                <a:latin typeface="DejaVu Sans"/>
                <a:ea typeface="DejaVu Sans"/>
                <a:cs typeface="DejaVu Sans"/>
              </a:rPr>
              <a:t>Focus</a:t>
            </a:r>
          </a:p>
        </p:txBody>
      </p:sp>
      <p:sp>
        <p:nvSpPr>
          <p:cNvPr id="9" name="">
            <a:extLst xmlns:a="http://schemas.openxmlformats.org/drawingml/2006/main">
              <a:ext uri="{FF2B5EF4-FFF2-40B4-BE49-F238E27FC236}">
                <a16:creationId xmlns:a16="http://schemas.microsoft.com/office/drawing/2014/main" id="{A9EEC500-C282-4EB6-9D00-187CC1278670}"/>
              </a:ext>
            </a:extLst>
          </p:cNvPr>
          <p:cNvSpPr>
            <a:spLocks xmlns:a="http://schemas.openxmlformats.org/drawingml/2006/main" noGrp="1"/>
          </p:cNvSpPr>
          <p:nvPr/>
        </p:nvSpPr>
        <p:spPr>
          <a:xfrm xmlns:a="http://schemas.openxmlformats.org/drawingml/2006/main">
            <a:off x="4791075" y="4857750"/>
            <a:ext cx="9286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1C1B"/>
                </a:solidFill>
                <a:latin typeface="DejaVu Sans"/>
                <a:ea typeface="DejaVu Sans"/>
                <a:cs typeface="DejaVu Sans"/>
              </a:defRPr>
            </a:defPPr>
          </a:lstStyle>
          <a:p xmlns:a="http://schemas.openxmlformats.org/drawingml/2006/main">
            <a:pPr>
              <a:defRPr sz="2250" b="0">
                <a:solidFill>
                  <a:srgbClr val="191C1B"/>
                </a:solidFill>
                <a:latin typeface="DejaVu Sans"/>
                <a:ea typeface="DejaVu Sans"/>
                <a:cs typeface="DejaVu Sans"/>
              </a:defRPr>
            </a:pPr>
            <a:r>
              <a:rPr sz="2250" b="0">
                <a:solidFill>
                  <a:srgbClr val="191C1B"/>
                </a:solidFill>
                <a:latin typeface="DejaVu Sans"/>
                <a:ea typeface="DejaVu Sans"/>
                <a:cs typeface="DejaVu Sans"/>
              </a:rPr>
              <a:t>Chọn hobby  →  Thiết lập  →  Đếm giờ  →  Tổng kết</a:t>
            </a:r>
          </a:p>
        </p:txBody>
      </p:sp>
      <p:sp>
        <p:nvSpPr>
          <p:cNvPr id="10" name="">
            <a:extLst xmlns:a="http://schemas.openxmlformats.org/drawingml/2006/main">
              <a:ext uri="{FF2B5EF4-FFF2-40B4-BE49-F238E27FC236}">
                <a16:creationId xmlns:a16="http://schemas.microsoft.com/office/drawing/2014/main" id="{9DA071B1-7CDD-490F-85B0-43C9C4226610}"/>
              </a:ext>
            </a:extLst>
          </p:cNvPr>
          <p:cNvSpPr>
            <a:spLocks xmlns:a="http://schemas.openxmlformats.org/drawingml/2006/main" noGrp="1"/>
          </p:cNvSpPr>
          <p:nvPr/>
        </p:nvSpPr>
        <p:spPr>
          <a:xfrm xmlns:a="http://schemas.openxmlformats.org/drawingml/2006/main">
            <a:off x="762000" y="5943600"/>
            <a:ext cx="13716000" cy="1181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79A9E3F-8F14-4E56-8BAE-FCDF2D50A465}"/>
              </a:ext>
            </a:extLst>
          </p:cNvPr>
          <p:cNvSpPr>
            <a:spLocks xmlns:a="http://schemas.openxmlformats.org/drawingml/2006/main" noGrp="1"/>
          </p:cNvSpPr>
          <p:nvPr/>
        </p:nvSpPr>
        <p:spPr>
          <a:xfrm xmlns:a="http://schemas.openxmlformats.org/drawingml/2006/main">
            <a:off x="1000125" y="6257925"/>
            <a:ext cx="357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6A39"/>
                </a:solidFill>
                <a:latin typeface="DejaVu Sans"/>
                <a:ea typeface="DejaVu Sans"/>
                <a:cs typeface="DejaVu Sans"/>
              </a:defRPr>
            </a:defPPr>
          </a:lstStyle>
          <a:p xmlns:a="http://schemas.openxmlformats.org/drawingml/2006/main">
            <a:pPr>
              <a:defRPr sz="2175" b="1">
                <a:solidFill>
                  <a:srgbClr val="006A39"/>
                </a:solidFill>
                <a:latin typeface="DejaVu Sans"/>
                <a:ea typeface="DejaVu Sans"/>
                <a:cs typeface="DejaVu Sans"/>
              </a:defRPr>
            </a:pPr>
            <a:r>
              <a:rPr sz="2175" b="1">
                <a:solidFill>
                  <a:srgbClr val="006A39"/>
                </a:solidFill>
                <a:latin typeface="DejaVu Sans"/>
                <a:ea typeface="DejaVu Sans"/>
                <a:cs typeface="DejaVu Sans"/>
              </a:rPr>
              <a:t>Cộng đồng</a:t>
            </a:r>
          </a:p>
        </p:txBody>
      </p:sp>
      <p:sp>
        <p:nvSpPr>
          <p:cNvPr id="12" name="">
            <a:extLst xmlns:a="http://schemas.openxmlformats.org/drawingml/2006/main">
              <a:ext uri="{FF2B5EF4-FFF2-40B4-BE49-F238E27FC236}">
                <a16:creationId xmlns:a16="http://schemas.microsoft.com/office/drawing/2014/main" id="{DD8ED187-213C-4783-8CAD-B01DF8F13C37}"/>
              </a:ext>
            </a:extLst>
          </p:cNvPr>
          <p:cNvSpPr>
            <a:spLocks xmlns:a="http://schemas.openxmlformats.org/drawingml/2006/main" noGrp="1"/>
          </p:cNvSpPr>
          <p:nvPr/>
        </p:nvSpPr>
        <p:spPr>
          <a:xfrm xmlns:a="http://schemas.openxmlformats.org/drawingml/2006/main">
            <a:off x="4791075" y="6257925"/>
            <a:ext cx="9286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1C1B"/>
                </a:solidFill>
                <a:latin typeface="DejaVu Sans"/>
                <a:ea typeface="DejaVu Sans"/>
                <a:cs typeface="DejaVu Sans"/>
              </a:defRPr>
            </a:defPPr>
          </a:lstStyle>
          <a:p xmlns:a="http://schemas.openxmlformats.org/drawingml/2006/main">
            <a:pPr>
              <a:defRPr sz="2250" b="0">
                <a:solidFill>
                  <a:srgbClr val="191C1B"/>
                </a:solidFill>
                <a:latin typeface="DejaVu Sans"/>
                <a:ea typeface="DejaVu Sans"/>
                <a:cs typeface="DejaVu Sans"/>
              </a:defRPr>
            </a:pPr>
            <a:r>
              <a:rPr sz="2250" b="0">
                <a:solidFill>
                  <a:srgbClr val="191C1B"/>
                </a:solidFill>
                <a:latin typeface="DejaVu Sans"/>
                <a:ea typeface="DejaVu Sans"/>
                <a:cs typeface="DejaVu Sans"/>
              </a:rPr>
              <a:t>Chia sẻ  →  Tìm nhóm  →  Tham gia  →  Thử thách</a:t>
            </a:r>
          </a:p>
        </p:txBody>
      </p:sp>
      <p:sp>
        <p:nvSpPr>
          <p:cNvPr id="13" name="">
            <a:extLst xmlns:a="http://schemas.openxmlformats.org/drawingml/2006/main">
              <a:ext uri="{FF2B5EF4-FFF2-40B4-BE49-F238E27FC236}">
                <a16:creationId xmlns:a16="http://schemas.microsoft.com/office/drawing/2014/main" id="{9FFCF7C2-5643-4073-BCF1-B230830534AA}"/>
              </a:ext>
            </a:extLst>
          </p:cNvPr>
          <p:cNvSpPr>
            <a:spLocks xmlns:a="http://schemas.openxmlformats.org/drawingml/2006/main" noGrp="1"/>
          </p:cNvSpPr>
          <p:nvPr/>
        </p:nvSpPr>
        <p:spPr>
          <a:xfrm xmlns:a="http://schemas.openxmlformats.org/drawingml/2006/main">
            <a:off x="762000" y="7658100"/>
            <a:ext cx="1343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3E4A40"/>
                </a:solidFill>
                <a:latin typeface="DejaVu Sans"/>
                <a:ea typeface="DejaVu Sans"/>
                <a:cs typeface="DejaVu Sans"/>
              </a:defRPr>
            </a:defPPr>
          </a:lstStyle>
          <a:p xmlns:a="http://schemas.openxmlformats.org/drawingml/2006/main">
            <a:pPr>
              <a:defRPr sz="1575" b="0">
                <a:solidFill>
                  <a:srgbClr val="3E4A40"/>
                </a:solidFill>
                <a:latin typeface="DejaVu Sans"/>
                <a:ea typeface="DejaVu Sans"/>
                <a:cs typeface="DejaVu Sans"/>
              </a:defRPr>
            </a:pPr>
            <a:r>
              <a:rPr sz="1575" b="0">
                <a:solidFill>
                  <a:srgbClr val="3E4A40"/>
                </a:solidFill>
                <a:latin typeface="DejaVu Sans"/>
                <a:ea typeface="DejaVu Sans"/>
                <a:cs typeface="DejaVu Sans"/>
              </a:rPr>
              <a:t>Kiểm tra thêm: nhập thiếu • chưa có dữ liệu • tạm dừng • quay lại.</a:t>
            </a:r>
          </a:p>
        </p:txBody>
      </p:sp>
      <p:sp>
        <p:nvSpPr>
          <p:cNvPr id="14" name="">
            <a:extLst xmlns:a="http://schemas.openxmlformats.org/drawingml/2006/main">
              <a:ext uri="{FF2B5EF4-FFF2-40B4-BE49-F238E27FC236}">
                <a16:creationId xmlns:a16="http://schemas.microsoft.com/office/drawing/2014/main" id="{DCD9A160-74EF-4876-A350-9CD4BD71CFD5}"/>
              </a:ext>
            </a:extLst>
          </p:cNvPr>
          <p:cNvSpPr>
            <a:spLocks xmlns:a="http://schemas.openxmlformats.org/drawingml/2006/main" noGrp="1"/>
          </p:cNvSpPr>
          <p:nvPr/>
        </p:nvSpPr>
        <p:spPr>
          <a:xfrm xmlns:a="http://schemas.openxmlformats.org/drawingml/2006/main">
            <a:off x="13525500" y="323850"/>
            <a:ext cx="100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006A39"/>
                </a:solidFill>
                <a:latin typeface="DejaVu Sans"/>
                <a:ea typeface="DejaVu Sans"/>
                <a:cs typeface="DejaVu Sans"/>
              </a:defRPr>
            </a:defPPr>
          </a:lstStyle>
          <a:p xmlns:a="http://schemas.openxmlformats.org/drawingml/2006/main">
            <a:pPr>
              <a:defRPr sz="1350" b="0">
                <a:solidFill>
                  <a:srgbClr val="006A39"/>
                </a:solidFill>
                <a:latin typeface="DejaVu Sans"/>
                <a:ea typeface="DejaVu Sans"/>
                <a:cs typeface="DejaVu Sans"/>
              </a:defRPr>
            </a:pPr>
            <a:r>
              <a:rPr sz="1350" b="0">
                <a:solidFill>
                  <a:srgbClr val="006A39"/>
                </a:solidFill>
                <a:latin typeface="DejaVu Sans"/>
                <a:ea typeface="DejaVu Sans"/>
                <a:cs typeface="DejaVu Sans"/>
              </a:rPr>
              <a:t>06 / 12</a:t>
            </a:r>
          </a:p>
        </p:txBody>
      </p:sp>
    </p:spTree>
    <p:extLst>
      <p:ext uri="{BB962C8B-B14F-4D97-AF65-F5344CB8AC3E}">
        <p14:creationId xmlns:p14="http://schemas.microsoft.com/office/powerpoint/2010/main" val="1769751107"/>
      </p:ext>
    </p:extLst>
  </p:cSld>
</p:sld>
</file>

<file path=ppt/slides/slide7.xml><?xml version="1.0" encoding="utf-8"?>
<p:sld xmlns:p="http://schemas.openxmlformats.org/presentationml/2006/main">
  <p:cSld>
    <p:bg>
      <p:bgPr>
        <a:solidFill xmlns:a="http://schemas.openxmlformats.org/drawingml/2006/main">
          <a:srgbClr val="F9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8E0A5D3-A9B4-4A05-80BA-03797674024D}"/>
              </a:ext>
            </a:extLst>
          </p:cNvPr>
          <p:cNvSpPr>
            <a:spLocks xmlns:a="http://schemas.openxmlformats.org/drawingml/2006/main" noGrp="1"/>
          </p:cNvSpPr>
          <p:nvPr/>
        </p:nvSpPr>
        <p:spPr>
          <a:xfrm xmlns:a="http://schemas.openxmlformats.org/drawingml/2006/main">
            <a:off x="762000" y="333375"/>
            <a:ext cx="1285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3E4A40"/>
                </a:solidFill>
                <a:latin typeface="DejaVu Sans"/>
                <a:ea typeface="DejaVu Sans"/>
                <a:cs typeface="DejaVu Sans"/>
              </a:defRPr>
            </a:defPPr>
          </a:lstStyle>
          <a:p xmlns:a="http://schemas.openxmlformats.org/drawingml/2006/main">
            <a:pPr>
              <a:defRPr sz="1350" b="0">
                <a:solidFill>
                  <a:srgbClr val="3E4A40"/>
                </a:solidFill>
                <a:latin typeface="DejaVu Sans"/>
                <a:ea typeface="DejaVu Sans"/>
                <a:cs typeface="DejaVu Sans"/>
              </a:defRPr>
            </a:pPr>
            <a:r>
              <a:rPr sz="1350" b="0">
                <a:solidFill>
                  <a:srgbClr val="3E4A40"/>
                </a:solidFill>
                <a:latin typeface="DejaVu Sans"/>
                <a:ea typeface="DejaVu Sans"/>
                <a:cs typeface="DejaVu Sans"/>
              </a:rPr>
              <a:t>FETCH TIMER  /  QUÁ TRÌNH THIẾT KẾ</a:t>
            </a:r>
          </a:p>
        </p:txBody>
      </p:sp>
      <p:sp>
        <p:nvSpPr>
          <p:cNvPr id="2" name="">
            <a:extLst xmlns:a="http://schemas.openxmlformats.org/drawingml/2006/main">
              <a:ext uri="{FF2B5EF4-FFF2-40B4-BE49-F238E27FC236}">
                <a16:creationId xmlns:a16="http://schemas.microsoft.com/office/drawing/2014/main" id="{B3FF087A-F8D8-4655-8E23-701602F275F6}"/>
              </a:ext>
            </a:extLst>
          </p:cNvPr>
          <p:cNvSpPr>
            <a:spLocks xmlns:a="http://schemas.openxmlformats.org/drawingml/2006/main" noGrp="1"/>
          </p:cNvSpPr>
          <p:nvPr/>
        </p:nvSpPr>
        <p:spPr>
          <a:xfrm xmlns:a="http://schemas.openxmlformats.org/drawingml/2006/main">
            <a:off x="762000" y="95250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06A39"/>
                </a:solidFill>
                <a:latin typeface="DejaVu Sans"/>
                <a:ea typeface="DejaVu Sans"/>
                <a:cs typeface="DejaVu Sans"/>
              </a:defRPr>
            </a:defPPr>
          </a:lstStyle>
          <a:p xmlns:a="http://schemas.openxmlformats.org/drawingml/2006/main">
            <a:pPr>
              <a:defRPr sz="3600" b="1">
                <a:solidFill>
                  <a:srgbClr val="006A39"/>
                </a:solidFill>
                <a:latin typeface="DejaVu Sans"/>
                <a:ea typeface="DejaVu Sans"/>
                <a:cs typeface="DejaVu Sans"/>
              </a:defRPr>
            </a:pPr>
            <a:r>
              <a:rPr sz="3600" b="1">
                <a:solidFill>
                  <a:srgbClr val="006A39"/>
                </a:solidFill>
                <a:latin typeface="DejaVu Sans"/>
                <a:ea typeface="DejaVu Sans"/>
                <a:cs typeface="DejaVu Sans"/>
              </a:rPr>
              <a:t>Đọc kết quả AI và chọn chỗ cần sửa</a:t>
            </a:r>
          </a:p>
        </p:txBody>
      </p:sp>
      <p:sp>
        <p:nvSpPr>
          <p:cNvPr id="3" name="">
            <a:extLst xmlns:a="http://schemas.openxmlformats.org/drawingml/2006/main">
              <a:ext uri="{FF2B5EF4-FFF2-40B4-BE49-F238E27FC236}">
                <a16:creationId xmlns:a16="http://schemas.microsoft.com/office/drawing/2014/main" id="{02EC478B-E917-45C4-9902-F0B6881A9324}"/>
              </a:ext>
            </a:extLst>
          </p:cNvPr>
          <p:cNvSpPr>
            <a:spLocks xmlns:a="http://schemas.openxmlformats.org/drawingml/2006/main" noGrp="1"/>
          </p:cNvSpPr>
          <p:nvPr/>
        </p:nvSpPr>
        <p:spPr>
          <a:xfrm xmlns:a="http://schemas.openxmlformats.org/drawingml/2006/main">
            <a:off x="762000" y="2028825"/>
            <a:ext cx="1371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3E4A40"/>
                </a:solidFill>
                <a:latin typeface="DejaVu Sans"/>
                <a:ea typeface="DejaVu Sans"/>
                <a:cs typeface="DejaVu Sans"/>
              </a:defRPr>
            </a:defPPr>
          </a:lstStyle>
          <a:p xmlns:a="http://schemas.openxmlformats.org/drawingml/2006/main">
            <a:pPr>
              <a:defRPr sz="2175" b="0">
                <a:solidFill>
                  <a:srgbClr val="3E4A40"/>
                </a:solidFill>
                <a:latin typeface="DejaVu Sans"/>
                <a:ea typeface="DejaVu Sans"/>
                <a:cs typeface="DejaVu Sans"/>
              </a:defRPr>
            </a:pPr>
            <a:r>
              <a:rPr sz="2175" b="0">
                <a:solidFill>
                  <a:srgbClr val="3E4A40"/>
                </a:solidFill>
                <a:latin typeface="DejaVu Sans"/>
                <a:ea typeface="DejaVu Sans"/>
                <a:cs typeface="DejaVu Sans"/>
              </a:rPr>
              <a:t>Một giao diện đẹp vẫn cần được kiểm tra bằng nhiệm vụ thực tế.</a:t>
            </a:r>
          </a:p>
        </p:txBody>
      </p:sp>
      <p:graphicFrame>
        <p:nvGraphicFramePr>
          <p:cNvPr id="4" name="">
            <a:extLst xmlns:a="http://schemas.openxmlformats.org/drawingml/2006/main">
              <a:ext uri="{FF2B5EF4-FFF2-40B4-BE49-F238E27FC236}">
                <a16:creationId xmlns:a16="http://schemas.microsoft.com/office/drawing/2014/main" id="{1A5A0BA1-F5B0-4E01-993A-17070DBEE78B}"/>
              </a:ext>
            </a:extLst>
          </p:cNvPr>
          <p:cNvGraphicFramePr/>
          <p:nvPr/>
        </p:nvGraphicFramePr>
        <p:xfrm>
          <a:off xmlns:a="http://schemas.openxmlformats.org/drawingml/2006/main" x="762000" y="3152775"/>
          <a:ext xmlns:a="http://schemas.openxmlformats.org/drawingml/2006/main" cx="13716000" cy="4143375"/>
        </p:xfrm>
        <a:graphic xmlns:a="http://schemas.openxmlformats.org/drawingml/2006/main">
          <a:graphicData uri="http://schemas.openxmlformats.org/drawingml/2006/table">
            <a:tbl>
              <a:tblPr/>
              <a:tblGrid>
                <a:gridCol w="5667375"/>
                <a:gridCol w="8048625"/>
              </a:tblGrid>
              <a:tr h="828675">
                <a:tc>
                  <a:txBody>
                    <a:bodyPr/>
                    <a:lstStyle/>
                    <a:p>
                      <a:r>
                        <a:rPr sz="2100" b="1">
                          <a:solidFill>
                            <a:srgbClr val="FFFFFF"/>
                          </a:solidFill>
                          <a:latin typeface="DejaVu Sans"/>
                          <a:ea typeface="DejaVu Sans"/>
                          <a:cs typeface="DejaVu Sans"/>
                        </a:rPr>
                        <a:t>Điểm cần kiểm tra</a:t>
                      </a:r>
                    </a:p>
                  </a:txBody>
                  <a:tcPr marL="91440" marR="91440" marT="45720" marB="45720">
                    <a:solidFill>
                      <a:srgbClr val="006A39"/>
                    </a:solidFill>
                  </a:tcPr>
                </a:tc>
                <a:tc>
                  <a:txBody>
                    <a:bodyPr/>
                    <a:lstStyle/>
                    <a:p>
                      <a:r>
                        <a:rPr sz="2100" b="1">
                          <a:solidFill>
                            <a:srgbClr val="FFFFFF"/>
                          </a:solidFill>
                          <a:latin typeface="DejaVu Sans"/>
                          <a:ea typeface="DejaVu Sans"/>
                          <a:cs typeface="DejaVu Sans"/>
                        </a:rPr>
                        <a:t>Cách xử lý trong thiết kế</a:t>
                      </a:r>
                    </a:p>
                  </a:txBody>
                  <a:tcPr marL="91440" marR="91440" marT="45720" marB="45720">
                    <a:solidFill>
                      <a:srgbClr val="006A39"/>
                    </a:solidFill>
                  </a:tcPr>
                </a:tc>
              </a:tr>
              <a:tr h="828675">
                <a:tc>
                  <a:txBody>
                    <a:bodyPr/>
                    <a:lstStyle/>
                    <a:p>
                      <a:r>
                        <a:rPr sz="2175" b="0">
                          <a:solidFill>
                            <a:srgbClr val="191C1B"/>
                          </a:solidFill>
                          <a:latin typeface="DejaVu Sans"/>
                          <a:ea typeface="DejaVu Sans"/>
                          <a:cs typeface="DejaVu Sans"/>
                        </a:rPr>
                        <a:t>Chữ nhỏ hoặc khó đọc</a:t>
                      </a:r>
                    </a:p>
                  </a:txBody>
                  <a:tcPr marL="91440" marR="91440" marT="45720" marB="45720">
                    <a:solidFill>
                      <a:srgbClr val="FFFFFF"/>
                    </a:solidFill>
                  </a:tcPr>
                </a:tc>
                <a:tc>
                  <a:txBody>
                    <a:bodyPr/>
                    <a:lstStyle/>
                    <a:p>
                      <a:r>
                        <a:rPr sz="2175" b="0">
                          <a:solidFill>
                            <a:srgbClr val="191C1B"/>
                          </a:solidFill>
                          <a:latin typeface="DejaVu Sans"/>
                          <a:ea typeface="DejaVu Sans"/>
                          <a:cs typeface="DejaVu Sans"/>
                        </a:rPr>
                        <a:t>Tăng cỡ chữ và kiểm tra độ tương phản</a:t>
                      </a:r>
                    </a:p>
                  </a:txBody>
                  <a:tcPr marL="91440" marR="91440" marT="45720" marB="45720">
                    <a:solidFill>
                      <a:srgbClr val="FFFFFF"/>
                    </a:solidFill>
                  </a:tcPr>
                </a:tc>
              </a:tr>
              <a:tr h="828675">
                <a:tc>
                  <a:txBody>
                    <a:bodyPr/>
                    <a:lstStyle/>
                    <a:p>
                      <a:r>
                        <a:rPr sz="2175" b="0">
                          <a:solidFill>
                            <a:srgbClr val="191C1B"/>
                          </a:solidFill>
                          <a:latin typeface="DejaVu Sans"/>
                          <a:ea typeface="DejaVu Sans"/>
                          <a:cs typeface="DejaVu Sans"/>
                        </a:rPr>
                        <a:t>Đổi lịch nhưng chưa rõ ngày được chọn</a:t>
                      </a:r>
                    </a:p>
                  </a:txBody>
                  <a:tcPr marL="91440" marR="91440" marT="45720" marB="45720">
                    <a:solidFill>
                      <a:srgbClr val="EAF1EC"/>
                    </a:solidFill>
                  </a:tcPr>
                </a:tc>
                <a:tc>
                  <a:txBody>
                    <a:bodyPr/>
                    <a:lstStyle/>
                    <a:p>
                      <a:r>
                        <a:rPr sz="2175" b="0">
                          <a:solidFill>
                            <a:srgbClr val="191C1B"/>
                          </a:solidFill>
                          <a:latin typeface="DejaVu Sans"/>
                          <a:ea typeface="DejaVu Sans"/>
                          <a:cs typeface="DejaVu Sans"/>
                        </a:rPr>
                        <a:t>Hiển thị ngày và trạng thái chọn rõ hơn</a:t>
                      </a:r>
                    </a:p>
                  </a:txBody>
                  <a:tcPr marL="91440" marR="91440" marT="45720" marB="45720">
                    <a:solidFill>
                      <a:srgbClr val="EAF1EC"/>
                    </a:solidFill>
                  </a:tcPr>
                </a:tc>
              </a:tr>
              <a:tr h="828675">
                <a:tc>
                  <a:txBody>
                    <a:bodyPr/>
                    <a:lstStyle/>
                    <a:p>
                      <a:r>
                        <a:rPr sz="2175" b="0">
                          <a:solidFill>
                            <a:srgbClr val="191C1B"/>
                          </a:solidFill>
                          <a:latin typeface="DejaVu Sans"/>
                          <a:ea typeface="DejaVu Sans"/>
                          <a:cs typeface="DejaVu Sans"/>
                        </a:rPr>
                        <a:t>Focus kết thúc sớm</a:t>
                      </a:r>
                    </a:p>
                  </a:txBody>
                  <a:tcPr marL="91440" marR="91440" marT="45720" marB="45720">
                    <a:solidFill>
                      <a:srgbClr val="FFFFFF"/>
                    </a:solidFill>
                  </a:tcPr>
                </a:tc>
                <a:tc>
                  <a:txBody>
                    <a:bodyPr/>
                    <a:lstStyle/>
                    <a:p>
                      <a:r>
                        <a:rPr sz="2175" b="0">
                          <a:solidFill>
                            <a:srgbClr val="191C1B"/>
                          </a:solidFill>
                          <a:latin typeface="DejaVu Sans"/>
                          <a:ea typeface="DejaVu Sans"/>
                          <a:cs typeface="DejaVu Sans"/>
                        </a:rPr>
                        <a:t>Tổng kết theo thời gian thực tế</a:t>
                      </a:r>
                    </a:p>
                  </a:txBody>
                  <a:tcPr marL="91440" marR="91440" marT="45720" marB="45720">
                    <a:solidFill>
                      <a:srgbClr val="FFFFFF"/>
                    </a:solidFill>
                  </a:tcPr>
                </a:tc>
              </a:tr>
              <a:tr h="828675">
                <a:tc>
                  <a:txBody>
                    <a:bodyPr/>
                    <a:lstStyle/>
                    <a:p>
                      <a:r>
                        <a:rPr sz="2175" b="0">
                          <a:solidFill>
                            <a:srgbClr val="191C1B"/>
                          </a:solidFill>
                          <a:latin typeface="DejaVu Sans"/>
                          <a:ea typeface="DejaVu Sans"/>
                          <a:cs typeface="DejaVu Sans"/>
                        </a:rPr>
                        <a:t>Ảnh thiếu hoặc chữ chồng trong Figma</a:t>
                      </a:r>
                    </a:p>
                  </a:txBody>
                  <a:tcPr marL="91440" marR="91440" marT="45720" marB="45720">
                    <a:solidFill>
                      <a:srgbClr val="EAF1EC"/>
                    </a:solidFill>
                  </a:tcPr>
                </a:tc>
                <a:tc>
                  <a:txBody>
                    <a:bodyPr/>
                    <a:lstStyle/>
                    <a:p>
                      <a:r>
                        <a:rPr sz="2175" b="0">
                          <a:solidFill>
                            <a:srgbClr val="191C1B"/>
                          </a:solidFill>
                          <a:latin typeface="DejaVu Sans"/>
                          <a:ea typeface="DejaVu Sans"/>
                          <a:cs typeface="DejaVu Sans"/>
                        </a:rPr>
                        <a:t>Kiểm tra lại tài nguyên và bố cục</a:t>
                      </a:r>
                    </a:p>
                  </a:txBody>
                  <a:tcPr marL="91440" marR="91440" marT="45720" marB="45720">
                    <a:solidFill>
                      <a:srgbClr val="EAF1EC"/>
                    </a:solidFill>
                  </a:tcPr>
                </a:tc>
              </a:tr>
            </a:tbl>
          </a:graphicData>
        </a:graphic>
      </p:graphicFrame>
      <p:sp>
        <p:nvSpPr>
          <p:cNvPr id="5" name="">
            <a:extLst xmlns:a="http://schemas.openxmlformats.org/drawingml/2006/main">
              <a:ext uri="{FF2B5EF4-FFF2-40B4-BE49-F238E27FC236}">
                <a16:creationId xmlns:a16="http://schemas.microsoft.com/office/drawing/2014/main" id="{1207CB36-00B4-40BB-B5D2-7AFABE58942F}"/>
              </a:ext>
            </a:extLst>
          </p:cNvPr>
          <p:cNvSpPr>
            <a:spLocks xmlns:a="http://schemas.openxmlformats.org/drawingml/2006/main" noGrp="1"/>
          </p:cNvSpPr>
          <p:nvPr/>
        </p:nvSpPr>
        <p:spPr>
          <a:xfrm xmlns:a="http://schemas.openxmlformats.org/drawingml/2006/main">
            <a:off x="762000" y="7658100"/>
            <a:ext cx="1343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3E4A40"/>
                </a:solidFill>
                <a:latin typeface="DejaVu Sans"/>
                <a:ea typeface="DejaVu Sans"/>
                <a:cs typeface="DejaVu Sans"/>
              </a:defRPr>
            </a:defPPr>
          </a:lstStyle>
          <a:p xmlns:a="http://schemas.openxmlformats.org/drawingml/2006/main">
            <a:pPr>
              <a:defRPr sz="1575" b="0">
                <a:solidFill>
                  <a:srgbClr val="3E4A40"/>
                </a:solidFill>
                <a:latin typeface="DejaVu Sans"/>
                <a:ea typeface="DejaVu Sans"/>
                <a:cs typeface="DejaVu Sans"/>
              </a:defRPr>
            </a:pPr>
            <a:r>
              <a:rPr sz="1575" b="0">
                <a:solidFill>
                  <a:srgbClr val="3E4A40"/>
                </a:solidFill>
                <a:latin typeface="DejaVu Sans"/>
                <a:ea typeface="DejaVu Sans"/>
                <a:cs typeface="DejaVu Sans"/>
              </a:rPr>
              <a:t>Đây là các phát hiện và hướng xử lý; cần kiểm tra lại sau khi sửa.</a:t>
            </a:r>
          </a:p>
        </p:txBody>
      </p:sp>
      <p:sp>
        <p:nvSpPr>
          <p:cNvPr id="6" name="">
            <a:extLst xmlns:a="http://schemas.openxmlformats.org/drawingml/2006/main">
              <a:ext uri="{FF2B5EF4-FFF2-40B4-BE49-F238E27FC236}">
                <a16:creationId xmlns:a16="http://schemas.microsoft.com/office/drawing/2014/main" id="{9EC2A6E2-ADA9-4F40-BE03-7E2B63D69A9E}"/>
              </a:ext>
            </a:extLst>
          </p:cNvPr>
          <p:cNvSpPr>
            <a:spLocks xmlns:a="http://schemas.openxmlformats.org/drawingml/2006/main" noGrp="1"/>
          </p:cNvSpPr>
          <p:nvPr/>
        </p:nvSpPr>
        <p:spPr>
          <a:xfrm xmlns:a="http://schemas.openxmlformats.org/drawingml/2006/main">
            <a:off x="13525500" y="323850"/>
            <a:ext cx="100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006A39"/>
                </a:solidFill>
                <a:latin typeface="DejaVu Sans"/>
                <a:ea typeface="DejaVu Sans"/>
                <a:cs typeface="DejaVu Sans"/>
              </a:defRPr>
            </a:defPPr>
          </a:lstStyle>
          <a:p xmlns:a="http://schemas.openxmlformats.org/drawingml/2006/main">
            <a:pPr>
              <a:defRPr sz="1350" b="0">
                <a:solidFill>
                  <a:srgbClr val="006A39"/>
                </a:solidFill>
                <a:latin typeface="DejaVu Sans"/>
                <a:ea typeface="DejaVu Sans"/>
                <a:cs typeface="DejaVu Sans"/>
              </a:defRPr>
            </a:pPr>
            <a:r>
              <a:rPr sz="1350" b="0">
                <a:solidFill>
                  <a:srgbClr val="006A39"/>
                </a:solidFill>
                <a:latin typeface="DejaVu Sans"/>
                <a:ea typeface="DejaVu Sans"/>
                <a:cs typeface="DejaVu Sans"/>
              </a:rPr>
              <a:t>07 / 12</a:t>
            </a:r>
          </a:p>
        </p:txBody>
      </p:sp>
    </p:spTree>
    <p:extLst>
      <p:ext uri="{BB962C8B-B14F-4D97-AF65-F5344CB8AC3E}">
        <p14:creationId xmlns:p14="http://schemas.microsoft.com/office/powerpoint/2010/main" val="184498936"/>
      </p:ext>
    </p:extLst>
  </p:cSld>
</p:sld>
</file>

<file path=ppt/slides/slide8.xml><?xml version="1.0" encoding="utf-8"?>
<p:sld xmlns:p="http://schemas.openxmlformats.org/presentationml/2006/main">
  <p:cSld>
    <p:bg>
      <p:bgPr>
        <a:solidFill xmlns:a="http://schemas.openxmlformats.org/drawingml/2006/main">
          <a:srgbClr val="F9FA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FDA0945-FB6F-4D30-B126-FA880D511711}"/>
              </a:ext>
            </a:extLst>
          </p:cNvPr>
          <p:cNvSpPr>
            <a:spLocks xmlns:a="http://schemas.openxmlformats.org/drawingml/2006/main" noGrp="1"/>
          </p:cNvSpPr>
          <p:nvPr/>
        </p:nvSpPr>
        <p:spPr>
          <a:xfrm xmlns:a="http://schemas.openxmlformats.org/drawingml/2006/main">
            <a:off x="762000" y="333375"/>
            <a:ext cx="1285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3E4A40"/>
                </a:solidFill>
                <a:latin typeface="DejaVu Sans"/>
                <a:ea typeface="DejaVu Sans"/>
                <a:cs typeface="DejaVu Sans"/>
              </a:defRPr>
            </a:defPPr>
          </a:lstStyle>
          <a:p xmlns:a="http://schemas.openxmlformats.org/drawingml/2006/main">
            <a:pPr>
              <a:defRPr sz="1350" b="0">
                <a:solidFill>
                  <a:srgbClr val="3E4A40"/>
                </a:solidFill>
                <a:latin typeface="DejaVu Sans"/>
                <a:ea typeface="DejaVu Sans"/>
                <a:cs typeface="DejaVu Sans"/>
              </a:defRPr>
            </a:pPr>
            <a:r>
              <a:rPr sz="1350" b="0">
                <a:solidFill>
                  <a:srgbClr val="3E4A40"/>
                </a:solidFill>
                <a:latin typeface="DejaVu Sans"/>
                <a:ea typeface="DejaVu Sans"/>
                <a:cs typeface="DejaVu Sans"/>
              </a:rPr>
              <a:t>FETCH TIMER  /  QUÁ TRÌNH THIẾT KẾ</a:t>
            </a:r>
          </a:p>
        </p:txBody>
      </p:sp>
      <p:sp>
        <p:nvSpPr>
          <p:cNvPr id="2" name="">
            <a:extLst xmlns:a="http://schemas.openxmlformats.org/drawingml/2006/main">
              <a:ext uri="{FF2B5EF4-FFF2-40B4-BE49-F238E27FC236}">
                <a16:creationId xmlns:a16="http://schemas.microsoft.com/office/drawing/2014/main" id="{3EA8903E-D018-4298-9EDE-16FB2ACEE361}"/>
              </a:ext>
            </a:extLst>
          </p:cNvPr>
          <p:cNvSpPr>
            <a:spLocks xmlns:a="http://schemas.openxmlformats.org/drawingml/2006/main" noGrp="1"/>
          </p:cNvSpPr>
          <p:nvPr/>
        </p:nvSpPr>
        <p:spPr>
          <a:xfrm xmlns:a="http://schemas.openxmlformats.org/drawingml/2006/main">
            <a:off x="762000" y="95250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06A39"/>
                </a:solidFill>
                <a:latin typeface="DejaVu Sans"/>
                <a:ea typeface="DejaVu Sans"/>
                <a:cs typeface="DejaVu Sans"/>
              </a:defRPr>
            </a:defPPr>
          </a:lstStyle>
          <a:p xmlns:a="http://schemas.openxmlformats.org/drawingml/2006/main">
            <a:pPr>
              <a:defRPr sz="3600" b="1">
                <a:solidFill>
                  <a:srgbClr val="006A39"/>
                </a:solidFill>
                <a:latin typeface="DejaVu Sans"/>
                <a:ea typeface="DejaVu Sans"/>
                <a:cs typeface="DejaVu Sans"/>
              </a:defRPr>
            </a:pPr>
            <a:r>
              <a:rPr sz="3600" b="1">
                <a:solidFill>
                  <a:srgbClr val="006A39"/>
                </a:solidFill>
                <a:latin typeface="DejaVu Sans"/>
                <a:ea typeface="DejaVu Sans"/>
                <a:cs typeface="DejaVu Sans"/>
              </a:rPr>
              <a:t>Dùng Figma để hoàn thiện thiết kế</a:t>
            </a:r>
          </a:p>
        </p:txBody>
      </p:sp>
      <p:sp>
        <p:nvSpPr>
          <p:cNvPr id="3" name="">
            <a:extLst xmlns:a="http://schemas.openxmlformats.org/drawingml/2006/main">
              <a:ext uri="{FF2B5EF4-FFF2-40B4-BE49-F238E27FC236}">
                <a16:creationId xmlns:a16="http://schemas.microsoft.com/office/drawing/2014/main" id="{323A1CDB-3FA8-4C4F-8400-6699EDCB2E0C}"/>
              </a:ext>
            </a:extLst>
          </p:cNvPr>
          <p:cNvSpPr>
            <a:spLocks xmlns:a="http://schemas.openxmlformats.org/drawingml/2006/main" noGrp="1"/>
          </p:cNvSpPr>
          <p:nvPr/>
        </p:nvSpPr>
        <p:spPr>
          <a:xfrm xmlns:a="http://schemas.openxmlformats.org/drawingml/2006/main">
            <a:off x="762000" y="2028825"/>
            <a:ext cx="1371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3E4A40"/>
                </a:solidFill>
                <a:latin typeface="DejaVu Sans"/>
                <a:ea typeface="DejaVu Sans"/>
                <a:cs typeface="DejaVu Sans"/>
              </a:defRPr>
            </a:defPPr>
          </a:lstStyle>
          <a:p xmlns:a="http://schemas.openxmlformats.org/drawingml/2006/main">
            <a:pPr>
              <a:defRPr sz="2175" b="0">
                <a:solidFill>
                  <a:srgbClr val="3E4A40"/>
                </a:solidFill>
                <a:latin typeface="DejaVu Sans"/>
                <a:ea typeface="DejaVu Sans"/>
                <a:cs typeface="DejaVu Sans"/>
              </a:defRPr>
            </a:pPr>
            <a:r>
              <a:rPr sz="2175" b="0">
                <a:solidFill>
                  <a:srgbClr val="3E4A40"/>
                </a:solidFill>
                <a:latin typeface="DejaVu Sans"/>
                <a:ea typeface="DejaVu Sans"/>
                <a:cs typeface="DejaVu Sans"/>
              </a:rPr>
              <a:t>Đưa các phương án UI vào cùng một nơi để chỉnh và đối chiếu.</a:t>
            </a:r>
          </a:p>
        </p:txBody>
      </p:sp>
      <p:sp>
        <p:nvSpPr>
          <p:cNvPr id="4" name="">
            <a:extLst xmlns:a="http://schemas.openxmlformats.org/drawingml/2006/main">
              <a:ext uri="{FF2B5EF4-FFF2-40B4-BE49-F238E27FC236}">
                <a16:creationId xmlns:a16="http://schemas.microsoft.com/office/drawing/2014/main" id="{8F276868-D9F6-4C52-9945-58CEC805216D}"/>
              </a:ext>
            </a:extLst>
          </p:cNvPr>
          <p:cNvSpPr>
            <a:spLocks xmlns:a="http://schemas.openxmlformats.org/drawingml/2006/main" noGrp="1"/>
          </p:cNvSpPr>
          <p:nvPr/>
        </p:nvSpPr>
        <p:spPr>
          <a:xfrm xmlns:a="http://schemas.openxmlformats.org/drawingml/2006/main">
            <a:off x="762000" y="3133725"/>
            <a:ext cx="85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006A39"/>
                </a:solidFill>
                <a:latin typeface="DejaVu Sans"/>
                <a:ea typeface="DejaVu Sans"/>
                <a:cs typeface="DejaVu Sans"/>
              </a:defRPr>
            </a:defPPr>
          </a:lstStyle>
          <a:p xmlns:a="http://schemas.openxmlformats.org/drawingml/2006/main">
            <a:pPr>
              <a:defRPr sz="2775" b="1">
                <a:solidFill>
                  <a:srgbClr val="006A39"/>
                </a:solidFill>
                <a:latin typeface="DejaVu Sans"/>
                <a:ea typeface="DejaVu Sans"/>
                <a:cs typeface="DejaVu Sans"/>
              </a:defRPr>
            </a:pPr>
            <a:r>
              <a:rPr sz="2775" b="1">
                <a:solidFill>
                  <a:srgbClr val="006A39"/>
                </a:solidFill>
                <a:latin typeface="DejaVu Sans"/>
                <a:ea typeface="DejaVu Sans"/>
                <a:cs typeface="DejaVu Sans"/>
              </a:rPr>
              <a:t>01</a:t>
            </a:r>
          </a:p>
        </p:txBody>
      </p:sp>
      <p:sp>
        <p:nvSpPr>
          <p:cNvPr id="5" name="">
            <a:extLst xmlns:a="http://schemas.openxmlformats.org/drawingml/2006/main">
              <a:ext uri="{FF2B5EF4-FFF2-40B4-BE49-F238E27FC236}">
                <a16:creationId xmlns:a16="http://schemas.microsoft.com/office/drawing/2014/main" id="{80CAA591-FB7D-4FB8-A8DE-27EB2F5E75DF}"/>
              </a:ext>
            </a:extLst>
          </p:cNvPr>
          <p:cNvSpPr>
            <a:spLocks xmlns:a="http://schemas.openxmlformats.org/drawingml/2006/main" noGrp="1"/>
          </p:cNvSpPr>
          <p:nvPr/>
        </p:nvSpPr>
        <p:spPr>
          <a:xfrm xmlns:a="http://schemas.openxmlformats.org/drawingml/2006/main">
            <a:off x="1809750" y="3133725"/>
            <a:ext cx="4000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91C1B"/>
                </a:solidFill>
                <a:latin typeface="DejaVu Sans"/>
                <a:ea typeface="DejaVu Sans"/>
                <a:cs typeface="DejaVu Sans"/>
              </a:defRPr>
            </a:defPPr>
          </a:lstStyle>
          <a:p xmlns:a="http://schemas.openxmlformats.org/drawingml/2006/main">
            <a:pPr>
              <a:defRPr sz="2400" b="1">
                <a:solidFill>
                  <a:srgbClr val="191C1B"/>
                </a:solidFill>
                <a:latin typeface="DejaVu Sans"/>
                <a:ea typeface="DejaVu Sans"/>
                <a:cs typeface="DejaVu Sans"/>
              </a:defRPr>
            </a:pPr>
            <a:r>
              <a:rPr sz="2400" b="1">
                <a:solidFill>
                  <a:srgbClr val="191C1B"/>
                </a:solidFill>
                <a:latin typeface="DejaVu Sans"/>
                <a:ea typeface="DejaVu Sans"/>
                <a:cs typeface="DejaVu Sans"/>
              </a:rPr>
              <a:t>Tập hợp màn hình</a:t>
            </a:r>
          </a:p>
        </p:txBody>
      </p:sp>
      <p:sp>
        <p:nvSpPr>
          <p:cNvPr id="6" name="">
            <a:extLst xmlns:a="http://schemas.openxmlformats.org/drawingml/2006/main">
              <a:ext uri="{FF2B5EF4-FFF2-40B4-BE49-F238E27FC236}">
                <a16:creationId xmlns:a16="http://schemas.microsoft.com/office/drawing/2014/main" id="{547BE094-3039-4ADF-9D0E-0CD0D6D28AD9}"/>
              </a:ext>
            </a:extLst>
          </p:cNvPr>
          <p:cNvSpPr>
            <a:spLocks xmlns:a="http://schemas.openxmlformats.org/drawingml/2006/main" noGrp="1"/>
          </p:cNvSpPr>
          <p:nvPr/>
        </p:nvSpPr>
        <p:spPr>
          <a:xfrm xmlns:a="http://schemas.openxmlformats.org/drawingml/2006/main">
            <a:off x="6191250" y="3133725"/>
            <a:ext cx="819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91C1B"/>
                </a:solidFill>
                <a:latin typeface="DejaVu Sans"/>
                <a:ea typeface="DejaVu Sans"/>
                <a:cs typeface="DejaVu Sans"/>
              </a:defRPr>
            </a:defPPr>
          </a:lstStyle>
          <a:p xmlns:a="http://schemas.openxmlformats.org/drawingml/2006/main">
            <a:pPr>
              <a:defRPr sz="2325" b="0">
                <a:solidFill>
                  <a:srgbClr val="191C1B"/>
                </a:solidFill>
                <a:latin typeface="DejaVu Sans"/>
                <a:ea typeface="DejaVu Sans"/>
                <a:cs typeface="DejaVu Sans"/>
              </a:defRPr>
            </a:pPr>
            <a:r>
              <a:rPr sz="2325" b="0">
                <a:solidFill>
                  <a:srgbClr val="191C1B"/>
                </a:solidFill>
                <a:latin typeface="DejaVu Sans"/>
                <a:ea typeface="DejaVu Sans"/>
                <a:cs typeface="DejaVu Sans"/>
              </a:rPr>
              <a:t>Xếp các màn theo Hobby, Focus và Cộng đồng.</a:t>
            </a:r>
          </a:p>
        </p:txBody>
      </p:sp>
      <p:sp>
        <p:nvSpPr>
          <p:cNvPr id="7" name="">
            <a:extLst xmlns:a="http://schemas.openxmlformats.org/drawingml/2006/main">
              <a:ext uri="{FF2B5EF4-FFF2-40B4-BE49-F238E27FC236}">
                <a16:creationId xmlns:a16="http://schemas.microsoft.com/office/drawing/2014/main" id="{2F7B6E75-FA09-471F-91FF-F96C2004C33A}"/>
              </a:ext>
            </a:extLst>
          </p:cNvPr>
          <p:cNvSpPr>
            <a:spLocks xmlns:a="http://schemas.openxmlformats.org/drawingml/2006/main" noGrp="1"/>
          </p:cNvSpPr>
          <p:nvPr/>
        </p:nvSpPr>
        <p:spPr>
          <a:xfrm xmlns:a="http://schemas.openxmlformats.org/drawingml/2006/main">
            <a:off x="762000" y="4543425"/>
            <a:ext cx="85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006A39"/>
                </a:solidFill>
                <a:latin typeface="DejaVu Sans"/>
                <a:ea typeface="DejaVu Sans"/>
                <a:cs typeface="DejaVu Sans"/>
              </a:defRPr>
            </a:defPPr>
          </a:lstStyle>
          <a:p xmlns:a="http://schemas.openxmlformats.org/drawingml/2006/main">
            <a:pPr>
              <a:defRPr sz="2775" b="1">
                <a:solidFill>
                  <a:srgbClr val="006A39"/>
                </a:solidFill>
                <a:latin typeface="DejaVu Sans"/>
                <a:ea typeface="DejaVu Sans"/>
                <a:cs typeface="DejaVu Sans"/>
              </a:defRPr>
            </a:pPr>
            <a:r>
              <a:rPr sz="2775" b="1">
                <a:solidFill>
                  <a:srgbClr val="006A39"/>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365479B2-B947-4BE7-B3CD-213569E03F13}"/>
              </a:ext>
            </a:extLst>
          </p:cNvPr>
          <p:cNvSpPr>
            <a:spLocks xmlns:a="http://schemas.openxmlformats.org/drawingml/2006/main" noGrp="1"/>
          </p:cNvSpPr>
          <p:nvPr/>
        </p:nvSpPr>
        <p:spPr>
          <a:xfrm xmlns:a="http://schemas.openxmlformats.org/drawingml/2006/main">
            <a:off x="1809750" y="4543425"/>
            <a:ext cx="4000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91C1B"/>
                </a:solidFill>
                <a:latin typeface="DejaVu Sans"/>
                <a:ea typeface="DejaVu Sans"/>
                <a:cs typeface="DejaVu Sans"/>
              </a:defRPr>
            </a:defPPr>
          </a:lstStyle>
          <a:p xmlns:a="http://schemas.openxmlformats.org/drawingml/2006/main">
            <a:pPr>
              <a:defRPr sz="2400" b="1">
                <a:solidFill>
                  <a:srgbClr val="191C1B"/>
                </a:solidFill>
                <a:latin typeface="DejaVu Sans"/>
                <a:ea typeface="DejaVu Sans"/>
                <a:cs typeface="DejaVu Sans"/>
              </a:defRPr>
            </a:pPr>
            <a:r>
              <a:rPr sz="2400" b="1">
                <a:solidFill>
                  <a:srgbClr val="191C1B"/>
                </a:solidFill>
                <a:latin typeface="DejaVu Sans"/>
                <a:ea typeface="DejaVu Sans"/>
                <a:cs typeface="DejaVu Sans"/>
              </a:rPr>
              <a:t>Chỉnh nội dung và bố cục</a:t>
            </a:r>
          </a:p>
        </p:txBody>
      </p:sp>
      <p:sp>
        <p:nvSpPr>
          <p:cNvPr id="9" name="">
            <a:extLst xmlns:a="http://schemas.openxmlformats.org/drawingml/2006/main">
              <a:ext uri="{FF2B5EF4-FFF2-40B4-BE49-F238E27FC236}">
                <a16:creationId xmlns:a16="http://schemas.microsoft.com/office/drawing/2014/main" id="{2B2A85E6-0C45-4C47-A275-4C1B511187BD}"/>
              </a:ext>
            </a:extLst>
          </p:cNvPr>
          <p:cNvSpPr>
            <a:spLocks xmlns:a="http://schemas.openxmlformats.org/drawingml/2006/main" noGrp="1"/>
          </p:cNvSpPr>
          <p:nvPr/>
        </p:nvSpPr>
        <p:spPr>
          <a:xfrm xmlns:a="http://schemas.openxmlformats.org/drawingml/2006/main">
            <a:off x="6191250" y="4543425"/>
            <a:ext cx="819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91C1B"/>
                </a:solidFill>
                <a:latin typeface="DejaVu Sans"/>
                <a:ea typeface="DejaVu Sans"/>
                <a:cs typeface="DejaVu Sans"/>
              </a:defRPr>
            </a:defPPr>
          </a:lstStyle>
          <a:p xmlns:a="http://schemas.openxmlformats.org/drawingml/2006/main">
            <a:pPr>
              <a:defRPr sz="2325" b="0">
                <a:solidFill>
                  <a:srgbClr val="191C1B"/>
                </a:solidFill>
                <a:latin typeface="DejaVu Sans"/>
                <a:ea typeface="DejaVu Sans"/>
                <a:cs typeface="DejaVu Sans"/>
              </a:defRPr>
            </a:pPr>
            <a:r>
              <a:rPr sz="2325" b="0">
                <a:solidFill>
                  <a:srgbClr val="191C1B"/>
                </a:solidFill>
                <a:latin typeface="DejaVu Sans"/>
                <a:ea typeface="DejaVu Sans"/>
                <a:cs typeface="DejaVu Sans"/>
              </a:rPr>
              <a:t>Sửa tên gọi, khoảng cách, ảnh và vùng chữ.</a:t>
            </a:r>
          </a:p>
        </p:txBody>
      </p:sp>
      <p:sp>
        <p:nvSpPr>
          <p:cNvPr id="10" name="">
            <a:extLst xmlns:a="http://schemas.openxmlformats.org/drawingml/2006/main">
              <a:ext uri="{FF2B5EF4-FFF2-40B4-BE49-F238E27FC236}">
                <a16:creationId xmlns:a16="http://schemas.microsoft.com/office/drawing/2014/main" id="{27FFB3D5-9B06-41AB-AACF-3766DCAE0874}"/>
              </a:ext>
            </a:extLst>
          </p:cNvPr>
          <p:cNvSpPr>
            <a:spLocks xmlns:a="http://schemas.openxmlformats.org/drawingml/2006/main" noGrp="1"/>
          </p:cNvSpPr>
          <p:nvPr/>
        </p:nvSpPr>
        <p:spPr>
          <a:xfrm xmlns:a="http://schemas.openxmlformats.org/drawingml/2006/main">
            <a:off x="762000" y="5953125"/>
            <a:ext cx="85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006A39"/>
                </a:solidFill>
                <a:latin typeface="DejaVu Sans"/>
                <a:ea typeface="DejaVu Sans"/>
                <a:cs typeface="DejaVu Sans"/>
              </a:defRPr>
            </a:defPPr>
          </a:lstStyle>
          <a:p xmlns:a="http://schemas.openxmlformats.org/drawingml/2006/main">
            <a:pPr>
              <a:defRPr sz="2775" b="1">
                <a:solidFill>
                  <a:srgbClr val="006A39"/>
                </a:solidFill>
                <a:latin typeface="DejaVu Sans"/>
                <a:ea typeface="DejaVu Sans"/>
                <a:cs typeface="DejaVu Sans"/>
              </a:defRPr>
            </a:pPr>
            <a:r>
              <a:rPr sz="2775" b="1">
                <a:solidFill>
                  <a:srgbClr val="006A39"/>
                </a:solidFill>
                <a:latin typeface="DejaVu Sans"/>
                <a:ea typeface="DejaVu Sans"/>
                <a:cs typeface="DejaVu Sans"/>
              </a:rPr>
              <a:t>03</a:t>
            </a:r>
          </a:p>
        </p:txBody>
      </p:sp>
      <p:sp>
        <p:nvSpPr>
          <p:cNvPr id="11" name="">
            <a:extLst xmlns:a="http://schemas.openxmlformats.org/drawingml/2006/main">
              <a:ext uri="{FF2B5EF4-FFF2-40B4-BE49-F238E27FC236}">
                <a16:creationId xmlns:a16="http://schemas.microsoft.com/office/drawing/2014/main" id="{52064206-EEE7-4C32-A080-D758A02BD361}"/>
              </a:ext>
            </a:extLst>
          </p:cNvPr>
          <p:cNvSpPr>
            <a:spLocks xmlns:a="http://schemas.openxmlformats.org/drawingml/2006/main" noGrp="1"/>
          </p:cNvSpPr>
          <p:nvPr/>
        </p:nvSpPr>
        <p:spPr>
          <a:xfrm xmlns:a="http://schemas.openxmlformats.org/drawingml/2006/main">
            <a:off x="1809750" y="5953125"/>
            <a:ext cx="4000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91C1B"/>
                </a:solidFill>
                <a:latin typeface="DejaVu Sans"/>
                <a:ea typeface="DejaVu Sans"/>
                <a:cs typeface="DejaVu Sans"/>
              </a:defRPr>
            </a:defPPr>
          </a:lstStyle>
          <a:p xmlns:a="http://schemas.openxmlformats.org/drawingml/2006/main">
            <a:pPr>
              <a:defRPr sz="2400" b="1">
                <a:solidFill>
                  <a:srgbClr val="191C1B"/>
                </a:solidFill>
                <a:latin typeface="DejaVu Sans"/>
                <a:ea typeface="DejaVu Sans"/>
                <a:cs typeface="DejaVu Sans"/>
              </a:defRPr>
            </a:pPr>
            <a:r>
              <a:rPr sz="2400" b="1">
                <a:solidFill>
                  <a:srgbClr val="191C1B"/>
                </a:solidFill>
                <a:latin typeface="DejaVu Sans"/>
                <a:ea typeface="DejaVu Sans"/>
                <a:cs typeface="DejaVu Sans"/>
              </a:rPr>
              <a:t>Đối chiếu với luồng</a:t>
            </a:r>
          </a:p>
        </p:txBody>
      </p:sp>
      <p:sp>
        <p:nvSpPr>
          <p:cNvPr id="12" name="">
            <a:extLst xmlns:a="http://schemas.openxmlformats.org/drawingml/2006/main">
              <a:ext uri="{FF2B5EF4-FFF2-40B4-BE49-F238E27FC236}">
                <a16:creationId xmlns:a16="http://schemas.microsoft.com/office/drawing/2014/main" id="{11B55C6C-9030-46A3-B58F-F76B1FFE3F75}"/>
              </a:ext>
            </a:extLst>
          </p:cNvPr>
          <p:cNvSpPr>
            <a:spLocks xmlns:a="http://schemas.openxmlformats.org/drawingml/2006/main" noGrp="1"/>
          </p:cNvSpPr>
          <p:nvPr/>
        </p:nvSpPr>
        <p:spPr>
          <a:xfrm xmlns:a="http://schemas.openxmlformats.org/drawingml/2006/main">
            <a:off x="6191250" y="5953125"/>
            <a:ext cx="819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91C1B"/>
                </a:solidFill>
                <a:latin typeface="DejaVu Sans"/>
                <a:ea typeface="DejaVu Sans"/>
                <a:cs typeface="DejaVu Sans"/>
              </a:defRPr>
            </a:defPPr>
          </a:lstStyle>
          <a:p xmlns:a="http://schemas.openxmlformats.org/drawingml/2006/main">
            <a:pPr>
              <a:defRPr sz="2325" b="0">
                <a:solidFill>
                  <a:srgbClr val="191C1B"/>
                </a:solidFill>
                <a:latin typeface="DejaVu Sans"/>
                <a:ea typeface="DejaVu Sans"/>
                <a:cs typeface="DejaVu Sans"/>
              </a:defRPr>
            </a:pPr>
            <a:r>
              <a:rPr sz="2325" b="0">
                <a:solidFill>
                  <a:srgbClr val="191C1B"/>
                </a:solidFill>
                <a:latin typeface="DejaVu Sans"/>
                <a:ea typeface="DejaVu Sans"/>
                <a:cs typeface="DejaVu Sans"/>
              </a:rPr>
              <a:t>Kiểm tra màn trước, màn sau và đường quay lại.</a:t>
            </a:r>
          </a:p>
        </p:txBody>
      </p:sp>
      <p:sp>
        <p:nvSpPr>
          <p:cNvPr id="13" name="">
            <a:extLst xmlns:a="http://schemas.openxmlformats.org/drawingml/2006/main">
              <a:ext uri="{FF2B5EF4-FFF2-40B4-BE49-F238E27FC236}">
                <a16:creationId xmlns:a16="http://schemas.microsoft.com/office/drawing/2014/main" id="{5D960F22-602C-4B7F-A18C-67ED18454622}"/>
              </a:ext>
            </a:extLst>
          </p:cNvPr>
          <p:cNvSpPr>
            <a:spLocks xmlns:a="http://schemas.openxmlformats.org/drawingml/2006/main" noGrp="1"/>
          </p:cNvSpPr>
          <p:nvPr/>
        </p:nvSpPr>
        <p:spPr>
          <a:xfrm xmlns:a="http://schemas.openxmlformats.org/drawingml/2006/main">
            <a:off x="13525500" y="323850"/>
            <a:ext cx="100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006A39"/>
                </a:solidFill>
                <a:latin typeface="DejaVu Sans"/>
                <a:ea typeface="DejaVu Sans"/>
                <a:cs typeface="DejaVu Sans"/>
              </a:defRPr>
            </a:defPPr>
          </a:lstStyle>
          <a:p xmlns:a="http://schemas.openxmlformats.org/drawingml/2006/main">
            <a:pPr>
              <a:defRPr sz="1350" b="0">
                <a:solidFill>
                  <a:srgbClr val="006A39"/>
                </a:solidFill>
                <a:latin typeface="DejaVu Sans"/>
                <a:ea typeface="DejaVu Sans"/>
                <a:cs typeface="DejaVu Sans"/>
              </a:defRPr>
            </a:pPr>
            <a:r>
              <a:rPr sz="1350" b="0">
                <a:solidFill>
                  <a:srgbClr val="006A39"/>
                </a:solidFill>
                <a:latin typeface="DejaVu Sans"/>
                <a:ea typeface="DejaVu Sans"/>
                <a:cs typeface="DejaVu Sans"/>
              </a:rPr>
              <a:t>08 / 12</a:t>
            </a:r>
          </a:p>
        </p:txBody>
      </p:sp>
    </p:spTree>
    <p:extLst>
      <p:ext uri="{BB962C8B-B14F-4D97-AF65-F5344CB8AC3E}">
        <p14:creationId xmlns:p14="http://schemas.microsoft.com/office/powerpoint/2010/main" val="1022366654"/>
      </p:ext>
    </p:extLst>
  </p:cSld>
</p:sld>
</file>

<file path=ppt/slides/slide9.xml><?xml version="1.0" encoding="utf-8"?>
<p:sld xmlns:p="http://schemas.openxmlformats.org/presentationml/2006/main">
  <p:cSld>
    <p:bg>
      <p:bgPr>
        <a:solidFill xmlns:a="http://schemas.openxmlformats.org/drawingml/2006/main">
          <a:srgbClr val="F9FA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4B8FF4E-8D0E-4787-8E00-1C95E8F8A085}"/>
              </a:ext>
            </a:extLst>
          </p:cNvPr>
          <p:cNvSpPr>
            <a:spLocks xmlns:a="http://schemas.openxmlformats.org/drawingml/2006/main" noGrp="1"/>
          </p:cNvSpPr>
          <p:nvPr/>
        </p:nvSpPr>
        <p:spPr>
          <a:xfrm xmlns:a="http://schemas.openxmlformats.org/drawingml/2006/main">
            <a:off x="762000" y="333375"/>
            <a:ext cx="1285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3E4A40"/>
                </a:solidFill>
                <a:latin typeface="DejaVu Sans"/>
                <a:ea typeface="DejaVu Sans"/>
                <a:cs typeface="DejaVu Sans"/>
              </a:defRPr>
            </a:defPPr>
          </a:lstStyle>
          <a:p xmlns:a="http://schemas.openxmlformats.org/drawingml/2006/main">
            <a:pPr>
              <a:defRPr sz="1350" b="0">
                <a:solidFill>
                  <a:srgbClr val="3E4A40"/>
                </a:solidFill>
                <a:latin typeface="DejaVu Sans"/>
                <a:ea typeface="DejaVu Sans"/>
                <a:cs typeface="DejaVu Sans"/>
              </a:defRPr>
            </a:pPr>
            <a:r>
              <a:rPr sz="1350" b="0">
                <a:solidFill>
                  <a:srgbClr val="3E4A40"/>
                </a:solidFill>
                <a:latin typeface="DejaVu Sans"/>
                <a:ea typeface="DejaVu Sans"/>
                <a:cs typeface="DejaVu Sans"/>
              </a:rPr>
              <a:t>FETCH TIMER  /  QUÁ TRÌNH THIẾT KẾ</a:t>
            </a:r>
          </a:p>
        </p:txBody>
      </p:sp>
      <p:sp>
        <p:nvSpPr>
          <p:cNvPr id="2" name="">
            <a:extLst xmlns:a="http://schemas.openxmlformats.org/drawingml/2006/main">
              <a:ext uri="{FF2B5EF4-FFF2-40B4-BE49-F238E27FC236}">
                <a16:creationId xmlns:a16="http://schemas.microsoft.com/office/drawing/2014/main" id="{4CF9977C-B1CA-4916-8D8A-82E0909200C9}"/>
              </a:ext>
            </a:extLst>
          </p:cNvPr>
          <p:cNvSpPr>
            <a:spLocks xmlns:a="http://schemas.openxmlformats.org/drawingml/2006/main" noGrp="1"/>
          </p:cNvSpPr>
          <p:nvPr/>
        </p:nvSpPr>
        <p:spPr>
          <a:xfrm xmlns:a="http://schemas.openxmlformats.org/drawingml/2006/main">
            <a:off x="762000" y="95250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06A39"/>
                </a:solidFill>
                <a:latin typeface="DejaVu Sans"/>
                <a:ea typeface="DejaVu Sans"/>
                <a:cs typeface="DejaVu Sans"/>
              </a:defRPr>
            </a:defPPr>
          </a:lstStyle>
          <a:p xmlns:a="http://schemas.openxmlformats.org/drawingml/2006/main">
            <a:pPr>
              <a:defRPr sz="3600" b="1">
                <a:solidFill>
                  <a:srgbClr val="006A39"/>
                </a:solidFill>
                <a:latin typeface="DejaVu Sans"/>
                <a:ea typeface="DejaVu Sans"/>
                <a:cs typeface="DejaVu Sans"/>
              </a:defRPr>
            </a:pPr>
            <a:r>
              <a:rPr sz="3600" b="1">
                <a:solidFill>
                  <a:srgbClr val="006A39"/>
                </a:solidFill>
                <a:latin typeface="DejaVu Sans"/>
                <a:ea typeface="DejaVu Sans"/>
                <a:cs typeface="DejaVu Sans"/>
              </a:rPr>
              <a:t>Giữ UI nhất quán giữa các màn</a:t>
            </a:r>
          </a:p>
        </p:txBody>
      </p:sp>
      <p:sp>
        <p:nvSpPr>
          <p:cNvPr id="3" name="">
            <a:extLst xmlns:a="http://schemas.openxmlformats.org/drawingml/2006/main">
              <a:ext uri="{FF2B5EF4-FFF2-40B4-BE49-F238E27FC236}">
                <a16:creationId xmlns:a16="http://schemas.microsoft.com/office/drawing/2014/main" id="{FDE0D284-BB38-4526-BBE8-21ABE02897C1}"/>
              </a:ext>
            </a:extLst>
          </p:cNvPr>
          <p:cNvSpPr>
            <a:spLocks xmlns:a="http://schemas.openxmlformats.org/drawingml/2006/main" noGrp="1"/>
          </p:cNvSpPr>
          <p:nvPr/>
        </p:nvSpPr>
        <p:spPr>
          <a:xfrm xmlns:a="http://schemas.openxmlformats.org/drawingml/2006/main">
            <a:off x="762000" y="2028825"/>
            <a:ext cx="1371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3E4A40"/>
                </a:solidFill>
                <a:latin typeface="DejaVu Sans"/>
                <a:ea typeface="DejaVu Sans"/>
                <a:cs typeface="DejaVu Sans"/>
              </a:defRPr>
            </a:defPPr>
          </a:lstStyle>
          <a:p xmlns:a="http://schemas.openxmlformats.org/drawingml/2006/main">
            <a:pPr>
              <a:defRPr sz="2175" b="0">
                <a:solidFill>
                  <a:srgbClr val="3E4A40"/>
                </a:solidFill>
                <a:latin typeface="DejaVu Sans"/>
                <a:ea typeface="DejaVu Sans"/>
                <a:cs typeface="DejaVu Sans"/>
              </a:defRPr>
            </a:pPr>
            <a:r>
              <a:rPr sz="2175" b="0">
                <a:solidFill>
                  <a:srgbClr val="3E4A40"/>
                </a:solidFill>
                <a:latin typeface="DejaVu Sans"/>
                <a:ea typeface="DejaVu Sans"/>
                <a:cs typeface="DejaVu Sans"/>
              </a:rPr>
              <a:t>Dùng chung quy tắc và thành phần để việc chỉnh sửa dễ hơn.</a:t>
            </a:r>
          </a:p>
        </p:txBody>
      </p:sp>
      <p:sp>
        <p:nvSpPr>
          <p:cNvPr id="4" name="">
            <a:extLst xmlns:a="http://schemas.openxmlformats.org/drawingml/2006/main">
              <a:ext uri="{FF2B5EF4-FFF2-40B4-BE49-F238E27FC236}">
                <a16:creationId xmlns:a16="http://schemas.microsoft.com/office/drawing/2014/main" id="{3CF32E5C-F5CB-4440-9C2F-1DB52CC29EF7}"/>
              </a:ext>
            </a:extLst>
          </p:cNvPr>
          <p:cNvSpPr>
            <a:spLocks xmlns:a="http://schemas.openxmlformats.org/drawingml/2006/main" noGrp="1"/>
          </p:cNvSpPr>
          <p:nvPr/>
        </p:nvSpPr>
        <p:spPr>
          <a:xfrm xmlns:a="http://schemas.openxmlformats.org/drawingml/2006/main">
            <a:off x="762000" y="3238500"/>
            <a:ext cx="4333875" cy="3562350"/>
          </a:xfrm>
          <a:prstGeom xmlns:a="http://schemas.openxmlformats.org/drawingml/2006/main" prst="rect">
            <a:avLst/>
          </a:prstGeom>
          <a:solidFill xmlns:a="http://schemas.openxmlformats.org/drawingml/2006/main">
            <a:srgbClr val="EAF1E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E73A409-4EC0-4D99-AAB0-71B73A6C3487}"/>
              </a:ext>
            </a:extLst>
          </p:cNvPr>
          <p:cNvSpPr>
            <a:spLocks xmlns:a="http://schemas.openxmlformats.org/drawingml/2006/main" noGrp="1"/>
          </p:cNvSpPr>
          <p:nvPr/>
        </p:nvSpPr>
        <p:spPr>
          <a:xfrm xmlns:a="http://schemas.openxmlformats.org/drawingml/2006/main">
            <a:off x="1028700" y="3476625"/>
            <a:ext cx="361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A39"/>
                </a:solidFill>
                <a:latin typeface="DejaVu Sans"/>
                <a:ea typeface="DejaVu Sans"/>
                <a:cs typeface="DejaVu Sans"/>
              </a:defRPr>
            </a:defPPr>
          </a:lstStyle>
          <a:p xmlns:a="http://schemas.openxmlformats.org/drawingml/2006/main">
            <a:pPr>
              <a:defRPr sz="2100" b="1">
                <a:solidFill>
                  <a:srgbClr val="006A39"/>
                </a:solidFill>
                <a:latin typeface="DejaVu Sans"/>
                <a:ea typeface="DejaVu Sans"/>
                <a:cs typeface="DejaVu Sans"/>
              </a:defRPr>
            </a:pPr>
            <a:r>
              <a:rPr sz="2100" b="1">
                <a:solidFill>
                  <a:srgbClr val="006A39"/>
                </a:solidFill>
                <a:latin typeface="DejaVu Sans"/>
                <a:ea typeface="DejaVu Sans"/>
                <a:cs typeface="DejaVu Sans"/>
              </a:rPr>
              <a:t>01</a:t>
            </a:r>
          </a:p>
        </p:txBody>
      </p:sp>
      <p:sp>
        <p:nvSpPr>
          <p:cNvPr id="6" name="">
            <a:extLst xmlns:a="http://schemas.openxmlformats.org/drawingml/2006/main">
              <a:ext uri="{FF2B5EF4-FFF2-40B4-BE49-F238E27FC236}">
                <a16:creationId xmlns:a16="http://schemas.microsoft.com/office/drawing/2014/main" id="{8E1ADE19-A1DB-4224-AB2D-1C466DB64AD1}"/>
              </a:ext>
            </a:extLst>
          </p:cNvPr>
          <p:cNvSpPr>
            <a:spLocks xmlns:a="http://schemas.openxmlformats.org/drawingml/2006/main" noGrp="1"/>
          </p:cNvSpPr>
          <p:nvPr/>
        </p:nvSpPr>
        <p:spPr>
          <a:xfrm xmlns:a="http://schemas.openxmlformats.org/drawingml/2006/main">
            <a:off x="1028700" y="4114800"/>
            <a:ext cx="3714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91C1B"/>
                </a:solidFill>
                <a:latin typeface="DejaVu Sans"/>
                <a:ea typeface="DejaVu Sans"/>
                <a:cs typeface="DejaVu Sans"/>
              </a:defRPr>
            </a:defPPr>
          </a:lstStyle>
          <a:p xmlns:a="http://schemas.openxmlformats.org/drawingml/2006/main">
            <a:pPr>
              <a:defRPr sz="2625" b="1">
                <a:solidFill>
                  <a:srgbClr val="191C1B"/>
                </a:solidFill>
                <a:latin typeface="DejaVu Sans"/>
                <a:ea typeface="DejaVu Sans"/>
                <a:cs typeface="DejaVu Sans"/>
              </a:defRPr>
            </a:pPr>
            <a:r>
              <a:rPr sz="2625" b="1">
                <a:solidFill>
                  <a:srgbClr val="191C1B"/>
                </a:solidFill>
                <a:latin typeface="DejaVu Sans"/>
                <a:ea typeface="DejaVu Sans"/>
                <a:cs typeface="DejaVu Sans"/>
              </a:rPr>
              <a:t>Màu &amp; chữ</a:t>
            </a:r>
          </a:p>
        </p:txBody>
      </p:sp>
      <p:sp>
        <p:nvSpPr>
          <p:cNvPr id="7" name="">
            <a:extLst xmlns:a="http://schemas.openxmlformats.org/drawingml/2006/main">
              <a:ext uri="{FF2B5EF4-FFF2-40B4-BE49-F238E27FC236}">
                <a16:creationId xmlns:a16="http://schemas.microsoft.com/office/drawing/2014/main" id="{374E3D90-40C7-48D4-84E4-5EA6556BEB32}"/>
              </a:ext>
            </a:extLst>
          </p:cNvPr>
          <p:cNvSpPr>
            <a:spLocks xmlns:a="http://schemas.openxmlformats.org/drawingml/2006/main" noGrp="1"/>
          </p:cNvSpPr>
          <p:nvPr/>
        </p:nvSpPr>
        <p:spPr>
          <a:xfrm xmlns:a="http://schemas.openxmlformats.org/drawingml/2006/main">
            <a:off x="1028700" y="4962525"/>
            <a:ext cx="37147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91C1B"/>
                </a:solidFill>
                <a:latin typeface="DejaVu Sans"/>
                <a:ea typeface="DejaVu Sans"/>
                <a:cs typeface="DejaVu Sans"/>
              </a:defRPr>
            </a:defPPr>
          </a:lstStyle>
          <a:p xmlns:a="http://schemas.openxmlformats.org/drawingml/2006/main">
            <a:pPr>
              <a:defRPr sz="2325" b="0">
                <a:solidFill>
                  <a:srgbClr val="191C1B"/>
                </a:solidFill>
                <a:latin typeface="DejaVu Sans"/>
                <a:ea typeface="DejaVu Sans"/>
                <a:cs typeface="DejaVu Sans"/>
              </a:defRPr>
            </a:pPr>
            <a:r>
              <a:rPr sz="2325" b="0">
                <a:solidFill>
                  <a:srgbClr val="191C1B"/>
                </a:solidFill>
                <a:latin typeface="DejaVu Sans"/>
                <a:ea typeface="DejaVu Sans"/>
                <a:cs typeface="DejaVu Sans"/>
              </a:rPr>
              <a:t>Một bảng màu và thang chữ chung cho toàn bộ sản phẩm.</a:t>
            </a:r>
          </a:p>
        </p:txBody>
      </p:sp>
      <p:sp>
        <p:nvSpPr>
          <p:cNvPr id="8" name="">
            <a:extLst xmlns:a="http://schemas.openxmlformats.org/drawingml/2006/main">
              <a:ext uri="{FF2B5EF4-FFF2-40B4-BE49-F238E27FC236}">
                <a16:creationId xmlns:a16="http://schemas.microsoft.com/office/drawing/2014/main" id="{26AE9B09-D08B-45FB-A0AE-238452C39906}"/>
              </a:ext>
            </a:extLst>
          </p:cNvPr>
          <p:cNvSpPr>
            <a:spLocks xmlns:a="http://schemas.openxmlformats.org/drawingml/2006/main" noGrp="1"/>
          </p:cNvSpPr>
          <p:nvPr/>
        </p:nvSpPr>
        <p:spPr>
          <a:xfrm xmlns:a="http://schemas.openxmlformats.org/drawingml/2006/main">
            <a:off x="5448300" y="3238500"/>
            <a:ext cx="4333875" cy="3562350"/>
          </a:xfrm>
          <a:prstGeom xmlns:a="http://schemas.openxmlformats.org/drawingml/2006/main" prst="rect">
            <a:avLst/>
          </a:prstGeom>
          <a:solidFill xmlns:a="http://schemas.openxmlformats.org/drawingml/2006/main">
            <a:srgbClr val="EAF1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721720E-CA39-4B96-B5BE-A83D4FD3545F}"/>
              </a:ext>
            </a:extLst>
          </p:cNvPr>
          <p:cNvSpPr>
            <a:spLocks xmlns:a="http://schemas.openxmlformats.org/drawingml/2006/main" noGrp="1"/>
          </p:cNvSpPr>
          <p:nvPr/>
        </p:nvSpPr>
        <p:spPr>
          <a:xfrm xmlns:a="http://schemas.openxmlformats.org/drawingml/2006/main">
            <a:off x="5715000" y="3476625"/>
            <a:ext cx="361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A39"/>
                </a:solidFill>
                <a:latin typeface="DejaVu Sans"/>
                <a:ea typeface="DejaVu Sans"/>
                <a:cs typeface="DejaVu Sans"/>
              </a:defRPr>
            </a:defPPr>
          </a:lstStyle>
          <a:p xmlns:a="http://schemas.openxmlformats.org/drawingml/2006/main">
            <a:pPr>
              <a:defRPr sz="2100" b="1">
                <a:solidFill>
                  <a:srgbClr val="006A39"/>
                </a:solidFill>
                <a:latin typeface="DejaVu Sans"/>
                <a:ea typeface="DejaVu Sans"/>
                <a:cs typeface="DejaVu Sans"/>
              </a:defRPr>
            </a:pPr>
            <a:r>
              <a:rPr sz="2100" b="1">
                <a:solidFill>
                  <a:srgbClr val="006A39"/>
                </a:solidFill>
                <a:latin typeface="DejaVu Sans"/>
                <a:ea typeface="DejaVu Sans"/>
                <a:cs typeface="DejaVu Sans"/>
              </a:rPr>
              <a:t>02</a:t>
            </a:r>
          </a:p>
        </p:txBody>
      </p:sp>
      <p:sp>
        <p:nvSpPr>
          <p:cNvPr id="10" name="">
            <a:extLst xmlns:a="http://schemas.openxmlformats.org/drawingml/2006/main">
              <a:ext uri="{FF2B5EF4-FFF2-40B4-BE49-F238E27FC236}">
                <a16:creationId xmlns:a16="http://schemas.microsoft.com/office/drawing/2014/main" id="{8E0635FB-F93F-48C5-98A3-A10A77682818}"/>
              </a:ext>
            </a:extLst>
          </p:cNvPr>
          <p:cNvSpPr>
            <a:spLocks xmlns:a="http://schemas.openxmlformats.org/drawingml/2006/main" noGrp="1"/>
          </p:cNvSpPr>
          <p:nvPr/>
        </p:nvSpPr>
        <p:spPr>
          <a:xfrm xmlns:a="http://schemas.openxmlformats.org/drawingml/2006/main">
            <a:off x="5715000" y="4114800"/>
            <a:ext cx="3714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91C1B"/>
                </a:solidFill>
                <a:latin typeface="DejaVu Sans"/>
                <a:ea typeface="DejaVu Sans"/>
                <a:cs typeface="DejaVu Sans"/>
              </a:defRPr>
            </a:defPPr>
          </a:lstStyle>
          <a:p xmlns:a="http://schemas.openxmlformats.org/drawingml/2006/main">
            <a:pPr>
              <a:defRPr sz="2625" b="1">
                <a:solidFill>
                  <a:srgbClr val="191C1B"/>
                </a:solidFill>
                <a:latin typeface="DejaVu Sans"/>
                <a:ea typeface="DejaVu Sans"/>
                <a:cs typeface="DejaVu Sans"/>
              </a:defRPr>
            </a:pPr>
            <a:r>
              <a:rPr sz="2625" b="1">
                <a:solidFill>
                  <a:srgbClr val="191C1B"/>
                </a:solidFill>
                <a:latin typeface="DejaVu Sans"/>
                <a:ea typeface="DejaVu Sans"/>
                <a:cs typeface="DejaVu Sans"/>
              </a:rPr>
              <a:t>Nút &amp; biểu mẫu</a:t>
            </a:r>
          </a:p>
        </p:txBody>
      </p:sp>
      <p:sp>
        <p:nvSpPr>
          <p:cNvPr id="11" name="">
            <a:extLst xmlns:a="http://schemas.openxmlformats.org/drawingml/2006/main">
              <a:ext uri="{FF2B5EF4-FFF2-40B4-BE49-F238E27FC236}">
                <a16:creationId xmlns:a16="http://schemas.microsoft.com/office/drawing/2014/main" id="{84F5F299-9D04-42B0-9655-C4605ECC2DB3}"/>
              </a:ext>
            </a:extLst>
          </p:cNvPr>
          <p:cNvSpPr>
            <a:spLocks xmlns:a="http://schemas.openxmlformats.org/drawingml/2006/main" noGrp="1"/>
          </p:cNvSpPr>
          <p:nvPr/>
        </p:nvSpPr>
        <p:spPr>
          <a:xfrm xmlns:a="http://schemas.openxmlformats.org/drawingml/2006/main">
            <a:off x="5715000" y="4962525"/>
            <a:ext cx="37147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91C1B"/>
                </a:solidFill>
                <a:latin typeface="DejaVu Sans"/>
                <a:ea typeface="DejaVu Sans"/>
                <a:cs typeface="DejaVu Sans"/>
              </a:defRPr>
            </a:defPPr>
          </a:lstStyle>
          <a:p xmlns:a="http://schemas.openxmlformats.org/drawingml/2006/main">
            <a:pPr>
              <a:defRPr sz="2325" b="0">
                <a:solidFill>
                  <a:srgbClr val="191C1B"/>
                </a:solidFill>
                <a:latin typeface="DejaVu Sans"/>
                <a:ea typeface="DejaVu Sans"/>
                <a:cs typeface="DejaVu Sans"/>
              </a:defRPr>
            </a:pPr>
            <a:r>
              <a:rPr sz="2325" b="0">
                <a:solidFill>
                  <a:srgbClr val="191C1B"/>
                </a:solidFill>
                <a:latin typeface="DejaVu Sans"/>
                <a:ea typeface="DejaVu Sans"/>
                <a:cs typeface="DejaVu Sans"/>
              </a:rPr>
              <a:t>Cùng kiểu nút; trạng thái nhập, lỗi và đang xử lý rõ ràng.</a:t>
            </a:r>
          </a:p>
        </p:txBody>
      </p:sp>
      <p:sp>
        <p:nvSpPr>
          <p:cNvPr id="12" name="">
            <a:extLst xmlns:a="http://schemas.openxmlformats.org/drawingml/2006/main">
              <a:ext uri="{FF2B5EF4-FFF2-40B4-BE49-F238E27FC236}">
                <a16:creationId xmlns:a16="http://schemas.microsoft.com/office/drawing/2014/main" id="{2CBD07DA-B9C2-400A-AB6A-E16A0D6AB72C}"/>
              </a:ext>
            </a:extLst>
          </p:cNvPr>
          <p:cNvSpPr>
            <a:spLocks xmlns:a="http://schemas.openxmlformats.org/drawingml/2006/main" noGrp="1"/>
          </p:cNvSpPr>
          <p:nvPr/>
        </p:nvSpPr>
        <p:spPr>
          <a:xfrm xmlns:a="http://schemas.openxmlformats.org/drawingml/2006/main">
            <a:off x="10134600" y="3238500"/>
            <a:ext cx="4333875" cy="3562350"/>
          </a:xfrm>
          <a:prstGeom xmlns:a="http://schemas.openxmlformats.org/drawingml/2006/main" prst="rect">
            <a:avLst/>
          </a:prstGeom>
          <a:solidFill xmlns:a="http://schemas.openxmlformats.org/drawingml/2006/main">
            <a:srgbClr val="EAF1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785AFCB-A9A4-40BF-A789-396BB56F68F0}"/>
              </a:ext>
            </a:extLst>
          </p:cNvPr>
          <p:cNvSpPr>
            <a:spLocks xmlns:a="http://schemas.openxmlformats.org/drawingml/2006/main" noGrp="1"/>
          </p:cNvSpPr>
          <p:nvPr/>
        </p:nvSpPr>
        <p:spPr>
          <a:xfrm xmlns:a="http://schemas.openxmlformats.org/drawingml/2006/main">
            <a:off x="10401300" y="3476625"/>
            <a:ext cx="361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A39"/>
                </a:solidFill>
                <a:latin typeface="DejaVu Sans"/>
                <a:ea typeface="DejaVu Sans"/>
                <a:cs typeface="DejaVu Sans"/>
              </a:defRPr>
            </a:defPPr>
          </a:lstStyle>
          <a:p xmlns:a="http://schemas.openxmlformats.org/drawingml/2006/main">
            <a:pPr>
              <a:defRPr sz="2100" b="1">
                <a:solidFill>
                  <a:srgbClr val="006A39"/>
                </a:solidFill>
                <a:latin typeface="DejaVu Sans"/>
                <a:ea typeface="DejaVu Sans"/>
                <a:cs typeface="DejaVu Sans"/>
              </a:defRPr>
            </a:pPr>
            <a:r>
              <a:rPr sz="2100" b="1">
                <a:solidFill>
                  <a:srgbClr val="006A39"/>
                </a:solidFill>
                <a:latin typeface="DejaVu Sans"/>
                <a:ea typeface="DejaVu Sans"/>
                <a:cs typeface="DejaVu Sans"/>
              </a:rPr>
              <a:t>03</a:t>
            </a:r>
          </a:p>
        </p:txBody>
      </p:sp>
      <p:sp>
        <p:nvSpPr>
          <p:cNvPr id="14" name="">
            <a:extLst xmlns:a="http://schemas.openxmlformats.org/drawingml/2006/main">
              <a:ext uri="{FF2B5EF4-FFF2-40B4-BE49-F238E27FC236}">
                <a16:creationId xmlns:a16="http://schemas.microsoft.com/office/drawing/2014/main" id="{DB373115-6991-467C-8888-812CABA3C71A}"/>
              </a:ext>
            </a:extLst>
          </p:cNvPr>
          <p:cNvSpPr>
            <a:spLocks xmlns:a="http://schemas.openxmlformats.org/drawingml/2006/main" noGrp="1"/>
          </p:cNvSpPr>
          <p:nvPr/>
        </p:nvSpPr>
        <p:spPr>
          <a:xfrm xmlns:a="http://schemas.openxmlformats.org/drawingml/2006/main">
            <a:off x="10401300" y="4114800"/>
            <a:ext cx="3714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91C1B"/>
                </a:solidFill>
                <a:latin typeface="DejaVu Sans"/>
                <a:ea typeface="DejaVu Sans"/>
                <a:cs typeface="DejaVu Sans"/>
              </a:defRPr>
            </a:defPPr>
          </a:lstStyle>
          <a:p xmlns:a="http://schemas.openxmlformats.org/drawingml/2006/main">
            <a:pPr>
              <a:defRPr sz="2625" b="1">
                <a:solidFill>
                  <a:srgbClr val="191C1B"/>
                </a:solidFill>
                <a:latin typeface="DejaVu Sans"/>
                <a:ea typeface="DejaVu Sans"/>
                <a:cs typeface="DejaVu Sans"/>
              </a:defRPr>
            </a:pPr>
            <a:r>
              <a:rPr sz="2625" b="1">
                <a:solidFill>
                  <a:srgbClr val="191C1B"/>
                </a:solidFill>
                <a:latin typeface="DejaVu Sans"/>
                <a:ea typeface="DejaVu Sans"/>
                <a:cs typeface="DejaVu Sans"/>
              </a:rPr>
              <a:t>Điều hướng</a:t>
            </a:r>
          </a:p>
        </p:txBody>
      </p:sp>
      <p:sp>
        <p:nvSpPr>
          <p:cNvPr id="15" name="">
            <a:extLst xmlns:a="http://schemas.openxmlformats.org/drawingml/2006/main">
              <a:ext uri="{FF2B5EF4-FFF2-40B4-BE49-F238E27FC236}">
                <a16:creationId xmlns:a16="http://schemas.microsoft.com/office/drawing/2014/main" id="{AF138176-D055-4B6C-8FA1-FCAAE51EB391}"/>
              </a:ext>
            </a:extLst>
          </p:cNvPr>
          <p:cNvSpPr>
            <a:spLocks xmlns:a="http://schemas.openxmlformats.org/drawingml/2006/main" noGrp="1"/>
          </p:cNvSpPr>
          <p:nvPr/>
        </p:nvSpPr>
        <p:spPr>
          <a:xfrm xmlns:a="http://schemas.openxmlformats.org/drawingml/2006/main">
            <a:off x="10401300" y="4962525"/>
            <a:ext cx="37147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91C1B"/>
                </a:solidFill>
                <a:latin typeface="DejaVu Sans"/>
                <a:ea typeface="DejaVu Sans"/>
                <a:cs typeface="DejaVu Sans"/>
              </a:defRPr>
            </a:defPPr>
          </a:lstStyle>
          <a:p xmlns:a="http://schemas.openxmlformats.org/drawingml/2006/main">
            <a:pPr>
              <a:defRPr sz="2325" b="0">
                <a:solidFill>
                  <a:srgbClr val="191C1B"/>
                </a:solidFill>
                <a:latin typeface="DejaVu Sans"/>
                <a:ea typeface="DejaVu Sans"/>
                <a:cs typeface="DejaVu Sans"/>
              </a:defRPr>
            </a:pPr>
            <a:r>
              <a:rPr sz="2325" b="0">
                <a:solidFill>
                  <a:srgbClr val="191C1B"/>
                </a:solidFill>
                <a:latin typeface="DejaVu Sans"/>
                <a:ea typeface="DejaVu Sans"/>
                <a:cs typeface="DejaVu Sans"/>
              </a:rPr>
              <a:t>Cùng cách chọn mục, quay lại và xác nhận thao tác.</a:t>
            </a:r>
          </a:p>
        </p:txBody>
      </p:sp>
      <p:sp>
        <p:nvSpPr>
          <p:cNvPr id="16" name="">
            <a:extLst xmlns:a="http://schemas.openxmlformats.org/drawingml/2006/main">
              <a:ext uri="{FF2B5EF4-FFF2-40B4-BE49-F238E27FC236}">
                <a16:creationId xmlns:a16="http://schemas.microsoft.com/office/drawing/2014/main" id="{33DC8BE3-45C1-4C4F-A72A-934E6EE16C44}"/>
              </a:ext>
            </a:extLst>
          </p:cNvPr>
          <p:cNvSpPr>
            <a:spLocks xmlns:a="http://schemas.openxmlformats.org/drawingml/2006/main" noGrp="1"/>
          </p:cNvSpPr>
          <p:nvPr/>
        </p:nvSpPr>
        <p:spPr>
          <a:xfrm xmlns:a="http://schemas.openxmlformats.org/drawingml/2006/main">
            <a:off x="762000" y="7658100"/>
            <a:ext cx="1343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3E4A40"/>
                </a:solidFill>
                <a:latin typeface="DejaVu Sans"/>
                <a:ea typeface="DejaVu Sans"/>
                <a:cs typeface="DejaVu Sans"/>
              </a:defRPr>
            </a:defPPr>
          </a:lstStyle>
          <a:p xmlns:a="http://schemas.openxmlformats.org/drawingml/2006/main">
            <a:pPr>
              <a:defRPr sz="1575" b="0">
                <a:solidFill>
                  <a:srgbClr val="3E4A40"/>
                </a:solidFill>
                <a:latin typeface="DejaVu Sans"/>
                <a:ea typeface="DejaVu Sans"/>
                <a:cs typeface="DejaVu Sans"/>
              </a:defRPr>
            </a:pPr>
            <a:r>
              <a:rPr sz="1575" b="0">
                <a:solidFill>
                  <a:srgbClr val="3E4A40"/>
                </a:solidFill>
                <a:latin typeface="DejaVu Sans"/>
                <a:ea typeface="DejaVu Sans"/>
                <a:cs typeface="DejaVu Sans"/>
              </a:rPr>
              <a:t>Component = thành phần dùng lại. Token = giá trị chung như màu, cỡ chữ, khoảng cách.</a:t>
            </a:r>
          </a:p>
        </p:txBody>
      </p:sp>
      <p:sp>
        <p:nvSpPr>
          <p:cNvPr id="17" name="">
            <a:extLst xmlns:a="http://schemas.openxmlformats.org/drawingml/2006/main">
              <a:ext uri="{FF2B5EF4-FFF2-40B4-BE49-F238E27FC236}">
                <a16:creationId xmlns:a16="http://schemas.microsoft.com/office/drawing/2014/main" id="{3213655D-4D53-4E86-BAB6-4D6A813C2380}"/>
              </a:ext>
            </a:extLst>
          </p:cNvPr>
          <p:cNvSpPr>
            <a:spLocks xmlns:a="http://schemas.openxmlformats.org/drawingml/2006/main" noGrp="1"/>
          </p:cNvSpPr>
          <p:nvPr/>
        </p:nvSpPr>
        <p:spPr>
          <a:xfrm xmlns:a="http://schemas.openxmlformats.org/drawingml/2006/main">
            <a:off x="13525500" y="323850"/>
            <a:ext cx="100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006A39"/>
                </a:solidFill>
                <a:latin typeface="DejaVu Sans"/>
                <a:ea typeface="DejaVu Sans"/>
                <a:cs typeface="DejaVu Sans"/>
              </a:defRPr>
            </a:defPPr>
          </a:lstStyle>
          <a:p xmlns:a="http://schemas.openxmlformats.org/drawingml/2006/main">
            <a:pPr>
              <a:defRPr sz="1350" b="0">
                <a:solidFill>
                  <a:srgbClr val="006A39"/>
                </a:solidFill>
                <a:latin typeface="DejaVu Sans"/>
                <a:ea typeface="DejaVu Sans"/>
                <a:cs typeface="DejaVu Sans"/>
              </a:defRPr>
            </a:pPr>
            <a:r>
              <a:rPr sz="1350" b="0">
                <a:solidFill>
                  <a:srgbClr val="006A39"/>
                </a:solidFill>
                <a:latin typeface="DejaVu Sans"/>
                <a:ea typeface="DejaVu Sans"/>
                <a:cs typeface="DejaVu Sans"/>
              </a:rPr>
              <a:t>09 / 12</a:t>
            </a:r>
          </a:p>
        </p:txBody>
      </p:sp>
    </p:spTree>
    <p:extLst>
      <p:ext uri="{BB962C8B-B14F-4D97-AF65-F5344CB8AC3E}">
        <p14:creationId xmlns:p14="http://schemas.microsoft.com/office/powerpoint/2010/main" val="1024310549"/>
      </p:ext>
    </p:extLst>
  </p:cSld>
</p:sld>
</file>

<file path=ppt/slides/slide10.xml><?xml version="1.0" encoding="utf-8"?>
<p:sld xmlns:p="http://schemas.openxmlformats.org/presentationml/2006/main">
  <p:cSld>
    <p:bg>
      <p:bgPr>
        <a:solidFill xmlns:a="http://schemas.openxmlformats.org/drawingml/2006/main">
          <a:srgbClr val="F9FA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C9AED00-4DF4-41F7-B6ED-394A5626324C}"/>
              </a:ext>
            </a:extLst>
          </p:cNvPr>
          <p:cNvSpPr>
            <a:spLocks xmlns:a="http://schemas.openxmlformats.org/drawingml/2006/main" noGrp="1"/>
          </p:cNvSpPr>
          <p:nvPr/>
        </p:nvSpPr>
        <p:spPr>
          <a:xfrm xmlns:a="http://schemas.openxmlformats.org/drawingml/2006/main">
            <a:off x="762000" y="333375"/>
            <a:ext cx="1285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3E4A40"/>
                </a:solidFill>
                <a:latin typeface="DejaVu Sans"/>
                <a:ea typeface="DejaVu Sans"/>
                <a:cs typeface="DejaVu Sans"/>
              </a:defRPr>
            </a:defPPr>
          </a:lstStyle>
          <a:p xmlns:a="http://schemas.openxmlformats.org/drawingml/2006/main">
            <a:pPr>
              <a:defRPr sz="1350" b="0">
                <a:solidFill>
                  <a:srgbClr val="3E4A40"/>
                </a:solidFill>
                <a:latin typeface="DejaVu Sans"/>
                <a:ea typeface="DejaVu Sans"/>
                <a:cs typeface="DejaVu Sans"/>
              </a:defRPr>
            </a:pPr>
            <a:r>
              <a:rPr sz="1350" b="0">
                <a:solidFill>
                  <a:srgbClr val="3E4A40"/>
                </a:solidFill>
                <a:latin typeface="DejaVu Sans"/>
                <a:ea typeface="DejaVu Sans"/>
                <a:cs typeface="DejaVu Sans"/>
              </a:rPr>
              <a:t>FETCH TIMER  /  QUÁ TRÌNH THIẾT KẾ</a:t>
            </a:r>
          </a:p>
        </p:txBody>
      </p:sp>
      <p:sp>
        <p:nvSpPr>
          <p:cNvPr id="2" name="">
            <a:extLst xmlns:a="http://schemas.openxmlformats.org/drawingml/2006/main">
              <a:ext uri="{FF2B5EF4-FFF2-40B4-BE49-F238E27FC236}">
                <a16:creationId xmlns:a16="http://schemas.microsoft.com/office/drawing/2014/main" id="{D6EAE1CC-3EDB-4580-8561-A1D9187E98B0}"/>
              </a:ext>
            </a:extLst>
          </p:cNvPr>
          <p:cNvSpPr>
            <a:spLocks xmlns:a="http://schemas.openxmlformats.org/drawingml/2006/main" noGrp="1"/>
          </p:cNvSpPr>
          <p:nvPr/>
        </p:nvSpPr>
        <p:spPr>
          <a:xfrm xmlns:a="http://schemas.openxmlformats.org/drawingml/2006/main">
            <a:off x="762000" y="95250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06A39"/>
                </a:solidFill>
                <a:latin typeface="DejaVu Sans"/>
                <a:ea typeface="DejaVu Sans"/>
                <a:cs typeface="DejaVu Sans"/>
              </a:defRPr>
            </a:defPPr>
          </a:lstStyle>
          <a:p xmlns:a="http://schemas.openxmlformats.org/drawingml/2006/main">
            <a:pPr>
              <a:defRPr sz="3600" b="1">
                <a:solidFill>
                  <a:srgbClr val="006A39"/>
                </a:solidFill>
                <a:latin typeface="DejaVu Sans"/>
                <a:ea typeface="DejaVu Sans"/>
                <a:cs typeface="DejaVu Sans"/>
              </a:defRPr>
            </a:pPr>
            <a:r>
              <a:rPr sz="3600" b="1">
                <a:solidFill>
                  <a:srgbClr val="006A39"/>
                </a:solidFill>
                <a:latin typeface="DejaVu Sans"/>
                <a:ea typeface="DejaVu Sans"/>
                <a:cs typeface="DejaVu Sans"/>
              </a:rPr>
              <a:t>Từ UI tĩnh đến prototype</a:t>
            </a:r>
          </a:p>
        </p:txBody>
      </p:sp>
      <p:sp>
        <p:nvSpPr>
          <p:cNvPr id="3" name="">
            <a:extLst xmlns:a="http://schemas.openxmlformats.org/drawingml/2006/main">
              <a:ext uri="{FF2B5EF4-FFF2-40B4-BE49-F238E27FC236}">
                <a16:creationId xmlns:a16="http://schemas.microsoft.com/office/drawing/2014/main" id="{E4A4E9A0-923C-4209-8DA0-934EA536AA0F}"/>
              </a:ext>
            </a:extLst>
          </p:cNvPr>
          <p:cNvSpPr>
            <a:spLocks xmlns:a="http://schemas.openxmlformats.org/drawingml/2006/main" noGrp="1"/>
          </p:cNvSpPr>
          <p:nvPr/>
        </p:nvSpPr>
        <p:spPr>
          <a:xfrm xmlns:a="http://schemas.openxmlformats.org/drawingml/2006/main">
            <a:off x="762000" y="2028825"/>
            <a:ext cx="1371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3E4A40"/>
                </a:solidFill>
                <a:latin typeface="DejaVu Sans"/>
                <a:ea typeface="DejaVu Sans"/>
                <a:cs typeface="DejaVu Sans"/>
              </a:defRPr>
            </a:defPPr>
          </a:lstStyle>
          <a:p xmlns:a="http://schemas.openxmlformats.org/drawingml/2006/main">
            <a:pPr>
              <a:defRPr sz="2175" b="0">
                <a:solidFill>
                  <a:srgbClr val="3E4A40"/>
                </a:solidFill>
                <a:latin typeface="DejaVu Sans"/>
                <a:ea typeface="DejaVu Sans"/>
                <a:cs typeface="DejaVu Sans"/>
              </a:defRPr>
            </a:pPr>
            <a:r>
              <a:rPr sz="2175" b="0">
                <a:solidFill>
                  <a:srgbClr val="3E4A40"/>
                </a:solidFill>
                <a:latin typeface="DejaVu Sans"/>
                <a:ea typeface="DejaVu Sans"/>
                <a:cs typeface="DejaVu Sans"/>
              </a:rPr>
              <a:t>Prototype là mô hình có thể bấm để kiểm tra luồng.</a:t>
            </a:r>
          </a:p>
        </p:txBody>
      </p:sp>
      <p:sp>
        <p:nvSpPr>
          <p:cNvPr id="4" name="">
            <a:extLst xmlns:a="http://schemas.openxmlformats.org/drawingml/2006/main">
              <a:ext uri="{FF2B5EF4-FFF2-40B4-BE49-F238E27FC236}">
                <a16:creationId xmlns:a16="http://schemas.microsoft.com/office/drawing/2014/main" id="{E6F84752-77D9-4F37-AEDA-75CC4ABF59BA}"/>
              </a:ext>
            </a:extLst>
          </p:cNvPr>
          <p:cNvSpPr>
            <a:spLocks xmlns:a="http://schemas.openxmlformats.org/drawingml/2006/main" noGrp="1"/>
          </p:cNvSpPr>
          <p:nvPr/>
        </p:nvSpPr>
        <p:spPr>
          <a:xfrm xmlns:a="http://schemas.openxmlformats.org/drawingml/2006/main">
            <a:off x="762000" y="3133725"/>
            <a:ext cx="85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006A39"/>
                </a:solidFill>
                <a:latin typeface="DejaVu Sans"/>
                <a:ea typeface="DejaVu Sans"/>
                <a:cs typeface="DejaVu Sans"/>
              </a:defRPr>
            </a:defPPr>
          </a:lstStyle>
          <a:p xmlns:a="http://schemas.openxmlformats.org/drawingml/2006/main">
            <a:pPr>
              <a:defRPr sz="2775" b="1">
                <a:solidFill>
                  <a:srgbClr val="006A39"/>
                </a:solidFill>
                <a:latin typeface="DejaVu Sans"/>
                <a:ea typeface="DejaVu Sans"/>
                <a:cs typeface="DejaVu Sans"/>
              </a:defRPr>
            </a:pPr>
            <a:r>
              <a:rPr sz="2775" b="1">
                <a:solidFill>
                  <a:srgbClr val="006A39"/>
                </a:solidFill>
                <a:latin typeface="DejaVu Sans"/>
                <a:ea typeface="DejaVu Sans"/>
                <a:cs typeface="DejaVu Sans"/>
              </a:rPr>
              <a:t>01</a:t>
            </a:r>
          </a:p>
        </p:txBody>
      </p:sp>
      <p:sp>
        <p:nvSpPr>
          <p:cNvPr id="5" name="">
            <a:extLst xmlns:a="http://schemas.openxmlformats.org/drawingml/2006/main">
              <a:ext uri="{FF2B5EF4-FFF2-40B4-BE49-F238E27FC236}">
                <a16:creationId xmlns:a16="http://schemas.microsoft.com/office/drawing/2014/main" id="{73C4416C-21C0-4326-9B0C-83DCD87421BA}"/>
              </a:ext>
            </a:extLst>
          </p:cNvPr>
          <p:cNvSpPr>
            <a:spLocks xmlns:a="http://schemas.openxmlformats.org/drawingml/2006/main" noGrp="1"/>
          </p:cNvSpPr>
          <p:nvPr/>
        </p:nvSpPr>
        <p:spPr>
          <a:xfrm xmlns:a="http://schemas.openxmlformats.org/drawingml/2006/main">
            <a:off x="1809750" y="3133725"/>
            <a:ext cx="4000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91C1B"/>
                </a:solidFill>
                <a:latin typeface="DejaVu Sans"/>
                <a:ea typeface="DejaVu Sans"/>
                <a:cs typeface="DejaVu Sans"/>
              </a:defRPr>
            </a:defPPr>
          </a:lstStyle>
          <a:p xmlns:a="http://schemas.openxmlformats.org/drawingml/2006/main">
            <a:pPr>
              <a:defRPr sz="2400" b="1">
                <a:solidFill>
                  <a:srgbClr val="191C1B"/>
                </a:solidFill>
                <a:latin typeface="DejaVu Sans"/>
                <a:ea typeface="DejaVu Sans"/>
                <a:cs typeface="DejaVu Sans"/>
              </a:defRPr>
            </a:pPr>
            <a:r>
              <a:rPr sz="2400" b="1">
                <a:solidFill>
                  <a:srgbClr val="191C1B"/>
                </a:solidFill>
                <a:latin typeface="DejaVu Sans"/>
                <a:ea typeface="DejaVu Sans"/>
                <a:cs typeface="DejaVu Sans"/>
              </a:rPr>
              <a:t>Đi tiếp</a:t>
            </a:r>
          </a:p>
        </p:txBody>
      </p:sp>
      <p:sp>
        <p:nvSpPr>
          <p:cNvPr id="6" name="">
            <a:extLst xmlns:a="http://schemas.openxmlformats.org/drawingml/2006/main">
              <a:ext uri="{FF2B5EF4-FFF2-40B4-BE49-F238E27FC236}">
                <a16:creationId xmlns:a16="http://schemas.microsoft.com/office/drawing/2014/main" id="{2B0E5CE8-F3B6-401E-B771-58BC45CA3FDB}"/>
              </a:ext>
            </a:extLst>
          </p:cNvPr>
          <p:cNvSpPr>
            <a:spLocks xmlns:a="http://schemas.openxmlformats.org/drawingml/2006/main" noGrp="1"/>
          </p:cNvSpPr>
          <p:nvPr/>
        </p:nvSpPr>
        <p:spPr>
          <a:xfrm xmlns:a="http://schemas.openxmlformats.org/drawingml/2006/main">
            <a:off x="6191250" y="3133725"/>
            <a:ext cx="819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91C1B"/>
                </a:solidFill>
                <a:latin typeface="DejaVu Sans"/>
                <a:ea typeface="DejaVu Sans"/>
                <a:cs typeface="DejaVu Sans"/>
              </a:defRPr>
            </a:defPPr>
          </a:lstStyle>
          <a:p xmlns:a="http://schemas.openxmlformats.org/drawingml/2006/main">
            <a:pPr>
              <a:defRPr sz="2325" b="0">
                <a:solidFill>
                  <a:srgbClr val="191C1B"/>
                </a:solidFill>
                <a:latin typeface="DejaVu Sans"/>
                <a:ea typeface="DejaVu Sans"/>
                <a:cs typeface="DejaVu Sans"/>
              </a:defRPr>
            </a:pPr>
            <a:r>
              <a:rPr sz="2325" b="0">
                <a:solidFill>
                  <a:srgbClr val="191C1B"/>
                </a:solidFill>
                <a:latin typeface="DejaVu Sans"/>
                <a:ea typeface="DejaVu Sans"/>
                <a:cs typeface="DejaVu Sans"/>
              </a:rPr>
              <a:t>Nút chính mở đúng màn hình hoặc hộp thoại.</a:t>
            </a:r>
          </a:p>
        </p:txBody>
      </p:sp>
      <p:sp>
        <p:nvSpPr>
          <p:cNvPr id="7" name="">
            <a:extLst xmlns:a="http://schemas.openxmlformats.org/drawingml/2006/main">
              <a:ext uri="{FF2B5EF4-FFF2-40B4-BE49-F238E27FC236}">
                <a16:creationId xmlns:a16="http://schemas.microsoft.com/office/drawing/2014/main" id="{83A62C6A-5D12-4085-A4F6-D26471CB9EA8}"/>
              </a:ext>
            </a:extLst>
          </p:cNvPr>
          <p:cNvSpPr>
            <a:spLocks xmlns:a="http://schemas.openxmlformats.org/drawingml/2006/main" noGrp="1"/>
          </p:cNvSpPr>
          <p:nvPr/>
        </p:nvSpPr>
        <p:spPr>
          <a:xfrm xmlns:a="http://schemas.openxmlformats.org/drawingml/2006/main">
            <a:off x="762000" y="4543425"/>
            <a:ext cx="85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006A39"/>
                </a:solidFill>
                <a:latin typeface="DejaVu Sans"/>
                <a:ea typeface="DejaVu Sans"/>
                <a:cs typeface="DejaVu Sans"/>
              </a:defRPr>
            </a:defPPr>
          </a:lstStyle>
          <a:p xmlns:a="http://schemas.openxmlformats.org/drawingml/2006/main">
            <a:pPr>
              <a:defRPr sz="2775" b="1">
                <a:solidFill>
                  <a:srgbClr val="006A39"/>
                </a:solidFill>
                <a:latin typeface="DejaVu Sans"/>
                <a:ea typeface="DejaVu Sans"/>
                <a:cs typeface="DejaVu Sans"/>
              </a:defRPr>
            </a:pPr>
            <a:r>
              <a:rPr sz="2775" b="1">
                <a:solidFill>
                  <a:srgbClr val="006A39"/>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A6E7F56E-181C-4FC1-A820-1FE0588F8CBC}"/>
              </a:ext>
            </a:extLst>
          </p:cNvPr>
          <p:cNvSpPr>
            <a:spLocks xmlns:a="http://schemas.openxmlformats.org/drawingml/2006/main" noGrp="1"/>
          </p:cNvSpPr>
          <p:nvPr/>
        </p:nvSpPr>
        <p:spPr>
          <a:xfrm xmlns:a="http://schemas.openxmlformats.org/drawingml/2006/main">
            <a:off x="1809750" y="4543425"/>
            <a:ext cx="4000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91C1B"/>
                </a:solidFill>
                <a:latin typeface="DejaVu Sans"/>
                <a:ea typeface="DejaVu Sans"/>
                <a:cs typeface="DejaVu Sans"/>
              </a:defRPr>
            </a:defPPr>
          </a:lstStyle>
          <a:p xmlns:a="http://schemas.openxmlformats.org/drawingml/2006/main">
            <a:pPr>
              <a:defRPr sz="2400" b="1">
                <a:solidFill>
                  <a:srgbClr val="191C1B"/>
                </a:solidFill>
                <a:latin typeface="DejaVu Sans"/>
                <a:ea typeface="DejaVu Sans"/>
                <a:cs typeface="DejaVu Sans"/>
              </a:defRPr>
            </a:pPr>
            <a:r>
              <a:rPr sz="2400" b="1">
                <a:solidFill>
                  <a:srgbClr val="191C1B"/>
                </a:solidFill>
                <a:latin typeface="DejaVu Sans"/>
                <a:ea typeface="DejaVu Sans"/>
                <a:cs typeface="DejaVu Sans"/>
              </a:rPr>
              <a:t>Quay lại</a:t>
            </a:r>
          </a:p>
        </p:txBody>
      </p:sp>
      <p:sp>
        <p:nvSpPr>
          <p:cNvPr id="9" name="">
            <a:extLst xmlns:a="http://schemas.openxmlformats.org/drawingml/2006/main">
              <a:ext uri="{FF2B5EF4-FFF2-40B4-BE49-F238E27FC236}">
                <a16:creationId xmlns:a16="http://schemas.microsoft.com/office/drawing/2014/main" id="{A64BD035-E50C-4E92-9280-D2A2DA4628CD}"/>
              </a:ext>
            </a:extLst>
          </p:cNvPr>
          <p:cNvSpPr>
            <a:spLocks xmlns:a="http://schemas.openxmlformats.org/drawingml/2006/main" noGrp="1"/>
          </p:cNvSpPr>
          <p:nvPr/>
        </p:nvSpPr>
        <p:spPr>
          <a:xfrm xmlns:a="http://schemas.openxmlformats.org/drawingml/2006/main">
            <a:off x="6191250" y="4543425"/>
            <a:ext cx="819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91C1B"/>
                </a:solidFill>
                <a:latin typeface="DejaVu Sans"/>
                <a:ea typeface="DejaVu Sans"/>
                <a:cs typeface="DejaVu Sans"/>
              </a:defRPr>
            </a:defPPr>
          </a:lstStyle>
          <a:p xmlns:a="http://schemas.openxmlformats.org/drawingml/2006/main">
            <a:pPr>
              <a:defRPr sz="2325" b="0">
                <a:solidFill>
                  <a:srgbClr val="191C1B"/>
                </a:solidFill>
                <a:latin typeface="DejaVu Sans"/>
                <a:ea typeface="DejaVu Sans"/>
                <a:cs typeface="DejaVu Sans"/>
              </a:defRPr>
            </a:pPr>
            <a:r>
              <a:rPr sz="2325" b="0">
                <a:solidFill>
                  <a:srgbClr val="191C1B"/>
                </a:solidFill>
                <a:latin typeface="DejaVu Sans"/>
                <a:ea typeface="DejaVu Sans"/>
                <a:cs typeface="DejaVu Sans"/>
              </a:rPr>
              <a:t>Giữ ngữ cảnh để người dùng không bị lạc.</a:t>
            </a:r>
          </a:p>
        </p:txBody>
      </p:sp>
      <p:sp>
        <p:nvSpPr>
          <p:cNvPr id="10" name="">
            <a:extLst xmlns:a="http://schemas.openxmlformats.org/drawingml/2006/main">
              <a:ext uri="{FF2B5EF4-FFF2-40B4-BE49-F238E27FC236}">
                <a16:creationId xmlns:a16="http://schemas.microsoft.com/office/drawing/2014/main" id="{A366F76B-5D23-49CB-BBC4-A67FD4A6CACB}"/>
              </a:ext>
            </a:extLst>
          </p:cNvPr>
          <p:cNvSpPr>
            <a:spLocks xmlns:a="http://schemas.openxmlformats.org/drawingml/2006/main" noGrp="1"/>
          </p:cNvSpPr>
          <p:nvPr/>
        </p:nvSpPr>
        <p:spPr>
          <a:xfrm xmlns:a="http://schemas.openxmlformats.org/drawingml/2006/main">
            <a:off x="762000" y="5953125"/>
            <a:ext cx="85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006A39"/>
                </a:solidFill>
                <a:latin typeface="DejaVu Sans"/>
                <a:ea typeface="DejaVu Sans"/>
                <a:cs typeface="DejaVu Sans"/>
              </a:defRPr>
            </a:defPPr>
          </a:lstStyle>
          <a:p xmlns:a="http://schemas.openxmlformats.org/drawingml/2006/main">
            <a:pPr>
              <a:defRPr sz="2775" b="1">
                <a:solidFill>
                  <a:srgbClr val="006A39"/>
                </a:solidFill>
                <a:latin typeface="DejaVu Sans"/>
                <a:ea typeface="DejaVu Sans"/>
                <a:cs typeface="DejaVu Sans"/>
              </a:defRPr>
            </a:pPr>
            <a:r>
              <a:rPr sz="2775" b="1">
                <a:solidFill>
                  <a:srgbClr val="006A39"/>
                </a:solidFill>
                <a:latin typeface="DejaVu Sans"/>
                <a:ea typeface="DejaVu Sans"/>
                <a:cs typeface="DejaVu Sans"/>
              </a:rPr>
              <a:t>03</a:t>
            </a:r>
          </a:p>
        </p:txBody>
      </p:sp>
      <p:sp>
        <p:nvSpPr>
          <p:cNvPr id="11" name="">
            <a:extLst xmlns:a="http://schemas.openxmlformats.org/drawingml/2006/main">
              <a:ext uri="{FF2B5EF4-FFF2-40B4-BE49-F238E27FC236}">
                <a16:creationId xmlns:a16="http://schemas.microsoft.com/office/drawing/2014/main" id="{E18E87AE-88B6-45D5-B394-585BFA8DE49A}"/>
              </a:ext>
            </a:extLst>
          </p:cNvPr>
          <p:cNvSpPr>
            <a:spLocks xmlns:a="http://schemas.openxmlformats.org/drawingml/2006/main" noGrp="1"/>
          </p:cNvSpPr>
          <p:nvPr/>
        </p:nvSpPr>
        <p:spPr>
          <a:xfrm xmlns:a="http://schemas.openxmlformats.org/drawingml/2006/main">
            <a:off x="1809750" y="5953125"/>
            <a:ext cx="4000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91C1B"/>
                </a:solidFill>
                <a:latin typeface="DejaVu Sans"/>
                <a:ea typeface="DejaVu Sans"/>
                <a:cs typeface="DejaVu Sans"/>
              </a:defRPr>
            </a:defPPr>
          </a:lstStyle>
          <a:p xmlns:a="http://schemas.openxmlformats.org/drawingml/2006/main">
            <a:pPr>
              <a:defRPr sz="2400" b="1">
                <a:solidFill>
                  <a:srgbClr val="191C1B"/>
                </a:solidFill>
                <a:latin typeface="DejaVu Sans"/>
                <a:ea typeface="DejaVu Sans"/>
                <a:cs typeface="DejaVu Sans"/>
              </a:defRPr>
            </a:pPr>
            <a:r>
              <a:rPr sz="2400" b="1">
                <a:solidFill>
                  <a:srgbClr val="191C1B"/>
                </a:solidFill>
                <a:latin typeface="DejaVu Sans"/>
                <a:ea typeface="DejaVu Sans"/>
                <a:cs typeface="DejaVu Sans"/>
              </a:rPr>
              <a:t>Phản hồi</a:t>
            </a:r>
          </a:p>
        </p:txBody>
      </p:sp>
      <p:sp>
        <p:nvSpPr>
          <p:cNvPr id="12" name="">
            <a:extLst xmlns:a="http://schemas.openxmlformats.org/drawingml/2006/main">
              <a:ext uri="{FF2B5EF4-FFF2-40B4-BE49-F238E27FC236}">
                <a16:creationId xmlns:a16="http://schemas.microsoft.com/office/drawing/2014/main" id="{4E3A258A-AD96-404F-BBD3-7D6ED61A17BA}"/>
              </a:ext>
            </a:extLst>
          </p:cNvPr>
          <p:cNvSpPr>
            <a:spLocks xmlns:a="http://schemas.openxmlformats.org/drawingml/2006/main" noGrp="1"/>
          </p:cNvSpPr>
          <p:nvPr/>
        </p:nvSpPr>
        <p:spPr>
          <a:xfrm xmlns:a="http://schemas.openxmlformats.org/drawingml/2006/main">
            <a:off x="6191250" y="5953125"/>
            <a:ext cx="819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91C1B"/>
                </a:solidFill>
                <a:latin typeface="DejaVu Sans"/>
                <a:ea typeface="DejaVu Sans"/>
                <a:cs typeface="DejaVu Sans"/>
              </a:defRPr>
            </a:defPPr>
          </a:lstStyle>
          <a:p xmlns:a="http://schemas.openxmlformats.org/drawingml/2006/main">
            <a:pPr>
              <a:defRPr sz="2325" b="0">
                <a:solidFill>
                  <a:srgbClr val="191C1B"/>
                </a:solidFill>
                <a:latin typeface="DejaVu Sans"/>
                <a:ea typeface="DejaVu Sans"/>
                <a:cs typeface="DejaVu Sans"/>
              </a:defRPr>
            </a:pPr>
            <a:r>
              <a:rPr sz="2325" b="0">
                <a:solidFill>
                  <a:srgbClr val="191C1B"/>
                </a:solidFill>
                <a:latin typeface="DejaVu Sans"/>
                <a:ea typeface="DejaVu Sans"/>
                <a:cs typeface="DejaVu Sans"/>
              </a:rPr>
              <a:t>Cho biết đã lưu, đang xử lý, có lỗi hoặc đã tham gia.</a:t>
            </a:r>
          </a:p>
        </p:txBody>
      </p:sp>
      <p:sp>
        <p:nvSpPr>
          <p:cNvPr id="13" name="">
            <a:extLst xmlns:a="http://schemas.openxmlformats.org/drawingml/2006/main">
              <a:ext uri="{FF2B5EF4-FFF2-40B4-BE49-F238E27FC236}">
                <a16:creationId xmlns:a16="http://schemas.microsoft.com/office/drawing/2014/main" id="{CF388FBA-C29A-4B4A-9BF2-29F893DA1C6F}"/>
              </a:ext>
            </a:extLst>
          </p:cNvPr>
          <p:cNvSpPr>
            <a:spLocks xmlns:a="http://schemas.openxmlformats.org/drawingml/2006/main" noGrp="1"/>
          </p:cNvSpPr>
          <p:nvPr/>
        </p:nvSpPr>
        <p:spPr>
          <a:xfrm xmlns:a="http://schemas.openxmlformats.org/drawingml/2006/main">
            <a:off x="762000" y="7658100"/>
            <a:ext cx="1343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3E4A40"/>
                </a:solidFill>
                <a:latin typeface="DejaVu Sans"/>
                <a:ea typeface="DejaVu Sans"/>
                <a:cs typeface="DejaVu Sans"/>
              </a:defRPr>
            </a:defPPr>
          </a:lstStyle>
          <a:p xmlns:a="http://schemas.openxmlformats.org/drawingml/2006/main">
            <a:pPr>
              <a:defRPr sz="1575" b="0">
                <a:solidFill>
                  <a:srgbClr val="3E4A40"/>
                </a:solidFill>
                <a:latin typeface="DejaVu Sans"/>
                <a:ea typeface="DejaVu Sans"/>
                <a:cs typeface="DejaVu Sans"/>
              </a:defRPr>
            </a:pPr>
            <a:r>
              <a:rPr sz="1575" b="0">
                <a:solidFill>
                  <a:srgbClr val="3E4A40"/>
                </a:solidFill>
                <a:latin typeface="DejaVu Sans"/>
                <a:ea typeface="DejaVu Sans"/>
                <a:cs typeface="DejaVu Sans"/>
              </a:rPr>
              <a:t>UI trả lời “màn hình trông thế nào”. Prototype cho thấy “người dùng thao tác ra sao”.</a:t>
            </a:r>
          </a:p>
        </p:txBody>
      </p:sp>
      <p:sp>
        <p:nvSpPr>
          <p:cNvPr id="14" name="">
            <a:extLst xmlns:a="http://schemas.openxmlformats.org/drawingml/2006/main">
              <a:ext uri="{FF2B5EF4-FFF2-40B4-BE49-F238E27FC236}">
                <a16:creationId xmlns:a16="http://schemas.microsoft.com/office/drawing/2014/main" id="{8B3F7852-585E-458A-B7B7-99C2847E0C01}"/>
              </a:ext>
            </a:extLst>
          </p:cNvPr>
          <p:cNvSpPr>
            <a:spLocks xmlns:a="http://schemas.openxmlformats.org/drawingml/2006/main" noGrp="1"/>
          </p:cNvSpPr>
          <p:nvPr/>
        </p:nvSpPr>
        <p:spPr>
          <a:xfrm xmlns:a="http://schemas.openxmlformats.org/drawingml/2006/main">
            <a:off x="13525500" y="323850"/>
            <a:ext cx="100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006A39"/>
                </a:solidFill>
                <a:latin typeface="DejaVu Sans"/>
                <a:ea typeface="DejaVu Sans"/>
                <a:cs typeface="DejaVu Sans"/>
              </a:defRPr>
            </a:defPPr>
          </a:lstStyle>
          <a:p xmlns:a="http://schemas.openxmlformats.org/drawingml/2006/main">
            <a:pPr>
              <a:defRPr sz="1350" b="0">
                <a:solidFill>
                  <a:srgbClr val="006A39"/>
                </a:solidFill>
                <a:latin typeface="DejaVu Sans"/>
                <a:ea typeface="DejaVu Sans"/>
                <a:cs typeface="DejaVu Sans"/>
              </a:defRPr>
            </a:pPr>
            <a:r>
              <a:rPr sz="1350" b="0">
                <a:solidFill>
                  <a:srgbClr val="006A39"/>
                </a:solidFill>
                <a:latin typeface="DejaVu Sans"/>
                <a:ea typeface="DejaVu Sans"/>
                <a:cs typeface="DejaVu Sans"/>
              </a:rPr>
              <a:t>10 / 12</a:t>
            </a:r>
          </a:p>
        </p:txBody>
      </p:sp>
    </p:spTree>
    <p:extLst>
      <p:ext uri="{BB962C8B-B14F-4D97-AF65-F5344CB8AC3E}">
        <p14:creationId xmlns:p14="http://schemas.microsoft.com/office/powerpoint/2010/main" val="503560767"/>
      </p:ext>
    </p:extLst>
  </p:cSld>
</p:sld>
</file>

<file path=ppt/slides/slide11.xml><?xml version="1.0" encoding="utf-8"?>
<p:sld xmlns:p="http://schemas.openxmlformats.org/presentationml/2006/main">
  <p:cSld>
    <p:bg>
      <p:bgPr>
        <a:solidFill xmlns:a="http://schemas.openxmlformats.org/drawingml/2006/main">
          <a:srgbClr val="F9FA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A6C4A99-4B89-4513-92A5-4E6393182324}"/>
              </a:ext>
            </a:extLst>
          </p:cNvPr>
          <p:cNvSpPr>
            <a:spLocks xmlns:a="http://schemas.openxmlformats.org/drawingml/2006/main" noGrp="1"/>
          </p:cNvSpPr>
          <p:nvPr/>
        </p:nvSpPr>
        <p:spPr>
          <a:xfrm xmlns:a="http://schemas.openxmlformats.org/drawingml/2006/main">
            <a:off x="762000" y="333375"/>
            <a:ext cx="1285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3E4A40"/>
                </a:solidFill>
                <a:latin typeface="DejaVu Sans"/>
                <a:ea typeface="DejaVu Sans"/>
                <a:cs typeface="DejaVu Sans"/>
              </a:defRPr>
            </a:defPPr>
          </a:lstStyle>
          <a:p xmlns:a="http://schemas.openxmlformats.org/drawingml/2006/main">
            <a:pPr>
              <a:defRPr sz="1350" b="0">
                <a:solidFill>
                  <a:srgbClr val="3E4A40"/>
                </a:solidFill>
                <a:latin typeface="DejaVu Sans"/>
                <a:ea typeface="DejaVu Sans"/>
                <a:cs typeface="DejaVu Sans"/>
              </a:defRPr>
            </a:pPr>
            <a:r>
              <a:rPr sz="1350" b="0">
                <a:solidFill>
                  <a:srgbClr val="3E4A40"/>
                </a:solidFill>
                <a:latin typeface="DejaVu Sans"/>
                <a:ea typeface="DejaVu Sans"/>
                <a:cs typeface="DejaVu Sans"/>
              </a:rPr>
              <a:t>FETCH TIMER  /  QUÁ TRÌNH THIẾT KẾ</a:t>
            </a:r>
          </a:p>
        </p:txBody>
      </p:sp>
      <p:sp>
        <p:nvSpPr>
          <p:cNvPr id="2" name="">
            <a:extLst xmlns:a="http://schemas.openxmlformats.org/drawingml/2006/main">
              <a:ext uri="{FF2B5EF4-FFF2-40B4-BE49-F238E27FC236}">
                <a16:creationId xmlns:a16="http://schemas.microsoft.com/office/drawing/2014/main" id="{00A45372-DA97-4CF6-A8E6-EB61B1A4A78B}"/>
              </a:ext>
            </a:extLst>
          </p:cNvPr>
          <p:cNvSpPr>
            <a:spLocks xmlns:a="http://schemas.openxmlformats.org/drawingml/2006/main" noGrp="1"/>
          </p:cNvSpPr>
          <p:nvPr/>
        </p:nvSpPr>
        <p:spPr>
          <a:xfrm xmlns:a="http://schemas.openxmlformats.org/drawingml/2006/main">
            <a:off x="762000" y="95250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06A39"/>
                </a:solidFill>
                <a:latin typeface="DejaVu Sans"/>
                <a:ea typeface="DejaVu Sans"/>
                <a:cs typeface="DejaVu Sans"/>
              </a:defRPr>
            </a:defPPr>
          </a:lstStyle>
          <a:p xmlns:a="http://schemas.openxmlformats.org/drawingml/2006/main">
            <a:pPr>
              <a:defRPr sz="3600" b="1">
                <a:solidFill>
                  <a:srgbClr val="006A39"/>
                </a:solidFill>
                <a:latin typeface="DejaVu Sans"/>
                <a:ea typeface="DejaVu Sans"/>
                <a:cs typeface="DejaVu Sans"/>
              </a:defRPr>
            </a:pPr>
            <a:r>
              <a:rPr sz="3600" b="1">
                <a:solidFill>
                  <a:srgbClr val="006A39"/>
                </a:solidFill>
                <a:latin typeface="DejaVu Sans"/>
                <a:ea typeface="DejaVu Sans"/>
                <a:cs typeface="DejaVu Sans"/>
              </a:rPr>
              <a:t>Demo bằng 3 nhiệm vụ cụ thể</a:t>
            </a:r>
          </a:p>
        </p:txBody>
      </p:sp>
      <p:sp>
        <p:nvSpPr>
          <p:cNvPr id="3" name="">
            <a:extLst xmlns:a="http://schemas.openxmlformats.org/drawingml/2006/main">
              <a:ext uri="{FF2B5EF4-FFF2-40B4-BE49-F238E27FC236}">
                <a16:creationId xmlns:a16="http://schemas.microsoft.com/office/drawing/2014/main" id="{6DA8FE66-3996-469A-A3E0-E7E0091A6DEA}"/>
              </a:ext>
            </a:extLst>
          </p:cNvPr>
          <p:cNvSpPr>
            <a:spLocks xmlns:a="http://schemas.openxmlformats.org/drawingml/2006/main" noGrp="1"/>
          </p:cNvSpPr>
          <p:nvPr/>
        </p:nvSpPr>
        <p:spPr>
          <a:xfrm xmlns:a="http://schemas.openxmlformats.org/drawingml/2006/main">
            <a:off x="762000" y="2028825"/>
            <a:ext cx="1371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3E4A40"/>
                </a:solidFill>
                <a:latin typeface="DejaVu Sans"/>
                <a:ea typeface="DejaVu Sans"/>
                <a:cs typeface="DejaVu Sans"/>
              </a:defRPr>
            </a:defPPr>
          </a:lstStyle>
          <a:p xmlns:a="http://schemas.openxmlformats.org/drawingml/2006/main">
            <a:pPr>
              <a:defRPr sz="2175" b="0">
                <a:solidFill>
                  <a:srgbClr val="3E4A40"/>
                </a:solidFill>
                <a:latin typeface="DejaVu Sans"/>
                <a:ea typeface="DejaVu Sans"/>
                <a:cs typeface="DejaVu Sans"/>
              </a:defRPr>
            </a:pPr>
            <a:r>
              <a:rPr sz="2175" b="0">
                <a:solidFill>
                  <a:srgbClr val="3E4A40"/>
                </a:solidFill>
                <a:latin typeface="DejaVu Sans"/>
                <a:ea typeface="DejaVu Sans"/>
                <a:cs typeface="DejaVu Sans"/>
              </a:rPr>
              <a:t>Mỗi lượt demo cần kết thúc bằng một kết quả nhìn thấy được.</a:t>
            </a:r>
          </a:p>
        </p:txBody>
      </p:sp>
      <p:sp>
        <p:nvSpPr>
          <p:cNvPr id="4" name="">
            <a:extLst xmlns:a="http://schemas.openxmlformats.org/drawingml/2006/main">
              <a:ext uri="{FF2B5EF4-FFF2-40B4-BE49-F238E27FC236}">
                <a16:creationId xmlns:a16="http://schemas.microsoft.com/office/drawing/2014/main" id="{83DBA027-474F-4E39-AACE-3D60D2F2AF76}"/>
              </a:ext>
            </a:extLst>
          </p:cNvPr>
          <p:cNvSpPr>
            <a:spLocks xmlns:a="http://schemas.openxmlformats.org/drawingml/2006/main" noGrp="1"/>
          </p:cNvSpPr>
          <p:nvPr/>
        </p:nvSpPr>
        <p:spPr>
          <a:xfrm xmlns:a="http://schemas.openxmlformats.org/drawingml/2006/main">
            <a:off x="762000" y="3143250"/>
            <a:ext cx="13716000" cy="1181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72D49FB-9D24-4DF8-8BF3-5D643EB0FB0C}"/>
              </a:ext>
            </a:extLst>
          </p:cNvPr>
          <p:cNvSpPr>
            <a:spLocks xmlns:a="http://schemas.openxmlformats.org/drawingml/2006/main" noGrp="1"/>
          </p:cNvSpPr>
          <p:nvPr/>
        </p:nvSpPr>
        <p:spPr>
          <a:xfrm xmlns:a="http://schemas.openxmlformats.org/drawingml/2006/main">
            <a:off x="1000125" y="3457575"/>
            <a:ext cx="357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6A39"/>
                </a:solidFill>
                <a:latin typeface="DejaVu Sans"/>
                <a:ea typeface="DejaVu Sans"/>
                <a:cs typeface="DejaVu Sans"/>
              </a:defRPr>
            </a:defPPr>
          </a:lstStyle>
          <a:p xmlns:a="http://schemas.openxmlformats.org/drawingml/2006/main">
            <a:pPr>
              <a:defRPr sz="2175" b="1">
                <a:solidFill>
                  <a:srgbClr val="006A39"/>
                </a:solidFill>
                <a:latin typeface="DejaVu Sans"/>
                <a:ea typeface="DejaVu Sans"/>
                <a:cs typeface="DejaVu Sans"/>
              </a:defRPr>
            </a:pPr>
            <a:r>
              <a:rPr sz="2175" b="1">
                <a:solidFill>
                  <a:srgbClr val="006A39"/>
                </a:solidFill>
                <a:latin typeface="DejaVu Sans"/>
                <a:ea typeface="DejaVu Sans"/>
                <a:cs typeface="DejaVu Sans"/>
              </a:rPr>
              <a:t>1 · Hobby &amp; lịch</a:t>
            </a:r>
          </a:p>
        </p:txBody>
      </p:sp>
      <p:sp>
        <p:nvSpPr>
          <p:cNvPr id="6" name="">
            <a:extLst xmlns:a="http://schemas.openxmlformats.org/drawingml/2006/main">
              <a:ext uri="{FF2B5EF4-FFF2-40B4-BE49-F238E27FC236}">
                <a16:creationId xmlns:a16="http://schemas.microsoft.com/office/drawing/2014/main" id="{D60FB311-1355-4F4D-B78F-EBBF971528B0}"/>
              </a:ext>
            </a:extLst>
          </p:cNvPr>
          <p:cNvSpPr>
            <a:spLocks xmlns:a="http://schemas.openxmlformats.org/drawingml/2006/main" noGrp="1"/>
          </p:cNvSpPr>
          <p:nvPr/>
        </p:nvSpPr>
        <p:spPr>
          <a:xfrm xmlns:a="http://schemas.openxmlformats.org/drawingml/2006/main">
            <a:off x="4791075" y="3457575"/>
            <a:ext cx="9286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1C1B"/>
                </a:solidFill>
                <a:latin typeface="DejaVu Sans"/>
                <a:ea typeface="DejaVu Sans"/>
                <a:cs typeface="DejaVu Sans"/>
              </a:defRPr>
            </a:defPPr>
          </a:lstStyle>
          <a:p xmlns:a="http://schemas.openxmlformats.org/drawingml/2006/main">
            <a:pPr>
              <a:defRPr sz="2250" b="0">
                <a:solidFill>
                  <a:srgbClr val="191C1B"/>
                </a:solidFill>
                <a:latin typeface="DejaVu Sans"/>
                <a:ea typeface="DejaVu Sans"/>
                <a:cs typeface="DejaVu Sans"/>
              </a:defRPr>
            </a:pPr>
            <a:r>
              <a:rPr sz="2250" b="0">
                <a:solidFill>
                  <a:srgbClr val="191C1B"/>
                </a:solidFill>
                <a:latin typeface="DejaVu Sans"/>
                <a:ea typeface="DejaVu Sans"/>
                <a:cs typeface="DejaVu Sans"/>
              </a:rPr>
              <a:t>Tạo Guitar → đặt lịch → mở ngày vừa chọn.</a:t>
            </a:r>
          </a:p>
        </p:txBody>
      </p:sp>
      <p:sp>
        <p:nvSpPr>
          <p:cNvPr id="7" name="">
            <a:extLst xmlns:a="http://schemas.openxmlformats.org/drawingml/2006/main">
              <a:ext uri="{FF2B5EF4-FFF2-40B4-BE49-F238E27FC236}">
                <a16:creationId xmlns:a16="http://schemas.microsoft.com/office/drawing/2014/main" id="{C228F984-26BD-44F1-A230-5EAC5408BBCC}"/>
              </a:ext>
            </a:extLst>
          </p:cNvPr>
          <p:cNvSpPr>
            <a:spLocks xmlns:a="http://schemas.openxmlformats.org/drawingml/2006/main" noGrp="1"/>
          </p:cNvSpPr>
          <p:nvPr/>
        </p:nvSpPr>
        <p:spPr>
          <a:xfrm xmlns:a="http://schemas.openxmlformats.org/drawingml/2006/main">
            <a:off x="762000" y="4543425"/>
            <a:ext cx="13716000" cy="1181100"/>
          </a:xfrm>
          <a:prstGeom xmlns:a="http://schemas.openxmlformats.org/drawingml/2006/main" prst="rect">
            <a:avLst/>
          </a:prstGeom>
          <a:solidFill xmlns:a="http://schemas.openxmlformats.org/drawingml/2006/main">
            <a:srgbClr val="EAF1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41D2728-8FFD-4881-AA8C-443B373F95C6}"/>
              </a:ext>
            </a:extLst>
          </p:cNvPr>
          <p:cNvSpPr>
            <a:spLocks xmlns:a="http://schemas.openxmlformats.org/drawingml/2006/main" noGrp="1"/>
          </p:cNvSpPr>
          <p:nvPr/>
        </p:nvSpPr>
        <p:spPr>
          <a:xfrm xmlns:a="http://schemas.openxmlformats.org/drawingml/2006/main">
            <a:off x="1000125" y="4857750"/>
            <a:ext cx="357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6A39"/>
                </a:solidFill>
                <a:latin typeface="DejaVu Sans"/>
                <a:ea typeface="DejaVu Sans"/>
                <a:cs typeface="DejaVu Sans"/>
              </a:defRPr>
            </a:defPPr>
          </a:lstStyle>
          <a:p xmlns:a="http://schemas.openxmlformats.org/drawingml/2006/main">
            <a:pPr>
              <a:defRPr sz="2175" b="1">
                <a:solidFill>
                  <a:srgbClr val="006A39"/>
                </a:solidFill>
                <a:latin typeface="DejaVu Sans"/>
                <a:ea typeface="DejaVu Sans"/>
                <a:cs typeface="DejaVu Sans"/>
              </a:defRPr>
            </a:pPr>
            <a:r>
              <a:rPr sz="2175" b="1">
                <a:solidFill>
                  <a:srgbClr val="006A39"/>
                </a:solidFill>
                <a:latin typeface="DejaVu Sans"/>
                <a:ea typeface="DejaVu Sans"/>
                <a:cs typeface="DejaVu Sans"/>
              </a:rPr>
              <a:t>2 · Focus</a:t>
            </a:r>
          </a:p>
        </p:txBody>
      </p:sp>
      <p:sp>
        <p:nvSpPr>
          <p:cNvPr id="9" name="">
            <a:extLst xmlns:a="http://schemas.openxmlformats.org/drawingml/2006/main">
              <a:ext uri="{FF2B5EF4-FFF2-40B4-BE49-F238E27FC236}">
                <a16:creationId xmlns:a16="http://schemas.microsoft.com/office/drawing/2014/main" id="{86D63435-132D-465D-8807-AB740B204A0A}"/>
              </a:ext>
            </a:extLst>
          </p:cNvPr>
          <p:cNvSpPr>
            <a:spLocks xmlns:a="http://schemas.openxmlformats.org/drawingml/2006/main" noGrp="1"/>
          </p:cNvSpPr>
          <p:nvPr/>
        </p:nvSpPr>
        <p:spPr>
          <a:xfrm xmlns:a="http://schemas.openxmlformats.org/drawingml/2006/main">
            <a:off x="4791075" y="4857750"/>
            <a:ext cx="9286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1C1B"/>
                </a:solidFill>
                <a:latin typeface="DejaVu Sans"/>
                <a:ea typeface="DejaVu Sans"/>
                <a:cs typeface="DejaVu Sans"/>
              </a:defRPr>
            </a:defPPr>
          </a:lstStyle>
          <a:p xmlns:a="http://schemas.openxmlformats.org/drawingml/2006/main">
            <a:pPr>
              <a:defRPr sz="2250" b="0">
                <a:solidFill>
                  <a:srgbClr val="191C1B"/>
                </a:solidFill>
                <a:latin typeface="DejaVu Sans"/>
                <a:ea typeface="DejaVu Sans"/>
                <a:cs typeface="DejaVu Sans"/>
              </a:defRPr>
            </a:pPr>
            <a:r>
              <a:rPr sz="2250" b="0">
                <a:solidFill>
                  <a:srgbClr val="191C1B"/>
                </a:solidFill>
                <a:latin typeface="DejaVu Sans"/>
                <a:ea typeface="DejaVu Sans"/>
                <a:cs typeface="DejaVu Sans"/>
              </a:rPr>
              <a:t>Chọn Guitar → chạy / tạm dừng → xem tổng kết.</a:t>
            </a:r>
          </a:p>
        </p:txBody>
      </p:sp>
      <p:sp>
        <p:nvSpPr>
          <p:cNvPr id="10" name="">
            <a:extLst xmlns:a="http://schemas.openxmlformats.org/drawingml/2006/main">
              <a:ext uri="{FF2B5EF4-FFF2-40B4-BE49-F238E27FC236}">
                <a16:creationId xmlns:a16="http://schemas.microsoft.com/office/drawing/2014/main" id="{F80EE7DB-65E8-4917-AB6D-3636EDCC463C}"/>
              </a:ext>
            </a:extLst>
          </p:cNvPr>
          <p:cNvSpPr>
            <a:spLocks xmlns:a="http://schemas.openxmlformats.org/drawingml/2006/main" noGrp="1"/>
          </p:cNvSpPr>
          <p:nvPr/>
        </p:nvSpPr>
        <p:spPr>
          <a:xfrm xmlns:a="http://schemas.openxmlformats.org/drawingml/2006/main">
            <a:off x="762000" y="5943600"/>
            <a:ext cx="13716000" cy="1181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8564E92-EAA1-4BDC-8C73-F1DE075F9C55}"/>
              </a:ext>
            </a:extLst>
          </p:cNvPr>
          <p:cNvSpPr>
            <a:spLocks xmlns:a="http://schemas.openxmlformats.org/drawingml/2006/main" noGrp="1"/>
          </p:cNvSpPr>
          <p:nvPr/>
        </p:nvSpPr>
        <p:spPr>
          <a:xfrm xmlns:a="http://schemas.openxmlformats.org/drawingml/2006/main">
            <a:off x="1000125" y="6257925"/>
            <a:ext cx="357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6A39"/>
                </a:solidFill>
                <a:latin typeface="DejaVu Sans"/>
                <a:ea typeface="DejaVu Sans"/>
                <a:cs typeface="DejaVu Sans"/>
              </a:defRPr>
            </a:defPPr>
          </a:lstStyle>
          <a:p xmlns:a="http://schemas.openxmlformats.org/drawingml/2006/main">
            <a:pPr>
              <a:defRPr sz="2175" b="1">
                <a:solidFill>
                  <a:srgbClr val="006A39"/>
                </a:solidFill>
                <a:latin typeface="DejaVu Sans"/>
                <a:ea typeface="DejaVu Sans"/>
                <a:cs typeface="DejaVu Sans"/>
              </a:defRPr>
            </a:pPr>
            <a:r>
              <a:rPr sz="2175" b="1">
                <a:solidFill>
                  <a:srgbClr val="006A39"/>
                </a:solidFill>
                <a:latin typeface="DejaVu Sans"/>
                <a:ea typeface="DejaVu Sans"/>
                <a:cs typeface="DejaVu Sans"/>
              </a:rPr>
              <a:t>3 · Cộng đồng</a:t>
            </a:r>
          </a:p>
        </p:txBody>
      </p:sp>
      <p:sp>
        <p:nvSpPr>
          <p:cNvPr id="12" name="">
            <a:extLst xmlns:a="http://schemas.openxmlformats.org/drawingml/2006/main">
              <a:ext uri="{FF2B5EF4-FFF2-40B4-BE49-F238E27FC236}">
                <a16:creationId xmlns:a16="http://schemas.microsoft.com/office/drawing/2014/main" id="{81177FBA-0C21-40AC-AA1C-F1098C4025B2}"/>
              </a:ext>
            </a:extLst>
          </p:cNvPr>
          <p:cNvSpPr>
            <a:spLocks xmlns:a="http://schemas.openxmlformats.org/drawingml/2006/main" noGrp="1"/>
          </p:cNvSpPr>
          <p:nvPr/>
        </p:nvSpPr>
        <p:spPr>
          <a:xfrm xmlns:a="http://schemas.openxmlformats.org/drawingml/2006/main">
            <a:off x="4791075" y="6257925"/>
            <a:ext cx="9286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1C1B"/>
                </a:solidFill>
                <a:latin typeface="DejaVu Sans"/>
                <a:ea typeface="DejaVu Sans"/>
                <a:cs typeface="DejaVu Sans"/>
              </a:defRPr>
            </a:defPPr>
          </a:lstStyle>
          <a:p xmlns:a="http://schemas.openxmlformats.org/drawingml/2006/main">
            <a:pPr>
              <a:defRPr sz="2250" b="0">
                <a:solidFill>
                  <a:srgbClr val="191C1B"/>
                </a:solidFill>
                <a:latin typeface="DejaVu Sans"/>
                <a:ea typeface="DejaVu Sans"/>
                <a:cs typeface="DejaVu Sans"/>
              </a:defRPr>
            </a:pPr>
            <a:r>
              <a:rPr sz="2250" b="0">
                <a:solidFill>
                  <a:srgbClr val="191C1B"/>
                </a:solidFill>
                <a:latin typeface="DejaVu Sans"/>
                <a:ea typeface="DejaVu Sans"/>
                <a:cs typeface="DejaVu Sans"/>
              </a:rPr>
              <a:t>Chia sẻ hobby → tìm và tham gia nhóm → xem thử thách.</a:t>
            </a:r>
          </a:p>
        </p:txBody>
      </p:sp>
      <p:sp>
        <p:nvSpPr>
          <p:cNvPr id="13" name="">
            <a:extLst xmlns:a="http://schemas.openxmlformats.org/drawingml/2006/main">
              <a:ext uri="{FF2B5EF4-FFF2-40B4-BE49-F238E27FC236}">
                <a16:creationId xmlns:a16="http://schemas.microsoft.com/office/drawing/2014/main" id="{3FD22F67-898F-4303-A0D7-7C7149482DA0}"/>
              </a:ext>
            </a:extLst>
          </p:cNvPr>
          <p:cNvSpPr>
            <a:spLocks xmlns:a="http://schemas.openxmlformats.org/drawingml/2006/main" noGrp="1"/>
          </p:cNvSpPr>
          <p:nvPr/>
        </p:nvSpPr>
        <p:spPr>
          <a:xfrm xmlns:a="http://schemas.openxmlformats.org/drawingml/2006/main">
            <a:off x="762000" y="7658100"/>
            <a:ext cx="1343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3E4A40"/>
                </a:solidFill>
                <a:latin typeface="DejaVu Sans"/>
                <a:ea typeface="DejaVu Sans"/>
                <a:cs typeface="DejaVu Sans"/>
              </a:defRPr>
            </a:defPPr>
          </a:lstStyle>
          <a:p xmlns:a="http://schemas.openxmlformats.org/drawingml/2006/main">
            <a:pPr>
              <a:defRPr sz="1575" b="0">
                <a:solidFill>
                  <a:srgbClr val="3E4A40"/>
                </a:solidFill>
                <a:latin typeface="DejaVu Sans"/>
                <a:ea typeface="DejaVu Sans"/>
                <a:cs typeface="DejaVu Sans"/>
              </a:defRPr>
            </a:pPr>
            <a:r>
              <a:rPr sz="1575" b="0">
                <a:solidFill>
                  <a:srgbClr val="3E4A40"/>
                </a:solidFill>
                <a:latin typeface="DejaVu Sans"/>
                <a:ea typeface="DejaVu Sans"/>
                <a:cs typeface="DejaVu Sans"/>
              </a:rPr>
              <a:t>Trong demo, nói rõ: đang ở đâu • bấm gì • kết quả mong đợi là gì.</a:t>
            </a:r>
          </a:p>
        </p:txBody>
      </p:sp>
      <p:sp>
        <p:nvSpPr>
          <p:cNvPr id="14" name="">
            <a:extLst xmlns:a="http://schemas.openxmlformats.org/drawingml/2006/main">
              <a:ext uri="{FF2B5EF4-FFF2-40B4-BE49-F238E27FC236}">
                <a16:creationId xmlns:a16="http://schemas.microsoft.com/office/drawing/2014/main" id="{3C938851-7A4D-42CA-95C2-58BD1FA3E31F}"/>
              </a:ext>
            </a:extLst>
          </p:cNvPr>
          <p:cNvSpPr>
            <a:spLocks xmlns:a="http://schemas.openxmlformats.org/drawingml/2006/main" noGrp="1"/>
          </p:cNvSpPr>
          <p:nvPr/>
        </p:nvSpPr>
        <p:spPr>
          <a:xfrm xmlns:a="http://schemas.openxmlformats.org/drawingml/2006/main">
            <a:off x="13525500" y="323850"/>
            <a:ext cx="100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006A39"/>
                </a:solidFill>
                <a:latin typeface="DejaVu Sans"/>
                <a:ea typeface="DejaVu Sans"/>
                <a:cs typeface="DejaVu Sans"/>
              </a:defRPr>
            </a:defPPr>
          </a:lstStyle>
          <a:p xmlns:a="http://schemas.openxmlformats.org/drawingml/2006/main">
            <a:pPr>
              <a:defRPr sz="1350" b="0">
                <a:solidFill>
                  <a:srgbClr val="006A39"/>
                </a:solidFill>
                <a:latin typeface="DejaVu Sans"/>
                <a:ea typeface="DejaVu Sans"/>
                <a:cs typeface="DejaVu Sans"/>
              </a:defRPr>
            </a:pPr>
            <a:r>
              <a:rPr sz="1350" b="0">
                <a:solidFill>
                  <a:srgbClr val="006A39"/>
                </a:solidFill>
                <a:latin typeface="DejaVu Sans"/>
                <a:ea typeface="DejaVu Sans"/>
                <a:cs typeface="DejaVu Sans"/>
              </a:rPr>
              <a:t>11 / 12</a:t>
            </a:r>
          </a:p>
        </p:txBody>
      </p:sp>
    </p:spTree>
    <p:extLst>
      <p:ext uri="{BB962C8B-B14F-4D97-AF65-F5344CB8AC3E}">
        <p14:creationId xmlns:p14="http://schemas.microsoft.com/office/powerpoint/2010/main" val="1698558091"/>
      </p:ext>
    </p:extLst>
  </p:cSld>
</p:sld>
</file>

<file path=ppt/slides/slide12.xml><?xml version="1.0" encoding="utf-8"?>
<p:sld xmlns:p="http://schemas.openxmlformats.org/presentationml/2006/main">
  <p:cSld>
    <p:bg>
      <p:bgPr>
        <a:solidFill xmlns:a="http://schemas.openxmlformats.org/drawingml/2006/main">
          <a:srgbClr val="F9FA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7E2C43E-425F-44F0-B952-808F78B88F26}"/>
              </a:ext>
            </a:extLst>
          </p:cNvPr>
          <p:cNvSpPr>
            <a:spLocks xmlns:a="http://schemas.openxmlformats.org/drawingml/2006/main" noGrp="1"/>
          </p:cNvSpPr>
          <p:nvPr/>
        </p:nvSpPr>
        <p:spPr>
          <a:xfrm xmlns:a="http://schemas.openxmlformats.org/drawingml/2006/main">
            <a:off x="762000" y="333375"/>
            <a:ext cx="1285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3E4A40"/>
                </a:solidFill>
                <a:latin typeface="DejaVu Sans"/>
                <a:ea typeface="DejaVu Sans"/>
                <a:cs typeface="DejaVu Sans"/>
              </a:defRPr>
            </a:defPPr>
          </a:lstStyle>
          <a:p xmlns:a="http://schemas.openxmlformats.org/drawingml/2006/main">
            <a:pPr>
              <a:defRPr sz="1350" b="0">
                <a:solidFill>
                  <a:srgbClr val="3E4A40"/>
                </a:solidFill>
                <a:latin typeface="DejaVu Sans"/>
                <a:ea typeface="DejaVu Sans"/>
                <a:cs typeface="DejaVu Sans"/>
              </a:defRPr>
            </a:pPr>
            <a:r>
              <a:rPr sz="1350" b="0">
                <a:solidFill>
                  <a:srgbClr val="3E4A40"/>
                </a:solidFill>
                <a:latin typeface="DejaVu Sans"/>
                <a:ea typeface="DejaVu Sans"/>
                <a:cs typeface="DejaVu Sans"/>
              </a:rPr>
              <a:t>FETCH TIMER  /  QUÁ TRÌNH THIẾT KẾ</a:t>
            </a:r>
          </a:p>
        </p:txBody>
      </p:sp>
      <p:sp>
        <p:nvSpPr>
          <p:cNvPr id="2" name="">
            <a:extLst xmlns:a="http://schemas.openxmlformats.org/drawingml/2006/main">
              <a:ext uri="{FF2B5EF4-FFF2-40B4-BE49-F238E27FC236}">
                <a16:creationId xmlns:a16="http://schemas.microsoft.com/office/drawing/2014/main" id="{6CA5AF87-7E37-4DEA-AA35-FE2B79FD7B36}"/>
              </a:ext>
            </a:extLst>
          </p:cNvPr>
          <p:cNvSpPr>
            <a:spLocks xmlns:a="http://schemas.openxmlformats.org/drawingml/2006/main" noGrp="1"/>
          </p:cNvSpPr>
          <p:nvPr/>
        </p:nvSpPr>
        <p:spPr>
          <a:xfrm xmlns:a="http://schemas.openxmlformats.org/drawingml/2006/main">
            <a:off x="762000" y="95250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06A39"/>
                </a:solidFill>
                <a:latin typeface="DejaVu Sans"/>
                <a:ea typeface="DejaVu Sans"/>
                <a:cs typeface="DejaVu Sans"/>
              </a:defRPr>
            </a:defPPr>
          </a:lstStyle>
          <a:p xmlns:a="http://schemas.openxmlformats.org/drawingml/2006/main">
            <a:pPr>
              <a:defRPr sz="3600" b="1">
                <a:solidFill>
                  <a:srgbClr val="006A39"/>
                </a:solidFill>
                <a:latin typeface="DejaVu Sans"/>
                <a:ea typeface="DejaVu Sans"/>
                <a:cs typeface="DejaVu Sans"/>
              </a:defRPr>
            </a:pPr>
            <a:r>
              <a:rPr sz="3600" b="1">
                <a:solidFill>
                  <a:srgbClr val="006A39"/>
                </a:solidFill>
                <a:latin typeface="DejaVu Sans"/>
                <a:ea typeface="DejaVu Sans"/>
                <a:cs typeface="DejaVu Sans"/>
              </a:rPr>
              <a:t>Minh chứng giúp giải thích quyết định</a:t>
            </a:r>
          </a:p>
        </p:txBody>
      </p:sp>
      <p:sp>
        <p:nvSpPr>
          <p:cNvPr id="3" name="">
            <a:extLst xmlns:a="http://schemas.openxmlformats.org/drawingml/2006/main">
              <a:ext uri="{FF2B5EF4-FFF2-40B4-BE49-F238E27FC236}">
                <a16:creationId xmlns:a16="http://schemas.microsoft.com/office/drawing/2014/main" id="{65A732D8-E9F1-46F8-A486-FC268D5AA0E3}"/>
              </a:ext>
            </a:extLst>
          </p:cNvPr>
          <p:cNvSpPr>
            <a:spLocks xmlns:a="http://schemas.openxmlformats.org/drawingml/2006/main" noGrp="1"/>
          </p:cNvSpPr>
          <p:nvPr/>
        </p:nvSpPr>
        <p:spPr>
          <a:xfrm xmlns:a="http://schemas.openxmlformats.org/drawingml/2006/main">
            <a:off x="762000" y="2028825"/>
            <a:ext cx="1371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3E4A40"/>
                </a:solidFill>
                <a:latin typeface="DejaVu Sans"/>
                <a:ea typeface="DejaVu Sans"/>
                <a:cs typeface="DejaVu Sans"/>
              </a:defRPr>
            </a:defPPr>
          </a:lstStyle>
          <a:p xmlns:a="http://schemas.openxmlformats.org/drawingml/2006/main">
            <a:pPr>
              <a:defRPr sz="2175" b="0">
                <a:solidFill>
                  <a:srgbClr val="3E4A40"/>
                </a:solidFill>
                <a:latin typeface="DejaVu Sans"/>
                <a:ea typeface="DejaVu Sans"/>
                <a:cs typeface="DejaVu Sans"/>
              </a:defRPr>
            </a:pPr>
            <a:r>
              <a:rPr sz="2175" b="0">
                <a:solidFill>
                  <a:srgbClr val="3E4A40"/>
                </a:solidFill>
                <a:latin typeface="DejaVu Sans"/>
                <a:ea typeface="DejaVu Sans"/>
                <a:cs typeface="DejaVu Sans"/>
              </a:rPr>
              <a:t>Từ nhu cầu người dùng đến thiết kế và tương tác.</a:t>
            </a:r>
          </a:p>
        </p:txBody>
      </p:sp>
      <p:sp>
        <p:nvSpPr>
          <p:cNvPr id="4" name="">
            <a:extLst xmlns:a="http://schemas.openxmlformats.org/drawingml/2006/main">
              <a:ext uri="{FF2B5EF4-FFF2-40B4-BE49-F238E27FC236}">
                <a16:creationId xmlns:a16="http://schemas.microsoft.com/office/drawing/2014/main" id="{56BF5D0D-359E-47ED-866E-D9F3908CA19A}"/>
              </a:ext>
            </a:extLst>
          </p:cNvPr>
          <p:cNvSpPr>
            <a:spLocks xmlns:a="http://schemas.openxmlformats.org/drawingml/2006/main" noGrp="1"/>
          </p:cNvSpPr>
          <p:nvPr/>
        </p:nvSpPr>
        <p:spPr>
          <a:xfrm xmlns:a="http://schemas.openxmlformats.org/drawingml/2006/main">
            <a:off x="762000" y="3238500"/>
            <a:ext cx="4333875" cy="3562350"/>
          </a:xfrm>
          <a:prstGeom xmlns:a="http://schemas.openxmlformats.org/drawingml/2006/main" prst="rect">
            <a:avLst/>
          </a:prstGeom>
          <a:solidFill xmlns:a="http://schemas.openxmlformats.org/drawingml/2006/main">
            <a:srgbClr val="EAF1E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4873F20-10F3-4EFB-A206-26E20533E518}"/>
              </a:ext>
            </a:extLst>
          </p:cNvPr>
          <p:cNvSpPr>
            <a:spLocks xmlns:a="http://schemas.openxmlformats.org/drawingml/2006/main" noGrp="1"/>
          </p:cNvSpPr>
          <p:nvPr/>
        </p:nvSpPr>
        <p:spPr>
          <a:xfrm xmlns:a="http://schemas.openxmlformats.org/drawingml/2006/main">
            <a:off x="1028700" y="3476625"/>
            <a:ext cx="361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A39"/>
                </a:solidFill>
                <a:latin typeface="DejaVu Sans"/>
                <a:ea typeface="DejaVu Sans"/>
                <a:cs typeface="DejaVu Sans"/>
              </a:defRPr>
            </a:defPPr>
          </a:lstStyle>
          <a:p xmlns:a="http://schemas.openxmlformats.org/drawingml/2006/main">
            <a:pPr>
              <a:defRPr sz="2100" b="1">
                <a:solidFill>
                  <a:srgbClr val="006A39"/>
                </a:solidFill>
                <a:latin typeface="DejaVu Sans"/>
                <a:ea typeface="DejaVu Sans"/>
                <a:cs typeface="DejaVu Sans"/>
              </a:defRPr>
            </a:pPr>
            <a:r>
              <a:rPr sz="2100" b="1">
                <a:solidFill>
                  <a:srgbClr val="006A39"/>
                </a:solidFill>
                <a:latin typeface="DejaVu Sans"/>
                <a:ea typeface="DejaVu Sans"/>
                <a:cs typeface="DejaVu Sans"/>
              </a:rPr>
              <a:t>01</a:t>
            </a:r>
          </a:p>
        </p:txBody>
      </p:sp>
      <p:sp>
        <p:nvSpPr>
          <p:cNvPr id="6" name="">
            <a:extLst xmlns:a="http://schemas.openxmlformats.org/drawingml/2006/main">
              <a:ext uri="{FF2B5EF4-FFF2-40B4-BE49-F238E27FC236}">
                <a16:creationId xmlns:a16="http://schemas.microsoft.com/office/drawing/2014/main" id="{F3C5E339-B3DE-4501-BBBD-EB892250D114}"/>
              </a:ext>
            </a:extLst>
          </p:cNvPr>
          <p:cNvSpPr>
            <a:spLocks xmlns:a="http://schemas.openxmlformats.org/drawingml/2006/main" noGrp="1"/>
          </p:cNvSpPr>
          <p:nvPr/>
        </p:nvSpPr>
        <p:spPr>
          <a:xfrm xmlns:a="http://schemas.openxmlformats.org/drawingml/2006/main">
            <a:off x="1028700" y="4114800"/>
            <a:ext cx="3714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91C1B"/>
                </a:solidFill>
                <a:latin typeface="DejaVu Sans"/>
                <a:ea typeface="DejaVu Sans"/>
                <a:cs typeface="DejaVu Sans"/>
              </a:defRPr>
            </a:defPPr>
          </a:lstStyle>
          <a:p xmlns:a="http://schemas.openxmlformats.org/drawingml/2006/main">
            <a:pPr>
              <a:defRPr sz="2625" b="1">
                <a:solidFill>
                  <a:srgbClr val="191C1B"/>
                </a:solidFill>
                <a:latin typeface="DejaVu Sans"/>
                <a:ea typeface="DejaVu Sans"/>
                <a:cs typeface="DejaVu Sans"/>
              </a:defRPr>
            </a:pPr>
            <a:r>
              <a:rPr sz="2625" b="1">
                <a:solidFill>
                  <a:srgbClr val="191C1B"/>
                </a:solidFill>
                <a:latin typeface="DejaVu Sans"/>
                <a:ea typeface="DejaVu Sans"/>
                <a:cs typeface="DejaVu Sans"/>
              </a:rPr>
              <a:t>UX</a:t>
            </a:r>
          </a:p>
        </p:txBody>
      </p:sp>
      <p:sp>
        <p:nvSpPr>
          <p:cNvPr id="7" name="">
            <a:extLst xmlns:a="http://schemas.openxmlformats.org/drawingml/2006/main">
              <a:ext uri="{FF2B5EF4-FFF2-40B4-BE49-F238E27FC236}">
                <a16:creationId xmlns:a16="http://schemas.microsoft.com/office/drawing/2014/main" id="{1D3AE1CB-D588-4E1B-9169-AAEFDEED5245}"/>
              </a:ext>
            </a:extLst>
          </p:cNvPr>
          <p:cNvSpPr>
            <a:spLocks xmlns:a="http://schemas.openxmlformats.org/drawingml/2006/main" noGrp="1"/>
          </p:cNvSpPr>
          <p:nvPr/>
        </p:nvSpPr>
        <p:spPr>
          <a:xfrm xmlns:a="http://schemas.openxmlformats.org/drawingml/2006/main">
            <a:off x="1028700" y="4962525"/>
            <a:ext cx="37147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91C1B"/>
                </a:solidFill>
                <a:latin typeface="DejaVu Sans"/>
                <a:ea typeface="DejaVu Sans"/>
                <a:cs typeface="DejaVu Sans"/>
              </a:defRPr>
            </a:defPPr>
          </a:lstStyle>
          <a:p xmlns:a="http://schemas.openxmlformats.org/drawingml/2006/main">
            <a:pPr>
              <a:defRPr sz="2325" b="0">
                <a:solidFill>
                  <a:srgbClr val="191C1B"/>
                </a:solidFill>
                <a:latin typeface="DejaVu Sans"/>
                <a:ea typeface="DejaVu Sans"/>
                <a:cs typeface="DejaVu Sans"/>
              </a:defRPr>
            </a:pPr>
            <a:r>
              <a:rPr sz="2325" b="0">
                <a:solidFill>
                  <a:srgbClr val="191C1B"/>
                </a:solidFill>
                <a:latin typeface="DejaVu Sans"/>
                <a:ea typeface="DejaVu Sans"/>
                <a:cs typeface="DejaVu Sans"/>
              </a:rPr>
              <a:t>Vì sao chọn người dùng và ba luồng?</a:t>
            </a:r>
          </a:p>
        </p:txBody>
      </p:sp>
      <p:sp>
        <p:nvSpPr>
          <p:cNvPr id="8" name="">
            <a:extLst xmlns:a="http://schemas.openxmlformats.org/drawingml/2006/main">
              <a:ext uri="{FF2B5EF4-FFF2-40B4-BE49-F238E27FC236}">
                <a16:creationId xmlns:a16="http://schemas.microsoft.com/office/drawing/2014/main" id="{626839CB-A44B-481B-87E4-B852EBA6FF28}"/>
              </a:ext>
            </a:extLst>
          </p:cNvPr>
          <p:cNvSpPr>
            <a:spLocks xmlns:a="http://schemas.openxmlformats.org/drawingml/2006/main" noGrp="1"/>
          </p:cNvSpPr>
          <p:nvPr/>
        </p:nvSpPr>
        <p:spPr>
          <a:xfrm xmlns:a="http://schemas.openxmlformats.org/drawingml/2006/main">
            <a:off x="5448300" y="3238500"/>
            <a:ext cx="4333875" cy="3562350"/>
          </a:xfrm>
          <a:prstGeom xmlns:a="http://schemas.openxmlformats.org/drawingml/2006/main" prst="rect">
            <a:avLst/>
          </a:prstGeom>
          <a:solidFill xmlns:a="http://schemas.openxmlformats.org/drawingml/2006/main">
            <a:srgbClr val="EAF1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8B744B0-50F5-47BC-9651-1AD1E0EF9DE8}"/>
              </a:ext>
            </a:extLst>
          </p:cNvPr>
          <p:cNvSpPr>
            <a:spLocks xmlns:a="http://schemas.openxmlformats.org/drawingml/2006/main" noGrp="1"/>
          </p:cNvSpPr>
          <p:nvPr/>
        </p:nvSpPr>
        <p:spPr>
          <a:xfrm xmlns:a="http://schemas.openxmlformats.org/drawingml/2006/main">
            <a:off x="5715000" y="3476625"/>
            <a:ext cx="361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A39"/>
                </a:solidFill>
                <a:latin typeface="DejaVu Sans"/>
                <a:ea typeface="DejaVu Sans"/>
                <a:cs typeface="DejaVu Sans"/>
              </a:defRPr>
            </a:defPPr>
          </a:lstStyle>
          <a:p xmlns:a="http://schemas.openxmlformats.org/drawingml/2006/main">
            <a:pPr>
              <a:defRPr sz="2100" b="1">
                <a:solidFill>
                  <a:srgbClr val="006A39"/>
                </a:solidFill>
                <a:latin typeface="DejaVu Sans"/>
                <a:ea typeface="DejaVu Sans"/>
                <a:cs typeface="DejaVu Sans"/>
              </a:defRPr>
            </a:pPr>
            <a:r>
              <a:rPr sz="2100" b="1">
                <a:solidFill>
                  <a:srgbClr val="006A39"/>
                </a:solidFill>
                <a:latin typeface="DejaVu Sans"/>
                <a:ea typeface="DejaVu Sans"/>
                <a:cs typeface="DejaVu Sans"/>
              </a:rPr>
              <a:t>02</a:t>
            </a:r>
          </a:p>
        </p:txBody>
      </p:sp>
      <p:sp>
        <p:nvSpPr>
          <p:cNvPr id="10" name="">
            <a:extLst xmlns:a="http://schemas.openxmlformats.org/drawingml/2006/main">
              <a:ext uri="{FF2B5EF4-FFF2-40B4-BE49-F238E27FC236}">
                <a16:creationId xmlns:a16="http://schemas.microsoft.com/office/drawing/2014/main" id="{34B841CC-7FF0-4001-B905-05E491A8A9FA}"/>
              </a:ext>
            </a:extLst>
          </p:cNvPr>
          <p:cNvSpPr>
            <a:spLocks xmlns:a="http://schemas.openxmlformats.org/drawingml/2006/main" noGrp="1"/>
          </p:cNvSpPr>
          <p:nvPr/>
        </p:nvSpPr>
        <p:spPr>
          <a:xfrm xmlns:a="http://schemas.openxmlformats.org/drawingml/2006/main">
            <a:off x="5715000" y="4114800"/>
            <a:ext cx="3714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91C1B"/>
                </a:solidFill>
                <a:latin typeface="DejaVu Sans"/>
                <a:ea typeface="DejaVu Sans"/>
                <a:cs typeface="DejaVu Sans"/>
              </a:defRPr>
            </a:defPPr>
          </a:lstStyle>
          <a:p xmlns:a="http://schemas.openxmlformats.org/drawingml/2006/main">
            <a:pPr>
              <a:defRPr sz="2625" b="1">
                <a:solidFill>
                  <a:srgbClr val="191C1B"/>
                </a:solidFill>
                <a:latin typeface="DejaVu Sans"/>
                <a:ea typeface="DejaVu Sans"/>
                <a:cs typeface="DejaVu Sans"/>
              </a:defRPr>
            </a:pPr>
            <a:r>
              <a:rPr sz="2625" b="1">
                <a:solidFill>
                  <a:srgbClr val="191C1B"/>
                </a:solidFill>
                <a:latin typeface="DejaVu Sans"/>
                <a:ea typeface="DejaVu Sans"/>
                <a:cs typeface="DejaVu Sans"/>
              </a:rPr>
              <a:t>AI &amp; thiết kế</a:t>
            </a:r>
          </a:p>
        </p:txBody>
      </p:sp>
      <p:sp>
        <p:nvSpPr>
          <p:cNvPr id="11" name="">
            <a:extLst xmlns:a="http://schemas.openxmlformats.org/drawingml/2006/main">
              <a:ext uri="{FF2B5EF4-FFF2-40B4-BE49-F238E27FC236}">
                <a16:creationId xmlns:a16="http://schemas.microsoft.com/office/drawing/2014/main" id="{B81D3BDE-7B5B-4297-8D5B-43A814FD5886}"/>
              </a:ext>
            </a:extLst>
          </p:cNvPr>
          <p:cNvSpPr>
            <a:spLocks xmlns:a="http://schemas.openxmlformats.org/drawingml/2006/main" noGrp="1"/>
          </p:cNvSpPr>
          <p:nvPr/>
        </p:nvSpPr>
        <p:spPr>
          <a:xfrm xmlns:a="http://schemas.openxmlformats.org/drawingml/2006/main">
            <a:off x="5715000" y="4962525"/>
            <a:ext cx="37147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91C1B"/>
                </a:solidFill>
                <a:latin typeface="DejaVu Sans"/>
                <a:ea typeface="DejaVu Sans"/>
                <a:cs typeface="DejaVu Sans"/>
              </a:defRPr>
            </a:defPPr>
          </a:lstStyle>
          <a:p xmlns:a="http://schemas.openxmlformats.org/drawingml/2006/main">
            <a:pPr>
              <a:defRPr sz="2325" b="0">
                <a:solidFill>
                  <a:srgbClr val="191C1B"/>
                </a:solidFill>
                <a:latin typeface="DejaVu Sans"/>
                <a:ea typeface="DejaVu Sans"/>
                <a:cs typeface="DejaVu Sans"/>
              </a:defRPr>
            </a:pPr>
            <a:r>
              <a:rPr sz="2325" b="0">
                <a:solidFill>
                  <a:srgbClr val="191C1B"/>
                </a:solidFill>
                <a:latin typeface="DejaVu Sans"/>
                <a:ea typeface="DejaVu Sans"/>
                <a:cs typeface="DejaVu Sans"/>
              </a:rPr>
              <a:t>Yêu cầu gì, phát hiện gì, quyết định sửa ra sao?</a:t>
            </a:r>
          </a:p>
        </p:txBody>
      </p:sp>
      <p:sp>
        <p:nvSpPr>
          <p:cNvPr id="12" name="">
            <a:extLst xmlns:a="http://schemas.openxmlformats.org/drawingml/2006/main">
              <a:ext uri="{FF2B5EF4-FFF2-40B4-BE49-F238E27FC236}">
                <a16:creationId xmlns:a16="http://schemas.microsoft.com/office/drawing/2014/main" id="{ADD70257-A289-455F-942C-010023717F3C}"/>
              </a:ext>
            </a:extLst>
          </p:cNvPr>
          <p:cNvSpPr>
            <a:spLocks xmlns:a="http://schemas.openxmlformats.org/drawingml/2006/main" noGrp="1"/>
          </p:cNvSpPr>
          <p:nvPr/>
        </p:nvSpPr>
        <p:spPr>
          <a:xfrm xmlns:a="http://schemas.openxmlformats.org/drawingml/2006/main">
            <a:off x="10134600" y="3238500"/>
            <a:ext cx="4333875" cy="3562350"/>
          </a:xfrm>
          <a:prstGeom xmlns:a="http://schemas.openxmlformats.org/drawingml/2006/main" prst="rect">
            <a:avLst/>
          </a:prstGeom>
          <a:solidFill xmlns:a="http://schemas.openxmlformats.org/drawingml/2006/main">
            <a:srgbClr val="EAF1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2497DC3-DB76-444F-83EF-0240BC4B9452}"/>
              </a:ext>
            </a:extLst>
          </p:cNvPr>
          <p:cNvSpPr>
            <a:spLocks xmlns:a="http://schemas.openxmlformats.org/drawingml/2006/main" noGrp="1"/>
          </p:cNvSpPr>
          <p:nvPr/>
        </p:nvSpPr>
        <p:spPr>
          <a:xfrm xmlns:a="http://schemas.openxmlformats.org/drawingml/2006/main">
            <a:off x="10401300" y="3476625"/>
            <a:ext cx="361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A39"/>
                </a:solidFill>
                <a:latin typeface="DejaVu Sans"/>
                <a:ea typeface="DejaVu Sans"/>
                <a:cs typeface="DejaVu Sans"/>
              </a:defRPr>
            </a:defPPr>
          </a:lstStyle>
          <a:p xmlns:a="http://schemas.openxmlformats.org/drawingml/2006/main">
            <a:pPr>
              <a:defRPr sz="2100" b="1">
                <a:solidFill>
                  <a:srgbClr val="006A39"/>
                </a:solidFill>
                <a:latin typeface="DejaVu Sans"/>
                <a:ea typeface="DejaVu Sans"/>
                <a:cs typeface="DejaVu Sans"/>
              </a:defRPr>
            </a:pPr>
            <a:r>
              <a:rPr sz="2100" b="1">
                <a:solidFill>
                  <a:srgbClr val="006A39"/>
                </a:solidFill>
                <a:latin typeface="DejaVu Sans"/>
                <a:ea typeface="DejaVu Sans"/>
                <a:cs typeface="DejaVu Sans"/>
              </a:rPr>
              <a:t>03</a:t>
            </a:r>
          </a:p>
        </p:txBody>
      </p:sp>
      <p:sp>
        <p:nvSpPr>
          <p:cNvPr id="14" name="">
            <a:extLst xmlns:a="http://schemas.openxmlformats.org/drawingml/2006/main">
              <a:ext uri="{FF2B5EF4-FFF2-40B4-BE49-F238E27FC236}">
                <a16:creationId xmlns:a16="http://schemas.microsoft.com/office/drawing/2014/main" id="{919F4EC0-D567-49BE-A8A4-7FC041A84AE6}"/>
              </a:ext>
            </a:extLst>
          </p:cNvPr>
          <p:cNvSpPr>
            <a:spLocks xmlns:a="http://schemas.openxmlformats.org/drawingml/2006/main" noGrp="1"/>
          </p:cNvSpPr>
          <p:nvPr/>
        </p:nvSpPr>
        <p:spPr>
          <a:xfrm xmlns:a="http://schemas.openxmlformats.org/drawingml/2006/main">
            <a:off x="10401300" y="4114800"/>
            <a:ext cx="3714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91C1B"/>
                </a:solidFill>
                <a:latin typeface="DejaVu Sans"/>
                <a:ea typeface="DejaVu Sans"/>
                <a:cs typeface="DejaVu Sans"/>
              </a:defRPr>
            </a:defPPr>
          </a:lstStyle>
          <a:p xmlns:a="http://schemas.openxmlformats.org/drawingml/2006/main">
            <a:pPr>
              <a:defRPr sz="2625" b="1">
                <a:solidFill>
                  <a:srgbClr val="191C1B"/>
                </a:solidFill>
                <a:latin typeface="DejaVu Sans"/>
                <a:ea typeface="DejaVu Sans"/>
                <a:cs typeface="DejaVu Sans"/>
              </a:defRPr>
            </a:pPr>
            <a:r>
              <a:rPr sz="2625" b="1">
                <a:solidFill>
                  <a:srgbClr val="191C1B"/>
                </a:solidFill>
                <a:latin typeface="DejaVu Sans"/>
                <a:ea typeface="DejaVu Sans"/>
                <a:cs typeface="DejaVu Sans"/>
              </a:rPr>
              <a:t>Prototype &amp; bàn giao</a:t>
            </a:r>
          </a:p>
        </p:txBody>
      </p:sp>
      <p:sp>
        <p:nvSpPr>
          <p:cNvPr id="15" name="">
            <a:extLst xmlns:a="http://schemas.openxmlformats.org/drawingml/2006/main">
              <a:ext uri="{FF2B5EF4-FFF2-40B4-BE49-F238E27FC236}">
                <a16:creationId xmlns:a16="http://schemas.microsoft.com/office/drawing/2014/main" id="{64052866-7281-4A32-8461-698F7B8EA6BD}"/>
              </a:ext>
            </a:extLst>
          </p:cNvPr>
          <p:cNvSpPr>
            <a:spLocks xmlns:a="http://schemas.openxmlformats.org/drawingml/2006/main" noGrp="1"/>
          </p:cNvSpPr>
          <p:nvPr/>
        </p:nvSpPr>
        <p:spPr>
          <a:xfrm xmlns:a="http://schemas.openxmlformats.org/drawingml/2006/main">
            <a:off x="10401300" y="4962525"/>
            <a:ext cx="37147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91C1B"/>
                </a:solidFill>
                <a:latin typeface="DejaVu Sans"/>
                <a:ea typeface="DejaVu Sans"/>
                <a:cs typeface="DejaVu Sans"/>
              </a:defRPr>
            </a:defPPr>
          </a:lstStyle>
          <a:p xmlns:a="http://schemas.openxmlformats.org/drawingml/2006/main">
            <a:pPr>
              <a:defRPr sz="2325" b="0">
                <a:solidFill>
                  <a:srgbClr val="191C1B"/>
                </a:solidFill>
                <a:latin typeface="DejaVu Sans"/>
                <a:ea typeface="DejaVu Sans"/>
                <a:cs typeface="DejaVu Sans"/>
              </a:defRPr>
            </a:pPr>
            <a:r>
              <a:rPr sz="2325" b="0">
                <a:solidFill>
                  <a:srgbClr val="191C1B"/>
                </a:solidFill>
                <a:latin typeface="DejaVu Sans"/>
                <a:ea typeface="DejaVu Sans"/>
                <a:cs typeface="DejaVu Sans"/>
              </a:rPr>
              <a:t>Bấm thử thế nào, dev cần thông tin gì?</a:t>
            </a:r>
          </a:p>
        </p:txBody>
      </p:sp>
      <p:sp>
        <p:nvSpPr>
          <p:cNvPr id="16" name="">
            <a:extLst xmlns:a="http://schemas.openxmlformats.org/drawingml/2006/main">
              <a:ext uri="{FF2B5EF4-FFF2-40B4-BE49-F238E27FC236}">
                <a16:creationId xmlns:a16="http://schemas.microsoft.com/office/drawing/2014/main" id="{891FCC0A-62CC-4CE2-B339-C94C930FE47C}"/>
              </a:ext>
            </a:extLst>
          </p:cNvPr>
          <p:cNvSpPr>
            <a:spLocks xmlns:a="http://schemas.openxmlformats.org/drawingml/2006/main" noGrp="1"/>
          </p:cNvSpPr>
          <p:nvPr/>
        </p:nvSpPr>
        <p:spPr>
          <a:xfrm xmlns:a="http://schemas.openxmlformats.org/drawingml/2006/main">
            <a:off x="762000" y="7658100"/>
            <a:ext cx="1343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3E4A40"/>
                </a:solidFill>
                <a:latin typeface="DejaVu Sans"/>
                <a:ea typeface="DejaVu Sans"/>
                <a:cs typeface="DejaVu Sans"/>
              </a:defRPr>
            </a:defPPr>
          </a:lstStyle>
          <a:p xmlns:a="http://schemas.openxmlformats.org/drawingml/2006/main">
            <a:pPr>
              <a:defRPr sz="1575" b="0">
                <a:solidFill>
                  <a:srgbClr val="3E4A40"/>
                </a:solidFill>
                <a:latin typeface="DejaVu Sans"/>
                <a:ea typeface="DejaVu Sans"/>
                <a:cs typeface="DejaVu Sans"/>
              </a:defRPr>
            </a:pPr>
            <a:r>
              <a:rPr sz="1575" b="0">
                <a:solidFill>
                  <a:srgbClr val="3E4A40"/>
                </a:solidFill>
                <a:latin typeface="DejaVu Sans"/>
                <a:ea typeface="DejaVu Sans"/>
                <a:cs typeface="DejaVu Sans"/>
              </a:rPr>
              <a:t>Bài học: yêu cầu rõ, kiểm tra đầu ra, lưu lại quyết định.</a:t>
            </a:r>
          </a:p>
        </p:txBody>
      </p:sp>
      <p:sp>
        <p:nvSpPr>
          <p:cNvPr id="17" name="">
            <a:extLst xmlns:a="http://schemas.openxmlformats.org/drawingml/2006/main">
              <a:ext uri="{FF2B5EF4-FFF2-40B4-BE49-F238E27FC236}">
                <a16:creationId xmlns:a16="http://schemas.microsoft.com/office/drawing/2014/main" id="{3669FF9B-1B6B-4621-A258-1BCA994E2F6F}"/>
              </a:ext>
            </a:extLst>
          </p:cNvPr>
          <p:cNvSpPr>
            <a:spLocks xmlns:a="http://schemas.openxmlformats.org/drawingml/2006/main" noGrp="1"/>
          </p:cNvSpPr>
          <p:nvPr/>
        </p:nvSpPr>
        <p:spPr>
          <a:xfrm xmlns:a="http://schemas.openxmlformats.org/drawingml/2006/main">
            <a:off x="13525500" y="323850"/>
            <a:ext cx="100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006A39"/>
                </a:solidFill>
                <a:latin typeface="DejaVu Sans"/>
                <a:ea typeface="DejaVu Sans"/>
                <a:cs typeface="DejaVu Sans"/>
              </a:defRPr>
            </a:defPPr>
          </a:lstStyle>
          <a:p xmlns:a="http://schemas.openxmlformats.org/drawingml/2006/main">
            <a:pPr>
              <a:defRPr sz="1350" b="0">
                <a:solidFill>
                  <a:srgbClr val="006A39"/>
                </a:solidFill>
                <a:latin typeface="DejaVu Sans"/>
                <a:ea typeface="DejaVu Sans"/>
                <a:cs typeface="DejaVu Sans"/>
              </a:defRPr>
            </a:pPr>
            <a:r>
              <a:rPr sz="1350" b="0">
                <a:solidFill>
                  <a:srgbClr val="006A39"/>
                </a:solidFill>
                <a:latin typeface="DejaVu Sans"/>
                <a:ea typeface="DejaVu Sans"/>
                <a:cs typeface="DejaVu Sans"/>
              </a:rPr>
              <a:t>12 / 12</a:t>
            </a:r>
          </a:p>
        </p:txBody>
      </p:sp>
    </p:spTree>
    <p:extLst>
      <p:ext uri="{BB962C8B-B14F-4D97-AF65-F5344CB8AC3E}">
        <p14:creationId xmlns:p14="http://schemas.microsoft.com/office/powerpoint/2010/main" val="19650698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2026-10-11T15:47:40.8920000Z</dcterms:created>
  <dcterms:modified xsi:type="dcterms:W3CDTF">2026-10-11T15:47:40.8920000Z</dcterms:modified>
</coreProperties>
</file>